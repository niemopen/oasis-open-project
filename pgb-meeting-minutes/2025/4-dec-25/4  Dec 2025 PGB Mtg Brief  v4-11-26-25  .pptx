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notesMasterIdLst>
    <p:notesMasterId r:id="rId44"/>
  </p:notesMasterIdLst>
  <p:sldIdLst>
    <p:sldId id="256" r:id="rId3"/>
    <p:sldId id="258" r:id="rId4"/>
    <p:sldId id="141170243" r:id="rId5"/>
    <p:sldId id="264" r:id="rId6"/>
    <p:sldId id="270" r:id="rId7"/>
    <p:sldId id="261" r:id="rId8"/>
    <p:sldId id="269" r:id="rId9"/>
    <p:sldId id="141170247" r:id="rId10"/>
    <p:sldId id="262" r:id="rId11"/>
    <p:sldId id="141170253" r:id="rId12"/>
    <p:sldId id="141170254" r:id="rId13"/>
    <p:sldId id="294" r:id="rId14"/>
    <p:sldId id="141170278" r:id="rId15"/>
    <p:sldId id="141170279" r:id="rId16"/>
    <p:sldId id="141170282" r:id="rId17"/>
    <p:sldId id="141170281" r:id="rId18"/>
    <p:sldId id="287" r:id="rId19"/>
    <p:sldId id="290" r:id="rId20"/>
    <p:sldId id="293" r:id="rId21"/>
    <p:sldId id="141170259" r:id="rId22"/>
    <p:sldId id="141170265" r:id="rId23"/>
    <p:sldId id="141170256" r:id="rId24"/>
    <p:sldId id="141169875" r:id="rId25"/>
    <p:sldId id="141170273" r:id="rId26"/>
    <p:sldId id="141170264" r:id="rId27"/>
    <p:sldId id="141170147" r:id="rId28"/>
    <p:sldId id="141170271" r:id="rId29"/>
    <p:sldId id="141170272" r:id="rId30"/>
    <p:sldId id="141170274" r:id="rId31"/>
    <p:sldId id="141170266" r:id="rId32"/>
    <p:sldId id="141170267" r:id="rId33"/>
    <p:sldId id="141170275" r:id="rId34"/>
    <p:sldId id="141170276" r:id="rId35"/>
    <p:sldId id="141170223" r:id="rId36"/>
    <p:sldId id="141170238" r:id="rId37"/>
    <p:sldId id="268" r:id="rId38"/>
    <p:sldId id="141169993" r:id="rId39"/>
    <p:sldId id="263" r:id="rId40"/>
    <p:sldId id="141170277" r:id="rId41"/>
    <p:sldId id="141170280" r:id="rId42"/>
    <p:sldId id="304" r:id="rId4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7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748" autoAdjust="0"/>
    <p:restoredTop sz="92459" autoAdjust="0"/>
  </p:normalViewPr>
  <p:slideViewPr>
    <p:cSldViewPr>
      <p:cViewPr varScale="1">
        <p:scale>
          <a:sx n="117" d="100"/>
          <a:sy n="117" d="100"/>
        </p:scale>
        <p:origin x="200" y="384"/>
      </p:cViewPr>
      <p:guideLst>
        <p:guide orient="horz" pos="2880"/>
        <p:guide pos="2160"/>
      </p:guideLst>
    </p:cSldViewPr>
  </p:slideViewPr>
  <p:notesTextViewPr>
    <p:cViewPr>
      <p:scale>
        <a:sx n="100" d="100"/>
        <a:sy n="100" d="100"/>
      </p:scale>
      <p:origin x="0" y="0"/>
    </p:cViewPr>
  </p:notesTextViewPr>
  <p:sorterViewPr>
    <p:cViewPr>
      <p:scale>
        <a:sx n="1" d="1"/>
        <a:sy n="1" d="1"/>
      </p:scale>
      <p:origin x="0" y="0"/>
    </p:cViewPr>
  </p:sorterViewPr>
  <p:notesViewPr>
    <p:cSldViewPr>
      <p:cViewPr varScale="1">
        <p:scale>
          <a:sx n="103" d="100"/>
          <a:sy n="103" d="100"/>
        </p:scale>
        <p:origin x="1788"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C84EFD-19F4-D54A-8D68-9498D380801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US"/>
        </a:p>
      </dgm:t>
    </dgm:pt>
    <dgm:pt modelId="{AC12C186-DD3B-784A-8D9A-BC0731048CDA}">
      <dgm:prSet custT="1"/>
      <dgm:spPr/>
      <dgm:t>
        <a:bodyPr/>
        <a:lstStyle/>
        <a:p>
          <a:r>
            <a:rPr lang="en-US" sz="2800" b="1"/>
            <a:t>OASIS Open project</a:t>
          </a:r>
          <a:endParaRPr lang="en-US" sz="2800"/>
        </a:p>
      </dgm:t>
    </dgm:pt>
    <dgm:pt modelId="{41A09B61-67B7-394A-8056-6EA98FE9BFF0}" type="parTrans" cxnId="{788A4AC4-D4F5-4F40-B86B-DA4F651687B5}">
      <dgm:prSet/>
      <dgm:spPr/>
      <dgm:t>
        <a:bodyPr/>
        <a:lstStyle/>
        <a:p>
          <a:endParaRPr lang="en-US"/>
        </a:p>
      </dgm:t>
    </dgm:pt>
    <dgm:pt modelId="{98241C3B-B2C6-FF46-9F3A-E35C3B8A193D}" type="sibTrans" cxnId="{788A4AC4-D4F5-4F40-B86B-DA4F651687B5}">
      <dgm:prSet/>
      <dgm:spPr/>
      <dgm:t>
        <a:bodyPr/>
        <a:lstStyle/>
        <a:p>
          <a:endParaRPr lang="en-US"/>
        </a:p>
      </dgm:t>
    </dgm:pt>
    <dgm:pt modelId="{8BD40EFF-4CFA-674C-8A1D-5B20F2B12CF3}">
      <dgm:prSet custT="1"/>
      <dgm:spPr/>
      <dgm:t>
        <a:bodyPr/>
        <a:lstStyle/>
        <a:p>
          <a:r>
            <a:rPr lang="en-US" sz="2800" b="1" dirty="0"/>
            <a:t>Established Committee structure (PGB,NBAC, NTAC)</a:t>
          </a:r>
          <a:endParaRPr lang="en-US" sz="2800" dirty="0"/>
        </a:p>
      </dgm:t>
    </dgm:pt>
    <dgm:pt modelId="{48229CBF-1E98-F146-A479-B36638FB4123}" type="parTrans" cxnId="{16DB2C9B-716E-7649-BD54-F35345813E4F}">
      <dgm:prSet/>
      <dgm:spPr/>
      <dgm:t>
        <a:bodyPr/>
        <a:lstStyle/>
        <a:p>
          <a:endParaRPr lang="en-US"/>
        </a:p>
      </dgm:t>
    </dgm:pt>
    <dgm:pt modelId="{3412258E-4141-9443-8EC7-26980557A14A}" type="sibTrans" cxnId="{16DB2C9B-716E-7649-BD54-F35345813E4F}">
      <dgm:prSet/>
      <dgm:spPr/>
      <dgm:t>
        <a:bodyPr/>
        <a:lstStyle/>
        <a:p>
          <a:endParaRPr lang="en-US"/>
        </a:p>
      </dgm:t>
    </dgm:pt>
    <dgm:pt modelId="{43F59BB3-27FB-274D-BB6C-CCCCB6D56716}">
      <dgm:prSet custT="1"/>
      <dgm:spPr/>
      <dgm:t>
        <a:bodyPr/>
        <a:lstStyle/>
        <a:p>
          <a:r>
            <a:rPr lang="en-US" sz="2800" b="1" dirty="0"/>
            <a:t>Domains as subcommittees of NBAC</a:t>
          </a:r>
          <a:endParaRPr lang="en-US" sz="2800" dirty="0"/>
        </a:p>
      </dgm:t>
    </dgm:pt>
    <dgm:pt modelId="{9EC46216-85BF-C949-A63B-20FB6E45E200}" type="parTrans" cxnId="{6B7EFE27-535A-E74A-A3A1-19AE84AF3D70}">
      <dgm:prSet/>
      <dgm:spPr/>
      <dgm:t>
        <a:bodyPr/>
        <a:lstStyle/>
        <a:p>
          <a:endParaRPr lang="en-US"/>
        </a:p>
      </dgm:t>
    </dgm:pt>
    <dgm:pt modelId="{768A8249-D003-2043-A54E-AE99DC6E7858}" type="sibTrans" cxnId="{6B7EFE27-535A-E74A-A3A1-19AE84AF3D70}">
      <dgm:prSet/>
      <dgm:spPr/>
      <dgm:t>
        <a:bodyPr/>
        <a:lstStyle/>
        <a:p>
          <a:endParaRPr lang="en-US"/>
        </a:p>
      </dgm:t>
    </dgm:pt>
    <dgm:pt modelId="{5BC4FB70-6C48-4843-BBC2-E80B4092163F}">
      <dgm:prSet custT="1"/>
      <dgm:spPr/>
      <dgm:t>
        <a:bodyPr/>
        <a:lstStyle/>
        <a:p>
          <a:r>
            <a:rPr lang="en-US" sz="2800" b="1" dirty="0"/>
            <a:t>Project management office</a:t>
          </a:r>
          <a:endParaRPr lang="en-US" sz="2800" dirty="0"/>
        </a:p>
      </dgm:t>
    </dgm:pt>
    <dgm:pt modelId="{F2F4EB0F-0407-9E49-AF6F-A58F829AA9DC}" type="parTrans" cxnId="{0F5B194C-AC81-774C-B411-181C41E6A9E3}">
      <dgm:prSet/>
      <dgm:spPr/>
      <dgm:t>
        <a:bodyPr/>
        <a:lstStyle/>
        <a:p>
          <a:endParaRPr lang="en-US"/>
        </a:p>
      </dgm:t>
    </dgm:pt>
    <dgm:pt modelId="{B7614F69-D712-7445-9912-348869134706}" type="sibTrans" cxnId="{0F5B194C-AC81-774C-B411-181C41E6A9E3}">
      <dgm:prSet/>
      <dgm:spPr/>
      <dgm:t>
        <a:bodyPr/>
        <a:lstStyle/>
        <a:p>
          <a:endParaRPr lang="en-US"/>
        </a:p>
      </dgm:t>
    </dgm:pt>
    <dgm:pt modelId="{9CC7B519-8D73-3247-9186-23332B97A224}" type="pres">
      <dgm:prSet presAssocID="{D4C84EFD-19F4-D54A-8D68-9498D380801A}" presName="linearFlow" presStyleCnt="0">
        <dgm:presLayoutVars>
          <dgm:dir/>
          <dgm:resizeHandles val="exact"/>
        </dgm:presLayoutVars>
      </dgm:prSet>
      <dgm:spPr/>
    </dgm:pt>
    <dgm:pt modelId="{D195909F-3E5F-E145-8CEA-7F67CED41CAE}" type="pres">
      <dgm:prSet presAssocID="{AC12C186-DD3B-784A-8D9A-BC0731048CDA}" presName="composite" presStyleCnt="0"/>
      <dgm:spPr/>
    </dgm:pt>
    <dgm:pt modelId="{5C6D8ABE-C5C1-8D47-B15C-3633CDE10ABD}" type="pres">
      <dgm:prSet presAssocID="{AC12C186-DD3B-784A-8D9A-BC0731048CDA}" presName="imgShp" presStyleLbl="fgImgPlace1" presStyleIdx="0" presStyleCnt="4"/>
      <dgm:spPr/>
    </dgm:pt>
    <dgm:pt modelId="{B2AA4985-4059-9F47-B720-C3B7360E2D9F}" type="pres">
      <dgm:prSet presAssocID="{AC12C186-DD3B-784A-8D9A-BC0731048CDA}" presName="txShp" presStyleLbl="node1" presStyleIdx="0" presStyleCnt="4">
        <dgm:presLayoutVars>
          <dgm:bulletEnabled val="1"/>
        </dgm:presLayoutVars>
      </dgm:prSet>
      <dgm:spPr/>
    </dgm:pt>
    <dgm:pt modelId="{1826B70F-3CFA-8E4C-8AA2-9D33867665B6}" type="pres">
      <dgm:prSet presAssocID="{98241C3B-B2C6-FF46-9F3A-E35C3B8A193D}" presName="spacing" presStyleCnt="0"/>
      <dgm:spPr/>
    </dgm:pt>
    <dgm:pt modelId="{1D89DFBC-7EB9-E144-BF44-EA4F942A6653}" type="pres">
      <dgm:prSet presAssocID="{8BD40EFF-4CFA-674C-8A1D-5B20F2B12CF3}" presName="composite" presStyleCnt="0"/>
      <dgm:spPr/>
    </dgm:pt>
    <dgm:pt modelId="{ABA0A936-5EE6-4143-BEB1-3D0F8BB5A564}" type="pres">
      <dgm:prSet presAssocID="{8BD40EFF-4CFA-674C-8A1D-5B20F2B12CF3}" presName="imgShp" presStyleLbl="fgImgPlace1" presStyleIdx="1" presStyleCnt="4"/>
      <dgm:spPr/>
    </dgm:pt>
    <dgm:pt modelId="{6765135A-857B-4C47-9C9D-AC2999B63AB3}" type="pres">
      <dgm:prSet presAssocID="{8BD40EFF-4CFA-674C-8A1D-5B20F2B12CF3}" presName="txShp" presStyleLbl="node1" presStyleIdx="1" presStyleCnt="4">
        <dgm:presLayoutVars>
          <dgm:bulletEnabled val="1"/>
        </dgm:presLayoutVars>
      </dgm:prSet>
      <dgm:spPr/>
    </dgm:pt>
    <dgm:pt modelId="{BA2D385D-FB1A-5845-9F60-7BDEA1B1615F}" type="pres">
      <dgm:prSet presAssocID="{3412258E-4141-9443-8EC7-26980557A14A}" presName="spacing" presStyleCnt="0"/>
      <dgm:spPr/>
    </dgm:pt>
    <dgm:pt modelId="{B96855FF-8942-3F4A-BA15-5FC30BF81B56}" type="pres">
      <dgm:prSet presAssocID="{43F59BB3-27FB-274D-BB6C-CCCCB6D56716}" presName="composite" presStyleCnt="0"/>
      <dgm:spPr/>
    </dgm:pt>
    <dgm:pt modelId="{4775D474-5127-174F-9252-1F7301F00578}" type="pres">
      <dgm:prSet presAssocID="{43F59BB3-27FB-274D-BB6C-CCCCB6D56716}" presName="imgShp" presStyleLbl="fgImgPlace1" presStyleIdx="2" presStyleCnt="4"/>
      <dgm:spPr/>
    </dgm:pt>
    <dgm:pt modelId="{6F4BCA31-15AE-7444-8AB0-D641B23C8F2B}" type="pres">
      <dgm:prSet presAssocID="{43F59BB3-27FB-274D-BB6C-CCCCB6D56716}" presName="txShp" presStyleLbl="node1" presStyleIdx="2" presStyleCnt="4">
        <dgm:presLayoutVars>
          <dgm:bulletEnabled val="1"/>
        </dgm:presLayoutVars>
      </dgm:prSet>
      <dgm:spPr/>
    </dgm:pt>
    <dgm:pt modelId="{6C21E542-504A-484A-B51E-384622D4EBD4}" type="pres">
      <dgm:prSet presAssocID="{768A8249-D003-2043-A54E-AE99DC6E7858}" presName="spacing" presStyleCnt="0"/>
      <dgm:spPr/>
    </dgm:pt>
    <dgm:pt modelId="{35C507FE-3370-DC41-88FC-880615ABFF5D}" type="pres">
      <dgm:prSet presAssocID="{5BC4FB70-6C48-4843-BBC2-E80B4092163F}" presName="composite" presStyleCnt="0"/>
      <dgm:spPr/>
    </dgm:pt>
    <dgm:pt modelId="{7BF7B538-A35A-244A-98F2-52CF37BB7643}" type="pres">
      <dgm:prSet presAssocID="{5BC4FB70-6C48-4843-BBC2-E80B4092163F}" presName="imgShp" presStyleLbl="fgImgPlace1" presStyleIdx="3" presStyleCnt="4"/>
      <dgm:spPr/>
    </dgm:pt>
    <dgm:pt modelId="{696170FB-475C-7F41-8B06-D81759EF588E}" type="pres">
      <dgm:prSet presAssocID="{5BC4FB70-6C48-4843-BBC2-E80B4092163F}" presName="txShp" presStyleLbl="node1" presStyleIdx="3" presStyleCnt="4">
        <dgm:presLayoutVars>
          <dgm:bulletEnabled val="1"/>
        </dgm:presLayoutVars>
      </dgm:prSet>
      <dgm:spPr/>
    </dgm:pt>
  </dgm:ptLst>
  <dgm:cxnLst>
    <dgm:cxn modelId="{6B7EFE27-535A-E74A-A3A1-19AE84AF3D70}" srcId="{D4C84EFD-19F4-D54A-8D68-9498D380801A}" destId="{43F59BB3-27FB-274D-BB6C-CCCCB6D56716}" srcOrd="2" destOrd="0" parTransId="{9EC46216-85BF-C949-A63B-20FB6E45E200}" sibTransId="{768A8249-D003-2043-A54E-AE99DC6E7858}"/>
    <dgm:cxn modelId="{C3536232-2914-0649-AB24-73F16A83F6AD}" type="presOf" srcId="{43F59BB3-27FB-274D-BB6C-CCCCB6D56716}" destId="{6F4BCA31-15AE-7444-8AB0-D641B23C8F2B}" srcOrd="0" destOrd="0" presId="urn:microsoft.com/office/officeart/2005/8/layout/vList3"/>
    <dgm:cxn modelId="{D5064446-5587-7740-B82F-CE62E5B22490}" type="presOf" srcId="{8BD40EFF-4CFA-674C-8A1D-5B20F2B12CF3}" destId="{6765135A-857B-4C47-9C9D-AC2999B63AB3}" srcOrd="0" destOrd="0" presId="urn:microsoft.com/office/officeart/2005/8/layout/vList3"/>
    <dgm:cxn modelId="{0F5B194C-AC81-774C-B411-181C41E6A9E3}" srcId="{D4C84EFD-19F4-D54A-8D68-9498D380801A}" destId="{5BC4FB70-6C48-4843-BBC2-E80B4092163F}" srcOrd="3" destOrd="0" parTransId="{F2F4EB0F-0407-9E49-AF6F-A58F829AA9DC}" sibTransId="{B7614F69-D712-7445-9912-348869134706}"/>
    <dgm:cxn modelId="{2E840A70-561B-7444-AF87-D7A6E2A1C3CB}" type="presOf" srcId="{AC12C186-DD3B-784A-8D9A-BC0731048CDA}" destId="{B2AA4985-4059-9F47-B720-C3B7360E2D9F}" srcOrd="0" destOrd="0" presId="urn:microsoft.com/office/officeart/2005/8/layout/vList3"/>
    <dgm:cxn modelId="{16DB2C9B-716E-7649-BD54-F35345813E4F}" srcId="{D4C84EFD-19F4-D54A-8D68-9498D380801A}" destId="{8BD40EFF-4CFA-674C-8A1D-5B20F2B12CF3}" srcOrd="1" destOrd="0" parTransId="{48229CBF-1E98-F146-A479-B36638FB4123}" sibTransId="{3412258E-4141-9443-8EC7-26980557A14A}"/>
    <dgm:cxn modelId="{788A4AC4-D4F5-4F40-B86B-DA4F651687B5}" srcId="{D4C84EFD-19F4-D54A-8D68-9498D380801A}" destId="{AC12C186-DD3B-784A-8D9A-BC0731048CDA}" srcOrd="0" destOrd="0" parTransId="{41A09B61-67B7-394A-8056-6EA98FE9BFF0}" sibTransId="{98241C3B-B2C6-FF46-9F3A-E35C3B8A193D}"/>
    <dgm:cxn modelId="{892AB2D1-6B56-2D49-9442-D17CBC9E0F15}" type="presOf" srcId="{5BC4FB70-6C48-4843-BBC2-E80B4092163F}" destId="{696170FB-475C-7F41-8B06-D81759EF588E}" srcOrd="0" destOrd="0" presId="urn:microsoft.com/office/officeart/2005/8/layout/vList3"/>
    <dgm:cxn modelId="{F5EC67D8-E989-534B-9842-1AACC64AAB35}" type="presOf" srcId="{D4C84EFD-19F4-D54A-8D68-9498D380801A}" destId="{9CC7B519-8D73-3247-9186-23332B97A224}" srcOrd="0" destOrd="0" presId="urn:microsoft.com/office/officeart/2005/8/layout/vList3"/>
    <dgm:cxn modelId="{D5CFF679-F285-FD4E-A044-92520CF9796E}" type="presParOf" srcId="{9CC7B519-8D73-3247-9186-23332B97A224}" destId="{D195909F-3E5F-E145-8CEA-7F67CED41CAE}" srcOrd="0" destOrd="0" presId="urn:microsoft.com/office/officeart/2005/8/layout/vList3"/>
    <dgm:cxn modelId="{7511C26F-0FAD-5645-8F05-0995BD23AD39}" type="presParOf" srcId="{D195909F-3E5F-E145-8CEA-7F67CED41CAE}" destId="{5C6D8ABE-C5C1-8D47-B15C-3633CDE10ABD}" srcOrd="0" destOrd="0" presId="urn:microsoft.com/office/officeart/2005/8/layout/vList3"/>
    <dgm:cxn modelId="{10A4A7D3-AA5C-874C-ADB7-82999E195712}" type="presParOf" srcId="{D195909F-3E5F-E145-8CEA-7F67CED41CAE}" destId="{B2AA4985-4059-9F47-B720-C3B7360E2D9F}" srcOrd="1" destOrd="0" presId="urn:microsoft.com/office/officeart/2005/8/layout/vList3"/>
    <dgm:cxn modelId="{6495F00D-7D38-4B48-BDCF-DFE0D304EF16}" type="presParOf" srcId="{9CC7B519-8D73-3247-9186-23332B97A224}" destId="{1826B70F-3CFA-8E4C-8AA2-9D33867665B6}" srcOrd="1" destOrd="0" presId="urn:microsoft.com/office/officeart/2005/8/layout/vList3"/>
    <dgm:cxn modelId="{32326884-F785-8449-8EA9-E334407C928D}" type="presParOf" srcId="{9CC7B519-8D73-3247-9186-23332B97A224}" destId="{1D89DFBC-7EB9-E144-BF44-EA4F942A6653}" srcOrd="2" destOrd="0" presId="urn:microsoft.com/office/officeart/2005/8/layout/vList3"/>
    <dgm:cxn modelId="{F52BE67A-5B6B-784A-B99B-DEA7E8D2D08D}" type="presParOf" srcId="{1D89DFBC-7EB9-E144-BF44-EA4F942A6653}" destId="{ABA0A936-5EE6-4143-BEB1-3D0F8BB5A564}" srcOrd="0" destOrd="0" presId="urn:microsoft.com/office/officeart/2005/8/layout/vList3"/>
    <dgm:cxn modelId="{D8E19166-9CC5-904F-B78C-1AF8E7CF1D16}" type="presParOf" srcId="{1D89DFBC-7EB9-E144-BF44-EA4F942A6653}" destId="{6765135A-857B-4C47-9C9D-AC2999B63AB3}" srcOrd="1" destOrd="0" presId="urn:microsoft.com/office/officeart/2005/8/layout/vList3"/>
    <dgm:cxn modelId="{E04777E9-7FBF-D944-B982-300FE3583DED}" type="presParOf" srcId="{9CC7B519-8D73-3247-9186-23332B97A224}" destId="{BA2D385D-FB1A-5845-9F60-7BDEA1B1615F}" srcOrd="3" destOrd="0" presId="urn:microsoft.com/office/officeart/2005/8/layout/vList3"/>
    <dgm:cxn modelId="{E1FF0688-60A0-A144-9996-E9685F3608CB}" type="presParOf" srcId="{9CC7B519-8D73-3247-9186-23332B97A224}" destId="{B96855FF-8942-3F4A-BA15-5FC30BF81B56}" srcOrd="4" destOrd="0" presId="urn:microsoft.com/office/officeart/2005/8/layout/vList3"/>
    <dgm:cxn modelId="{EFAE6016-F19E-8645-A9A1-DFAF490599E5}" type="presParOf" srcId="{B96855FF-8942-3F4A-BA15-5FC30BF81B56}" destId="{4775D474-5127-174F-9252-1F7301F00578}" srcOrd="0" destOrd="0" presId="urn:microsoft.com/office/officeart/2005/8/layout/vList3"/>
    <dgm:cxn modelId="{1E07DEED-D202-F44C-A921-B7CE0EC8F0B1}" type="presParOf" srcId="{B96855FF-8942-3F4A-BA15-5FC30BF81B56}" destId="{6F4BCA31-15AE-7444-8AB0-D641B23C8F2B}" srcOrd="1" destOrd="0" presId="urn:microsoft.com/office/officeart/2005/8/layout/vList3"/>
    <dgm:cxn modelId="{76377884-743C-EB45-9180-27CA15A704C1}" type="presParOf" srcId="{9CC7B519-8D73-3247-9186-23332B97A224}" destId="{6C21E542-504A-484A-B51E-384622D4EBD4}" srcOrd="5" destOrd="0" presId="urn:microsoft.com/office/officeart/2005/8/layout/vList3"/>
    <dgm:cxn modelId="{328B0134-5220-C049-AACC-5D43F228C5E3}" type="presParOf" srcId="{9CC7B519-8D73-3247-9186-23332B97A224}" destId="{35C507FE-3370-DC41-88FC-880615ABFF5D}" srcOrd="6" destOrd="0" presId="urn:microsoft.com/office/officeart/2005/8/layout/vList3"/>
    <dgm:cxn modelId="{3686C8A7-516E-EE4B-B1B8-8293D6C642C9}" type="presParOf" srcId="{35C507FE-3370-DC41-88FC-880615ABFF5D}" destId="{7BF7B538-A35A-244A-98F2-52CF37BB7643}" srcOrd="0" destOrd="0" presId="urn:microsoft.com/office/officeart/2005/8/layout/vList3"/>
    <dgm:cxn modelId="{B4DFE320-97C3-1841-8C60-D676377B71B6}" type="presParOf" srcId="{35C507FE-3370-DC41-88FC-880615ABFF5D}" destId="{696170FB-475C-7F41-8B06-D81759EF588E}"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AA4985-4059-9F47-B720-C3B7360E2D9F}">
      <dsp:nvSpPr>
        <dsp:cNvPr id="0" name=""/>
        <dsp:cNvSpPr/>
      </dsp:nvSpPr>
      <dsp:spPr>
        <a:xfrm rot="10800000">
          <a:off x="1882305" y="62"/>
          <a:ext cx="6680390" cy="79860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a:t>OASIS Open project</a:t>
          </a:r>
          <a:endParaRPr lang="en-US" sz="2800" kern="1200"/>
        </a:p>
      </dsp:txBody>
      <dsp:txXfrm rot="10800000">
        <a:off x="2081956" y="62"/>
        <a:ext cx="6480739" cy="798603"/>
      </dsp:txXfrm>
    </dsp:sp>
    <dsp:sp modelId="{5C6D8ABE-C5C1-8D47-B15C-3633CDE10ABD}">
      <dsp:nvSpPr>
        <dsp:cNvPr id="0" name=""/>
        <dsp:cNvSpPr/>
      </dsp:nvSpPr>
      <dsp:spPr>
        <a:xfrm>
          <a:off x="1483003" y="62"/>
          <a:ext cx="798603" cy="798603"/>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765135A-857B-4C47-9C9D-AC2999B63AB3}">
      <dsp:nvSpPr>
        <dsp:cNvPr id="0" name=""/>
        <dsp:cNvSpPr/>
      </dsp:nvSpPr>
      <dsp:spPr>
        <a:xfrm rot="10800000">
          <a:off x="1882305" y="1029219"/>
          <a:ext cx="6680390" cy="79860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Established Committee structure (PGB,NBAC, NTAC)</a:t>
          </a:r>
          <a:endParaRPr lang="en-US" sz="2800" kern="1200" dirty="0"/>
        </a:p>
      </dsp:txBody>
      <dsp:txXfrm rot="10800000">
        <a:off x="2081956" y="1029219"/>
        <a:ext cx="6480739" cy="798603"/>
      </dsp:txXfrm>
    </dsp:sp>
    <dsp:sp modelId="{ABA0A936-5EE6-4143-BEB1-3D0F8BB5A564}">
      <dsp:nvSpPr>
        <dsp:cNvPr id="0" name=""/>
        <dsp:cNvSpPr/>
      </dsp:nvSpPr>
      <dsp:spPr>
        <a:xfrm>
          <a:off x="1483003" y="1029219"/>
          <a:ext cx="798603" cy="798603"/>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4BCA31-15AE-7444-8AB0-D641B23C8F2B}">
      <dsp:nvSpPr>
        <dsp:cNvPr id="0" name=""/>
        <dsp:cNvSpPr/>
      </dsp:nvSpPr>
      <dsp:spPr>
        <a:xfrm rot="10800000">
          <a:off x="1882305" y="2058376"/>
          <a:ext cx="6680390" cy="79860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Domains as subcommittees of NBAC</a:t>
          </a:r>
          <a:endParaRPr lang="en-US" sz="2800" kern="1200" dirty="0"/>
        </a:p>
      </dsp:txBody>
      <dsp:txXfrm rot="10800000">
        <a:off x="2081956" y="2058376"/>
        <a:ext cx="6480739" cy="798603"/>
      </dsp:txXfrm>
    </dsp:sp>
    <dsp:sp modelId="{4775D474-5127-174F-9252-1F7301F00578}">
      <dsp:nvSpPr>
        <dsp:cNvPr id="0" name=""/>
        <dsp:cNvSpPr/>
      </dsp:nvSpPr>
      <dsp:spPr>
        <a:xfrm>
          <a:off x="1483003" y="2058376"/>
          <a:ext cx="798603" cy="798603"/>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96170FB-475C-7F41-8B06-D81759EF588E}">
      <dsp:nvSpPr>
        <dsp:cNvPr id="0" name=""/>
        <dsp:cNvSpPr/>
      </dsp:nvSpPr>
      <dsp:spPr>
        <a:xfrm rot="10800000">
          <a:off x="1882305" y="3087533"/>
          <a:ext cx="6680390" cy="798603"/>
        </a:xfrm>
        <a:prstGeom prst="homePlat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2162"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t>Project management office</a:t>
          </a:r>
          <a:endParaRPr lang="en-US" sz="2800" kern="1200" dirty="0"/>
        </a:p>
      </dsp:txBody>
      <dsp:txXfrm rot="10800000">
        <a:off x="2081956" y="3087533"/>
        <a:ext cx="6480739" cy="798603"/>
      </dsp:txXfrm>
    </dsp:sp>
    <dsp:sp modelId="{7BF7B538-A35A-244A-98F2-52CF37BB7643}">
      <dsp:nvSpPr>
        <dsp:cNvPr id="0" name=""/>
        <dsp:cNvSpPr/>
      </dsp:nvSpPr>
      <dsp:spPr>
        <a:xfrm>
          <a:off x="1483003" y="3087533"/>
          <a:ext cx="798603" cy="798603"/>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D8429F88-46F6-4CAD-BCA0-36AF1EA81474}" type="datetimeFigureOut">
              <a:rPr lang="en-US" smtClean="0"/>
              <a:t>12/3/25</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C04AD24C-63E4-43F6-B7A2-9AED7BFA5002}" type="slidenum">
              <a:rPr lang="en-US" smtClean="0"/>
              <a:t>‹#›</a:t>
            </a:fld>
            <a:endParaRPr lang="en-US"/>
          </a:p>
        </p:txBody>
      </p:sp>
    </p:spTree>
    <p:extLst>
      <p:ext uri="{BB962C8B-B14F-4D97-AF65-F5344CB8AC3E}">
        <p14:creationId xmlns:p14="http://schemas.microsoft.com/office/powerpoint/2010/main" val="2735175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oasis-open.org/policies-guidelines/open-projects-process/#project-governing-board-and-sponsors-composition" TargetMode="External"/><Relationship Id="rId2" Type="http://schemas.openxmlformats.org/officeDocument/2006/relationships/slide" Target="../slides/slide26.xml"/><Relationship Id="rId1" Type="http://schemas.openxmlformats.org/officeDocument/2006/relationships/notesMaster" Target="../notesMasters/notesMaster1.xml"/><Relationship Id="rId6" Type="http://schemas.openxmlformats.org/officeDocument/2006/relationships/hyperlink" Target="https://www.oasis-open.org/policies-guidelines/open-projects-process/#chairs-maintainers-technical-steering-committees" TargetMode="External"/><Relationship Id="rId5" Type="http://schemas.openxmlformats.org/officeDocument/2006/relationships/hyperlink" Target="https://www.oasis-open.org/policies-guidelines/open-projects-process/#project-governing-board-and-sponsors" TargetMode="External"/><Relationship Id="rId4" Type="http://schemas.openxmlformats.org/officeDocument/2006/relationships/hyperlink" Target="https://www.oasis-open.org/policies-guidelines/oasis-defined-terms-2018-05-22#dPGB"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1</a:t>
            </a:fld>
            <a:endParaRPr lang="en-US"/>
          </a:p>
        </p:txBody>
      </p:sp>
    </p:spTree>
    <p:extLst>
      <p:ext uri="{BB962C8B-B14F-4D97-AF65-F5344CB8AC3E}">
        <p14:creationId xmlns:p14="http://schemas.microsoft.com/office/powerpoint/2010/main" val="1457484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4AD24C-63E4-43F6-B7A2-9AED7BFA5002}" type="slidenum">
              <a:rPr lang="en-US" smtClean="0"/>
              <a:t>2</a:t>
            </a:fld>
            <a:endParaRPr lang="en-US"/>
          </a:p>
        </p:txBody>
      </p:sp>
    </p:spTree>
    <p:extLst>
      <p:ext uri="{BB962C8B-B14F-4D97-AF65-F5344CB8AC3E}">
        <p14:creationId xmlns:p14="http://schemas.microsoft.com/office/powerpoint/2010/main" val="3182639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4AD24C-63E4-43F6-B7A2-9AED7BFA5002}" type="slidenum">
              <a:rPr lang="en-US" smtClean="0"/>
              <a:t>3</a:t>
            </a:fld>
            <a:endParaRPr lang="en-US"/>
          </a:p>
        </p:txBody>
      </p:sp>
    </p:spTree>
    <p:extLst>
      <p:ext uri="{BB962C8B-B14F-4D97-AF65-F5344CB8AC3E}">
        <p14:creationId xmlns:p14="http://schemas.microsoft.com/office/powerpoint/2010/main" val="1577764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9900" lvl="1" indent="0">
              <a:lnSpc>
                <a:spcPct val="100000"/>
              </a:lnSpc>
              <a:spcBef>
                <a:spcPts val="10"/>
              </a:spcBef>
              <a:buClr>
                <a:srgbClr val="1F487C"/>
              </a:buClr>
              <a:buNone/>
              <a:tabLst>
                <a:tab pos="756285" algn="l"/>
              </a:tabLst>
            </a:pPr>
            <a:r>
              <a:rPr lang="en-US" sz="1200" b="1" spc="-10" dirty="0">
                <a:solidFill>
                  <a:srgbClr val="454545"/>
                </a:solidFill>
                <a:latin typeface="Arial"/>
                <a:cs typeface="Arial"/>
              </a:rPr>
              <a:t>Voting Members</a:t>
            </a:r>
          </a:p>
          <a:p>
            <a:pPr marL="756285" lvl="1" indent="-286385">
              <a:lnSpc>
                <a:spcPct val="100000"/>
              </a:lnSpc>
              <a:spcBef>
                <a:spcPts val="10"/>
              </a:spcBef>
              <a:buClr>
                <a:srgbClr val="1F487C"/>
              </a:buClr>
              <a:buChar char="–"/>
              <a:tabLst>
                <a:tab pos="756285" algn="l"/>
              </a:tabLst>
            </a:pPr>
            <a:r>
              <a:rPr lang="en-US" sz="1200" spc="-10" dirty="0">
                <a:solidFill>
                  <a:srgbClr val="454545"/>
                </a:solidFill>
                <a:latin typeface="Arial"/>
                <a:cs typeface="Arial"/>
              </a:rPr>
              <a:t>Mr. Jim Herbert - All Purpose Networks (APN)</a:t>
            </a:r>
          </a:p>
          <a:p>
            <a:pPr marL="756285" lvl="1" indent="-286385">
              <a:lnSpc>
                <a:spcPct val="100000"/>
              </a:lnSpc>
              <a:buClr>
                <a:srgbClr val="1F487C"/>
              </a:buClr>
              <a:buChar char="–"/>
              <a:tabLst>
                <a:tab pos="756285" algn="l"/>
              </a:tabLst>
            </a:pPr>
            <a:r>
              <a:rPr lang="en-US" sz="1200" dirty="0">
                <a:solidFill>
                  <a:srgbClr val="334052"/>
                </a:solidFill>
                <a:latin typeface="Arial"/>
                <a:cs typeface="Arial"/>
              </a:rPr>
              <a:t>Ms. Christina Bapst-Stump - Department</a:t>
            </a:r>
            <a:r>
              <a:rPr lang="en-US" sz="1200" spc="-10" dirty="0">
                <a:solidFill>
                  <a:srgbClr val="334052"/>
                </a:solidFill>
                <a:latin typeface="Arial"/>
                <a:cs typeface="Arial"/>
              </a:rPr>
              <a:t> </a:t>
            </a:r>
            <a:r>
              <a:rPr lang="en-US" sz="1200" dirty="0">
                <a:solidFill>
                  <a:srgbClr val="334052"/>
                </a:solidFill>
                <a:latin typeface="Arial"/>
                <a:cs typeface="Arial"/>
              </a:rPr>
              <a:t>of</a:t>
            </a:r>
            <a:r>
              <a:rPr lang="en-US" sz="1200" spc="-25" dirty="0">
                <a:solidFill>
                  <a:srgbClr val="334052"/>
                </a:solidFill>
                <a:latin typeface="Arial"/>
                <a:cs typeface="Arial"/>
              </a:rPr>
              <a:t> </a:t>
            </a:r>
            <a:r>
              <a:rPr lang="en-US" sz="1200" dirty="0">
                <a:solidFill>
                  <a:srgbClr val="334052"/>
                </a:solidFill>
                <a:latin typeface="Arial"/>
                <a:cs typeface="Arial"/>
              </a:rPr>
              <a:t>Homeland</a:t>
            </a:r>
            <a:r>
              <a:rPr lang="en-US" sz="1200" spc="-35" dirty="0">
                <a:solidFill>
                  <a:srgbClr val="334052"/>
                </a:solidFill>
                <a:latin typeface="Arial"/>
                <a:cs typeface="Arial"/>
              </a:rPr>
              <a:t> </a:t>
            </a:r>
            <a:r>
              <a:rPr lang="en-US" sz="1200" dirty="0">
                <a:solidFill>
                  <a:srgbClr val="334052"/>
                </a:solidFill>
                <a:latin typeface="Arial"/>
                <a:cs typeface="Arial"/>
              </a:rPr>
              <a:t>Security</a:t>
            </a:r>
            <a:r>
              <a:rPr lang="en-US" sz="1200" spc="-30" dirty="0">
                <a:solidFill>
                  <a:srgbClr val="334052"/>
                </a:solidFill>
                <a:latin typeface="Arial"/>
                <a:cs typeface="Arial"/>
              </a:rPr>
              <a:t> </a:t>
            </a:r>
            <a:r>
              <a:rPr lang="en-US" sz="1200" dirty="0">
                <a:solidFill>
                  <a:srgbClr val="334052"/>
                </a:solidFill>
                <a:latin typeface="Arial"/>
                <a:cs typeface="Arial"/>
              </a:rPr>
              <a:t>Science</a:t>
            </a:r>
            <a:r>
              <a:rPr lang="en-US" sz="1200" spc="-55" dirty="0">
                <a:solidFill>
                  <a:srgbClr val="334052"/>
                </a:solidFill>
                <a:latin typeface="Arial"/>
                <a:cs typeface="Arial"/>
              </a:rPr>
              <a:t> </a:t>
            </a:r>
            <a:r>
              <a:rPr lang="en-US" sz="1200" dirty="0">
                <a:solidFill>
                  <a:srgbClr val="334052"/>
                </a:solidFill>
                <a:latin typeface="Arial"/>
                <a:cs typeface="Arial"/>
              </a:rPr>
              <a:t>&amp;</a:t>
            </a:r>
            <a:r>
              <a:rPr lang="en-US" sz="1200" spc="-55" dirty="0">
                <a:solidFill>
                  <a:srgbClr val="334052"/>
                </a:solidFill>
                <a:latin typeface="Arial"/>
                <a:cs typeface="Arial"/>
              </a:rPr>
              <a:t> </a:t>
            </a:r>
            <a:r>
              <a:rPr lang="en-US" sz="1200" spc="-20" dirty="0">
                <a:solidFill>
                  <a:srgbClr val="334052"/>
                </a:solidFill>
                <a:latin typeface="Arial"/>
                <a:cs typeface="Arial"/>
              </a:rPr>
              <a:t>Technology</a:t>
            </a:r>
            <a:r>
              <a:rPr lang="en-US" sz="1200" spc="-40" dirty="0">
                <a:solidFill>
                  <a:srgbClr val="334052"/>
                </a:solidFill>
                <a:latin typeface="Arial"/>
                <a:cs typeface="Arial"/>
              </a:rPr>
              <a:t> </a:t>
            </a:r>
            <a:r>
              <a:rPr lang="en-US" sz="1200" dirty="0">
                <a:solidFill>
                  <a:srgbClr val="334052"/>
                </a:solidFill>
                <a:latin typeface="Arial"/>
                <a:cs typeface="Arial"/>
              </a:rPr>
              <a:t>(DHS</a:t>
            </a:r>
            <a:r>
              <a:rPr lang="en-US" sz="1200" spc="-30" dirty="0">
                <a:solidFill>
                  <a:srgbClr val="334052"/>
                </a:solidFill>
                <a:latin typeface="Arial"/>
                <a:cs typeface="Arial"/>
              </a:rPr>
              <a:t> </a:t>
            </a:r>
            <a:r>
              <a:rPr lang="en-US" sz="1200" spc="-20" dirty="0">
                <a:solidFill>
                  <a:srgbClr val="334052"/>
                </a:solidFill>
                <a:latin typeface="Arial"/>
                <a:cs typeface="Arial"/>
              </a:rPr>
              <a:t>S&amp;T)</a:t>
            </a:r>
            <a:endParaRPr lang="en-US" sz="1200" dirty="0">
              <a:latin typeface="Arial"/>
              <a:cs typeface="Arial"/>
            </a:endParaRPr>
          </a:p>
          <a:p>
            <a:pPr marL="756285" lvl="1" indent="-286385">
              <a:lnSpc>
                <a:spcPct val="100000"/>
              </a:lnSpc>
              <a:buClr>
                <a:srgbClr val="1F487C"/>
              </a:buClr>
              <a:buChar char="–"/>
              <a:tabLst>
                <a:tab pos="756285" algn="l"/>
              </a:tabLst>
            </a:pPr>
            <a:r>
              <a:rPr lang="en-US" sz="1200" dirty="0">
                <a:solidFill>
                  <a:srgbClr val="334052"/>
                </a:solidFill>
                <a:latin typeface="Arial"/>
                <a:cs typeface="Arial"/>
              </a:rPr>
              <a:t>Mr. John Wandelt - Georgia</a:t>
            </a:r>
            <a:r>
              <a:rPr lang="en-US" sz="1200" spc="-75" dirty="0">
                <a:solidFill>
                  <a:srgbClr val="334052"/>
                </a:solidFill>
                <a:latin typeface="Arial"/>
                <a:cs typeface="Arial"/>
              </a:rPr>
              <a:t> </a:t>
            </a:r>
            <a:r>
              <a:rPr lang="en-US" sz="1200" spc="-35" dirty="0">
                <a:solidFill>
                  <a:srgbClr val="334052"/>
                </a:solidFill>
                <a:latin typeface="Arial"/>
                <a:cs typeface="Arial"/>
              </a:rPr>
              <a:t>Tech</a:t>
            </a:r>
            <a:r>
              <a:rPr lang="en-US" sz="1200" spc="-50" dirty="0">
                <a:solidFill>
                  <a:srgbClr val="334052"/>
                </a:solidFill>
                <a:latin typeface="Arial"/>
                <a:cs typeface="Arial"/>
              </a:rPr>
              <a:t> </a:t>
            </a:r>
            <a:r>
              <a:rPr lang="en-US" sz="1200" dirty="0">
                <a:solidFill>
                  <a:srgbClr val="334052"/>
                </a:solidFill>
                <a:latin typeface="Arial"/>
                <a:cs typeface="Arial"/>
              </a:rPr>
              <a:t>Research</a:t>
            </a:r>
            <a:r>
              <a:rPr lang="en-US" sz="1200" spc="-65" dirty="0">
                <a:solidFill>
                  <a:srgbClr val="334052"/>
                </a:solidFill>
                <a:latin typeface="Arial"/>
                <a:cs typeface="Arial"/>
              </a:rPr>
              <a:t> </a:t>
            </a:r>
            <a:r>
              <a:rPr lang="en-US" sz="1200" dirty="0">
                <a:solidFill>
                  <a:srgbClr val="334052"/>
                </a:solidFill>
                <a:latin typeface="Arial"/>
                <a:cs typeface="Arial"/>
              </a:rPr>
              <a:t>Institute</a:t>
            </a:r>
            <a:r>
              <a:rPr lang="en-US" sz="1200" spc="-60" dirty="0">
                <a:solidFill>
                  <a:srgbClr val="334052"/>
                </a:solidFill>
                <a:latin typeface="Arial"/>
                <a:cs typeface="Arial"/>
              </a:rPr>
              <a:t> </a:t>
            </a:r>
            <a:r>
              <a:rPr lang="en-US" sz="1200" spc="-10" dirty="0">
                <a:solidFill>
                  <a:srgbClr val="334052"/>
                </a:solidFill>
                <a:latin typeface="Arial"/>
                <a:cs typeface="Arial"/>
              </a:rPr>
              <a:t>(GTRI)</a:t>
            </a:r>
            <a:endParaRPr lang="en-US" sz="1200" dirty="0">
              <a:latin typeface="Arial"/>
              <a:cs typeface="Arial"/>
            </a:endParaRPr>
          </a:p>
          <a:p>
            <a:pPr marL="756285" lvl="1" indent="-286385">
              <a:lnSpc>
                <a:spcPct val="100000"/>
              </a:lnSpc>
              <a:spcBef>
                <a:spcPts val="5"/>
              </a:spcBef>
              <a:buClr>
                <a:srgbClr val="1F487C"/>
              </a:buClr>
              <a:buChar char="–"/>
              <a:tabLst>
                <a:tab pos="756285" algn="l"/>
              </a:tabLst>
            </a:pPr>
            <a:r>
              <a:rPr lang="en-US" sz="1200" dirty="0">
                <a:solidFill>
                  <a:srgbClr val="454545"/>
                </a:solidFill>
                <a:latin typeface="Arial"/>
                <a:cs typeface="Arial"/>
              </a:rPr>
              <a:t>Mr. Paul Wormeli - Integrated</a:t>
            </a:r>
            <a:r>
              <a:rPr lang="en-US" sz="1200" spc="-50" dirty="0">
                <a:solidFill>
                  <a:srgbClr val="454545"/>
                </a:solidFill>
                <a:latin typeface="Arial"/>
                <a:cs typeface="Arial"/>
              </a:rPr>
              <a:t> </a:t>
            </a:r>
            <a:r>
              <a:rPr lang="en-US" sz="1200" dirty="0">
                <a:solidFill>
                  <a:srgbClr val="454545"/>
                </a:solidFill>
                <a:latin typeface="Arial"/>
                <a:cs typeface="Arial"/>
              </a:rPr>
              <a:t>Justice</a:t>
            </a:r>
            <a:r>
              <a:rPr lang="en-US" sz="1200" spc="-85" dirty="0">
                <a:solidFill>
                  <a:srgbClr val="454545"/>
                </a:solidFill>
                <a:latin typeface="Arial"/>
                <a:cs typeface="Arial"/>
              </a:rPr>
              <a:t> </a:t>
            </a:r>
            <a:r>
              <a:rPr lang="en-US" sz="1200" dirty="0">
                <a:solidFill>
                  <a:srgbClr val="454545"/>
                </a:solidFill>
                <a:latin typeface="Arial"/>
                <a:cs typeface="Arial"/>
              </a:rPr>
              <a:t>Information</a:t>
            </a:r>
            <a:r>
              <a:rPr lang="en-US" sz="1200" spc="-50" dirty="0">
                <a:solidFill>
                  <a:srgbClr val="454545"/>
                </a:solidFill>
                <a:latin typeface="Arial"/>
                <a:cs typeface="Arial"/>
              </a:rPr>
              <a:t> </a:t>
            </a:r>
            <a:r>
              <a:rPr lang="en-US" sz="1200" dirty="0">
                <a:solidFill>
                  <a:srgbClr val="454545"/>
                </a:solidFill>
                <a:latin typeface="Arial"/>
                <a:cs typeface="Arial"/>
              </a:rPr>
              <a:t>Systems</a:t>
            </a:r>
            <a:r>
              <a:rPr lang="en-US" sz="1200" spc="-55" dirty="0">
                <a:solidFill>
                  <a:srgbClr val="454545"/>
                </a:solidFill>
                <a:latin typeface="Arial"/>
                <a:cs typeface="Arial"/>
              </a:rPr>
              <a:t> </a:t>
            </a:r>
            <a:r>
              <a:rPr lang="en-US" sz="1200" dirty="0">
                <a:solidFill>
                  <a:srgbClr val="454545"/>
                </a:solidFill>
                <a:latin typeface="Arial"/>
                <a:cs typeface="Arial"/>
              </a:rPr>
              <a:t>Institute</a:t>
            </a:r>
            <a:r>
              <a:rPr lang="en-US" sz="1200" spc="-60" dirty="0">
                <a:solidFill>
                  <a:srgbClr val="454545"/>
                </a:solidFill>
                <a:latin typeface="Arial"/>
                <a:cs typeface="Arial"/>
              </a:rPr>
              <a:t> </a:t>
            </a:r>
            <a:r>
              <a:rPr lang="en-US" sz="1200" spc="-10" dirty="0">
                <a:solidFill>
                  <a:srgbClr val="454545"/>
                </a:solidFill>
                <a:latin typeface="Arial"/>
                <a:cs typeface="Arial"/>
              </a:rPr>
              <a:t>(IJIS)</a:t>
            </a:r>
            <a:endParaRPr lang="en-US" sz="1200" dirty="0">
              <a:latin typeface="Arial"/>
              <a:cs typeface="Arial"/>
            </a:endParaRPr>
          </a:p>
          <a:p>
            <a:pPr marL="756285" lvl="1" indent="-286385">
              <a:lnSpc>
                <a:spcPct val="100000"/>
              </a:lnSpc>
              <a:buClr>
                <a:srgbClr val="1F487C"/>
              </a:buClr>
              <a:buChar char="–"/>
              <a:tabLst>
                <a:tab pos="756285" algn="l"/>
              </a:tabLst>
            </a:pPr>
            <a:r>
              <a:rPr lang="en-US" sz="1200" dirty="0">
                <a:solidFill>
                  <a:srgbClr val="454545"/>
                </a:solidFill>
                <a:latin typeface="Arial"/>
                <a:cs typeface="Arial"/>
              </a:rPr>
              <a:t>Mr. Payton Lamb - Commonwealth</a:t>
            </a:r>
            <a:r>
              <a:rPr lang="en-US" sz="1200" spc="-50" dirty="0">
                <a:solidFill>
                  <a:srgbClr val="454545"/>
                </a:solidFill>
                <a:latin typeface="Arial"/>
                <a:cs typeface="Arial"/>
              </a:rPr>
              <a:t> </a:t>
            </a:r>
            <a:r>
              <a:rPr lang="en-US" sz="1200" dirty="0">
                <a:solidFill>
                  <a:srgbClr val="454545"/>
                </a:solidFill>
                <a:latin typeface="Arial"/>
                <a:cs typeface="Arial"/>
              </a:rPr>
              <a:t>of</a:t>
            </a:r>
            <a:r>
              <a:rPr lang="en-US" sz="1200" spc="-40" dirty="0">
                <a:solidFill>
                  <a:srgbClr val="454545"/>
                </a:solidFill>
                <a:latin typeface="Arial"/>
                <a:cs typeface="Arial"/>
              </a:rPr>
              <a:t> </a:t>
            </a:r>
            <a:r>
              <a:rPr lang="en-US" sz="1200" dirty="0">
                <a:solidFill>
                  <a:srgbClr val="454545"/>
                </a:solidFill>
                <a:latin typeface="Arial"/>
                <a:cs typeface="Arial"/>
              </a:rPr>
              <a:t>Virginia,</a:t>
            </a:r>
            <a:r>
              <a:rPr lang="en-US" sz="1200" spc="-60" dirty="0">
                <a:solidFill>
                  <a:srgbClr val="454545"/>
                </a:solidFill>
                <a:latin typeface="Arial"/>
                <a:cs typeface="Arial"/>
              </a:rPr>
              <a:t> </a:t>
            </a:r>
            <a:r>
              <a:rPr lang="en-US" sz="1200" dirty="0">
                <a:solidFill>
                  <a:srgbClr val="454545"/>
                </a:solidFill>
                <a:latin typeface="Arial"/>
                <a:cs typeface="Arial"/>
              </a:rPr>
              <a:t>Office</a:t>
            </a:r>
            <a:r>
              <a:rPr lang="en-US" sz="1200" spc="-35" dirty="0">
                <a:solidFill>
                  <a:srgbClr val="454545"/>
                </a:solidFill>
                <a:latin typeface="Arial"/>
                <a:cs typeface="Arial"/>
              </a:rPr>
              <a:t> </a:t>
            </a:r>
            <a:r>
              <a:rPr lang="en-US" sz="1200" dirty="0">
                <a:solidFill>
                  <a:srgbClr val="454545"/>
                </a:solidFill>
                <a:latin typeface="Arial"/>
                <a:cs typeface="Arial"/>
              </a:rPr>
              <a:t>of</a:t>
            </a:r>
            <a:r>
              <a:rPr lang="en-US" sz="1200" spc="-40" dirty="0">
                <a:solidFill>
                  <a:srgbClr val="454545"/>
                </a:solidFill>
                <a:latin typeface="Arial"/>
                <a:cs typeface="Arial"/>
              </a:rPr>
              <a:t> </a:t>
            </a:r>
            <a:r>
              <a:rPr lang="en-US" sz="1200" dirty="0">
                <a:solidFill>
                  <a:srgbClr val="454545"/>
                </a:solidFill>
                <a:latin typeface="Arial"/>
                <a:cs typeface="Arial"/>
              </a:rPr>
              <a:t>Data</a:t>
            </a:r>
            <a:r>
              <a:rPr lang="en-US" sz="1200" spc="-40" dirty="0">
                <a:solidFill>
                  <a:srgbClr val="454545"/>
                </a:solidFill>
                <a:latin typeface="Arial"/>
                <a:cs typeface="Arial"/>
              </a:rPr>
              <a:t> </a:t>
            </a:r>
            <a:r>
              <a:rPr lang="en-US" sz="1200" dirty="0">
                <a:solidFill>
                  <a:srgbClr val="454545"/>
                </a:solidFill>
                <a:latin typeface="Arial"/>
                <a:cs typeface="Arial"/>
              </a:rPr>
              <a:t>Governance</a:t>
            </a:r>
            <a:r>
              <a:rPr lang="en-US" sz="1200" spc="-35" dirty="0">
                <a:solidFill>
                  <a:srgbClr val="454545"/>
                </a:solidFill>
                <a:latin typeface="Arial"/>
                <a:cs typeface="Arial"/>
              </a:rPr>
              <a:t> </a:t>
            </a:r>
            <a:r>
              <a:rPr lang="en-US" sz="1200" dirty="0">
                <a:solidFill>
                  <a:srgbClr val="454545"/>
                </a:solidFill>
                <a:latin typeface="Arial"/>
                <a:cs typeface="Arial"/>
              </a:rPr>
              <a:t>and</a:t>
            </a:r>
            <a:r>
              <a:rPr lang="en-US" sz="1200" spc="-114" dirty="0">
                <a:solidFill>
                  <a:srgbClr val="454545"/>
                </a:solidFill>
                <a:latin typeface="Arial"/>
                <a:cs typeface="Arial"/>
              </a:rPr>
              <a:t> </a:t>
            </a:r>
            <a:r>
              <a:rPr lang="en-US" sz="1200" spc="-10" dirty="0">
                <a:solidFill>
                  <a:srgbClr val="454545"/>
                </a:solidFill>
                <a:latin typeface="Arial"/>
                <a:cs typeface="Arial"/>
              </a:rPr>
              <a:t>Analytics (ODGA)</a:t>
            </a:r>
            <a:endParaRPr lang="en-US" sz="1200" dirty="0">
              <a:latin typeface="Arial"/>
              <a:cs typeface="Arial"/>
            </a:endParaRPr>
          </a:p>
          <a:p>
            <a:pPr marL="756285" lvl="1" indent="-286385">
              <a:lnSpc>
                <a:spcPct val="100000"/>
              </a:lnSpc>
              <a:buClr>
                <a:srgbClr val="1F487C"/>
              </a:buClr>
              <a:buChar char="–"/>
              <a:tabLst>
                <a:tab pos="756285" algn="l"/>
              </a:tabLst>
            </a:pPr>
            <a:r>
              <a:rPr lang="en-US" sz="1200" dirty="0">
                <a:solidFill>
                  <a:srgbClr val="454545"/>
                </a:solidFill>
                <a:latin typeface="Arial"/>
                <a:cs typeface="Arial"/>
              </a:rPr>
              <a:t>Ms. April Michell - Criminal</a:t>
            </a:r>
            <a:r>
              <a:rPr lang="en-US" sz="1200" spc="-65" dirty="0">
                <a:solidFill>
                  <a:srgbClr val="454545"/>
                </a:solidFill>
                <a:latin typeface="Arial"/>
                <a:cs typeface="Arial"/>
              </a:rPr>
              <a:t> </a:t>
            </a:r>
            <a:r>
              <a:rPr lang="en-US" sz="1200" dirty="0">
                <a:solidFill>
                  <a:srgbClr val="454545"/>
                </a:solidFill>
                <a:latin typeface="Arial"/>
                <a:cs typeface="Arial"/>
              </a:rPr>
              <a:t>justice</a:t>
            </a:r>
            <a:r>
              <a:rPr lang="en-US" sz="1200" spc="-65" dirty="0">
                <a:solidFill>
                  <a:srgbClr val="454545"/>
                </a:solidFill>
                <a:latin typeface="Arial"/>
                <a:cs typeface="Arial"/>
              </a:rPr>
              <a:t> </a:t>
            </a:r>
            <a:r>
              <a:rPr lang="en-US" sz="1200" dirty="0">
                <a:solidFill>
                  <a:srgbClr val="454545"/>
                </a:solidFill>
                <a:latin typeface="Arial"/>
                <a:cs typeface="Arial"/>
              </a:rPr>
              <a:t>Information</a:t>
            </a:r>
            <a:r>
              <a:rPr lang="en-US" sz="1200" spc="-30" dirty="0">
                <a:solidFill>
                  <a:srgbClr val="454545"/>
                </a:solidFill>
                <a:latin typeface="Arial"/>
                <a:cs typeface="Arial"/>
              </a:rPr>
              <a:t> </a:t>
            </a:r>
            <a:r>
              <a:rPr lang="en-US" sz="1200" dirty="0">
                <a:solidFill>
                  <a:srgbClr val="454545"/>
                </a:solidFill>
                <a:latin typeface="Arial"/>
                <a:cs typeface="Arial"/>
              </a:rPr>
              <a:t>Systems</a:t>
            </a:r>
            <a:r>
              <a:rPr lang="en-US" sz="1200" spc="-30" dirty="0">
                <a:solidFill>
                  <a:srgbClr val="454545"/>
                </a:solidFill>
                <a:latin typeface="Arial"/>
                <a:cs typeface="Arial"/>
              </a:rPr>
              <a:t> </a:t>
            </a:r>
            <a:r>
              <a:rPr lang="en-US" sz="1200" dirty="0">
                <a:solidFill>
                  <a:srgbClr val="454545"/>
                </a:solidFill>
                <a:latin typeface="Arial"/>
                <a:cs typeface="Arial"/>
              </a:rPr>
              <a:t>Division</a:t>
            </a:r>
            <a:r>
              <a:rPr lang="en-US" sz="1200" spc="-75" dirty="0">
                <a:solidFill>
                  <a:srgbClr val="454545"/>
                </a:solidFill>
                <a:latin typeface="Arial"/>
                <a:cs typeface="Arial"/>
              </a:rPr>
              <a:t> </a:t>
            </a:r>
            <a:r>
              <a:rPr lang="en-US" sz="1200" dirty="0">
                <a:solidFill>
                  <a:srgbClr val="454545"/>
                </a:solidFill>
                <a:latin typeface="Arial"/>
                <a:cs typeface="Arial"/>
              </a:rPr>
              <a:t>(CJISD),</a:t>
            </a:r>
            <a:r>
              <a:rPr lang="en-US" sz="1200" spc="-40" dirty="0">
                <a:solidFill>
                  <a:srgbClr val="454545"/>
                </a:solidFill>
                <a:latin typeface="Arial"/>
                <a:cs typeface="Arial"/>
              </a:rPr>
              <a:t> </a:t>
            </a:r>
            <a:r>
              <a:rPr lang="en-US" sz="1200" dirty="0">
                <a:solidFill>
                  <a:srgbClr val="454545"/>
                </a:solidFill>
                <a:latin typeface="Arial"/>
                <a:cs typeface="Arial"/>
              </a:rPr>
              <a:t>Federal</a:t>
            </a:r>
            <a:r>
              <a:rPr lang="en-US" sz="1200" spc="-55" dirty="0">
                <a:solidFill>
                  <a:srgbClr val="454545"/>
                </a:solidFill>
                <a:latin typeface="Arial"/>
                <a:cs typeface="Arial"/>
              </a:rPr>
              <a:t> </a:t>
            </a:r>
            <a:r>
              <a:rPr lang="en-US" sz="1200" dirty="0">
                <a:solidFill>
                  <a:srgbClr val="454545"/>
                </a:solidFill>
                <a:latin typeface="Arial"/>
                <a:cs typeface="Arial"/>
              </a:rPr>
              <a:t>Bureau</a:t>
            </a:r>
            <a:r>
              <a:rPr lang="en-US" sz="1200" spc="-50" dirty="0">
                <a:solidFill>
                  <a:srgbClr val="454545"/>
                </a:solidFill>
                <a:latin typeface="Arial"/>
                <a:cs typeface="Arial"/>
              </a:rPr>
              <a:t> </a:t>
            </a:r>
            <a:r>
              <a:rPr lang="en-US" sz="1200" dirty="0">
                <a:solidFill>
                  <a:srgbClr val="454545"/>
                </a:solidFill>
                <a:latin typeface="Arial"/>
                <a:cs typeface="Arial"/>
              </a:rPr>
              <a:t>of</a:t>
            </a:r>
            <a:r>
              <a:rPr lang="en-US" sz="1200" spc="-50" dirty="0">
                <a:solidFill>
                  <a:srgbClr val="454545"/>
                </a:solidFill>
                <a:latin typeface="Arial"/>
                <a:cs typeface="Arial"/>
              </a:rPr>
              <a:t> </a:t>
            </a:r>
            <a:r>
              <a:rPr lang="en-US" sz="1200" spc="-10" dirty="0">
                <a:solidFill>
                  <a:srgbClr val="454545"/>
                </a:solidFill>
                <a:latin typeface="Arial"/>
                <a:cs typeface="Arial"/>
              </a:rPr>
              <a:t>Investigation</a:t>
            </a:r>
            <a:endParaRPr lang="en-US" sz="1200" dirty="0">
              <a:latin typeface="Arial"/>
              <a:cs typeface="Arial"/>
            </a:endParaRPr>
          </a:p>
          <a:p>
            <a:pPr marL="756285" lvl="1" indent="-286385">
              <a:lnSpc>
                <a:spcPct val="100000"/>
              </a:lnSpc>
              <a:buClr>
                <a:srgbClr val="1F487C"/>
              </a:buClr>
              <a:buChar char="–"/>
              <a:tabLst>
                <a:tab pos="756285" algn="l"/>
              </a:tabLst>
            </a:pPr>
            <a:r>
              <a:rPr lang="en-US" sz="1200" spc="-10" dirty="0">
                <a:solidFill>
                  <a:srgbClr val="454545"/>
                </a:solidFill>
                <a:latin typeface="Arial"/>
                <a:cs typeface="Arial"/>
              </a:rPr>
              <a:t>Mr. Tom Welch - National</a:t>
            </a:r>
            <a:r>
              <a:rPr lang="en-US" sz="1200" spc="-105" dirty="0">
                <a:solidFill>
                  <a:srgbClr val="454545"/>
                </a:solidFill>
                <a:latin typeface="Arial"/>
                <a:cs typeface="Arial"/>
              </a:rPr>
              <a:t> </a:t>
            </a:r>
            <a:r>
              <a:rPr lang="en-US" sz="1200" dirty="0">
                <a:solidFill>
                  <a:srgbClr val="454545"/>
                </a:solidFill>
                <a:latin typeface="Arial"/>
                <a:cs typeface="Arial"/>
              </a:rPr>
              <a:t>Association</a:t>
            </a:r>
            <a:r>
              <a:rPr lang="en-US" sz="1200" spc="-85" dirty="0">
                <a:solidFill>
                  <a:srgbClr val="454545"/>
                </a:solidFill>
                <a:latin typeface="Arial"/>
                <a:cs typeface="Arial"/>
              </a:rPr>
              <a:t> </a:t>
            </a:r>
            <a:r>
              <a:rPr lang="en-US" sz="1200" dirty="0">
                <a:solidFill>
                  <a:srgbClr val="454545"/>
                </a:solidFill>
                <a:latin typeface="Arial"/>
                <a:cs typeface="Arial"/>
              </a:rPr>
              <a:t>for</a:t>
            </a:r>
            <a:r>
              <a:rPr lang="en-US" sz="1200" spc="-20" dirty="0">
                <a:solidFill>
                  <a:srgbClr val="454545"/>
                </a:solidFill>
                <a:latin typeface="Arial"/>
                <a:cs typeface="Arial"/>
              </a:rPr>
              <a:t> </a:t>
            </a:r>
            <a:r>
              <a:rPr lang="en-US" sz="1200" dirty="0">
                <a:solidFill>
                  <a:srgbClr val="454545"/>
                </a:solidFill>
                <a:latin typeface="Arial"/>
                <a:cs typeface="Arial"/>
              </a:rPr>
              <a:t>Justice</a:t>
            </a:r>
            <a:r>
              <a:rPr lang="en-US" sz="1200" spc="-45" dirty="0">
                <a:solidFill>
                  <a:srgbClr val="454545"/>
                </a:solidFill>
                <a:latin typeface="Arial"/>
                <a:cs typeface="Arial"/>
              </a:rPr>
              <a:t> </a:t>
            </a:r>
            <a:r>
              <a:rPr lang="en-US" sz="1200" dirty="0">
                <a:solidFill>
                  <a:srgbClr val="454545"/>
                </a:solidFill>
                <a:latin typeface="Arial"/>
                <a:cs typeface="Arial"/>
              </a:rPr>
              <a:t>Information</a:t>
            </a:r>
            <a:r>
              <a:rPr lang="en-US" sz="1200" spc="-15" dirty="0">
                <a:solidFill>
                  <a:srgbClr val="454545"/>
                </a:solidFill>
                <a:latin typeface="Arial"/>
                <a:cs typeface="Arial"/>
              </a:rPr>
              <a:t> </a:t>
            </a:r>
            <a:r>
              <a:rPr lang="en-US" sz="1200" dirty="0">
                <a:solidFill>
                  <a:srgbClr val="454545"/>
                </a:solidFill>
                <a:latin typeface="Arial"/>
                <a:cs typeface="Arial"/>
              </a:rPr>
              <a:t>Systems</a:t>
            </a:r>
            <a:r>
              <a:rPr lang="en-US" sz="1200" spc="-5" dirty="0">
                <a:solidFill>
                  <a:srgbClr val="454545"/>
                </a:solidFill>
                <a:latin typeface="Arial"/>
                <a:cs typeface="Arial"/>
              </a:rPr>
              <a:t> </a:t>
            </a:r>
            <a:r>
              <a:rPr lang="en-US" sz="1200" spc="-10" dirty="0">
                <a:solidFill>
                  <a:srgbClr val="454545"/>
                </a:solidFill>
                <a:latin typeface="Arial"/>
                <a:cs typeface="Arial"/>
              </a:rPr>
              <a:t>(NAJIS)</a:t>
            </a:r>
          </a:p>
          <a:p>
            <a:pPr marL="469900" lvl="1" indent="0" algn="l" defTabSz="914400" rtl="0" eaLnBrk="1" latinLnBrk="0" hangingPunct="1">
              <a:lnSpc>
                <a:spcPct val="100000"/>
              </a:lnSpc>
              <a:buClr>
                <a:srgbClr val="1F487C"/>
              </a:buClr>
              <a:buNone/>
              <a:tabLst>
                <a:tab pos="756285" algn="l"/>
              </a:tabLst>
            </a:pPr>
            <a:r>
              <a:rPr lang="en-US" sz="1200" b="1" spc="-10" dirty="0">
                <a:solidFill>
                  <a:srgbClr val="454545"/>
                </a:solidFill>
                <a:latin typeface="Arial"/>
                <a:cs typeface="Arial"/>
              </a:rPr>
              <a:t>Expert Voting Members</a:t>
            </a:r>
            <a:endParaRPr lang="en-US" sz="1200" b="1" kern="1200" dirty="0">
              <a:solidFill>
                <a:schemeClr val="tx1"/>
              </a:solidFill>
              <a:latin typeface="Arial"/>
              <a:ea typeface="+mn-ea"/>
              <a:cs typeface="Arial"/>
            </a:endParaRPr>
          </a:p>
          <a:p>
            <a:pPr marL="756285" marR="0" lvl="1" indent="-286385" algn="l" defTabSz="914400" rtl="0" eaLnBrk="1" latinLnBrk="0" hangingPunct="1">
              <a:lnSpc>
                <a:spcPct val="100000"/>
              </a:lnSpc>
              <a:spcBef>
                <a:spcPts val="0"/>
              </a:spcBef>
              <a:spcAft>
                <a:spcPts val="800"/>
              </a:spcAft>
              <a:buClr>
                <a:srgbClr val="1F487C"/>
              </a:buClr>
              <a:buChar char="–"/>
              <a:tabLst>
                <a:tab pos="756285" algn="l"/>
              </a:tabLst>
            </a:pPr>
            <a:r>
              <a:rPr lang="en-US" sz="1200" kern="1200" dirty="0">
                <a:solidFill>
                  <a:schemeClr val="tx1"/>
                </a:solidFill>
                <a:latin typeface="Arial"/>
                <a:ea typeface="+mn-ea"/>
                <a:cs typeface="Arial"/>
              </a:rPr>
              <a:t>NBAC TSC - Mr. Thomas Krul (National Defence Canada)</a:t>
            </a:r>
          </a:p>
          <a:p>
            <a:pPr marL="756285" marR="0" lvl="1" indent="-286385" algn="l" defTabSz="914400" rtl="0" eaLnBrk="1" latinLnBrk="0" hangingPunct="1">
              <a:lnSpc>
                <a:spcPct val="100000"/>
              </a:lnSpc>
              <a:spcBef>
                <a:spcPts val="0"/>
              </a:spcBef>
              <a:spcAft>
                <a:spcPts val="800"/>
              </a:spcAft>
              <a:buClr>
                <a:srgbClr val="1F487C"/>
              </a:buClr>
              <a:buChar char="–"/>
              <a:tabLst>
                <a:tab pos="756285" algn="l"/>
              </a:tabLst>
            </a:pPr>
            <a:r>
              <a:rPr lang="en-US" sz="1200" kern="1200" dirty="0">
                <a:solidFill>
                  <a:schemeClr val="tx1"/>
                </a:solidFill>
                <a:latin typeface="Arial"/>
                <a:ea typeface="+mn-ea"/>
                <a:cs typeface="Arial"/>
              </a:rPr>
              <a:t>NTAC TSC – Mr. Jim Cabral</a:t>
            </a:r>
          </a:p>
          <a:p>
            <a:pPr marL="469900" marR="0" lvl="1" indent="0" algn="l" defTabSz="914400" rtl="0" eaLnBrk="1" latinLnBrk="0" hangingPunct="1">
              <a:lnSpc>
                <a:spcPct val="100000"/>
              </a:lnSpc>
              <a:spcBef>
                <a:spcPts val="0"/>
              </a:spcBef>
              <a:spcAft>
                <a:spcPts val="800"/>
              </a:spcAft>
              <a:buClr>
                <a:srgbClr val="1F487C"/>
              </a:buClr>
              <a:buNone/>
              <a:tabLst>
                <a:tab pos="756285" algn="l"/>
              </a:tabLst>
            </a:pPr>
            <a:r>
              <a:rPr lang="en-US" sz="1800" b="1" kern="100" dirty="0">
                <a:effectLst/>
                <a:latin typeface="Arial" panose="020B0604020202020204" pitchFamily="34" charset="0"/>
                <a:ea typeface="Aptos" panose="020B0004020202020204" pitchFamily="34" charset="0"/>
                <a:cs typeface="Times New Roman" panose="02020603050405020304" pitchFamily="18" charset="0"/>
              </a:rPr>
              <a:t>PGB Expert Non-Voting Members(4)</a:t>
            </a:r>
            <a:endParaRPr lang="en-US" sz="1200" kern="1200" dirty="0">
              <a:solidFill>
                <a:schemeClr val="tx1"/>
              </a:solidFill>
              <a:latin typeface="Arial"/>
              <a:ea typeface="+mn-ea"/>
              <a:cs typeface="Arial"/>
            </a:endParaRPr>
          </a:p>
          <a:p>
            <a:pPr marL="756285" marR="0" lvl="1" indent="-286385" algn="l" defTabSz="914400" rtl="0" eaLnBrk="1" latinLnBrk="0" hangingPunct="1">
              <a:lnSpc>
                <a:spcPct val="100000"/>
              </a:lnSpc>
              <a:spcBef>
                <a:spcPts val="0"/>
              </a:spcBef>
              <a:spcAft>
                <a:spcPts val="800"/>
              </a:spcAft>
              <a:buClr>
                <a:srgbClr val="1F487C"/>
              </a:buClr>
              <a:buChar char="–"/>
              <a:tabLst>
                <a:tab pos="756285" algn="l"/>
              </a:tabLst>
            </a:pPr>
            <a:r>
              <a:rPr lang="en-US" sz="1200" kern="1200" dirty="0">
                <a:solidFill>
                  <a:schemeClr val="tx1"/>
                </a:solidFill>
                <a:latin typeface="Arial"/>
                <a:ea typeface="+mn-ea"/>
                <a:cs typeface="Arial"/>
              </a:rPr>
              <a:t>NBAC TSC – Mr. Kamran Atri (A4Safe),</a:t>
            </a:r>
          </a:p>
          <a:p>
            <a:pPr marL="756285" marR="0" lvl="1" indent="-286385" algn="l" defTabSz="914400" rtl="0" eaLnBrk="1" latinLnBrk="0" hangingPunct="1">
              <a:lnSpc>
                <a:spcPct val="100000"/>
              </a:lnSpc>
              <a:spcBef>
                <a:spcPts val="0"/>
              </a:spcBef>
              <a:spcAft>
                <a:spcPts val="800"/>
              </a:spcAft>
              <a:buClr>
                <a:srgbClr val="1F487C"/>
              </a:buClr>
              <a:buChar char="–"/>
              <a:tabLst>
                <a:tab pos="756285" algn="l"/>
              </a:tabLst>
            </a:pPr>
            <a:r>
              <a:rPr lang="en-US" sz="1200" kern="1200" dirty="0">
                <a:solidFill>
                  <a:schemeClr val="tx1"/>
                </a:solidFill>
                <a:latin typeface="Arial"/>
                <a:ea typeface="+mn-ea"/>
                <a:cs typeface="Arial"/>
              </a:rPr>
              <a:t>NTAC TSC – Mr. Brad Bolliger (EY)</a:t>
            </a:r>
          </a:p>
          <a:p>
            <a:pPr marL="756285" marR="0" lvl="1" indent="-286385" algn="l" defTabSz="914400" rtl="0" eaLnBrk="1" latinLnBrk="0" hangingPunct="1">
              <a:lnSpc>
                <a:spcPct val="100000"/>
              </a:lnSpc>
              <a:spcBef>
                <a:spcPts val="0"/>
              </a:spcBef>
              <a:spcAft>
                <a:spcPts val="800"/>
              </a:spcAft>
              <a:buClr>
                <a:srgbClr val="1F487C"/>
              </a:buClr>
              <a:buChar char="–"/>
              <a:tabLst>
                <a:tab pos="756285" algn="l"/>
              </a:tabLst>
            </a:pPr>
            <a:r>
              <a:rPr lang="en-US" sz="1200" kern="1200" dirty="0">
                <a:solidFill>
                  <a:schemeClr val="tx1"/>
                </a:solidFill>
                <a:latin typeface="Arial"/>
                <a:ea typeface="+mn-ea"/>
                <a:cs typeface="Arial"/>
              </a:rPr>
              <a:t>Dr. Scott Renner (MITRE)</a:t>
            </a:r>
          </a:p>
          <a:p>
            <a:pPr marL="756285" marR="0" lvl="1" indent="-286385" algn="l" defTabSz="914400" rtl="0" eaLnBrk="1" latinLnBrk="0" hangingPunct="1">
              <a:lnSpc>
                <a:spcPct val="100000"/>
              </a:lnSpc>
              <a:spcBef>
                <a:spcPts val="0"/>
              </a:spcBef>
              <a:spcAft>
                <a:spcPts val="800"/>
              </a:spcAft>
              <a:buClr>
                <a:srgbClr val="1F487C"/>
              </a:buClr>
              <a:buChar char="–"/>
              <a:tabLst>
                <a:tab pos="756285" algn="l"/>
              </a:tabLst>
            </a:pPr>
            <a:endParaRPr lang="en-US" sz="1200" kern="1200" dirty="0">
              <a:solidFill>
                <a:schemeClr val="tx1"/>
              </a:solidFill>
              <a:latin typeface="Arial"/>
              <a:ea typeface="+mn-ea"/>
              <a:cs typeface="Arial"/>
            </a:endParaRPr>
          </a:p>
          <a:p>
            <a:pPr marL="756285" lvl="1" indent="-286385">
              <a:lnSpc>
                <a:spcPct val="100000"/>
              </a:lnSpc>
              <a:buClr>
                <a:srgbClr val="1F487C"/>
              </a:buClr>
              <a:buChar char="–"/>
              <a:tabLst>
                <a:tab pos="756285" algn="l"/>
              </a:tabLst>
            </a:pPr>
            <a:endParaRPr lang="en-US" sz="1200" spc="-10" dirty="0">
              <a:solidFill>
                <a:srgbClr val="454545"/>
              </a:solidFill>
              <a:latin typeface="Arial"/>
              <a:cs typeface="Arial"/>
            </a:endParaRPr>
          </a:p>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6</a:t>
            </a:fld>
            <a:endParaRPr lang="en-US"/>
          </a:p>
        </p:txBody>
      </p:sp>
    </p:spTree>
    <p:extLst>
      <p:ext uri="{BB962C8B-B14F-4D97-AF65-F5344CB8AC3E}">
        <p14:creationId xmlns:p14="http://schemas.microsoft.com/office/powerpoint/2010/main" val="1802325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22</a:t>
            </a:fld>
            <a:endParaRPr lang="en-US"/>
          </a:p>
        </p:txBody>
      </p:sp>
    </p:spTree>
    <p:extLst>
      <p:ext uri="{BB962C8B-B14F-4D97-AF65-F5344CB8AC3E}">
        <p14:creationId xmlns:p14="http://schemas.microsoft.com/office/powerpoint/2010/main" val="2964125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0A9BAC-443C-47BE-889A-35993756C5CC}" type="slidenum">
              <a:rPr lang="en-US" smtClean="0"/>
              <a:t>23</a:t>
            </a:fld>
            <a:endParaRPr lang="en-US"/>
          </a:p>
        </p:txBody>
      </p:sp>
    </p:spTree>
    <p:extLst>
      <p:ext uri="{BB962C8B-B14F-4D97-AF65-F5344CB8AC3E}">
        <p14:creationId xmlns:p14="http://schemas.microsoft.com/office/powerpoint/2010/main" val="888493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25</a:t>
            </a:fld>
            <a:endParaRPr lang="en-US"/>
          </a:p>
        </p:txBody>
      </p:sp>
    </p:spTree>
    <p:extLst>
      <p:ext uri="{BB962C8B-B14F-4D97-AF65-F5344CB8AC3E}">
        <p14:creationId xmlns:p14="http://schemas.microsoft.com/office/powerpoint/2010/main" val="279020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sng" dirty="0">
                <a:solidFill>
                  <a:srgbClr val="2248E5"/>
                </a:solidFill>
                <a:effectLst/>
                <a:latin typeface="Poppins" panose="00000500000000000000" pitchFamily="2" charset="0"/>
                <a:hlinkClick r:id="rId3"/>
              </a:rPr>
              <a:t>5.1</a:t>
            </a:r>
            <a:r>
              <a:rPr lang="en-US" b="0" i="0" dirty="0">
                <a:solidFill>
                  <a:srgbClr val="0A2540"/>
                </a:solidFill>
                <a:effectLst/>
                <a:latin typeface="Poppins" panose="00000500000000000000" pitchFamily="2" charset="0"/>
              </a:rPr>
              <a:t> Overall guidance for the Project is provided by its </a:t>
            </a:r>
            <a:r>
              <a:rPr lang="en-US" b="0" i="1" u="sng" dirty="0">
                <a:solidFill>
                  <a:srgbClr val="2248E5"/>
                </a:solidFill>
                <a:effectLst/>
                <a:latin typeface="Poppins" panose="00000500000000000000" pitchFamily="2" charset="0"/>
                <a:hlinkClick r:id="rId4"/>
              </a:rPr>
              <a:t>Project Governing Board</a:t>
            </a:r>
            <a:r>
              <a:rPr lang="en-US" b="0" i="0" dirty="0">
                <a:solidFill>
                  <a:srgbClr val="0A2540"/>
                </a:solidFill>
                <a:effectLst/>
                <a:latin typeface="Poppins" panose="00000500000000000000" pitchFamily="2" charset="0"/>
              </a:rPr>
              <a:t> (or </a:t>
            </a:r>
            <a:r>
              <a:rPr lang="en-US" b="1" i="1" dirty="0">
                <a:solidFill>
                  <a:srgbClr val="0A2540"/>
                </a:solidFill>
                <a:effectLst/>
                <a:latin typeface="Poppins" panose="00000500000000000000" pitchFamily="2" charset="0"/>
              </a:rPr>
              <a:t>PGB</a:t>
            </a:r>
            <a:r>
              <a:rPr lang="en-US" b="0" i="0" dirty="0">
                <a:solidFill>
                  <a:srgbClr val="0A2540"/>
                </a:solidFill>
                <a:effectLst/>
                <a:latin typeface="Poppins" panose="00000500000000000000" pitchFamily="2" charset="0"/>
              </a:rPr>
              <a:t>). The PGB is composed of one voting member from each Project Sponsor who elects to appoint a PGB member, and (a) if the PGB has one or more Technical Steering Committees, one voting expert representative from each TSC, elected or appointed by that TSC,… The PGB may create additional non-voting PGB member seats for expert representatives to be elected by the TSC or appointed by the PGB (</a:t>
            </a:r>
            <a:r>
              <a:rPr lang="en-US" dirty="0">
                <a:hlinkClick r:id="rId5"/>
              </a:rPr>
              <a:t>Open Project Rules - OASIS Open (oasis-open.org)</a:t>
            </a:r>
            <a:endParaRPr lang="en-US" dirty="0"/>
          </a:p>
          <a:p>
            <a:endParaRPr lang="en-US" dirty="0"/>
          </a:p>
          <a:p>
            <a:r>
              <a:rPr lang="en-US" dirty="0"/>
              <a:t>The PGB approved 3 Technical Steering Committees (TSCs) by resolution and their respective governance documents (NIEM Management Office TSC, NIEM Business Architecture Committee TSC, and NIEN Technical Steering Committee TSC) and appointed their respective Co-Chairs.</a:t>
            </a:r>
          </a:p>
          <a:p>
            <a:endParaRPr lang="en-US" dirty="0"/>
          </a:p>
          <a:p>
            <a:r>
              <a:rPr lang="en-US" b="0" i="0" dirty="0">
                <a:solidFill>
                  <a:srgbClr val="0A2540"/>
                </a:solidFill>
                <a:effectLst/>
                <a:latin typeface="Poppins" panose="00000500000000000000" pitchFamily="2" charset="0"/>
              </a:rPr>
              <a:t>6. Technical Steering Committees - The PGB shall form a </a:t>
            </a:r>
            <a:r>
              <a:rPr lang="en-US" b="1" i="1" dirty="0">
                <a:solidFill>
                  <a:srgbClr val="0A2540"/>
                </a:solidFill>
                <a:effectLst/>
                <a:latin typeface="Poppins" panose="00000500000000000000" pitchFamily="2" charset="0"/>
              </a:rPr>
              <a:t>Technical Steering Committee</a:t>
            </a:r>
            <a:r>
              <a:rPr lang="en-US" b="0" i="0" dirty="0">
                <a:solidFill>
                  <a:srgbClr val="0A2540"/>
                </a:solidFill>
                <a:effectLst/>
                <a:latin typeface="Poppins" panose="00000500000000000000" pitchFamily="2" charset="0"/>
              </a:rPr>
              <a:t> (or </a:t>
            </a:r>
            <a:r>
              <a:rPr lang="en-US" b="1" i="1" dirty="0">
                <a:solidFill>
                  <a:srgbClr val="0A2540"/>
                </a:solidFill>
                <a:effectLst/>
                <a:latin typeface="Poppins" panose="00000500000000000000" pitchFamily="2" charset="0"/>
              </a:rPr>
              <a:t>TSC</a:t>
            </a:r>
            <a:r>
              <a:rPr lang="en-US" b="0" i="0" dirty="0">
                <a:solidFill>
                  <a:srgbClr val="0A2540"/>
                </a:solidFill>
                <a:effectLst/>
                <a:latin typeface="Poppins" panose="00000500000000000000" pitchFamily="2" charset="0"/>
              </a:rPr>
              <a:t>) by a resolution of the PGB. A Project’s TSC members shall be composed of the persons, selected in the manner, and chaired by such person as is provided by that resolution. The PGB must create and publish process documentation for each TSC, outlining the requirements for joining and voting in that TSC, consistent with these Rules (including Section 10), and shall specify whether the Chair(s) of the TSC are selected by the PGB, or by that TSC’s members. The TSC shall have the duties to advise the PGB and such others as are specified by the PGB, so long as consistent with these Rules and OASIS policies (</a:t>
            </a:r>
            <a:r>
              <a:rPr lang="en-US" dirty="0">
                <a:hlinkClick r:id="rId6"/>
              </a:rPr>
              <a:t>Open Project Rules - OASIS Open (oasis-open.org)</a:t>
            </a:r>
            <a:r>
              <a:rPr lang="en-US" b="0" i="0" dirty="0">
                <a:solidFill>
                  <a:srgbClr val="0A2540"/>
                </a:solidFill>
                <a:effectLst/>
                <a:latin typeface="Poppins" panose="00000500000000000000" pitchFamily="2" charset="0"/>
              </a:rPr>
              <a:t>.</a:t>
            </a:r>
          </a:p>
          <a:p>
            <a:endParaRPr lang="en-US" b="0" i="0" dirty="0">
              <a:solidFill>
                <a:srgbClr val="0A2540"/>
              </a:solidFill>
              <a:effectLst/>
              <a:latin typeface="Poppins" panose="00000500000000000000" pitchFamily="2" charset="0"/>
            </a:endParaRPr>
          </a:p>
          <a:p>
            <a:r>
              <a:rPr lang="en-US" b="0" i="0" dirty="0">
                <a:solidFill>
                  <a:srgbClr val="0A2540"/>
                </a:solidFill>
                <a:effectLst/>
                <a:latin typeface="Poppins" panose="00000500000000000000" pitchFamily="2" charset="0"/>
              </a:rPr>
              <a:t>The TSCs may establish Subcommittees and Tiger Teams. There were 17 former NIEM Domains (Communities of Interest (COIs)) at the standup of NIEM OPEN under the auspices of OASIS. The NBAC TSC is recommending these Domains transition as NBAC subcommittees as outlined in the NBAC TSC approved Governance Document. Each Domain will elect a Steward and/or Chairs and establish Standard Operating Procedures IAW OASIS rules.</a:t>
            </a:r>
          </a:p>
          <a:p>
            <a:endParaRPr lang="en-US" b="0" i="0" dirty="0">
              <a:solidFill>
                <a:srgbClr val="0A2540"/>
              </a:solidFill>
              <a:effectLst/>
              <a:latin typeface="Poppins" panose="00000500000000000000" pitchFamily="2" charset="0"/>
            </a:endParaRPr>
          </a:p>
          <a:p>
            <a:r>
              <a:rPr lang="en-US" b="0" i="0" dirty="0">
                <a:solidFill>
                  <a:srgbClr val="0A2540"/>
                </a:solidFill>
                <a:effectLst/>
                <a:latin typeface="Poppins" panose="00000500000000000000" pitchFamily="2" charset="0"/>
              </a:rPr>
              <a:t>In addition to Domains, the Harmonization Subcommittee is constituted under the NBAC TSC. This subcommittee is responsible for oversight of NIEM CORE (</a:t>
            </a:r>
            <a:r>
              <a:rPr lang="en-US" b="0" i="0" dirty="0">
                <a:solidFill>
                  <a:srgbClr val="1B1B1B"/>
                </a:solidFill>
                <a:effectLst/>
                <a:latin typeface="Source Sans Pro Web"/>
              </a:rPr>
              <a:t>The NIEM core consists of data elements that are commonly understood and defined across domains, such as person, activity, document, location, and item. It’s governed jointly by all NIEM domains</a:t>
            </a:r>
            <a:r>
              <a:rPr lang="en-US" b="0" i="0" dirty="0">
                <a:solidFill>
                  <a:srgbClr val="0A2540"/>
                </a:solidFill>
                <a:effectLst/>
                <a:latin typeface="Poppins" panose="00000500000000000000" pitchFamily="2" charset="0"/>
              </a:rPr>
              <a:t> and the NIEM Harmonization Process.). https://www.niem.gov/about-niem/niem-model</a:t>
            </a:r>
          </a:p>
          <a:p>
            <a:endParaRPr lang="en-US" b="0" i="0" dirty="0">
              <a:solidFill>
                <a:srgbClr val="0A2540"/>
              </a:solidFill>
              <a:effectLst/>
              <a:latin typeface="Poppins" panose="00000500000000000000" pitchFamily="2" charset="0"/>
            </a:endParaRPr>
          </a:p>
          <a:p>
            <a:pPr algn="l"/>
            <a:r>
              <a:rPr lang="en-US" b="1" i="0" dirty="0">
                <a:solidFill>
                  <a:srgbClr val="1B1B1B"/>
                </a:solidFill>
                <a:effectLst/>
                <a:latin typeface="Montserrat-Bold"/>
              </a:rPr>
              <a:t>Updating the NIEM core</a:t>
            </a:r>
          </a:p>
          <a:p>
            <a:pPr algn="l"/>
            <a:r>
              <a:rPr lang="en-US" b="0" i="0" dirty="0">
                <a:solidFill>
                  <a:srgbClr val="1B1B1B"/>
                </a:solidFill>
                <a:effectLst/>
                <a:latin typeface="Source Sans Pro Web"/>
              </a:rPr>
              <a:t>If a data requirement isn't already found in the overall NIEM model and is applicable to many domains, it can be submitted through the NBAC for consideration for NIEM core. A primary function of the NBAC is to coordinate the ongoing harmonization process between NIEM core and domains.</a:t>
            </a:r>
          </a:p>
          <a:p>
            <a:pPr algn="l"/>
            <a:r>
              <a:rPr lang="en-US" b="1" i="0" dirty="0">
                <a:solidFill>
                  <a:srgbClr val="1B1B1B"/>
                </a:solidFill>
                <a:effectLst/>
                <a:latin typeface="Montserrat-Bold"/>
              </a:rPr>
              <a:t>Model harmonization</a:t>
            </a:r>
          </a:p>
          <a:p>
            <a:pPr algn="l"/>
            <a:r>
              <a:rPr lang="en-US" b="0" i="0" dirty="0">
                <a:solidFill>
                  <a:srgbClr val="1B1B1B"/>
                </a:solidFill>
                <a:effectLst/>
                <a:latin typeface="Source Sans Pro Web"/>
              </a:rPr>
              <a:t>Harmonization is an ongoing process to ensure no duplication in the model as updates are made and it evolves to accommodate new community business requirements. The harmonization process integrates these new requirements while still ensuring data elements exist only once in the model. There are two types of harmonization, between domains and between NIEM core and domains.</a:t>
            </a:r>
          </a:p>
          <a:p>
            <a:pPr algn="l"/>
            <a:r>
              <a:rPr lang="en-US" b="1" i="0" dirty="0">
                <a:solidFill>
                  <a:srgbClr val="1B1B1B"/>
                </a:solidFill>
                <a:effectLst/>
                <a:latin typeface="Montserrat-Bold"/>
              </a:rPr>
              <a:t>Harmonization review process</a:t>
            </a:r>
          </a:p>
          <a:p>
            <a:pPr algn="l"/>
            <a:r>
              <a:rPr lang="en-US" b="0" i="0" dirty="0">
                <a:solidFill>
                  <a:srgbClr val="1B1B1B"/>
                </a:solidFill>
                <a:effectLst/>
                <a:latin typeface="Source Sans Pro Web"/>
              </a:rPr>
              <a:t>Each domain has its own process for updating its data model, depending on the domain’s business needs and resources available.</a:t>
            </a:r>
          </a:p>
          <a:p>
            <a:pPr algn="l"/>
            <a:r>
              <a:rPr lang="en-US" b="0" i="0" dirty="0">
                <a:solidFill>
                  <a:srgbClr val="1B1B1B"/>
                </a:solidFill>
                <a:effectLst/>
                <a:latin typeface="Source Sans Pro Web"/>
              </a:rPr>
              <a:t>For harmonization between NIEM core and domains, every new business requirement that's identified follows a review process, as follows:</a:t>
            </a:r>
          </a:p>
          <a:p>
            <a:pPr algn="l">
              <a:buFont typeface="+mj-lt"/>
              <a:buAutoNum type="arabicPeriod"/>
            </a:pPr>
            <a:r>
              <a:rPr lang="en-US" b="0" i="0" dirty="0">
                <a:solidFill>
                  <a:srgbClr val="1B1B1B"/>
                </a:solidFill>
                <a:effectLst/>
                <a:latin typeface="Source Sans Pro Web"/>
              </a:rPr>
              <a:t>Issue is identified and an initial assessment is conducted by the NIEM … developers or self-identified by the domain(s).</a:t>
            </a:r>
          </a:p>
          <a:p>
            <a:pPr algn="l">
              <a:buFont typeface="+mj-lt"/>
              <a:buAutoNum type="arabicPeriod"/>
            </a:pPr>
            <a:r>
              <a:rPr lang="en-US" b="0" i="0" dirty="0">
                <a:solidFill>
                  <a:srgbClr val="1B1B1B"/>
                </a:solidFill>
                <a:effectLst/>
                <a:latin typeface="Source Sans Pro Web"/>
              </a:rPr>
              <a:t>Issue is reviewed by the NBAC and is assigned to a team consisting of NBAC TSC members with knowledge, expertise, and/or vested interest in resolving the issue.</a:t>
            </a:r>
          </a:p>
          <a:p>
            <a:pPr algn="l">
              <a:buFont typeface="+mj-lt"/>
              <a:buAutoNum type="arabicPeriod"/>
            </a:pPr>
            <a:r>
              <a:rPr lang="en-US" b="0" i="0" dirty="0">
                <a:solidFill>
                  <a:srgbClr val="1B1B1B"/>
                </a:solidFill>
                <a:effectLst/>
                <a:latin typeface="Source Sans Pro Web"/>
              </a:rPr>
              <a:t>The NBAC team works to resolve the issue and provides a recommended solution.</a:t>
            </a:r>
          </a:p>
          <a:p>
            <a:pPr algn="l">
              <a:buFont typeface="+mj-lt"/>
              <a:buAutoNum type="arabicPeriod"/>
            </a:pPr>
            <a:r>
              <a:rPr lang="en-US" b="0" i="0" dirty="0">
                <a:solidFill>
                  <a:srgbClr val="1B1B1B"/>
                </a:solidFill>
                <a:effectLst/>
                <a:latin typeface="Source Sans Pro Web"/>
              </a:rPr>
              <a:t>The NBAC reviews the recommended solution and accepts, rejects, or defers it for more information, which the team then supports.</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r>
              <a:rPr lang="en-US" b="0" i="0" dirty="0">
                <a:solidFill>
                  <a:srgbClr val="1B1B1B"/>
                </a:solidFill>
                <a:effectLst/>
                <a:latin typeface="Source Sans Pro Web"/>
              </a:rPr>
              <a:t>When the solution is accepted, NIEM lead developers will include it in the next release. </a:t>
            </a:r>
            <a:r>
              <a:rPr lang="en-US" b="0" i="0" dirty="0">
                <a:solidFill>
                  <a:srgbClr val="0A2540"/>
                </a:solidFill>
                <a:effectLst/>
                <a:latin typeface="Poppins" panose="00000500000000000000" pitchFamily="2" charset="0"/>
              </a:rPr>
              <a:t>https://www.niem.gov/about-niem/niem-model</a:t>
            </a:r>
          </a:p>
          <a:p>
            <a:pPr marL="0" marR="0" lvl="0" indent="0" algn="l" defTabSz="914400" rtl="0" eaLnBrk="1" fontAlgn="auto" latinLnBrk="0" hangingPunct="1">
              <a:lnSpc>
                <a:spcPct val="100000"/>
              </a:lnSpc>
              <a:spcBef>
                <a:spcPts val="0"/>
              </a:spcBef>
              <a:spcAft>
                <a:spcPts val="0"/>
              </a:spcAft>
              <a:buClrTx/>
              <a:buSzTx/>
              <a:buFont typeface="+mj-lt"/>
              <a:buAutoNum type="arabicPeriod"/>
              <a:tabLst/>
              <a:defRPr/>
            </a:pPr>
            <a:endParaRPr lang="en-US" b="0" i="0" dirty="0">
              <a:solidFill>
                <a:srgbClr val="0A2540"/>
              </a:solidFill>
              <a:effectLst/>
              <a:latin typeface="Poppins" panose="00000500000000000000" pitchFamily="2" charset="0"/>
            </a:endParaRPr>
          </a:p>
          <a:p>
            <a:endParaRPr lang="en-US" b="0" i="0" dirty="0">
              <a:solidFill>
                <a:srgbClr val="0A2540"/>
              </a:solidFill>
              <a:effectLst/>
              <a:latin typeface="Poppins" panose="00000500000000000000" pitchFamily="2" charset="0"/>
            </a:endParaRP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8897AF-D04E-4367-BADA-11FF3D514E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6926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29</a:t>
            </a:fld>
            <a:endParaRPr lang="en-US"/>
          </a:p>
        </p:txBody>
      </p:sp>
    </p:spTree>
    <p:extLst>
      <p:ext uri="{BB962C8B-B14F-4D97-AF65-F5344CB8AC3E}">
        <p14:creationId xmlns:p14="http://schemas.microsoft.com/office/powerpoint/2010/main" val="3185889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30</a:t>
            </a:fld>
            <a:endParaRPr lang="en-US"/>
          </a:p>
        </p:txBody>
      </p:sp>
    </p:spTree>
    <p:extLst>
      <p:ext uri="{BB962C8B-B14F-4D97-AF65-F5344CB8AC3E}">
        <p14:creationId xmlns:p14="http://schemas.microsoft.com/office/powerpoint/2010/main" val="21841213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The Chair </a:t>
            </a:r>
            <a:r>
              <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(Maker- Makers Name) makes a motion: </a:t>
            </a:r>
            <a:r>
              <a:rPr kumimoji="0" lang="en-US" sz="1200" b="0" i="0" u="none" strike="noStrike" kern="1200" cap="none" spc="0" normalizeH="0" baseline="0" noProof="0" dirty="0">
                <a:ln>
                  <a:noFill/>
                </a:ln>
                <a:solidFill>
                  <a:srgbClr val="EEECE1">
                    <a:lumMod val="10000"/>
                  </a:srgbClr>
                </a:solidFill>
                <a:effectLst/>
                <a:uLnTx/>
                <a:uFillTx/>
                <a:latin typeface="Arial"/>
                <a:ea typeface="+mn-ea"/>
                <a:cs typeface="+mn-cs"/>
              </a:rPr>
              <a:t>I motion that …………………………………………………</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endPar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none" dirty="0">
                <a:solidFill>
                  <a:schemeClr val="bg2">
                    <a:lumMod val="10000"/>
                  </a:schemeClr>
                </a:solidFill>
              </a:rPr>
              <a:t>2. </a:t>
            </a:r>
            <a:r>
              <a:rPr lang="en-US" sz="1200" b="1" u="sng" dirty="0">
                <a:solidFill>
                  <a:schemeClr val="bg2">
                    <a:lumMod val="10000"/>
                  </a:schemeClr>
                </a:solidFill>
              </a:rPr>
              <a:t>Chair: </a:t>
            </a:r>
            <a:r>
              <a:rPr lang="en-US" b="0" i="0" dirty="0">
                <a:solidFill>
                  <a:srgbClr val="000000"/>
                </a:solidFill>
                <a:effectLst/>
                <a:latin typeface="Open Sans"/>
              </a:rPr>
              <a:t>“It is moved and seconded to adopt the motion.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u="none" dirty="0">
                <a:solidFill>
                  <a:srgbClr val="000000"/>
                </a:solidFill>
                <a:effectLst/>
                <a:latin typeface="Open Sans"/>
              </a:rPr>
              <a:t>3. </a:t>
            </a:r>
            <a:r>
              <a:rPr lang="en-US" b="1" i="0" u="sng" dirty="0">
                <a:solidFill>
                  <a:srgbClr val="000000"/>
                </a:solidFill>
                <a:effectLst/>
                <a:latin typeface="Open Sans"/>
              </a:rPr>
              <a:t>Chair: </a:t>
            </a:r>
            <a:r>
              <a:rPr lang="en-US" b="0" i="0" dirty="0">
                <a:solidFill>
                  <a:srgbClr val="000000"/>
                </a:solidFill>
                <a:effectLst/>
                <a:latin typeface="Open Sans"/>
              </a:rPr>
              <a:t>Are there objections?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Open Sans"/>
                <a:ea typeface="+mn-ea"/>
                <a:cs typeface="+mn-cs"/>
              </a:rPr>
              <a:t>4.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 </a:t>
            </a:r>
            <a:r>
              <a:rPr kumimoji="0" lang="en-US" sz="1200" b="0" i="0" u="none" strike="noStrike" kern="1200" cap="none" spc="0" normalizeH="0" baseline="0" noProof="0" dirty="0">
                <a:ln>
                  <a:noFill/>
                </a:ln>
                <a:solidFill>
                  <a:srgbClr val="000000"/>
                </a:solidFill>
                <a:effectLst/>
                <a:uLnTx/>
                <a:uFillTx/>
                <a:latin typeface="Open Sans"/>
                <a:ea typeface="+mn-ea"/>
                <a:cs typeface="+mn-cs"/>
              </a:rPr>
              <a:t>Those in favor of adopting the motion to approve say</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srgbClr val="000000"/>
                </a:solidFill>
                <a:effectLst/>
                <a:uLnTx/>
                <a:uFillTx/>
                <a:latin typeface="Open Sans"/>
                <a:ea typeface="+mn-ea"/>
                <a:cs typeface="+mn-cs"/>
              </a:rPr>
              <a:t>‘Aye.’ [pause] Those opposed, say ‘No.’”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5.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 </a:t>
            </a:r>
            <a:r>
              <a:rPr kumimoji="0" lang="en-US" sz="1200" b="0" i="0" u="none" strike="noStrike" kern="1200" cap="none" spc="0" normalizeH="0" baseline="0" noProof="0" dirty="0">
                <a:ln>
                  <a:noFill/>
                </a:ln>
                <a:solidFill>
                  <a:srgbClr val="000000"/>
                </a:solidFill>
                <a:effectLst/>
                <a:uLnTx/>
                <a:uFillTx/>
                <a:latin typeface="Open Sans"/>
                <a:ea typeface="+mn-ea"/>
                <a:cs typeface="+mn-cs"/>
              </a:rPr>
              <a:t>Announce the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Open Sans"/>
                <a:ea typeface="+mn-ea"/>
                <a:cs typeface="+mn-cs"/>
              </a:rPr>
              <a:t>If no objections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6.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a:t>
            </a:r>
            <a:r>
              <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 Without objection, approved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7.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 </a:t>
            </a:r>
            <a:r>
              <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Before we entertain nominations, I open the floor for discussion.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8.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a:t>
            </a:r>
            <a:r>
              <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 Are their nominations for a new Chair (s)? / nominations recorded.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9.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 </a:t>
            </a:r>
            <a:r>
              <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Conduct the Vote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Open Sans"/>
                <a:ea typeface="+mn-ea"/>
                <a:cs typeface="+mn-cs"/>
              </a:rPr>
              <a:t>10.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 </a:t>
            </a:r>
            <a:r>
              <a:rPr kumimoji="0" lang="en-US" sz="1200" b="0" i="0" u="none" strike="noStrike" kern="1200" cap="none" spc="0" normalizeH="0" baseline="0" noProof="0" dirty="0">
                <a:ln>
                  <a:noFill/>
                </a:ln>
                <a:solidFill>
                  <a:srgbClr val="000000"/>
                </a:solidFill>
                <a:effectLst/>
                <a:uLnTx/>
                <a:uFillTx/>
                <a:latin typeface="Open Sans"/>
                <a:ea typeface="+mn-ea"/>
                <a:cs typeface="+mn-cs"/>
              </a:rPr>
              <a:t>Those in favor of adopting the motion to approve say</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200" b="0" i="0" u="none" strike="noStrike" kern="1200" cap="none" spc="0" normalizeH="0" baseline="0" noProof="0" dirty="0">
                <a:ln>
                  <a:noFill/>
                </a:ln>
                <a:solidFill>
                  <a:srgbClr val="000000"/>
                </a:solidFill>
                <a:effectLst/>
                <a:uLnTx/>
                <a:uFillTx/>
                <a:latin typeface="Open Sans"/>
                <a:ea typeface="+mn-ea"/>
                <a:cs typeface="+mn-cs"/>
              </a:rPr>
              <a:t>‘Aye.’ [pause] Those opposed, say ‘No.’”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rPr>
              <a:t>11. </a:t>
            </a:r>
            <a:r>
              <a:rPr kumimoji="0" lang="en-US" sz="1200" b="1" i="0" u="sng" strike="noStrike" kern="1200" cap="none" spc="0" normalizeH="0" baseline="0" noProof="0" dirty="0">
                <a:ln>
                  <a:noFill/>
                </a:ln>
                <a:solidFill>
                  <a:srgbClr val="E7E6E6">
                    <a:lumMod val="10000"/>
                  </a:srgbClr>
                </a:solidFill>
                <a:effectLst/>
                <a:uLnTx/>
                <a:uFillTx/>
                <a:latin typeface="Calibri" panose="020F0502020204030204"/>
                <a:ea typeface="+mn-ea"/>
                <a:cs typeface="+mn-cs"/>
              </a:rPr>
              <a:t>Chair: </a:t>
            </a:r>
            <a:r>
              <a:rPr kumimoji="0" lang="en-US" sz="1200" b="0" i="0" u="none" strike="noStrike" kern="1200" cap="none" spc="0" normalizeH="0" baseline="0" noProof="0" dirty="0">
                <a:ln>
                  <a:noFill/>
                </a:ln>
                <a:solidFill>
                  <a:srgbClr val="000000"/>
                </a:solidFill>
                <a:effectLst/>
                <a:uLnTx/>
                <a:uFillTx/>
                <a:latin typeface="Open Sans"/>
                <a:ea typeface="+mn-ea"/>
                <a:cs typeface="+mn-cs"/>
              </a:rPr>
              <a:t>Announce the result.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srgbClr val="E7E6E6">
                  <a:lumMod val="1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F8897AF-D04E-4367-BADA-11FF3D514E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8926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4AD24C-63E4-43F6-B7A2-9AED7BFA5002}" type="slidenum">
              <a:rPr lang="en-US" smtClean="0"/>
              <a:t>35</a:t>
            </a:fld>
            <a:endParaRPr lang="en-US"/>
          </a:p>
        </p:txBody>
      </p:sp>
    </p:spTree>
    <p:extLst>
      <p:ext uri="{BB962C8B-B14F-4D97-AF65-F5344CB8AC3E}">
        <p14:creationId xmlns:p14="http://schemas.microsoft.com/office/powerpoint/2010/main" val="8474732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US" baseline="0" dirty="0"/>
          </a:p>
        </p:txBody>
      </p:sp>
      <p:sp>
        <p:nvSpPr>
          <p:cNvPr id="4" name="Slide Number Placeholder 3"/>
          <p:cNvSpPr>
            <a:spLocks noGrp="1"/>
          </p:cNvSpPr>
          <p:nvPr>
            <p:ph type="sldNum" sz="quarter" idx="10"/>
          </p:nvPr>
        </p:nvSpPr>
        <p:spPr/>
        <p:txBody>
          <a:bodyPr/>
          <a:lstStyle/>
          <a:p>
            <a:pPr marL="0" marR="0" lvl="0" indent="0" algn="r" defTabSz="464149" rtl="0" eaLnBrk="1" fontAlgn="auto" latinLnBrk="0" hangingPunct="1">
              <a:lnSpc>
                <a:spcPct val="100000"/>
              </a:lnSpc>
              <a:spcBef>
                <a:spcPts val="0"/>
              </a:spcBef>
              <a:spcAft>
                <a:spcPts val="0"/>
              </a:spcAft>
              <a:buClrTx/>
              <a:buSzTx/>
              <a:buFontTx/>
              <a:buNone/>
              <a:tabLst/>
              <a:defRPr/>
            </a:pPr>
            <a:fld id="{B7DA21B6-DD30-824E-9484-61254458B3F6}"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464149"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25984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0983587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2209306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8340" y="326593"/>
            <a:ext cx="4225925" cy="452120"/>
          </a:xfrm>
          <a:prstGeom prst="rect">
            <a:avLst/>
          </a:prstGeom>
        </p:spPr>
        <p:txBody>
          <a:bodyPr wrap="square" lIns="0" tIns="0" rIns="0" bIns="0">
            <a:spAutoFit/>
          </a:bodyPr>
          <a:lstStyle>
            <a:lvl1pPr>
              <a:defRPr sz="2800" b="1" i="0">
                <a:solidFill>
                  <a:srgbClr val="004283"/>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000" b="0" i="0">
                <a:solidFill>
                  <a:srgbClr val="548ED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12/3/25</a:t>
            </a:fld>
            <a:endParaRPr lang="en-US"/>
          </a:p>
        </p:txBody>
      </p:sp>
      <p:sp>
        <p:nvSpPr>
          <p:cNvPr id="6" name="Holder 6"/>
          <p:cNvSpPr>
            <a:spLocks noGrp="1"/>
          </p:cNvSpPr>
          <p:nvPr>
            <p:ph type="sldNum" sz="quarter" idx="7"/>
          </p:nvPr>
        </p:nvSpPr>
        <p:spPr/>
        <p:txBody>
          <a:bodyPr lIns="0" tIns="0" rIns="0" bIns="0"/>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428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000" b="0" i="0">
                <a:solidFill>
                  <a:srgbClr val="548ED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12/3/25</a:t>
            </a:fld>
            <a:endParaRPr lang="en-US"/>
          </a:p>
        </p:txBody>
      </p:sp>
      <p:sp>
        <p:nvSpPr>
          <p:cNvPr id="6" name="Holder 6"/>
          <p:cNvSpPr>
            <a:spLocks noGrp="1"/>
          </p:cNvSpPr>
          <p:nvPr>
            <p:ph type="sldNum" sz="quarter" idx="7"/>
          </p:nvPr>
        </p:nvSpPr>
        <p:spPr/>
        <p:txBody>
          <a:bodyPr lIns="0" tIns="0" rIns="0" bIns="0"/>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4283"/>
                </a:solidFill>
                <a:latin typeface="Arial"/>
                <a:cs typeface="Arial"/>
              </a:defRPr>
            </a:lvl1pPr>
          </a:lstStyle>
          <a:p>
            <a:endParaRPr/>
          </a:p>
        </p:txBody>
      </p:sp>
      <p:sp>
        <p:nvSpPr>
          <p:cNvPr id="3" name="Holder 3"/>
          <p:cNvSpPr>
            <a:spLocks noGrp="1"/>
          </p:cNvSpPr>
          <p:nvPr>
            <p:ph sz="half" idx="2"/>
          </p:nvPr>
        </p:nvSpPr>
        <p:spPr>
          <a:xfrm>
            <a:off x="397256" y="1352804"/>
            <a:ext cx="5099685" cy="3439795"/>
          </a:xfrm>
          <a:prstGeom prst="rect">
            <a:avLst/>
          </a:prstGeom>
        </p:spPr>
        <p:txBody>
          <a:bodyPr wrap="square" lIns="0" tIns="0" rIns="0" bIns="0">
            <a:spAutoFit/>
          </a:bodyPr>
          <a:lstStyle>
            <a:lvl1pPr>
              <a:defRPr sz="1600" b="0" i="0">
                <a:solidFill>
                  <a:srgbClr val="1E1C11"/>
                </a:solidFill>
                <a:latin typeface="Arial"/>
                <a:cs typeface="Arial"/>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12/3/25</a:t>
            </a:fld>
            <a:endParaRPr lang="en-US"/>
          </a:p>
        </p:txBody>
      </p:sp>
      <p:sp>
        <p:nvSpPr>
          <p:cNvPr id="7" name="Holder 7"/>
          <p:cNvSpPr>
            <a:spLocks noGrp="1"/>
          </p:cNvSpPr>
          <p:nvPr>
            <p:ph type="sldNum" sz="quarter" idx="7"/>
          </p:nvPr>
        </p:nvSpPr>
        <p:spPr/>
        <p:txBody>
          <a:bodyPr lIns="0" tIns="0" rIns="0" bIns="0"/>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4283"/>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12/3/25</a:t>
            </a:fld>
            <a:endParaRPr lang="en-US"/>
          </a:p>
        </p:txBody>
      </p:sp>
      <p:sp>
        <p:nvSpPr>
          <p:cNvPr id="5" name="Holder 5"/>
          <p:cNvSpPr>
            <a:spLocks noGrp="1"/>
          </p:cNvSpPr>
          <p:nvPr>
            <p:ph type="sldNum" sz="quarter" idx="7"/>
          </p:nvPr>
        </p:nvSpPr>
        <p:spPr/>
        <p:txBody>
          <a:bodyPr lIns="0" tIns="0" rIns="0" bIns="0"/>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12/3/25</a:t>
            </a:fld>
            <a:endParaRPr lang="en-US"/>
          </a:p>
        </p:txBody>
      </p:sp>
      <p:sp>
        <p:nvSpPr>
          <p:cNvPr id="4" name="Holder 4"/>
          <p:cNvSpPr>
            <a:spLocks noGrp="1"/>
          </p:cNvSpPr>
          <p:nvPr>
            <p:ph type="sldNum" sz="quarter" idx="7"/>
          </p:nvPr>
        </p:nvSpPr>
        <p:spPr/>
        <p:txBody>
          <a:bodyPr lIns="0" tIns="0" rIns="0" bIns="0"/>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lvl1pPr>
              <a:defRPr sz="2800" baseline="0">
                <a:solidFill>
                  <a:srgbClr val="004283"/>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326DD364-13F5-4F1F-B58D-A48376FBCAD9}"/>
              </a:ext>
            </a:extLst>
          </p:cNvPr>
          <p:cNvSpPr>
            <a:spLocks noGrp="1"/>
          </p:cNvSpPr>
          <p:nvPr>
            <p:ph type="body" sz="quarter" idx="13"/>
          </p:nvPr>
        </p:nvSpPr>
        <p:spPr>
          <a:xfrm>
            <a:off x="609600" y="1200150"/>
            <a:ext cx="11079192" cy="4777956"/>
          </a:xfrm>
        </p:spPr>
        <p:txBody>
          <a:bodyPr/>
          <a:lstStyle>
            <a:lvl1pPr>
              <a:defRPr sz="2400">
                <a:solidFill>
                  <a:srgbClr val="334052"/>
                </a:solidFill>
              </a:defRPr>
            </a:lvl1pPr>
            <a:lvl2pPr>
              <a:defRPr sz="2000">
                <a:solidFill>
                  <a:srgbClr val="334052"/>
                </a:solidFill>
              </a:defRPr>
            </a:lvl2pPr>
            <a:lvl3pPr>
              <a:defRPr sz="1800">
                <a:solidFill>
                  <a:srgbClr val="334052"/>
                </a:solidFill>
              </a:defRPr>
            </a:lvl3pPr>
            <a:lvl4pPr>
              <a:defRPr sz="1600">
                <a:solidFill>
                  <a:srgbClr val="334052"/>
                </a:solidFill>
              </a:defRPr>
            </a:lvl4pPr>
            <a:lvl5pPr>
              <a:defRPr sz="1600">
                <a:solidFill>
                  <a:srgbClr val="33405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8">
            <a:extLst>
              <a:ext uri="{FF2B5EF4-FFF2-40B4-BE49-F238E27FC236}">
                <a16:creationId xmlns:a16="http://schemas.microsoft.com/office/drawing/2014/main" id="{C5D95E17-6E53-47C4-A1F3-99941F15D785}"/>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477268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2240313"/>
            <a:ext cx="5384800" cy="362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2240313"/>
            <a:ext cx="5384800" cy="362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9" name="Slide Number Placeholder 8">
            <a:extLst>
              <a:ext uri="{FF2B5EF4-FFF2-40B4-BE49-F238E27FC236}">
                <a16:creationId xmlns:a16="http://schemas.microsoft.com/office/drawing/2014/main" id="{9C783EA3-C43A-408B-8A96-2BF3503C5AD1}"/>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2102767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lvl1pPr>
              <a:defRPr sz="2800" baseline="0">
                <a:solidFill>
                  <a:srgbClr val="004283"/>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326DD364-13F5-4F1F-B58D-A48376FBCAD9}"/>
              </a:ext>
            </a:extLst>
          </p:cNvPr>
          <p:cNvSpPr>
            <a:spLocks noGrp="1"/>
          </p:cNvSpPr>
          <p:nvPr>
            <p:ph type="body" sz="quarter" idx="13"/>
          </p:nvPr>
        </p:nvSpPr>
        <p:spPr>
          <a:xfrm>
            <a:off x="609600" y="1200150"/>
            <a:ext cx="11079192" cy="4777956"/>
          </a:xfrm>
        </p:spPr>
        <p:txBody>
          <a:bodyPr/>
          <a:lstStyle>
            <a:lvl1pPr>
              <a:defRPr sz="2400">
                <a:solidFill>
                  <a:srgbClr val="334052"/>
                </a:solidFill>
              </a:defRPr>
            </a:lvl1pPr>
            <a:lvl2pPr>
              <a:defRPr sz="2000">
                <a:solidFill>
                  <a:srgbClr val="334052"/>
                </a:solidFill>
              </a:defRPr>
            </a:lvl2pPr>
            <a:lvl3pPr>
              <a:defRPr sz="1800">
                <a:solidFill>
                  <a:srgbClr val="334052"/>
                </a:solidFill>
              </a:defRPr>
            </a:lvl3pPr>
            <a:lvl4pPr>
              <a:defRPr sz="1600">
                <a:solidFill>
                  <a:srgbClr val="334052"/>
                </a:solidFill>
              </a:defRPr>
            </a:lvl4pPr>
            <a:lvl5pPr>
              <a:defRPr sz="1600">
                <a:solidFill>
                  <a:srgbClr val="33405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8">
            <a:extLst>
              <a:ext uri="{FF2B5EF4-FFF2-40B4-BE49-F238E27FC236}">
                <a16:creationId xmlns:a16="http://schemas.microsoft.com/office/drawing/2014/main" id="{C5D95E17-6E53-47C4-A1F3-99941F15D785}"/>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1137565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98134" y="2895600"/>
            <a:ext cx="8195733" cy="838200"/>
          </a:xfrm>
        </p:spPr>
        <p:txBody>
          <a:bodyPr>
            <a:noAutofit/>
          </a:bodyPr>
          <a:lstStyle>
            <a:lvl1pPr algn="ctr">
              <a:defRPr sz="4800"/>
            </a:lvl1pPr>
          </a:lstStyle>
          <a:p>
            <a:r>
              <a:rPr lang="en-US"/>
              <a:t>Click to edit Master title style</a:t>
            </a:r>
            <a:endParaRPr lang="en-US" dirty="0"/>
          </a:p>
        </p:txBody>
      </p:sp>
      <p:sp>
        <p:nvSpPr>
          <p:cNvPr id="3" name="Date Placeholder 2"/>
          <p:cNvSpPr>
            <a:spLocks noGrp="1"/>
          </p:cNvSpPr>
          <p:nvPr>
            <p:ph type="dt" sz="half" idx="10"/>
          </p:nvPr>
        </p:nvSpPr>
        <p:spPr>
          <a:xfrm>
            <a:off x="9255888" y="6356350"/>
            <a:ext cx="2844800" cy="365125"/>
          </a:xfrm>
          <a:prstGeom prst="rect">
            <a:avLst/>
          </a:prstGeom>
        </p:spPr>
        <p:txBody>
          <a:bodyPr/>
          <a:lstStyle/>
          <a:p>
            <a:endParaRPr lang="en-US" dirty="0">
              <a:solidFill>
                <a:srgbClr val="8B8B8B"/>
              </a:solidFill>
            </a:endParaRPr>
          </a:p>
        </p:txBody>
      </p:sp>
      <p:sp>
        <p:nvSpPr>
          <p:cNvPr id="5" name="Slide Number Placeholder 8">
            <a:extLst>
              <a:ext uri="{FF2B5EF4-FFF2-40B4-BE49-F238E27FC236}">
                <a16:creationId xmlns:a16="http://schemas.microsoft.com/office/drawing/2014/main" id="{10C4BB1B-EDC4-483F-B0EA-E14D2B3E2F54}"/>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2342079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473326"/>
            <a:ext cx="10363200" cy="981075"/>
          </a:xfrm>
        </p:spPr>
        <p:txBody>
          <a:bodyPr/>
          <a:lstStyle>
            <a:lvl1pPr algn="ctr">
              <a:defRPr b="1"/>
            </a:lvl1pPr>
          </a:lstStyle>
          <a:p>
            <a:r>
              <a:rPr lang="en-US"/>
              <a:t>Click to edit Master title style</a:t>
            </a:r>
            <a:endParaRPr lang="en-US" dirty="0"/>
          </a:p>
        </p:txBody>
      </p:sp>
      <p:sp>
        <p:nvSpPr>
          <p:cNvPr id="3" name="Subtitle 2"/>
          <p:cNvSpPr>
            <a:spLocks noGrp="1"/>
          </p:cNvSpPr>
          <p:nvPr>
            <p:ph type="subTitle" idx="1"/>
          </p:nvPr>
        </p:nvSpPr>
        <p:spPr>
          <a:xfrm>
            <a:off x="1828800" y="3594100"/>
            <a:ext cx="8534400" cy="495300"/>
          </a:xfrm>
        </p:spPr>
        <p:txBody>
          <a:bodyPr>
            <a:normAutofit/>
          </a:bodyPr>
          <a:lstStyle>
            <a:lvl1pPr marL="0" indent="0" algn="ctr">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9347200" y="6356350"/>
            <a:ext cx="2844800" cy="365125"/>
          </a:xfrm>
          <a:prstGeom prst="rect">
            <a:avLst/>
          </a:prstGeom>
        </p:spPr>
        <p:txBody>
          <a:bodyPr/>
          <a:lstStyle/>
          <a:p>
            <a:endParaRPr lang="en-US" dirty="0">
              <a:solidFill>
                <a:srgbClr val="8B8B8B"/>
              </a:solidFill>
            </a:endParaRPr>
          </a:p>
        </p:txBody>
      </p:sp>
      <p:sp>
        <p:nvSpPr>
          <p:cNvPr id="6" name="Slide Number Placeholder 8">
            <a:extLst>
              <a:ext uri="{FF2B5EF4-FFF2-40B4-BE49-F238E27FC236}">
                <a16:creationId xmlns:a16="http://schemas.microsoft.com/office/drawing/2014/main" id="{3395B0B3-2BEF-4C03-8782-98158BE48CBA}"/>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1520861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lvl1pPr>
              <a:defRPr sz="2800" baseline="0">
                <a:solidFill>
                  <a:srgbClr val="004283"/>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id="{326DD364-13F5-4F1F-B58D-A48376FBCAD9}"/>
              </a:ext>
            </a:extLst>
          </p:cNvPr>
          <p:cNvSpPr>
            <a:spLocks noGrp="1"/>
          </p:cNvSpPr>
          <p:nvPr>
            <p:ph type="body" sz="quarter" idx="13"/>
          </p:nvPr>
        </p:nvSpPr>
        <p:spPr>
          <a:xfrm>
            <a:off x="609600" y="1200150"/>
            <a:ext cx="11079192" cy="4777956"/>
          </a:xfrm>
        </p:spPr>
        <p:txBody>
          <a:bodyPr/>
          <a:lstStyle>
            <a:lvl1pPr>
              <a:defRPr sz="2400">
                <a:solidFill>
                  <a:srgbClr val="334052"/>
                </a:solidFill>
              </a:defRPr>
            </a:lvl1pPr>
            <a:lvl2pPr>
              <a:defRPr sz="2000">
                <a:solidFill>
                  <a:srgbClr val="334052"/>
                </a:solidFill>
              </a:defRPr>
            </a:lvl2pPr>
            <a:lvl3pPr>
              <a:defRPr sz="1800">
                <a:solidFill>
                  <a:srgbClr val="334052"/>
                </a:solidFill>
              </a:defRPr>
            </a:lvl3pPr>
            <a:lvl4pPr>
              <a:defRPr sz="1600">
                <a:solidFill>
                  <a:srgbClr val="334052"/>
                </a:solidFill>
              </a:defRPr>
            </a:lvl4pPr>
            <a:lvl5pPr>
              <a:defRPr sz="1600">
                <a:solidFill>
                  <a:srgbClr val="33405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8">
            <a:extLst>
              <a:ext uri="{FF2B5EF4-FFF2-40B4-BE49-F238E27FC236}">
                <a16:creationId xmlns:a16="http://schemas.microsoft.com/office/drawing/2014/main" id="{C5D95E17-6E53-47C4-A1F3-99941F15D785}"/>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56579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2240313"/>
            <a:ext cx="5384800" cy="362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2240313"/>
            <a:ext cx="5384800" cy="3627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9" name="Slide Number Placeholder 8">
            <a:extLst>
              <a:ext uri="{FF2B5EF4-FFF2-40B4-BE49-F238E27FC236}">
                <a16:creationId xmlns:a16="http://schemas.microsoft.com/office/drawing/2014/main" id="{9C783EA3-C43A-408B-8A96-2BF3503C5AD1}"/>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11402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174875"/>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966048"/>
            <a:ext cx="5386917" cy="2926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9347200" y="6356350"/>
            <a:ext cx="2844800" cy="365125"/>
          </a:xfrm>
          <a:prstGeom prst="rect">
            <a:avLst/>
          </a:prstGeom>
        </p:spPr>
        <p:txBody>
          <a:bodyPr/>
          <a:lstStyle/>
          <a:p>
            <a:endParaRPr lang="en-US" dirty="0">
              <a:solidFill>
                <a:srgbClr val="8B8B8B"/>
              </a:solidFill>
            </a:endParaRPr>
          </a:p>
        </p:txBody>
      </p:sp>
      <p:sp>
        <p:nvSpPr>
          <p:cNvPr id="12" name="Chart Placeholder 11"/>
          <p:cNvSpPr>
            <a:spLocks noGrp="1"/>
          </p:cNvSpPr>
          <p:nvPr>
            <p:ph type="chart" sz="quarter" idx="11"/>
          </p:nvPr>
        </p:nvSpPr>
        <p:spPr>
          <a:xfrm>
            <a:off x="6400800" y="2174876"/>
            <a:ext cx="5029200" cy="3717925"/>
          </a:xfrm>
        </p:spPr>
        <p:txBody>
          <a:bodyPr/>
          <a:lstStyle/>
          <a:p>
            <a:r>
              <a:rPr lang="en-US" dirty="0"/>
              <a:t>Click icon to add chart</a:t>
            </a:r>
          </a:p>
        </p:txBody>
      </p:sp>
      <p:sp>
        <p:nvSpPr>
          <p:cNvPr id="9" name="Slide Number Placeholder 8">
            <a:extLst>
              <a:ext uri="{FF2B5EF4-FFF2-40B4-BE49-F238E27FC236}">
                <a16:creationId xmlns:a16="http://schemas.microsoft.com/office/drawing/2014/main" id="{C0717F37-EB3F-4912-8B16-22DE78163176}"/>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62653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9325339" y="6356350"/>
            <a:ext cx="2844800" cy="365125"/>
          </a:xfrm>
          <a:prstGeom prst="rect">
            <a:avLst/>
          </a:prstGeom>
        </p:spPr>
        <p:txBody>
          <a:bodyPr/>
          <a:lstStyle/>
          <a:p>
            <a:endParaRPr lang="en-US" dirty="0">
              <a:solidFill>
                <a:srgbClr val="8B8B8B"/>
              </a:solidFill>
            </a:endParaRPr>
          </a:p>
        </p:txBody>
      </p:sp>
      <p:sp>
        <p:nvSpPr>
          <p:cNvPr id="5" name="Slide Number Placeholder 8">
            <a:extLst>
              <a:ext uri="{FF2B5EF4-FFF2-40B4-BE49-F238E27FC236}">
                <a16:creationId xmlns:a16="http://schemas.microsoft.com/office/drawing/2014/main" id="{A5D7F9B5-CC5A-4ABE-8117-CC023710B832}"/>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671379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normAutofit/>
          </a:bodyPr>
          <a:lstStyle>
            <a:lvl1pPr algn="l">
              <a:defRPr sz="2400" b="1" cap="none">
                <a:effectLst/>
              </a:defRPr>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7" name="Slide Number Placeholder 8">
            <a:extLst>
              <a:ext uri="{FF2B5EF4-FFF2-40B4-BE49-F238E27FC236}">
                <a16:creationId xmlns:a16="http://schemas.microsoft.com/office/drawing/2014/main" id="{B061D5B3-FA26-4D91-B231-F26ED3693375}"/>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962202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9" name="Table Placeholder 8"/>
          <p:cNvSpPr>
            <a:spLocks noGrp="1"/>
          </p:cNvSpPr>
          <p:nvPr>
            <p:ph type="tbl" sz="quarter" idx="12"/>
          </p:nvPr>
        </p:nvSpPr>
        <p:spPr>
          <a:xfrm>
            <a:off x="609600" y="2145652"/>
            <a:ext cx="10786533" cy="3709048"/>
          </a:xfrm>
        </p:spPr>
        <p:txBody>
          <a:bodyPr/>
          <a:lstStyle/>
          <a:p>
            <a:endParaRPr lang="en-US" dirty="0"/>
          </a:p>
        </p:txBody>
      </p:sp>
      <p:sp>
        <p:nvSpPr>
          <p:cNvPr id="6" name="Slide Number Placeholder 8">
            <a:extLst>
              <a:ext uri="{FF2B5EF4-FFF2-40B4-BE49-F238E27FC236}">
                <a16:creationId xmlns:a16="http://schemas.microsoft.com/office/drawing/2014/main" id="{B614A661-166B-4DF4-B43E-98FAF92466C0}"/>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2904468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2174875"/>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966048"/>
            <a:ext cx="5386917" cy="292675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9347200" y="6356350"/>
            <a:ext cx="2844800" cy="365125"/>
          </a:xfrm>
          <a:prstGeom prst="rect">
            <a:avLst/>
          </a:prstGeom>
        </p:spPr>
        <p:txBody>
          <a:bodyPr/>
          <a:lstStyle/>
          <a:p>
            <a:endParaRPr lang="en-US" dirty="0">
              <a:solidFill>
                <a:srgbClr val="8B8B8B"/>
              </a:solidFill>
            </a:endParaRPr>
          </a:p>
        </p:txBody>
      </p:sp>
      <p:sp>
        <p:nvSpPr>
          <p:cNvPr id="12" name="Chart Placeholder 11"/>
          <p:cNvSpPr>
            <a:spLocks noGrp="1"/>
          </p:cNvSpPr>
          <p:nvPr>
            <p:ph type="chart" sz="quarter" idx="11"/>
          </p:nvPr>
        </p:nvSpPr>
        <p:spPr>
          <a:xfrm>
            <a:off x="6400800" y="2174876"/>
            <a:ext cx="5029200" cy="3717925"/>
          </a:xfrm>
        </p:spPr>
        <p:txBody>
          <a:bodyPr/>
          <a:lstStyle/>
          <a:p>
            <a:endParaRPr lang="en-US" dirty="0"/>
          </a:p>
        </p:txBody>
      </p:sp>
      <p:sp>
        <p:nvSpPr>
          <p:cNvPr id="9" name="Slide Number Placeholder 8">
            <a:extLst>
              <a:ext uri="{FF2B5EF4-FFF2-40B4-BE49-F238E27FC236}">
                <a16:creationId xmlns:a16="http://schemas.microsoft.com/office/drawing/2014/main" id="{1E18E8FD-9C4B-40B0-8F9D-B59F0334C280}"/>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9486796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7F7F7F"/>
                </a:solidFill>
              </a:defRPr>
            </a:lvl1pPr>
          </a:lstStyle>
          <a:p>
            <a:r>
              <a:rPr lang="en-US" dirty="0"/>
              <a:t>Click to edit Master title style</a:t>
            </a:r>
          </a:p>
        </p:txBody>
      </p:sp>
      <p:sp>
        <p:nvSpPr>
          <p:cNvPr id="4" name="Date Placeholder 3"/>
          <p:cNvSpPr>
            <a:spLocks noGrp="1"/>
          </p:cNvSpPr>
          <p:nvPr>
            <p:ph type="dt" sz="half" idx="10"/>
          </p:nvPr>
        </p:nvSpPr>
        <p:spPr>
          <a:xfrm>
            <a:off x="9347200" y="6356351"/>
            <a:ext cx="2844800" cy="365125"/>
          </a:xfrm>
          <a:prstGeom prst="rect">
            <a:avLst/>
          </a:prstGeom>
        </p:spPr>
        <p:txBody>
          <a:bodyPr/>
          <a:lstStyle/>
          <a:p>
            <a:endParaRPr lang="en-US" dirty="0">
              <a:solidFill>
                <a:srgbClr val="8B8B8B"/>
              </a:solidFill>
            </a:endParaRPr>
          </a:p>
        </p:txBody>
      </p:sp>
      <p:sp>
        <p:nvSpPr>
          <p:cNvPr id="7" name="Content Placeholder 6"/>
          <p:cNvSpPr>
            <a:spLocks noGrp="1"/>
          </p:cNvSpPr>
          <p:nvPr>
            <p:ph sz="quarter" idx="11"/>
          </p:nvPr>
        </p:nvSpPr>
        <p:spPr>
          <a:xfrm>
            <a:off x="609600" y="1492250"/>
            <a:ext cx="10972800" cy="444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8">
            <a:extLst>
              <a:ext uri="{FF2B5EF4-FFF2-40B4-BE49-F238E27FC236}">
                <a16:creationId xmlns:a16="http://schemas.microsoft.com/office/drawing/2014/main" id="{C4A25E52-AB28-456E-8D1B-CDBACE8EB3AC}"/>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34257546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88275"/>
            <a:ext cx="10786533" cy="811358"/>
          </a:xfrm>
          <a:prstGeom prst="rect">
            <a:avLst/>
          </a:prstGeom>
        </p:spPr>
        <p:txBody>
          <a:bodyPr lIns="0" tIns="0" rIns="0" bIns="0" anchor="t" anchorCtr="0"/>
          <a:lstStyle>
            <a:lvl1pPr algn="ctr">
              <a:lnSpc>
                <a:spcPct val="80000"/>
              </a:lnSpc>
              <a:defRPr sz="3200" b="1" i="0" spc="-80">
                <a:solidFill>
                  <a:srgbClr val="00506F"/>
                </a:solidFill>
                <a:latin typeface="Tw Cen MT"/>
                <a:cs typeface="Tw Cen MT"/>
              </a:defRPr>
            </a:lvl1pPr>
          </a:lstStyle>
          <a:p>
            <a:r>
              <a:rPr lang="en-US"/>
              <a:t>Click to edit Master title style</a:t>
            </a:r>
            <a:endParaRPr lang="en-US" dirty="0"/>
          </a:p>
        </p:txBody>
      </p:sp>
      <p:sp>
        <p:nvSpPr>
          <p:cNvPr id="5" name="Slide Number Placeholder 8"/>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931486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Course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36804" y="1143001"/>
            <a:ext cx="10972800" cy="4983163"/>
          </a:xfrm>
        </p:spPr>
        <p:txBody>
          <a:bodyPr>
            <a:noAutofit/>
          </a:bodyPr>
          <a:lstStyle>
            <a:lvl1pPr eaLnBrk="1" hangingPunct="1">
              <a:buFont typeface="Wingdings" pitchFamily="2" charset="2"/>
              <a:buChar char="§"/>
              <a:defRPr/>
            </a:lvl1pPr>
            <a:lvl2pPr eaLnBrk="1" hangingPunct="1">
              <a:defRPr/>
            </a:lvl2pPr>
            <a:lvl3pPr eaLnBrk="1" hangingPunct="1">
              <a:defRPr/>
            </a:lvl3pPr>
          </a:lstStyle>
          <a:p>
            <a:pPr lvl="0"/>
            <a:r>
              <a:rPr lang="en-US" dirty="0"/>
              <a:t>Click to edit Master text styles</a:t>
            </a:r>
          </a:p>
          <a:p>
            <a:pPr lvl="1"/>
            <a:r>
              <a:rPr lang="en-US" dirty="0"/>
              <a:t>Second level</a:t>
            </a:r>
          </a:p>
          <a:p>
            <a:pPr lvl="2"/>
            <a:r>
              <a:rPr lang="en-US" dirty="0"/>
              <a:t>Third level</a:t>
            </a:r>
          </a:p>
        </p:txBody>
      </p:sp>
      <p:sp>
        <p:nvSpPr>
          <p:cNvPr id="8" name="Title Placeholder 1"/>
          <p:cNvSpPr>
            <a:spLocks noGrp="1"/>
          </p:cNvSpPr>
          <p:nvPr>
            <p:ph type="title"/>
          </p:nvPr>
        </p:nvSpPr>
        <p:spPr bwMode="auto">
          <a:xfrm>
            <a:off x="0" y="152400"/>
            <a:ext cx="12192000" cy="91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a:t>CLICK TO EDIT MASTER TITLE STYLE</a:t>
            </a:r>
          </a:p>
        </p:txBody>
      </p:sp>
      <p:sp>
        <p:nvSpPr>
          <p:cNvPr id="7" name="Slide Number Placeholder 8">
            <a:extLst>
              <a:ext uri="{FF2B5EF4-FFF2-40B4-BE49-F238E27FC236}">
                <a16:creationId xmlns:a16="http://schemas.microsoft.com/office/drawing/2014/main" id="{7F3B207E-3951-4EC5-8F67-4228386F0A11}"/>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826377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11984" y="274638"/>
            <a:ext cx="10972800" cy="868362"/>
          </a:xfrm>
          <a:prstGeom prst="rect">
            <a:avLst/>
          </a:prstGeom>
        </p:spPr>
        <p:txBody>
          <a:bodyPr vert="horz" lIns="91440" tIns="45720" rIns="91440" bIns="45720" rtlCol="0" anchor="ctr" anchorCtr="0">
            <a:normAutofit/>
          </a:bodyPr>
          <a:lstStyle>
            <a:lvl1pPr algn="ctr">
              <a:lnSpc>
                <a:spcPts val="3200"/>
              </a:lnSpc>
              <a:defRPr lang="en-US" sz="2800" cap="all" baseline="0"/>
            </a:lvl1pPr>
          </a:lstStyle>
          <a:p>
            <a:r>
              <a:rPr lang="en-US"/>
              <a:t>Click to edit Master title style</a:t>
            </a:r>
          </a:p>
        </p:txBody>
      </p:sp>
      <p:sp>
        <p:nvSpPr>
          <p:cNvPr id="8" name="Text Placeholder 2"/>
          <p:cNvSpPr>
            <a:spLocks noGrp="1"/>
          </p:cNvSpPr>
          <p:nvPr>
            <p:ph idx="1"/>
          </p:nvPr>
        </p:nvSpPr>
        <p:spPr>
          <a:xfrm>
            <a:off x="611984" y="1275673"/>
            <a:ext cx="10972800" cy="4678363"/>
          </a:xfrm>
          <a:prstGeom prst="rect">
            <a:avLst/>
          </a:prstGeom>
        </p:spPr>
        <p:txBody>
          <a:bodyPr vert="horz" lIns="91440" tIns="45720" rIns="91440" bIns="45720" rtlCol="0">
            <a:normAutofit/>
          </a:bodyPr>
          <a:lstStyle>
            <a:lvl1pPr>
              <a:spcAft>
                <a:spcPts val="600"/>
              </a:spcAft>
              <a:defRPr lang="en-US" smtClean="0"/>
            </a:lvl1pPr>
            <a:lvl2pPr>
              <a:spcAft>
                <a:spcPts val="600"/>
              </a:spcAft>
              <a:defRPr lang="en-US" smtClean="0"/>
            </a:lvl2pPr>
            <a:lvl3pPr>
              <a:spcAft>
                <a:spcPts val="600"/>
              </a:spcAft>
              <a:defRPr lang="en-US" smtClean="0"/>
            </a:lvl3pPr>
            <a:lvl4pPr marL="1027113" indent="-280988">
              <a:buClr>
                <a:schemeClr val="tx2"/>
              </a:buClr>
              <a:defRPr lang="en-US" smtClean="0"/>
            </a:lvl4pPr>
            <a:lvl5pPr marL="1319213" indent="-228600">
              <a:buClr>
                <a:schemeClr val="tx2"/>
              </a:buClr>
              <a:buSzPct val="60000"/>
              <a:buFont typeface="Wingdings" pitchFamily="2" charset="2"/>
              <a:buChar char="q"/>
              <a:tabLst/>
              <a:defRPr lang="en-US" smtClean="0"/>
            </a:lvl5pPr>
            <a:lvl6pPr marL="1608138" indent="-228600">
              <a:buClr>
                <a:schemeClr val="tx2"/>
              </a:buClr>
              <a:buFont typeface="Helvetica LT Std" pitchFamily="34" charset="0"/>
              <a:buChar char="–"/>
              <a:tabLst/>
              <a:defRPr lang="en-US" smtClean="0"/>
            </a:lvl6pPr>
          </a:lstStyle>
          <a:p>
            <a:pPr lvl="0"/>
            <a:r>
              <a:rPr lang="en-US"/>
              <a:t>Edit Master text styles</a:t>
            </a:r>
          </a:p>
        </p:txBody>
      </p:sp>
      <p:sp>
        <p:nvSpPr>
          <p:cNvPr id="5" name="Slide Number Placeholder 8">
            <a:extLst>
              <a:ext uri="{FF2B5EF4-FFF2-40B4-BE49-F238E27FC236}">
                <a16:creationId xmlns:a16="http://schemas.microsoft.com/office/drawing/2014/main" id="{584D26D8-2F78-40FF-B773-6EE7921DE17E}"/>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199638279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282"/>
                </a:solidFill>
              </a:defRPr>
            </a:lvl1pPr>
          </a:lstStyle>
          <a:p>
            <a:r>
              <a:rPr lang="en-US" dirty="0"/>
              <a:t>Click to edit Master title style</a:t>
            </a:r>
          </a:p>
        </p:txBody>
      </p:sp>
      <p:sp>
        <p:nvSpPr>
          <p:cNvPr id="4" name="Date Placeholder 3"/>
          <p:cNvSpPr>
            <a:spLocks noGrp="1"/>
          </p:cNvSpPr>
          <p:nvPr>
            <p:ph type="dt" sz="half" idx="10"/>
          </p:nvPr>
        </p:nvSpPr>
        <p:spPr/>
        <p:txBody>
          <a:bodyPr/>
          <a:lstStyle/>
          <a:p>
            <a:endParaRPr lang="en-US" dirty="0"/>
          </a:p>
        </p:txBody>
      </p:sp>
      <p:sp>
        <p:nvSpPr>
          <p:cNvPr id="7" name="Content Placeholder 6"/>
          <p:cNvSpPr>
            <a:spLocks noGrp="1"/>
          </p:cNvSpPr>
          <p:nvPr>
            <p:ph sz="quarter" idx="11"/>
          </p:nvPr>
        </p:nvSpPr>
        <p:spPr>
          <a:xfrm>
            <a:off x="609600" y="1492250"/>
            <a:ext cx="10972800" cy="444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8">
            <a:extLst>
              <a:ext uri="{FF2B5EF4-FFF2-40B4-BE49-F238E27FC236}">
                <a16:creationId xmlns:a16="http://schemas.microsoft.com/office/drawing/2014/main" id="{E5DCA139-0762-4C4F-B386-FBEA85E50C51}"/>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19408026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Date Placeholder 3"/>
          <p:cNvSpPr>
            <a:spLocks noGrp="1"/>
          </p:cNvSpPr>
          <p:nvPr>
            <p:ph type="dt" sz="half" idx="10"/>
          </p:nvPr>
        </p:nvSpPr>
        <p:spPr/>
        <p:txBody>
          <a:bodyPr/>
          <a:lstStyle/>
          <a:p>
            <a:endParaRPr lang="en-US" dirty="0"/>
          </a:p>
        </p:txBody>
      </p:sp>
      <p:sp>
        <p:nvSpPr>
          <p:cNvPr id="9" name="Table Placeholder 8"/>
          <p:cNvSpPr>
            <a:spLocks noGrp="1"/>
          </p:cNvSpPr>
          <p:nvPr>
            <p:ph type="tbl" sz="quarter" idx="12"/>
          </p:nvPr>
        </p:nvSpPr>
        <p:spPr>
          <a:xfrm>
            <a:off x="609600" y="1491804"/>
            <a:ext cx="10786533" cy="4362899"/>
          </a:xfrm>
        </p:spPr>
        <p:txBody>
          <a:bodyPr/>
          <a:lstStyle/>
          <a:p>
            <a:endParaRPr lang="en-US" dirty="0"/>
          </a:p>
        </p:txBody>
      </p:sp>
      <p:sp>
        <p:nvSpPr>
          <p:cNvPr id="6" name="Slide Number Placeholder 8">
            <a:extLst>
              <a:ext uri="{FF2B5EF4-FFF2-40B4-BE49-F238E27FC236}">
                <a16:creationId xmlns:a16="http://schemas.microsoft.com/office/drawing/2014/main" id="{C4428502-7FEB-4856-821A-092C4551181E}"/>
              </a:ext>
            </a:extLst>
          </p:cNvPr>
          <p:cNvSpPr>
            <a:spLocks noGrp="1"/>
          </p:cNvSpPr>
          <p:nvPr>
            <p:ph type="sldNum" sz="quarter" idx="4"/>
          </p:nvPr>
        </p:nvSpPr>
        <p:spPr>
          <a:xfrm>
            <a:off x="4728589" y="6371823"/>
            <a:ext cx="2844800" cy="365125"/>
          </a:xfrm>
          <a:prstGeom prst="rect">
            <a:avLst/>
          </a:prstGeom>
        </p:spPr>
        <p:txBody>
          <a:bodyPr vert="horz" lIns="91440" tIns="45720" rIns="91440" bIns="45720" rtlCol="0" anchor="t" anchorCtr="0"/>
          <a:lstStyle>
            <a:lvl1pPr algn="ctr">
              <a:defRPr sz="1200">
                <a:solidFill>
                  <a:srgbClr val="1F497D"/>
                </a:solidFill>
              </a:defRPr>
            </a:lvl1pPr>
          </a:lstStyle>
          <a:p>
            <a:fld id="{6E6030FC-FB78-5E4D-92EA-5D9433591EA9}" type="slidenum">
              <a:rPr lang="en-US" smtClean="0"/>
              <a:pPr/>
              <a:t>‹#›</a:t>
            </a:fld>
            <a:endParaRPr lang="en-US" dirty="0"/>
          </a:p>
        </p:txBody>
      </p:sp>
    </p:spTree>
    <p:extLst>
      <p:ext uri="{BB962C8B-B14F-4D97-AF65-F5344CB8AC3E}">
        <p14:creationId xmlns:p14="http://schemas.microsoft.com/office/powerpoint/2010/main" val="499998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415600" y="101428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334052"/>
              </a:buClr>
              <a:buSzPts val="2800"/>
              <a:buFont typeface="Open Sans"/>
              <a:buNone/>
              <a:defRPr sz="3600" b="1">
                <a:solidFill>
                  <a:srgbClr val="004282"/>
                </a:solidFill>
                <a:latin typeface="Open Sans"/>
                <a:ea typeface="Open Sans"/>
                <a:cs typeface="Open Sans"/>
                <a:sym typeface="Open Sans"/>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15"/>
          <p:cNvSpPr txBox="1">
            <a:spLocks noGrp="1"/>
          </p:cNvSpPr>
          <p:nvPr>
            <p:ph type="body" idx="1"/>
          </p:nvPr>
        </p:nvSpPr>
        <p:spPr>
          <a:xfrm>
            <a:off x="415600" y="1826922"/>
            <a:ext cx="11360800" cy="4152967"/>
          </a:xfrm>
          <a:prstGeom prst="rect">
            <a:avLst/>
          </a:prstGeom>
          <a:noFill/>
          <a:ln>
            <a:noFill/>
          </a:ln>
        </p:spPr>
        <p:txBody>
          <a:bodyPr spcFirstLastPara="1" wrap="square" lIns="91425" tIns="91425" rIns="91425" bIns="91425" anchor="t" anchorCtr="0">
            <a:noAutofit/>
          </a:bodyPr>
          <a:lstStyle>
            <a:lvl1pPr marL="609585" lvl="0" indent="-474121" algn="l">
              <a:lnSpc>
                <a:spcPct val="115000"/>
              </a:lnSpc>
              <a:spcBef>
                <a:spcPts val="0"/>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1pPr>
            <a:lvl2pPr marL="1219170" lvl="1" indent="-474121" algn="l">
              <a:lnSpc>
                <a:spcPct val="115000"/>
              </a:lnSpc>
              <a:spcBef>
                <a:spcPts val="0"/>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2pPr>
            <a:lvl3pPr marL="1828754" lvl="2"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3pPr>
            <a:lvl4pPr marL="2438339" lvl="3"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4pPr>
            <a:lvl5pPr marL="3047924" lvl="4"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5pPr>
            <a:lvl6pPr marL="3657509" lvl="5"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6pPr>
            <a:lvl7pPr marL="4267093" lvl="6"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7pPr>
            <a:lvl8pPr marL="4876678" lvl="7" indent="-474121" algn="l">
              <a:lnSpc>
                <a:spcPct val="115000"/>
              </a:lnSpc>
              <a:spcBef>
                <a:spcPts val="2133"/>
              </a:spcBef>
              <a:spcAft>
                <a:spcPts val="0"/>
              </a:spcAft>
              <a:buClr>
                <a:srgbClr val="334052"/>
              </a:buClr>
              <a:buSzPts val="2000"/>
              <a:buFont typeface="Open Sans"/>
              <a:buChar char="○"/>
              <a:defRPr>
                <a:solidFill>
                  <a:srgbClr val="334052"/>
                </a:solidFill>
                <a:latin typeface="Open Sans"/>
                <a:ea typeface="Open Sans"/>
                <a:cs typeface="Open Sans"/>
                <a:sym typeface="Open Sans"/>
              </a:defRPr>
            </a:lvl8pPr>
            <a:lvl9pPr marL="5486263" lvl="8" indent="-474121" algn="l">
              <a:lnSpc>
                <a:spcPct val="115000"/>
              </a:lnSpc>
              <a:spcBef>
                <a:spcPts val="2133"/>
              </a:spcBef>
              <a:spcAft>
                <a:spcPts val="2133"/>
              </a:spcAft>
              <a:buClr>
                <a:srgbClr val="334052"/>
              </a:buClr>
              <a:buSzPts val="2000"/>
              <a:buFont typeface="Open Sans"/>
              <a:buChar char="■"/>
              <a:defRPr>
                <a:solidFill>
                  <a:srgbClr val="334052"/>
                </a:solidFill>
                <a:latin typeface="Open Sans"/>
                <a:ea typeface="Open Sans"/>
                <a:cs typeface="Open Sans"/>
                <a:sym typeface="Open Sans"/>
              </a:defRPr>
            </a:lvl9pPr>
          </a:lstStyle>
          <a:p>
            <a:endParaRPr/>
          </a:p>
        </p:txBody>
      </p:sp>
      <p:sp>
        <p:nvSpPr>
          <p:cNvPr id="18" name="Google Shape;18;p1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n-US" smtClean="0"/>
              <a:pPr/>
              <a:t>‹#›</a:t>
            </a:fld>
            <a:endParaRPr lang="en-US" dirty="0"/>
          </a:p>
        </p:txBody>
      </p:sp>
    </p:spTree>
    <p:extLst>
      <p:ext uri="{BB962C8B-B14F-4D97-AF65-F5344CB8AC3E}">
        <p14:creationId xmlns:p14="http://schemas.microsoft.com/office/powerpoint/2010/main" val="3949672096"/>
      </p:ext>
    </p:extLst>
  </p:cSld>
  <p:clrMapOvr>
    <a:masterClrMapping/>
  </p:clrMapOvr>
  <p:extLst>
    <p:ext uri="{DCECCB84-F9BA-43D5-87BE-67443E8EF086}">
      <p15:sldGuideLst xmlns:p15="http://schemas.microsoft.com/office/powerpoint/2012/main">
        <p15:guide id="1" orient="horz" pos="468">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106E9DB-266A-DC4C-81FD-63DDDAA346DC}"/>
              </a:ext>
            </a:extLst>
          </p:cNvPr>
          <p:cNvSpPr>
            <a:spLocks noGrp="1"/>
          </p:cNvSpPr>
          <p:nvPr>
            <p:ph type="sldNum" sz="quarter" idx="12"/>
          </p:nvPr>
        </p:nvSpPr>
        <p:spPr/>
        <p:txBody>
          <a:bodyPr/>
          <a:lstStyle/>
          <a:p>
            <a:fld id="{D312D250-A199-4795-A090-B3EABC893B49}" type="slidenum">
              <a:rPr lang="en-US" smtClean="0"/>
              <a:t>‹#›</a:t>
            </a:fld>
            <a:endParaRPr lang="en-US"/>
          </a:p>
        </p:txBody>
      </p:sp>
      <p:sp>
        <p:nvSpPr>
          <p:cNvPr id="2" name="Title 1">
            <a:extLst>
              <a:ext uri="{FF2B5EF4-FFF2-40B4-BE49-F238E27FC236}">
                <a16:creationId xmlns:a16="http://schemas.microsoft.com/office/drawing/2014/main" id="{C130FE17-69E8-9440-A7AF-AC1659EDF6B9}"/>
              </a:ext>
            </a:extLst>
          </p:cNvPr>
          <p:cNvSpPr>
            <a:spLocks noGrp="1"/>
          </p:cNvSpPr>
          <p:nvPr>
            <p:ph type="title"/>
          </p:nvPr>
        </p:nvSpPr>
        <p:spPr>
          <a:xfrm>
            <a:off x="426720" y="365760"/>
            <a:ext cx="11338560" cy="548640"/>
          </a:xfrm>
        </p:spPr>
        <p:txBody>
          <a:body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4548D53F-9797-B141-B5E7-AB9CB133F5B0}"/>
              </a:ext>
            </a:extLst>
          </p:cNvPr>
          <p:cNvSpPr>
            <a:spLocks noGrp="1"/>
          </p:cNvSpPr>
          <p:nvPr>
            <p:ph type="ftr" sz="quarter" idx="11"/>
          </p:nvPr>
        </p:nvSpPr>
        <p:spPr>
          <a:xfrm>
            <a:off x="2757714" y="6400800"/>
            <a:ext cx="6676572" cy="182880"/>
          </a:xfrm>
        </p:spPr>
        <p:txBody>
          <a:bodyPr>
            <a:noAutofit/>
          </a:bodyPr>
          <a:lstStyle/>
          <a:p>
            <a:endParaRPr lang="en-US"/>
          </a:p>
        </p:txBody>
      </p:sp>
      <p:sp>
        <p:nvSpPr>
          <p:cNvPr id="8" name="Text Placeholder 3">
            <a:extLst>
              <a:ext uri="{FF2B5EF4-FFF2-40B4-BE49-F238E27FC236}">
                <a16:creationId xmlns:a16="http://schemas.microsoft.com/office/drawing/2014/main" id="{88645891-6D11-5C16-6282-CD626231A785}"/>
              </a:ext>
            </a:extLst>
          </p:cNvPr>
          <p:cNvSpPr>
            <a:spLocks noGrp="1"/>
          </p:cNvSpPr>
          <p:nvPr>
            <p:ph idx="1"/>
          </p:nvPr>
        </p:nvSpPr>
        <p:spPr>
          <a:xfrm>
            <a:off x="426720" y="1371600"/>
            <a:ext cx="11338560" cy="4572000"/>
          </a:xfrm>
          <a:prstGeom prst="rect">
            <a:avLst/>
          </a:prstGeom>
        </p:spPr>
        <p:txBody>
          <a:bodyPr vert="horz" lIns="91440" tIns="45720" rIns="91440" bIns="45720" rtlCol="0">
            <a:noAutofit/>
          </a:bodyPr>
          <a:lstStyle>
            <a:lvl2pPr>
              <a:lnSpc>
                <a:spcPts val="2000"/>
              </a:lnSpc>
              <a:defRPr sz="1800"/>
            </a:lvl2pPr>
            <a:lvl4pPr marL="914400" indent="-173038">
              <a:defRPr/>
            </a:lvl4pPr>
            <a:lvl5pPr marL="1033463" indent="-123825">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close up of a sign&#10;&#10;Description automatically generated">
            <a:extLst>
              <a:ext uri="{FF2B5EF4-FFF2-40B4-BE49-F238E27FC236}">
                <a16:creationId xmlns:a16="http://schemas.microsoft.com/office/drawing/2014/main" id="{3832E369-52F0-D331-A851-630C3250AC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15747" y="6124084"/>
            <a:ext cx="2465408" cy="732930"/>
          </a:xfrm>
          <a:prstGeom prst="rect">
            <a:avLst/>
          </a:prstGeom>
        </p:spPr>
      </p:pic>
    </p:spTree>
    <p:extLst>
      <p:ext uri="{BB962C8B-B14F-4D97-AF65-F5344CB8AC3E}">
        <p14:creationId xmlns:p14="http://schemas.microsoft.com/office/powerpoint/2010/main" val="313143266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F0"/>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41966303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F0"/>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2556007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rgbClr val="004283"/>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3000" b="0" i="0">
                <a:solidFill>
                  <a:srgbClr val="548ED4"/>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12/3/25</a:t>
            </a:fld>
            <a:endParaRPr lang="en-US"/>
          </a:p>
        </p:txBody>
      </p:sp>
      <p:sp>
        <p:nvSpPr>
          <p:cNvPr id="6" name="Holder 6"/>
          <p:cNvSpPr>
            <a:spLocks noGrp="1"/>
          </p:cNvSpPr>
          <p:nvPr>
            <p:ph type="sldNum" sz="quarter" idx="7"/>
          </p:nvPr>
        </p:nvSpPr>
        <p:spPr/>
        <p:txBody>
          <a:bodyPr lIns="0" tIns="0" rIns="0" bIns="0"/>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21374978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F0"/>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12512098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F0"/>
          </a:solidFill>
          <a:ln/>
        </p:spPr>
        <p:txBody>
          <a:bodyPr/>
          <a:lstStyle/>
          <a:p>
            <a:endParaRPr lang="en-US"/>
          </a:p>
        </p:txBody>
      </p:sp>
      <p:sp>
        <p:nvSpPr>
          <p:cNvPr id="3" name="Shape 1"/>
          <p:cNvSpPr/>
          <p:nvPr/>
        </p:nvSpPr>
        <p:spPr>
          <a:xfrm>
            <a:off x="0" y="0"/>
            <a:ext cx="12192000" cy="6858000"/>
          </a:xfrm>
          <a:prstGeom prst="rect">
            <a:avLst/>
          </a:prstGeom>
          <a:solidFill>
            <a:srgbClr val="FFFFFF"/>
          </a:solidFill>
          <a:ln/>
        </p:spPr>
        <p:txBody>
          <a:bodyPr/>
          <a:lstStyle/>
          <a:p>
            <a:endParaRPr lang="en-US"/>
          </a:p>
        </p:txBody>
      </p:sp>
    </p:spTree>
    <p:extLst>
      <p:ext uri="{BB962C8B-B14F-4D97-AF65-F5344CB8AC3E}">
        <p14:creationId xmlns:p14="http://schemas.microsoft.com/office/powerpoint/2010/main" val="1039749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image" Target="../media/image2.png"/><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theme" Target="../theme/theme2.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10" cstate="email">
            <a:extLst>
              <a:ext uri="{28A0092B-C50C-407E-A947-70E740481C1C}">
                <a14:useLocalDpi xmlns:a14="http://schemas.microsoft.com/office/drawing/2010/main"/>
              </a:ext>
            </a:extLst>
          </a:blip>
          <a:stretch>
            <a:fillRect/>
          </a:stretch>
        </p:blipFill>
        <p:spPr>
          <a:xfrm>
            <a:off x="146053" y="6155818"/>
            <a:ext cx="2405373" cy="668267"/>
          </a:xfrm>
          <a:prstGeom prst="rect">
            <a:avLst/>
          </a:prstGeom>
        </p:spPr>
      </p:pic>
      <p:sp>
        <p:nvSpPr>
          <p:cNvPr id="2" name="Holder 2"/>
          <p:cNvSpPr>
            <a:spLocks noGrp="1"/>
          </p:cNvSpPr>
          <p:nvPr>
            <p:ph type="title"/>
          </p:nvPr>
        </p:nvSpPr>
        <p:spPr>
          <a:xfrm>
            <a:off x="403047" y="59817"/>
            <a:ext cx="10908842" cy="968501"/>
          </a:xfrm>
          <a:prstGeom prst="rect">
            <a:avLst/>
          </a:prstGeom>
        </p:spPr>
        <p:txBody>
          <a:bodyPr wrap="square" lIns="0" tIns="0" rIns="0" bIns="0">
            <a:spAutoFit/>
          </a:bodyPr>
          <a:lstStyle>
            <a:lvl1pPr>
              <a:defRPr sz="2800" b="1" i="0">
                <a:solidFill>
                  <a:srgbClr val="004283"/>
                </a:solidFill>
                <a:latin typeface="Arial"/>
                <a:cs typeface="Arial"/>
              </a:defRPr>
            </a:lvl1pPr>
          </a:lstStyle>
          <a:p>
            <a:endParaRPr/>
          </a:p>
        </p:txBody>
      </p:sp>
      <p:sp>
        <p:nvSpPr>
          <p:cNvPr id="3" name="Holder 3"/>
          <p:cNvSpPr>
            <a:spLocks noGrp="1"/>
          </p:cNvSpPr>
          <p:nvPr>
            <p:ph type="body" idx="1"/>
          </p:nvPr>
        </p:nvSpPr>
        <p:spPr>
          <a:xfrm>
            <a:off x="758951" y="1538451"/>
            <a:ext cx="5114290" cy="2539365"/>
          </a:xfrm>
          <a:prstGeom prst="rect">
            <a:avLst/>
          </a:prstGeom>
        </p:spPr>
        <p:txBody>
          <a:bodyPr wrap="square" lIns="0" tIns="0" rIns="0" bIns="0">
            <a:spAutoFit/>
          </a:bodyPr>
          <a:lstStyle>
            <a:lvl1pPr>
              <a:defRPr sz="3000" b="0" i="0">
                <a:solidFill>
                  <a:srgbClr val="548ED4"/>
                </a:solidFill>
                <a:latin typeface="Arial"/>
                <a:cs typeface="Aria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12/3/25</a:t>
            </a:fld>
            <a:endParaRPr lang="en-US"/>
          </a:p>
        </p:txBody>
      </p:sp>
      <p:sp>
        <p:nvSpPr>
          <p:cNvPr id="6" name="Holder 6"/>
          <p:cNvSpPr>
            <a:spLocks noGrp="1"/>
          </p:cNvSpPr>
          <p:nvPr>
            <p:ph type="sldNum" sz="quarter" idx="7"/>
          </p:nvPr>
        </p:nvSpPr>
        <p:spPr>
          <a:xfrm>
            <a:off x="6028309" y="6416252"/>
            <a:ext cx="259841" cy="196215"/>
          </a:xfrm>
          <a:prstGeom prst="rect">
            <a:avLst/>
          </a:prstGeom>
        </p:spPr>
        <p:txBody>
          <a:bodyPr wrap="square" lIns="0" tIns="0" rIns="0" bIns="0">
            <a:spAutoFit/>
          </a:bodyPr>
          <a:lstStyle>
            <a:lvl1pPr>
              <a:defRPr sz="1200" b="0" i="0">
                <a:solidFill>
                  <a:srgbClr val="1F487C"/>
                </a:solidFill>
                <a:latin typeface="Arial"/>
                <a:cs typeface="Arial"/>
              </a:defRPr>
            </a:lvl1pPr>
          </a:lstStyle>
          <a:p>
            <a:pPr marL="80645">
              <a:lnSpc>
                <a:spcPts val="1425"/>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8" r:id="rId6"/>
    <p:sldLayoutId id="2147483687" r:id="rId7"/>
    <p:sldLayoutId id="2147483688" r:id="rId8"/>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388275"/>
            <a:ext cx="10972800" cy="8113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09600" y="1199634"/>
            <a:ext cx="10972800" cy="379907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t"/>
          <a:lstStyle>
            <a:lvl1pPr algn="ctr">
              <a:defRPr sz="1000">
                <a:solidFill>
                  <a:schemeClr val="tx2"/>
                </a:solidFill>
              </a:defRPr>
            </a:lvl1pPr>
          </a:lstStyle>
          <a:p>
            <a:r>
              <a:rPr lang="en-US" dirty="0">
                <a:solidFill>
                  <a:srgbClr val="1F497D"/>
                </a:solidFill>
              </a:rPr>
              <a:t>(#)</a:t>
            </a:r>
          </a:p>
        </p:txBody>
      </p:sp>
      <p:pic>
        <p:nvPicPr>
          <p:cNvPr id="6" name="Picture 5" descr="A close up of a sign&#10;&#10;Description automatically generated">
            <a:extLst>
              <a:ext uri="{FF2B5EF4-FFF2-40B4-BE49-F238E27FC236}">
                <a16:creationId xmlns:a16="http://schemas.microsoft.com/office/drawing/2014/main" id="{C4367302-18AD-44F9-B43A-24490776962B}"/>
              </a:ext>
            </a:extLst>
          </p:cNvPr>
          <p:cNvPicPr>
            <a:picLocks noChangeAspect="1"/>
          </p:cNvPicPr>
          <p:nvPr userDrawn="1"/>
        </p:nvPicPr>
        <p:blipFill>
          <a:blip r:embed="rId24" cstate="email">
            <a:extLst>
              <a:ext uri="{28A0092B-C50C-407E-A947-70E740481C1C}">
                <a14:useLocalDpi xmlns:a14="http://schemas.microsoft.com/office/drawing/2010/main"/>
              </a:ext>
            </a:extLst>
          </a:blip>
          <a:stretch>
            <a:fillRect/>
          </a:stretch>
        </p:blipFill>
        <p:spPr>
          <a:xfrm>
            <a:off x="115747" y="6124084"/>
            <a:ext cx="2465408" cy="732930"/>
          </a:xfrm>
          <a:prstGeom prst="rect">
            <a:avLst/>
          </a:prstGeom>
        </p:spPr>
      </p:pic>
    </p:spTree>
    <p:extLst>
      <p:ext uri="{BB962C8B-B14F-4D97-AF65-F5344CB8AC3E}">
        <p14:creationId xmlns:p14="http://schemas.microsoft.com/office/powerpoint/2010/main" val="272244687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9" r:id="rId18"/>
    <p:sldLayoutId id="2147483690" r:id="rId19"/>
    <p:sldLayoutId id="2147483691" r:id="rId20"/>
    <p:sldLayoutId id="2147483692" r:id="rId21"/>
    <p:sldLayoutId id="2147483693" r:id="rId22"/>
  </p:sldLayoutIdLst>
  <p:hf hdr="0" ftr="0" dt="0"/>
  <p:txStyles>
    <p:titleStyle>
      <a:lvl1pPr algn="l" defTabSz="457200" rtl="0" eaLnBrk="1" latinLnBrk="0" hangingPunct="1">
        <a:lnSpc>
          <a:spcPct val="80000"/>
        </a:lnSpc>
        <a:spcBef>
          <a:spcPct val="0"/>
        </a:spcBef>
        <a:buNone/>
        <a:defRPr sz="3200" b="1" kern="1200" cap="all">
          <a:solidFill>
            <a:srgbClr val="004383"/>
          </a:solidFill>
          <a:effectLst/>
          <a:latin typeface="+mj-lt"/>
          <a:ea typeface="+mj-ea"/>
          <a:cs typeface="+mj-cs"/>
        </a:defRPr>
      </a:lvl1pPr>
    </p:titleStyle>
    <p:bodyStyle>
      <a:lvl1pPr marL="342900" indent="-342900" algn="l" defTabSz="457200" rtl="0" eaLnBrk="1" latinLnBrk="0" hangingPunct="1">
        <a:spcBef>
          <a:spcPct val="20000"/>
        </a:spcBef>
        <a:buClr>
          <a:schemeClr val="tx2"/>
        </a:buClr>
        <a:buFont typeface="Arial"/>
        <a:buChar char="•"/>
        <a:defRPr sz="3200" kern="1200">
          <a:solidFill>
            <a:schemeClr val="bg1">
              <a:lumMod val="50000"/>
            </a:schemeClr>
          </a:solidFill>
          <a:latin typeface="+mn-lt"/>
          <a:ea typeface="+mn-ea"/>
          <a:cs typeface="+mn-cs"/>
        </a:defRPr>
      </a:lvl1pPr>
      <a:lvl2pPr marL="742950" indent="-285750" algn="l" defTabSz="457200" rtl="0" eaLnBrk="1" latinLnBrk="0" hangingPunct="1">
        <a:spcBef>
          <a:spcPct val="20000"/>
        </a:spcBef>
        <a:buClr>
          <a:schemeClr val="tx2"/>
        </a:buClr>
        <a:buFont typeface="Arial"/>
        <a:buChar char="–"/>
        <a:defRPr sz="2800" kern="1200">
          <a:solidFill>
            <a:schemeClr val="bg1">
              <a:lumMod val="50000"/>
            </a:schemeClr>
          </a:solidFill>
          <a:latin typeface="+mn-lt"/>
          <a:ea typeface="+mn-ea"/>
          <a:cs typeface="+mn-cs"/>
        </a:defRPr>
      </a:lvl2pPr>
      <a:lvl3pPr marL="1143000" indent="-228600" algn="l" defTabSz="457200" rtl="0" eaLnBrk="1" latinLnBrk="0" hangingPunct="1">
        <a:spcBef>
          <a:spcPct val="20000"/>
        </a:spcBef>
        <a:buClr>
          <a:schemeClr val="tx2"/>
        </a:buClr>
        <a:buFont typeface="Arial"/>
        <a:buChar char="•"/>
        <a:defRPr sz="2400" kern="1200">
          <a:solidFill>
            <a:schemeClr val="bg1">
              <a:lumMod val="50000"/>
            </a:schemeClr>
          </a:solidFill>
          <a:latin typeface="+mn-lt"/>
          <a:ea typeface="+mn-ea"/>
          <a:cs typeface="+mn-cs"/>
        </a:defRPr>
      </a:lvl3pPr>
      <a:lvl4pPr marL="16002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4pPr>
      <a:lvl5pPr marL="2057400" indent="-228600" algn="l" defTabSz="457200" rtl="0" eaLnBrk="1" latinLnBrk="0" hangingPunct="1">
        <a:spcBef>
          <a:spcPct val="20000"/>
        </a:spcBef>
        <a:buClr>
          <a:schemeClr val="tx2"/>
        </a:buClr>
        <a:buFont typeface="Arial"/>
        <a:buChar char="»"/>
        <a:defRPr sz="2000" kern="1200">
          <a:solidFill>
            <a:schemeClr val="bg1">
              <a:lumMod val="50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us06web.zoom.us/j/8016452879?pwd=a3hNN0dieVJPR1pZY2QwbHVXbFJTUT09&amp;omn=85908180890"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github.com/niemopen/oasis-open-project/tree/main/pgb-meeting-minutes" TargetMode="External"/><Relationship Id="rId4" Type="http://schemas.openxmlformats.org/officeDocument/2006/relationships/hyperlink" Target="https://us06web.zoom.us/meetings/85908180890/invitations?signature=v7ueE3VX0wciFxK86TDOvU4-uHxhSlMjSZeynaKxCXo"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jpeg"/><Relationship Id="rId5" Type="http://schemas.openxmlformats.org/officeDocument/2006/relationships/image" Target="../media/image6.jpeg"/><Relationship Id="rId10" Type="http://schemas.openxmlformats.org/officeDocument/2006/relationships/image" Target="../media/image11.jpeg"/><Relationship Id="rId4" Type="http://schemas.openxmlformats.org/officeDocument/2006/relationships/image" Target="../media/image5.jpeg"/><Relationship Id="rId9"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niemopen/oasis-open-project/blob/main/pgb-meeting-minutes/2025/28-aug-25/(DRAFT)%20NIEMOpen%20PGB%20Meeting%20Minutes%2029%20Aug%20%202025%20v1%208-20-25.pdf"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5.png"/><Relationship Id="rId7" Type="http://schemas.openxmlformats.org/officeDocument/2006/relationships/diagramQuickStyle" Target="../diagrams/quickStyle1.xml"/><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diagramLayout" Target="../diagrams/layout1.xml"/><Relationship Id="rId5" Type="http://schemas.openxmlformats.org/officeDocument/2006/relationships/diagramData" Target="../diagrams/data1.xml"/><Relationship Id="rId4" Type="http://schemas.microsoft.com/office/2007/relationships/hdphoto" Target="../media/hdphoto1.wdp"/><Relationship Id="rId9" Type="http://schemas.microsoft.com/office/2007/relationships/diagramDrawing" Target="../diagrams/drawing1.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notesSlide" Target="../notesSlides/notesSlide12.xml"/><Relationship Id="rId1" Type="http://schemas.openxmlformats.org/officeDocument/2006/relationships/slideLayout" Target="../slideLayouts/slideLayout28.xml"/><Relationship Id="rId6" Type="http://schemas.openxmlformats.org/officeDocument/2006/relationships/image" Target="../media/image30.jpeg"/><Relationship Id="rId11" Type="http://schemas.openxmlformats.org/officeDocument/2006/relationships/image" Target="../media/image35.jpeg"/><Relationship Id="rId5" Type="http://schemas.openxmlformats.org/officeDocument/2006/relationships/image" Target="../media/image29.jpe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jpeg"/></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30.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30.xml"/></Relationships>
</file>

<file path=ppt/slides/_rels/slide41.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image" Target="../media/image4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email">
            <a:extLst>
              <a:ext uri="{28A0092B-C50C-407E-A947-70E740481C1C}">
                <a14:useLocalDpi xmlns:a14="http://schemas.microsoft.com/office/drawing/2010/main"/>
              </a:ext>
            </a:extLst>
          </a:blip>
          <a:stretch>
            <a:fillRect/>
          </a:stretch>
        </p:blipFill>
        <p:spPr>
          <a:xfrm>
            <a:off x="149464" y="1777084"/>
            <a:ext cx="11893071" cy="3303829"/>
          </a:xfrm>
          <a:prstGeom prst="rect">
            <a:avLst/>
          </a:prstGeom>
        </p:spPr>
      </p:pic>
      <p:sp>
        <p:nvSpPr>
          <p:cNvPr id="3" name="object 3"/>
          <p:cNvSpPr txBox="1"/>
          <p:nvPr/>
        </p:nvSpPr>
        <p:spPr>
          <a:xfrm>
            <a:off x="4406646" y="4141977"/>
            <a:ext cx="7256145" cy="2210862"/>
          </a:xfrm>
          <a:prstGeom prst="rect">
            <a:avLst/>
          </a:prstGeom>
        </p:spPr>
        <p:txBody>
          <a:bodyPr vert="horz" wrap="square" lIns="0" tIns="12700" rIns="0" bIns="0" rtlCol="0">
            <a:spAutoFit/>
          </a:bodyPr>
          <a:lstStyle/>
          <a:p>
            <a:pPr marR="3869054" algn="ctr">
              <a:lnSpc>
                <a:spcPts val="5270"/>
              </a:lnSpc>
              <a:spcBef>
                <a:spcPts val="100"/>
              </a:spcBef>
              <a:tabLst>
                <a:tab pos="1372235" algn="l"/>
              </a:tabLst>
            </a:pPr>
            <a:r>
              <a:rPr sz="4400" b="1" spc="-25" dirty="0">
                <a:solidFill>
                  <a:srgbClr val="00516F"/>
                </a:solidFill>
                <a:latin typeface="Lucida Sans"/>
                <a:cs typeface="Lucida Sans"/>
              </a:rPr>
              <a:t>PGB</a:t>
            </a:r>
            <a:r>
              <a:rPr sz="4400" b="1" dirty="0">
                <a:solidFill>
                  <a:srgbClr val="00516F"/>
                </a:solidFill>
                <a:latin typeface="Lucida Sans"/>
                <a:cs typeface="Lucida Sans"/>
              </a:rPr>
              <a:t>	</a:t>
            </a:r>
            <a:r>
              <a:rPr sz="4400" b="1" spc="-210" dirty="0">
                <a:solidFill>
                  <a:srgbClr val="00516F"/>
                </a:solidFill>
                <a:latin typeface="Lucida Sans"/>
                <a:cs typeface="Lucida Sans"/>
              </a:rPr>
              <a:t>Session</a:t>
            </a:r>
            <a:endParaRPr sz="4400" dirty="0">
              <a:latin typeface="Lucida Sans"/>
              <a:cs typeface="Lucida Sans"/>
            </a:endParaRPr>
          </a:p>
          <a:p>
            <a:pPr marR="3867150" algn="ctr">
              <a:lnSpc>
                <a:spcPts val="2150"/>
              </a:lnSpc>
            </a:pPr>
            <a:r>
              <a:rPr lang="en-US" sz="1800" b="1" spc="-35" dirty="0">
                <a:solidFill>
                  <a:srgbClr val="8A8A8A"/>
                </a:solidFill>
                <a:latin typeface="Arial"/>
                <a:cs typeface="Arial"/>
              </a:rPr>
              <a:t>4 December</a:t>
            </a:r>
            <a:r>
              <a:rPr sz="1800" b="1" spc="-20" dirty="0">
                <a:solidFill>
                  <a:srgbClr val="8A8A8A"/>
                </a:solidFill>
                <a:latin typeface="Arial"/>
                <a:cs typeface="Arial"/>
              </a:rPr>
              <a:t> 2025</a:t>
            </a:r>
            <a:endParaRPr lang="en-US" sz="1800" b="1" spc="-20" dirty="0">
              <a:solidFill>
                <a:srgbClr val="8A8A8A"/>
              </a:solidFill>
              <a:latin typeface="Arial"/>
              <a:cs typeface="Arial"/>
            </a:endParaRPr>
          </a:p>
          <a:p>
            <a:pPr>
              <a:lnSpc>
                <a:spcPct val="100000"/>
              </a:lnSpc>
            </a:pPr>
            <a:endParaRPr sz="1800" dirty="0">
              <a:latin typeface="Arial"/>
              <a:cs typeface="Arial"/>
            </a:endParaRPr>
          </a:p>
          <a:p>
            <a:pPr>
              <a:lnSpc>
                <a:spcPct val="100000"/>
              </a:lnSpc>
              <a:spcBef>
                <a:spcPts val="1025"/>
              </a:spcBef>
            </a:pPr>
            <a:endParaRPr sz="1800" dirty="0">
              <a:latin typeface="Arial"/>
              <a:cs typeface="Arial"/>
            </a:endParaRPr>
          </a:p>
          <a:p>
            <a:pPr marL="2939415">
              <a:lnSpc>
                <a:spcPct val="100000"/>
              </a:lnSpc>
              <a:spcBef>
                <a:spcPts val="5"/>
              </a:spcBef>
            </a:pPr>
            <a:r>
              <a:rPr lang="en-US" sz="1800" spc="-50" dirty="0">
                <a:solidFill>
                  <a:srgbClr val="00516F"/>
                </a:solidFill>
                <a:latin typeface="Arial"/>
                <a:cs typeface="Arial"/>
              </a:rPr>
              <a:t>Paul Wormeli, Chairman</a:t>
            </a:r>
          </a:p>
          <a:p>
            <a:pPr marL="2939415">
              <a:lnSpc>
                <a:spcPct val="100000"/>
              </a:lnSpc>
              <a:spcBef>
                <a:spcPts val="5"/>
              </a:spcBef>
            </a:pPr>
            <a:r>
              <a:rPr sz="1800" dirty="0">
                <a:solidFill>
                  <a:srgbClr val="00516F"/>
                </a:solidFill>
                <a:latin typeface="Arial"/>
                <a:cs typeface="Arial"/>
              </a:rPr>
              <a:t>NIEMOpen</a:t>
            </a:r>
            <a:r>
              <a:rPr sz="1800" spc="-50" dirty="0">
                <a:solidFill>
                  <a:srgbClr val="00516F"/>
                </a:solidFill>
                <a:latin typeface="Arial"/>
                <a:cs typeface="Arial"/>
              </a:rPr>
              <a:t> </a:t>
            </a:r>
            <a:r>
              <a:rPr sz="1800" dirty="0">
                <a:solidFill>
                  <a:srgbClr val="00516F"/>
                </a:solidFill>
                <a:latin typeface="Arial"/>
                <a:cs typeface="Arial"/>
              </a:rPr>
              <a:t>Project</a:t>
            </a:r>
            <a:r>
              <a:rPr sz="1800" spc="-25" dirty="0">
                <a:solidFill>
                  <a:srgbClr val="00516F"/>
                </a:solidFill>
                <a:latin typeface="Arial"/>
                <a:cs typeface="Arial"/>
              </a:rPr>
              <a:t> </a:t>
            </a:r>
            <a:r>
              <a:rPr sz="1800" dirty="0">
                <a:solidFill>
                  <a:srgbClr val="00516F"/>
                </a:solidFill>
                <a:latin typeface="Arial"/>
                <a:cs typeface="Arial"/>
              </a:rPr>
              <a:t>Governing</a:t>
            </a:r>
            <a:r>
              <a:rPr sz="1800" spc="-30" dirty="0">
                <a:solidFill>
                  <a:srgbClr val="00516F"/>
                </a:solidFill>
                <a:latin typeface="Arial"/>
                <a:cs typeface="Arial"/>
              </a:rPr>
              <a:t> </a:t>
            </a:r>
            <a:r>
              <a:rPr sz="1800" dirty="0">
                <a:solidFill>
                  <a:srgbClr val="00516F"/>
                </a:solidFill>
                <a:latin typeface="Arial"/>
                <a:cs typeface="Arial"/>
              </a:rPr>
              <a:t>B</a:t>
            </a:r>
            <a:r>
              <a:rPr lang="en-US" sz="1800" dirty="0">
                <a:solidFill>
                  <a:srgbClr val="00516F"/>
                </a:solidFill>
                <a:latin typeface="Arial"/>
                <a:cs typeface="Arial"/>
              </a:rPr>
              <a:t>oard</a:t>
            </a:r>
            <a:endParaRPr sz="18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311353"/>
            <a:ext cx="1378585" cy="514350"/>
          </a:xfrm>
          <a:prstGeom prst="rect">
            <a:avLst/>
          </a:prstGeom>
        </p:spPr>
        <p:txBody>
          <a:bodyPr vert="horz" wrap="square" lIns="0" tIns="13335" rIns="0" bIns="0" rtlCol="0">
            <a:spAutoFit/>
          </a:bodyPr>
          <a:lstStyle/>
          <a:p>
            <a:pPr marL="12700">
              <a:lnSpc>
                <a:spcPct val="100000"/>
              </a:lnSpc>
              <a:spcBef>
                <a:spcPts val="105"/>
              </a:spcBef>
            </a:pPr>
            <a:r>
              <a:rPr sz="3200" spc="-75" dirty="0">
                <a:solidFill>
                  <a:srgbClr val="00516F"/>
                </a:solidFill>
              </a:rPr>
              <a:t>VENUE</a:t>
            </a:r>
            <a:endParaRPr sz="3200"/>
          </a:p>
        </p:txBody>
      </p:sp>
      <p:sp>
        <p:nvSpPr>
          <p:cNvPr id="3" name="object 3"/>
          <p:cNvSpPr/>
          <p:nvPr/>
        </p:nvSpPr>
        <p:spPr>
          <a:xfrm>
            <a:off x="609600" y="899160"/>
            <a:ext cx="5384800" cy="3627120"/>
          </a:xfrm>
          <a:custGeom>
            <a:avLst/>
            <a:gdLst/>
            <a:ahLst/>
            <a:cxnLst/>
            <a:rect l="l" t="t" r="r" b="b"/>
            <a:pathLst>
              <a:path w="5384800" h="3627120">
                <a:moveTo>
                  <a:pt x="0" y="3627120"/>
                </a:moveTo>
                <a:lnTo>
                  <a:pt x="5384292" y="3627120"/>
                </a:lnTo>
                <a:lnTo>
                  <a:pt x="5384292" y="0"/>
                </a:lnTo>
                <a:lnTo>
                  <a:pt x="0" y="0"/>
                </a:lnTo>
                <a:lnTo>
                  <a:pt x="0" y="3627120"/>
                </a:lnTo>
                <a:close/>
              </a:path>
            </a:pathLst>
          </a:custGeom>
          <a:ln w="9525">
            <a:solidFill>
              <a:srgbClr val="548ED4"/>
            </a:solidFill>
          </a:ln>
        </p:spPr>
        <p:txBody>
          <a:bodyPr wrap="square" lIns="0" tIns="0" rIns="0" bIns="0" rtlCol="0"/>
          <a:lstStyle/>
          <a:p>
            <a:endParaRPr/>
          </a:p>
        </p:txBody>
      </p:sp>
      <p:sp>
        <p:nvSpPr>
          <p:cNvPr id="4" name="object 4"/>
          <p:cNvSpPr txBox="1"/>
          <p:nvPr/>
        </p:nvSpPr>
        <p:spPr>
          <a:xfrm>
            <a:off x="758951" y="674960"/>
            <a:ext cx="4816475" cy="2047355"/>
          </a:xfrm>
          <a:prstGeom prst="rect">
            <a:avLst/>
          </a:prstGeom>
        </p:spPr>
        <p:txBody>
          <a:bodyPr vert="horz" wrap="square" lIns="0" tIns="259715" rIns="0" bIns="0" rtlCol="0">
            <a:spAutoFit/>
          </a:bodyPr>
          <a:lstStyle/>
          <a:p>
            <a:pPr marL="269240" algn="ctr">
              <a:lnSpc>
                <a:spcPct val="100000"/>
              </a:lnSpc>
              <a:spcBef>
                <a:spcPts val="2045"/>
              </a:spcBef>
            </a:pPr>
            <a:r>
              <a:rPr sz="3000" dirty="0">
                <a:solidFill>
                  <a:srgbClr val="548ED4"/>
                </a:solidFill>
                <a:latin typeface="Arial"/>
                <a:cs typeface="Arial"/>
              </a:rPr>
              <a:t>PGB</a:t>
            </a:r>
            <a:r>
              <a:rPr sz="3000" spc="-65" dirty="0">
                <a:solidFill>
                  <a:srgbClr val="548ED4"/>
                </a:solidFill>
                <a:latin typeface="Arial"/>
                <a:cs typeface="Arial"/>
              </a:rPr>
              <a:t> </a:t>
            </a:r>
            <a:r>
              <a:rPr sz="3000" spc="-10" dirty="0">
                <a:solidFill>
                  <a:srgbClr val="548ED4"/>
                </a:solidFill>
                <a:latin typeface="Arial"/>
                <a:cs typeface="Arial"/>
              </a:rPr>
              <a:t>Meeting</a:t>
            </a:r>
            <a:endParaRPr sz="3000" dirty="0">
              <a:latin typeface="Arial"/>
              <a:cs typeface="Arial"/>
            </a:endParaRPr>
          </a:p>
          <a:p>
            <a:pPr marL="342265" indent="-342265">
              <a:lnSpc>
                <a:spcPct val="100000"/>
              </a:lnSpc>
              <a:spcBef>
                <a:spcPts val="1810"/>
              </a:spcBef>
              <a:buClr>
                <a:srgbClr val="1F487C"/>
              </a:buClr>
              <a:buChar char="•"/>
              <a:tabLst>
                <a:tab pos="342265" algn="l"/>
              </a:tabLst>
            </a:pPr>
            <a:r>
              <a:rPr lang="en-US" sz="2800" spc="-50" dirty="0">
                <a:solidFill>
                  <a:srgbClr val="334052"/>
                </a:solidFill>
                <a:latin typeface="Arial"/>
                <a:cs typeface="Arial"/>
              </a:rPr>
              <a:t>4 December</a:t>
            </a:r>
            <a:r>
              <a:rPr sz="2800" spc="-45" dirty="0">
                <a:solidFill>
                  <a:srgbClr val="334052"/>
                </a:solidFill>
                <a:latin typeface="Arial"/>
                <a:cs typeface="Arial"/>
              </a:rPr>
              <a:t> </a:t>
            </a:r>
            <a:r>
              <a:rPr sz="2800" spc="-20" dirty="0">
                <a:solidFill>
                  <a:srgbClr val="334052"/>
                </a:solidFill>
                <a:latin typeface="Arial"/>
                <a:cs typeface="Arial"/>
              </a:rPr>
              <a:t>2025</a:t>
            </a:r>
            <a:endParaRPr sz="2800" dirty="0">
              <a:latin typeface="Arial"/>
              <a:cs typeface="Arial"/>
            </a:endParaRPr>
          </a:p>
          <a:p>
            <a:pPr marL="399415" indent="-399415">
              <a:lnSpc>
                <a:spcPct val="100000"/>
              </a:lnSpc>
              <a:spcBef>
                <a:spcPts val="1800"/>
              </a:spcBef>
              <a:buClr>
                <a:srgbClr val="1F487C"/>
              </a:buClr>
              <a:buChar char="•"/>
              <a:tabLst>
                <a:tab pos="399415" algn="l"/>
              </a:tabLst>
            </a:pPr>
            <a:r>
              <a:rPr sz="2800" dirty="0">
                <a:solidFill>
                  <a:srgbClr val="334052"/>
                </a:solidFill>
                <a:latin typeface="Arial"/>
                <a:cs typeface="Arial"/>
              </a:rPr>
              <a:t>Virtual</a:t>
            </a:r>
            <a:r>
              <a:rPr sz="2800" spc="-65" dirty="0">
                <a:solidFill>
                  <a:srgbClr val="334052"/>
                </a:solidFill>
                <a:latin typeface="Arial"/>
                <a:cs typeface="Arial"/>
              </a:rPr>
              <a:t> </a:t>
            </a:r>
            <a:r>
              <a:rPr sz="2800" dirty="0">
                <a:solidFill>
                  <a:srgbClr val="334052"/>
                </a:solidFill>
                <a:latin typeface="Arial"/>
                <a:cs typeface="Arial"/>
              </a:rPr>
              <a:t>Meeting</a:t>
            </a:r>
            <a:r>
              <a:rPr sz="2800" spc="-55" dirty="0">
                <a:solidFill>
                  <a:srgbClr val="334052"/>
                </a:solidFill>
                <a:latin typeface="Arial"/>
                <a:cs typeface="Arial"/>
              </a:rPr>
              <a:t> </a:t>
            </a:r>
            <a:r>
              <a:rPr sz="2800" spc="-10" dirty="0">
                <a:solidFill>
                  <a:srgbClr val="334052"/>
                </a:solidFill>
                <a:latin typeface="Arial"/>
                <a:cs typeface="Arial"/>
              </a:rPr>
              <a:t>2-</a:t>
            </a:r>
            <a:r>
              <a:rPr sz="2800" dirty="0">
                <a:solidFill>
                  <a:srgbClr val="334052"/>
                </a:solidFill>
                <a:latin typeface="Arial"/>
                <a:cs typeface="Arial"/>
              </a:rPr>
              <a:t>4</a:t>
            </a:r>
            <a:r>
              <a:rPr sz="2800" spc="-70" dirty="0">
                <a:solidFill>
                  <a:srgbClr val="334052"/>
                </a:solidFill>
                <a:latin typeface="Arial"/>
                <a:cs typeface="Arial"/>
              </a:rPr>
              <a:t> </a:t>
            </a:r>
            <a:r>
              <a:rPr sz="2800" dirty="0">
                <a:solidFill>
                  <a:srgbClr val="334052"/>
                </a:solidFill>
                <a:latin typeface="Arial"/>
                <a:cs typeface="Arial"/>
              </a:rPr>
              <a:t>PM</a:t>
            </a:r>
            <a:r>
              <a:rPr sz="2800" spc="-65" dirty="0">
                <a:solidFill>
                  <a:srgbClr val="334052"/>
                </a:solidFill>
                <a:latin typeface="Arial"/>
                <a:cs typeface="Arial"/>
              </a:rPr>
              <a:t> </a:t>
            </a:r>
            <a:r>
              <a:rPr sz="2800" spc="-25" dirty="0">
                <a:solidFill>
                  <a:srgbClr val="334052"/>
                </a:solidFill>
                <a:latin typeface="Arial"/>
                <a:cs typeface="Arial"/>
              </a:rPr>
              <a:t>EST</a:t>
            </a:r>
            <a:endParaRPr sz="2800" dirty="0">
              <a:latin typeface="Arial"/>
              <a:cs typeface="Arial"/>
            </a:endParaRPr>
          </a:p>
        </p:txBody>
      </p:sp>
      <p:sp>
        <p:nvSpPr>
          <p:cNvPr id="5" name="object 5"/>
          <p:cNvSpPr txBox="1"/>
          <p:nvPr/>
        </p:nvSpPr>
        <p:spPr>
          <a:xfrm rot="10800000" flipV="1">
            <a:off x="6400800" y="754051"/>
            <a:ext cx="5651826" cy="5319405"/>
          </a:xfrm>
          <a:prstGeom prst="rect">
            <a:avLst/>
          </a:prstGeom>
        </p:spPr>
        <p:txBody>
          <a:bodyPr vert="horz" wrap="square" lIns="0" tIns="12700" rIns="0" bIns="0" rtlCol="0">
            <a:spAutoFit/>
          </a:bodyPr>
          <a:lstStyle/>
          <a:p>
            <a:pPr marL="290830" marR="142875" algn="ctr">
              <a:lnSpc>
                <a:spcPct val="100000"/>
              </a:lnSpc>
              <a:spcBef>
                <a:spcPts val="100"/>
              </a:spcBef>
            </a:pPr>
            <a:r>
              <a:rPr lang="en-US" sz="2800" spc="-75" dirty="0">
                <a:solidFill>
                  <a:srgbClr val="548ED4"/>
                </a:solidFill>
                <a:latin typeface="Arial"/>
                <a:cs typeface="Arial"/>
              </a:rPr>
              <a:t>4 December</a:t>
            </a:r>
            <a:r>
              <a:rPr sz="2800" spc="-80" dirty="0">
                <a:solidFill>
                  <a:srgbClr val="548ED4"/>
                </a:solidFill>
                <a:latin typeface="Arial"/>
                <a:cs typeface="Arial"/>
              </a:rPr>
              <a:t> </a:t>
            </a:r>
            <a:r>
              <a:rPr sz="2800" spc="-20" dirty="0">
                <a:solidFill>
                  <a:srgbClr val="548ED4"/>
                </a:solidFill>
                <a:latin typeface="Arial"/>
                <a:cs typeface="Arial"/>
              </a:rPr>
              <a:t>2025</a:t>
            </a:r>
            <a:endParaRPr lang="en-US" sz="2800" spc="-20" dirty="0">
              <a:solidFill>
                <a:srgbClr val="548ED4"/>
              </a:solidFill>
              <a:latin typeface="Arial"/>
              <a:cs typeface="Arial"/>
            </a:endParaRPr>
          </a:p>
          <a:p>
            <a:pPr marL="290830" marR="142875" algn="ctr">
              <a:lnSpc>
                <a:spcPct val="100000"/>
              </a:lnSpc>
              <a:spcBef>
                <a:spcPts val="100"/>
              </a:spcBef>
            </a:pPr>
            <a:r>
              <a:rPr sz="2800" dirty="0">
                <a:solidFill>
                  <a:srgbClr val="548ED4"/>
                </a:solidFill>
                <a:latin typeface="Arial"/>
                <a:cs typeface="Arial"/>
              </a:rPr>
              <a:t>PGB</a:t>
            </a:r>
            <a:r>
              <a:rPr lang="en-US" sz="2800" dirty="0">
                <a:solidFill>
                  <a:srgbClr val="548ED4"/>
                </a:solidFill>
                <a:latin typeface="Arial"/>
                <a:cs typeface="Arial"/>
              </a:rPr>
              <a:t> Zoom</a:t>
            </a:r>
            <a:r>
              <a:rPr sz="2800" dirty="0">
                <a:solidFill>
                  <a:srgbClr val="548ED4"/>
                </a:solidFill>
                <a:latin typeface="Arial"/>
                <a:cs typeface="Arial"/>
              </a:rPr>
              <a:t> </a:t>
            </a:r>
            <a:r>
              <a:rPr sz="2800" spc="-10" dirty="0">
                <a:solidFill>
                  <a:srgbClr val="548ED4"/>
                </a:solidFill>
                <a:latin typeface="Arial"/>
                <a:cs typeface="Arial"/>
              </a:rPr>
              <a:t>Meeting</a:t>
            </a:r>
            <a:endParaRPr sz="2800" dirty="0">
              <a:latin typeface="Arial"/>
              <a:cs typeface="Arial"/>
            </a:endParaRPr>
          </a:p>
          <a:p>
            <a:pPr marL="140970" algn="ctr">
              <a:lnSpc>
                <a:spcPct val="100000"/>
              </a:lnSpc>
              <a:spcBef>
                <a:spcPts val="5"/>
              </a:spcBef>
            </a:pPr>
            <a:endParaRPr lang="en-US" sz="1600" b="1" spc="-10" dirty="0">
              <a:solidFill>
                <a:srgbClr val="548ED4"/>
              </a:solidFill>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424242"/>
                </a:solidFill>
                <a:effectLst/>
                <a:cs typeface="Arial" panose="020B0604020202020204" pitchFamily="34" charset="0"/>
              </a:rPr>
              <a:t>Join Zoom Meeting</a:t>
            </a:r>
            <a:br>
              <a:rPr kumimoji="0" lang="en-US" altLang="en-US" sz="1600" b="0" i="0" u="none" strike="noStrike" cap="none" normalizeH="0" baseline="0" dirty="0">
                <a:ln>
                  <a:noFill/>
                </a:ln>
                <a:solidFill>
                  <a:srgbClr val="424242"/>
                </a:solidFill>
                <a:effectLst/>
                <a:cs typeface="Arial" panose="020B0604020202020204" pitchFamily="34" charset="0"/>
              </a:rPr>
            </a:br>
            <a:r>
              <a:rPr kumimoji="0" lang="en-US" altLang="en-US" sz="1600" b="0" i="0" u="sng" strike="noStrike" cap="none" normalizeH="0" baseline="0" dirty="0">
                <a:ln>
                  <a:noFill/>
                </a:ln>
                <a:solidFill>
                  <a:srgbClr val="0000FF"/>
                </a:solidFill>
                <a:effectLst/>
                <a:cs typeface="Arial" panose="020B0604020202020204" pitchFamily="34" charset="0"/>
                <a:hlinkClick r:id="rId3" tooltip="https://us06web.zoom.us/j/8016452879?pwd=a3hNN0dieVJPR1pZY2QwbHVXbFJTUT09&amp;omn=85908180890"/>
              </a:rPr>
              <a:t>https://us06web.zoom.us/j/8016452879?pwd=a3hNN0dieVJPR1pZY2QwbHVXbFJTUT09&amp;omn=85908180890</a:t>
            </a:r>
            <a:endParaRPr kumimoji="0" lang="en-US" altLang="en-US" sz="1600" b="0" i="0" u="none" strike="noStrike" cap="none" normalizeH="0" baseline="0" dirty="0">
              <a:ln>
                <a:noFill/>
              </a:ln>
              <a:solidFill>
                <a:srgbClr val="424242"/>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424242"/>
                </a:solidFill>
                <a:effectLst/>
                <a:cs typeface="Arial" panose="020B0604020202020204" pitchFamily="34" charset="0"/>
              </a:rPr>
              <a:t>Meeting ID: 801 645 2879</a:t>
            </a:r>
            <a:br>
              <a:rPr kumimoji="0" lang="en-US" altLang="en-US" sz="1600" b="0" i="0" u="none" strike="noStrike" cap="none" normalizeH="0" baseline="0" dirty="0">
                <a:ln>
                  <a:noFill/>
                </a:ln>
                <a:solidFill>
                  <a:srgbClr val="424242"/>
                </a:solidFill>
                <a:effectLst/>
                <a:cs typeface="Arial" panose="020B0604020202020204" pitchFamily="34" charset="0"/>
              </a:rPr>
            </a:br>
            <a:r>
              <a:rPr kumimoji="0" lang="en-US" altLang="en-US" sz="1600" b="0" i="0" u="none" strike="noStrike" cap="none" normalizeH="0" baseline="0" dirty="0">
                <a:ln>
                  <a:noFill/>
                </a:ln>
                <a:solidFill>
                  <a:srgbClr val="424242"/>
                </a:solidFill>
                <a:effectLst/>
                <a:cs typeface="Arial" panose="020B0604020202020204" pitchFamily="34" charset="0"/>
              </a:rPr>
              <a:t>Passcode: 676136</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424242"/>
              </a:solidFill>
              <a:cs typeface="Arial" panose="020B0604020202020204" pitchFamily="34" charset="0"/>
            </a:endParaRPr>
          </a:p>
          <a:p>
            <a:pPr algn="l"/>
            <a:r>
              <a:rPr lang="en-US" sz="1600" b="0" i="0" dirty="0">
                <a:solidFill>
                  <a:srgbClr val="424242"/>
                </a:solidFill>
                <a:effectLst/>
                <a:latin typeface="Segoe UI" panose="020B0502040204020203" pitchFamily="34" charset="0"/>
              </a:rPr>
              <a:t>One tap mobile</a:t>
            </a:r>
            <a:br>
              <a:rPr lang="en-US" sz="1600" b="0" i="0" dirty="0">
                <a:solidFill>
                  <a:srgbClr val="424242"/>
                </a:solidFill>
                <a:effectLst/>
                <a:latin typeface="Segoe UI" panose="020B0502040204020203" pitchFamily="34" charset="0"/>
              </a:rPr>
            </a:br>
            <a:r>
              <a:rPr lang="en-US" sz="1600" b="0" i="0" dirty="0">
                <a:solidFill>
                  <a:srgbClr val="424242"/>
                </a:solidFill>
                <a:effectLst/>
                <a:latin typeface="Segoe UI" panose="020B0502040204020203" pitchFamily="34" charset="0"/>
              </a:rPr>
              <a:t>+13052241968,,8016452879#,,,,*676136# US</a:t>
            </a:r>
            <a:br>
              <a:rPr lang="en-US" sz="1600" b="0" i="0" dirty="0">
                <a:solidFill>
                  <a:srgbClr val="424242"/>
                </a:solidFill>
                <a:effectLst/>
                <a:latin typeface="Segoe UI" panose="020B0502040204020203" pitchFamily="34" charset="0"/>
              </a:rPr>
            </a:br>
            <a:r>
              <a:rPr lang="en-US" sz="1600" b="0" i="0" dirty="0">
                <a:solidFill>
                  <a:srgbClr val="424242"/>
                </a:solidFill>
                <a:effectLst/>
                <a:latin typeface="Segoe UI" panose="020B0502040204020203" pitchFamily="34" charset="0"/>
              </a:rPr>
              <a:t>+13092053325,,8016452879#,,,,*676136# US</a:t>
            </a:r>
          </a:p>
          <a:p>
            <a:pPr algn="l"/>
            <a:r>
              <a:rPr lang="en-US" sz="1600" b="0" i="0" dirty="0">
                <a:solidFill>
                  <a:srgbClr val="424242"/>
                </a:solidFill>
                <a:effectLst/>
                <a:latin typeface="Segoe UI" panose="020B0502040204020203" pitchFamily="34" charset="0"/>
              </a:rPr>
              <a:t>Join instructions</a:t>
            </a:r>
            <a:br>
              <a:rPr lang="en-US" sz="1600" b="0" i="0" dirty="0">
                <a:solidFill>
                  <a:srgbClr val="424242"/>
                </a:solidFill>
                <a:effectLst/>
                <a:latin typeface="Segoe UI" panose="020B0502040204020203" pitchFamily="34" charset="0"/>
              </a:rPr>
            </a:br>
            <a:r>
              <a:rPr lang="en-US" sz="1600" b="0" i="0" u="sng" dirty="0">
                <a:solidFill>
                  <a:srgbClr val="0000FF"/>
                </a:solidFill>
                <a:effectLst/>
                <a:latin typeface="Segoe UI" panose="020B0502040204020203" pitchFamily="34" charset="0"/>
                <a:hlinkClick r:id="rId4" tooltip="https://us06web.zoom.us/meetings/85908180890/invitations?signature=v7ueE3VX0wciFxK86TDOvU4-uHxhSlMjSZeynaKxCXo"/>
              </a:rPr>
              <a:t>https://us06web.zoom.us/meetings/85908180890/invitations?signature=v7ueE3VX0wciFxK86TDOvU4-uHxhSlMjSZeynaKxCXo</a:t>
            </a:r>
            <a:endParaRPr lang="en-US" sz="1600" b="0" i="0" dirty="0">
              <a:solidFill>
                <a:srgbClr val="424242"/>
              </a:solidFill>
              <a:effectLst/>
              <a:latin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cs typeface="Arial" panose="020B0604020202020204" pitchFamily="34" charset="0"/>
            </a:endParaRPr>
          </a:p>
          <a:p>
            <a:pPr algn="l" fontAlgn="base"/>
            <a:endParaRPr sz="1600" dirty="0">
              <a:latin typeface="Calibri"/>
              <a:cs typeface="Calibri"/>
            </a:endParaRPr>
          </a:p>
          <a:p>
            <a:pPr marL="12700" marR="1139190">
              <a:lnSpc>
                <a:spcPct val="100000"/>
              </a:lnSpc>
            </a:pPr>
            <a:r>
              <a:rPr sz="1600" b="1" dirty="0">
                <a:solidFill>
                  <a:srgbClr val="1E1C11"/>
                </a:solidFill>
                <a:latin typeface="Arial"/>
                <a:cs typeface="Arial"/>
              </a:rPr>
              <a:t>PGB Minutes</a:t>
            </a:r>
            <a:r>
              <a:rPr sz="1600" b="1" spc="-15" dirty="0">
                <a:solidFill>
                  <a:srgbClr val="1E1C11"/>
                </a:solidFill>
                <a:latin typeface="Arial"/>
                <a:cs typeface="Arial"/>
              </a:rPr>
              <a:t> </a:t>
            </a:r>
            <a:r>
              <a:rPr sz="1600" b="1" dirty="0">
                <a:solidFill>
                  <a:srgbClr val="1E1C11"/>
                </a:solidFill>
                <a:latin typeface="Arial"/>
                <a:cs typeface="Arial"/>
              </a:rPr>
              <a:t>&amp; </a:t>
            </a:r>
            <a:r>
              <a:rPr sz="1600" b="1" spc="-10" dirty="0">
                <a:solidFill>
                  <a:srgbClr val="1E1C11"/>
                </a:solidFill>
                <a:latin typeface="Arial"/>
                <a:cs typeface="Arial"/>
              </a:rPr>
              <a:t>documents</a:t>
            </a:r>
            <a:r>
              <a:rPr sz="1600" spc="-10" dirty="0">
                <a:solidFill>
                  <a:srgbClr val="1E1C11"/>
                </a:solidFill>
                <a:latin typeface="Arial"/>
                <a:cs typeface="Arial"/>
              </a:rPr>
              <a:t>: </a:t>
            </a:r>
            <a:r>
              <a:rPr sz="1600" u="sng" spc="-10" dirty="0">
                <a:solidFill>
                  <a:srgbClr val="0085BA"/>
                </a:solidFill>
                <a:uFill>
                  <a:solidFill>
                    <a:srgbClr val="0085BA"/>
                  </a:solidFill>
                </a:uFill>
                <a:latin typeface="Arial"/>
                <a:cs typeface="Arial"/>
                <a:hlinkClick r:id="rId5"/>
              </a:rPr>
              <a:t>https://github.com/niemopen/oasis-open-</a:t>
            </a:r>
            <a:r>
              <a:rPr sz="1600" u="none" spc="-10" dirty="0">
                <a:solidFill>
                  <a:srgbClr val="0085BA"/>
                </a:solidFill>
                <a:latin typeface="Arial"/>
                <a:cs typeface="Arial"/>
              </a:rPr>
              <a:t> </a:t>
            </a:r>
            <a:r>
              <a:rPr sz="1600" u="sng" spc="-10" dirty="0">
                <a:solidFill>
                  <a:srgbClr val="0085BA"/>
                </a:solidFill>
                <a:uFill>
                  <a:solidFill>
                    <a:srgbClr val="0085BA"/>
                  </a:solidFill>
                </a:uFill>
                <a:latin typeface="Arial"/>
                <a:cs typeface="Arial"/>
                <a:hlinkClick r:id="rId5"/>
              </a:rPr>
              <a:t>project/tree/main/pgb-meeting-minutes</a:t>
            </a:r>
            <a:endParaRPr sz="1600" dirty="0">
              <a:latin typeface="Arial"/>
              <a:cs typeface="Arial"/>
            </a:endParaRPr>
          </a:p>
        </p:txBody>
      </p:sp>
      <p:grpSp>
        <p:nvGrpSpPr>
          <p:cNvPr id="6" name="object 6"/>
          <p:cNvGrpSpPr/>
          <p:nvPr/>
        </p:nvGrpSpPr>
        <p:grpSpPr>
          <a:xfrm>
            <a:off x="-4762" y="-4762"/>
            <a:ext cx="12201525" cy="143510"/>
            <a:chOff x="-4762" y="-4762"/>
            <a:chExt cx="12201525" cy="143510"/>
          </a:xfrm>
        </p:grpSpPr>
        <p:sp>
          <p:nvSpPr>
            <p:cNvPr id="7" name="object 7"/>
            <p:cNvSpPr/>
            <p:nvPr/>
          </p:nvSpPr>
          <p:spPr>
            <a:xfrm>
              <a:off x="0" y="0"/>
              <a:ext cx="1905" cy="139065"/>
            </a:xfrm>
            <a:custGeom>
              <a:avLst/>
              <a:gdLst/>
              <a:ahLst/>
              <a:cxnLst/>
              <a:rect l="l" t="t" r="r" b="b"/>
              <a:pathLst>
                <a:path w="1905" h="139065">
                  <a:moveTo>
                    <a:pt x="0" y="138683"/>
                  </a:moveTo>
                  <a:lnTo>
                    <a:pt x="1524" y="138683"/>
                  </a:lnTo>
                  <a:lnTo>
                    <a:pt x="1524" y="0"/>
                  </a:lnTo>
                  <a:lnTo>
                    <a:pt x="0" y="0"/>
                  </a:lnTo>
                  <a:lnTo>
                    <a:pt x="0" y="138683"/>
                  </a:lnTo>
                  <a:close/>
                </a:path>
              </a:pathLst>
            </a:custGeom>
            <a:solidFill>
              <a:srgbClr val="D1D1D1"/>
            </a:solidFill>
          </p:spPr>
          <p:txBody>
            <a:bodyPr wrap="square" lIns="0" tIns="0" rIns="0" bIns="0" rtlCol="0"/>
            <a:lstStyle/>
            <a:p>
              <a:endParaRPr/>
            </a:p>
          </p:txBody>
        </p:sp>
        <p:sp>
          <p:nvSpPr>
            <p:cNvPr id="8" name="object 8"/>
            <p:cNvSpPr/>
            <p:nvPr/>
          </p:nvSpPr>
          <p:spPr>
            <a:xfrm>
              <a:off x="0" y="0"/>
              <a:ext cx="12192000" cy="15240"/>
            </a:xfrm>
            <a:custGeom>
              <a:avLst/>
              <a:gdLst/>
              <a:ahLst/>
              <a:cxnLst/>
              <a:rect l="l" t="t" r="r" b="b"/>
              <a:pathLst>
                <a:path w="12192000" h="15240">
                  <a:moveTo>
                    <a:pt x="12192000" y="0"/>
                  </a:moveTo>
                  <a:lnTo>
                    <a:pt x="0" y="0"/>
                  </a:lnTo>
                  <a:lnTo>
                    <a:pt x="0" y="15240"/>
                  </a:lnTo>
                  <a:lnTo>
                    <a:pt x="12192000" y="15240"/>
                  </a:lnTo>
                  <a:lnTo>
                    <a:pt x="12192000" y="0"/>
                  </a:lnTo>
                  <a:close/>
                </a:path>
              </a:pathLst>
            </a:custGeom>
            <a:solidFill>
              <a:srgbClr val="000000"/>
            </a:solidFill>
          </p:spPr>
          <p:txBody>
            <a:bodyPr wrap="square" lIns="0" tIns="0" rIns="0" bIns="0" rtlCol="0"/>
            <a:lstStyle/>
            <a:p>
              <a:endParaRPr/>
            </a:p>
          </p:txBody>
        </p:sp>
        <p:sp>
          <p:nvSpPr>
            <p:cNvPr id="9" name="object 9"/>
            <p:cNvSpPr/>
            <p:nvPr/>
          </p:nvSpPr>
          <p:spPr>
            <a:xfrm>
              <a:off x="0" y="0"/>
              <a:ext cx="12192000" cy="15240"/>
            </a:xfrm>
            <a:custGeom>
              <a:avLst/>
              <a:gdLst/>
              <a:ahLst/>
              <a:cxnLst/>
              <a:rect l="l" t="t" r="r" b="b"/>
              <a:pathLst>
                <a:path w="12192000" h="15240">
                  <a:moveTo>
                    <a:pt x="0" y="15240"/>
                  </a:moveTo>
                  <a:lnTo>
                    <a:pt x="12192000" y="15240"/>
                  </a:lnTo>
                  <a:lnTo>
                    <a:pt x="12192000" y="0"/>
                  </a:lnTo>
                  <a:lnTo>
                    <a:pt x="0" y="0"/>
                  </a:lnTo>
                  <a:lnTo>
                    <a:pt x="0" y="15240"/>
                  </a:lnTo>
                  <a:close/>
                </a:path>
              </a:pathLst>
            </a:custGeom>
            <a:ln w="9525">
              <a:solidFill>
                <a:srgbClr val="8A8A8A"/>
              </a:solidFill>
            </a:ln>
          </p:spPr>
          <p:txBody>
            <a:bodyPr wrap="square" lIns="0" tIns="0" rIns="0" bIns="0" rtlCol="0"/>
            <a:lstStyle/>
            <a:p>
              <a:endParaRPr/>
            </a:p>
          </p:txBody>
        </p:sp>
        <p:sp>
          <p:nvSpPr>
            <p:cNvPr id="10" name="object 10"/>
            <p:cNvSpPr/>
            <p:nvPr/>
          </p:nvSpPr>
          <p:spPr>
            <a:xfrm>
              <a:off x="0" y="0"/>
              <a:ext cx="1905" cy="139065"/>
            </a:xfrm>
            <a:custGeom>
              <a:avLst/>
              <a:gdLst/>
              <a:ahLst/>
              <a:cxnLst/>
              <a:rect l="l" t="t" r="r" b="b"/>
              <a:pathLst>
                <a:path w="1905" h="139065">
                  <a:moveTo>
                    <a:pt x="0" y="138683"/>
                  </a:moveTo>
                  <a:lnTo>
                    <a:pt x="1524" y="138683"/>
                  </a:lnTo>
                  <a:lnTo>
                    <a:pt x="1524" y="0"/>
                  </a:lnTo>
                  <a:lnTo>
                    <a:pt x="0" y="0"/>
                  </a:lnTo>
                  <a:lnTo>
                    <a:pt x="0" y="138683"/>
                  </a:lnTo>
                  <a:close/>
                </a:path>
              </a:pathLst>
            </a:custGeom>
            <a:solidFill>
              <a:srgbClr val="D1D1D1"/>
            </a:solidFill>
          </p:spPr>
          <p:txBody>
            <a:bodyPr wrap="square" lIns="0" tIns="0" rIns="0" bIns="0" rtlCol="0"/>
            <a:lstStyle/>
            <a:p>
              <a:endParaRPr/>
            </a:p>
          </p:txBody>
        </p:sp>
        <p:sp>
          <p:nvSpPr>
            <p:cNvPr id="11" name="object 11"/>
            <p:cNvSpPr/>
            <p:nvPr/>
          </p:nvSpPr>
          <p:spPr>
            <a:xfrm>
              <a:off x="0" y="0"/>
              <a:ext cx="12192000" cy="15240"/>
            </a:xfrm>
            <a:custGeom>
              <a:avLst/>
              <a:gdLst/>
              <a:ahLst/>
              <a:cxnLst/>
              <a:rect l="l" t="t" r="r" b="b"/>
              <a:pathLst>
                <a:path w="12192000" h="15240">
                  <a:moveTo>
                    <a:pt x="12192000" y="0"/>
                  </a:moveTo>
                  <a:lnTo>
                    <a:pt x="0" y="0"/>
                  </a:lnTo>
                  <a:lnTo>
                    <a:pt x="0" y="15240"/>
                  </a:lnTo>
                  <a:lnTo>
                    <a:pt x="12192000" y="15240"/>
                  </a:lnTo>
                  <a:lnTo>
                    <a:pt x="12192000" y="0"/>
                  </a:lnTo>
                  <a:close/>
                </a:path>
              </a:pathLst>
            </a:custGeom>
            <a:solidFill>
              <a:srgbClr val="000000"/>
            </a:solidFill>
          </p:spPr>
          <p:txBody>
            <a:bodyPr wrap="square" lIns="0" tIns="0" rIns="0" bIns="0" rtlCol="0"/>
            <a:lstStyle/>
            <a:p>
              <a:endParaRPr/>
            </a:p>
          </p:txBody>
        </p:sp>
        <p:sp>
          <p:nvSpPr>
            <p:cNvPr id="12" name="object 12"/>
            <p:cNvSpPr/>
            <p:nvPr/>
          </p:nvSpPr>
          <p:spPr>
            <a:xfrm>
              <a:off x="0" y="0"/>
              <a:ext cx="12192000" cy="15240"/>
            </a:xfrm>
            <a:custGeom>
              <a:avLst/>
              <a:gdLst/>
              <a:ahLst/>
              <a:cxnLst/>
              <a:rect l="l" t="t" r="r" b="b"/>
              <a:pathLst>
                <a:path w="12192000" h="15240">
                  <a:moveTo>
                    <a:pt x="0" y="15240"/>
                  </a:moveTo>
                  <a:lnTo>
                    <a:pt x="12192000" y="15240"/>
                  </a:lnTo>
                  <a:lnTo>
                    <a:pt x="12192000" y="0"/>
                  </a:lnTo>
                  <a:lnTo>
                    <a:pt x="0" y="0"/>
                  </a:lnTo>
                  <a:lnTo>
                    <a:pt x="0" y="15240"/>
                  </a:lnTo>
                  <a:close/>
                </a:path>
              </a:pathLst>
            </a:custGeom>
            <a:ln w="9525">
              <a:solidFill>
                <a:srgbClr val="8A8A8A"/>
              </a:solidFill>
            </a:ln>
          </p:spPr>
          <p:txBody>
            <a:bodyPr wrap="square" lIns="0" tIns="0" rIns="0" bIns="0" rtlCol="0"/>
            <a:lstStyle/>
            <a:p>
              <a:endParaRPr/>
            </a:p>
          </p:txBody>
        </p:sp>
        <p:sp>
          <p:nvSpPr>
            <p:cNvPr id="13" name="object 13"/>
            <p:cNvSpPr/>
            <p:nvPr/>
          </p:nvSpPr>
          <p:spPr>
            <a:xfrm>
              <a:off x="0" y="0"/>
              <a:ext cx="12192000" cy="15240"/>
            </a:xfrm>
            <a:custGeom>
              <a:avLst/>
              <a:gdLst/>
              <a:ahLst/>
              <a:cxnLst/>
              <a:rect l="l" t="t" r="r" b="b"/>
              <a:pathLst>
                <a:path w="12192000" h="15240">
                  <a:moveTo>
                    <a:pt x="12192000" y="0"/>
                  </a:moveTo>
                  <a:lnTo>
                    <a:pt x="0" y="0"/>
                  </a:lnTo>
                  <a:lnTo>
                    <a:pt x="0" y="15240"/>
                  </a:lnTo>
                  <a:lnTo>
                    <a:pt x="12192000" y="15240"/>
                  </a:lnTo>
                  <a:lnTo>
                    <a:pt x="12192000" y="0"/>
                  </a:lnTo>
                  <a:close/>
                </a:path>
              </a:pathLst>
            </a:custGeom>
            <a:solidFill>
              <a:srgbClr val="000000"/>
            </a:solidFill>
          </p:spPr>
          <p:txBody>
            <a:bodyPr wrap="square" lIns="0" tIns="0" rIns="0" bIns="0" rtlCol="0"/>
            <a:lstStyle/>
            <a:p>
              <a:endParaRPr/>
            </a:p>
          </p:txBody>
        </p:sp>
        <p:sp>
          <p:nvSpPr>
            <p:cNvPr id="14" name="object 14"/>
            <p:cNvSpPr/>
            <p:nvPr/>
          </p:nvSpPr>
          <p:spPr>
            <a:xfrm>
              <a:off x="0" y="0"/>
              <a:ext cx="12192000" cy="15240"/>
            </a:xfrm>
            <a:custGeom>
              <a:avLst/>
              <a:gdLst/>
              <a:ahLst/>
              <a:cxnLst/>
              <a:rect l="l" t="t" r="r" b="b"/>
              <a:pathLst>
                <a:path w="12192000" h="15240">
                  <a:moveTo>
                    <a:pt x="0" y="15240"/>
                  </a:moveTo>
                  <a:lnTo>
                    <a:pt x="12192000" y="15240"/>
                  </a:lnTo>
                  <a:lnTo>
                    <a:pt x="12192000" y="0"/>
                  </a:lnTo>
                  <a:lnTo>
                    <a:pt x="0" y="0"/>
                  </a:lnTo>
                  <a:lnTo>
                    <a:pt x="0" y="15240"/>
                  </a:lnTo>
                  <a:close/>
                </a:path>
              </a:pathLst>
            </a:custGeom>
            <a:ln w="9525">
              <a:solidFill>
                <a:srgbClr val="8A8A8A"/>
              </a:solidFill>
            </a:ln>
          </p:spPr>
          <p:txBody>
            <a:bodyPr wrap="square" lIns="0" tIns="0" rIns="0" bIns="0" rtlCol="0"/>
            <a:lstStyle/>
            <a:p>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1604" y="-255425"/>
            <a:ext cx="10569753" cy="1251367"/>
          </a:xfrm>
          <a:prstGeom prst="rect">
            <a:avLst/>
          </a:prstGeom>
        </p:spPr>
        <p:txBody>
          <a:bodyPr vert="horz" wrap="square" lIns="0" tIns="263905" rIns="0" bIns="0" rtlCol="0">
            <a:spAutoFit/>
          </a:bodyPr>
          <a:lstStyle/>
          <a:p>
            <a:pPr marL="2202815" algn="ctr">
              <a:lnSpc>
                <a:spcPct val="100000"/>
              </a:lnSpc>
              <a:spcBef>
                <a:spcPts val="100"/>
              </a:spcBef>
            </a:pPr>
            <a:r>
              <a:rPr lang="en-US" spc="-130" dirty="0">
                <a:solidFill>
                  <a:srgbClr val="454545"/>
                </a:solidFill>
              </a:rPr>
              <a:t>SPONSOR</a:t>
            </a:r>
            <a:r>
              <a:rPr sz="3200" spc="-130" dirty="0">
                <a:solidFill>
                  <a:srgbClr val="454545"/>
                </a:solidFill>
              </a:rPr>
              <a:t> </a:t>
            </a:r>
            <a:r>
              <a:rPr sz="3200" dirty="0">
                <a:solidFill>
                  <a:srgbClr val="454545"/>
                </a:solidFill>
              </a:rPr>
              <a:t>APPOINTED</a:t>
            </a:r>
            <a:r>
              <a:rPr lang="en-US" sz="3200" dirty="0">
                <a:solidFill>
                  <a:srgbClr val="454545"/>
                </a:solidFill>
              </a:rPr>
              <a:t> PGB</a:t>
            </a:r>
            <a:r>
              <a:rPr sz="3200" spc="-25" dirty="0">
                <a:solidFill>
                  <a:srgbClr val="454545"/>
                </a:solidFill>
              </a:rPr>
              <a:t> </a:t>
            </a:r>
            <a:r>
              <a:rPr sz="3200" dirty="0">
                <a:solidFill>
                  <a:srgbClr val="454545"/>
                </a:solidFill>
              </a:rPr>
              <a:t>VOTING</a:t>
            </a:r>
            <a:r>
              <a:rPr sz="3200" spc="-25" dirty="0">
                <a:solidFill>
                  <a:srgbClr val="454545"/>
                </a:solidFill>
              </a:rPr>
              <a:t> </a:t>
            </a:r>
            <a:r>
              <a:rPr sz="3200" spc="-10" dirty="0">
                <a:solidFill>
                  <a:srgbClr val="454545"/>
                </a:solidFill>
              </a:rPr>
              <a:t>MEMBERS</a:t>
            </a:r>
            <a:endParaRPr sz="3200" dirty="0"/>
          </a:p>
        </p:txBody>
      </p:sp>
      <p:sp>
        <p:nvSpPr>
          <p:cNvPr id="4" name="object 4"/>
          <p:cNvSpPr txBox="1"/>
          <p:nvPr/>
        </p:nvSpPr>
        <p:spPr>
          <a:xfrm>
            <a:off x="4023657" y="2644545"/>
            <a:ext cx="1565402" cy="705321"/>
          </a:xfrm>
          <a:prstGeom prst="rect">
            <a:avLst/>
          </a:prstGeom>
        </p:spPr>
        <p:txBody>
          <a:bodyPr vert="horz" wrap="square" lIns="0" tIns="12700" rIns="0" bIns="0" rtlCol="0">
            <a:spAutoFit/>
          </a:bodyPr>
          <a:lstStyle/>
          <a:p>
            <a:pPr marR="64769" indent="-3175" algn="l">
              <a:lnSpc>
                <a:spcPct val="100000"/>
              </a:lnSpc>
            </a:pPr>
            <a:r>
              <a:rPr sz="900" b="1" dirty="0">
                <a:solidFill>
                  <a:srgbClr val="454545"/>
                </a:solidFill>
                <a:latin typeface="Arial"/>
                <a:cs typeface="Arial"/>
              </a:rPr>
              <a:t>Ms.</a:t>
            </a:r>
            <a:r>
              <a:rPr sz="900" b="1" spc="-15" dirty="0">
                <a:solidFill>
                  <a:srgbClr val="454545"/>
                </a:solidFill>
                <a:latin typeface="Arial"/>
                <a:cs typeface="Arial"/>
              </a:rPr>
              <a:t> </a:t>
            </a:r>
            <a:r>
              <a:rPr sz="900" b="1" spc="-10" dirty="0">
                <a:solidFill>
                  <a:srgbClr val="454545"/>
                </a:solidFill>
                <a:latin typeface="Arial"/>
                <a:cs typeface="Arial"/>
              </a:rPr>
              <a:t>Christina Bapst-Stump</a:t>
            </a:r>
            <a:endParaRPr sz="900" dirty="0">
              <a:latin typeface="Arial"/>
              <a:cs typeface="Arial"/>
            </a:endParaRPr>
          </a:p>
          <a:p>
            <a:pPr marL="12700" marR="342265">
              <a:lnSpc>
                <a:spcPct val="100000"/>
              </a:lnSpc>
            </a:pPr>
            <a:r>
              <a:rPr sz="900" dirty="0">
                <a:solidFill>
                  <a:srgbClr val="454545"/>
                </a:solidFill>
                <a:latin typeface="Arial"/>
                <a:cs typeface="Arial"/>
              </a:rPr>
              <a:t>Science</a:t>
            </a:r>
            <a:r>
              <a:rPr sz="900" spc="-35" dirty="0">
                <a:solidFill>
                  <a:srgbClr val="454545"/>
                </a:solidFill>
                <a:latin typeface="Arial"/>
                <a:cs typeface="Arial"/>
              </a:rPr>
              <a:t> </a:t>
            </a:r>
            <a:r>
              <a:rPr sz="900" spc="-25" dirty="0">
                <a:solidFill>
                  <a:srgbClr val="454545"/>
                </a:solidFill>
                <a:latin typeface="Arial"/>
                <a:cs typeface="Arial"/>
              </a:rPr>
              <a:t>and </a:t>
            </a:r>
            <a:r>
              <a:rPr sz="900" spc="-10" dirty="0">
                <a:solidFill>
                  <a:srgbClr val="454545"/>
                </a:solidFill>
                <a:latin typeface="Arial"/>
                <a:cs typeface="Arial"/>
              </a:rPr>
              <a:t>Technology Directorate,</a:t>
            </a:r>
            <a:endParaRPr sz="900" dirty="0">
              <a:latin typeface="Arial"/>
              <a:cs typeface="Arial"/>
            </a:endParaRPr>
          </a:p>
          <a:p>
            <a:pPr marL="12700" marR="5080">
              <a:lnSpc>
                <a:spcPct val="100000"/>
              </a:lnSpc>
            </a:pPr>
            <a:r>
              <a:rPr sz="900" dirty="0">
                <a:solidFill>
                  <a:srgbClr val="454545"/>
                </a:solidFill>
                <a:latin typeface="Arial"/>
                <a:cs typeface="Arial"/>
              </a:rPr>
              <a:t>US</a:t>
            </a:r>
            <a:r>
              <a:rPr sz="900" spc="-15" dirty="0">
                <a:solidFill>
                  <a:srgbClr val="454545"/>
                </a:solidFill>
                <a:latin typeface="Arial"/>
                <a:cs typeface="Arial"/>
              </a:rPr>
              <a:t> </a:t>
            </a:r>
            <a:r>
              <a:rPr sz="900" dirty="0">
                <a:solidFill>
                  <a:srgbClr val="454545"/>
                </a:solidFill>
                <a:latin typeface="Arial"/>
                <a:cs typeface="Arial"/>
              </a:rPr>
              <a:t>Department</a:t>
            </a:r>
            <a:r>
              <a:rPr sz="900" spc="-45" dirty="0">
                <a:solidFill>
                  <a:srgbClr val="454545"/>
                </a:solidFill>
                <a:latin typeface="Arial"/>
                <a:cs typeface="Arial"/>
              </a:rPr>
              <a:t> </a:t>
            </a:r>
            <a:r>
              <a:rPr sz="900" spc="-25" dirty="0">
                <a:solidFill>
                  <a:srgbClr val="454545"/>
                </a:solidFill>
                <a:latin typeface="Arial"/>
                <a:cs typeface="Arial"/>
              </a:rPr>
              <a:t>of </a:t>
            </a:r>
            <a:r>
              <a:rPr sz="900" dirty="0">
                <a:solidFill>
                  <a:srgbClr val="454545"/>
                </a:solidFill>
                <a:latin typeface="Arial"/>
                <a:cs typeface="Arial"/>
              </a:rPr>
              <a:t>Homeland</a:t>
            </a:r>
            <a:r>
              <a:rPr sz="900" spc="-35" dirty="0">
                <a:solidFill>
                  <a:srgbClr val="454545"/>
                </a:solidFill>
                <a:latin typeface="Arial"/>
                <a:cs typeface="Arial"/>
              </a:rPr>
              <a:t> </a:t>
            </a:r>
            <a:r>
              <a:rPr sz="900" spc="-10" dirty="0">
                <a:solidFill>
                  <a:srgbClr val="454545"/>
                </a:solidFill>
                <a:latin typeface="Arial"/>
                <a:cs typeface="Arial"/>
              </a:rPr>
              <a:t>Security</a:t>
            </a:r>
            <a:endParaRPr sz="900" dirty="0">
              <a:latin typeface="Arial"/>
              <a:cs typeface="Arial"/>
            </a:endParaRPr>
          </a:p>
        </p:txBody>
      </p:sp>
      <p:pic>
        <p:nvPicPr>
          <p:cNvPr id="10" name="object 10"/>
          <p:cNvPicPr/>
          <p:nvPr/>
        </p:nvPicPr>
        <p:blipFill>
          <a:blip r:embed="rId3" cstate="email">
            <a:extLst>
              <a:ext uri="{28A0092B-C50C-407E-A947-70E740481C1C}">
                <a14:useLocalDpi xmlns:a14="http://schemas.microsoft.com/office/drawing/2010/main"/>
              </a:ext>
            </a:extLst>
          </a:blip>
          <a:stretch>
            <a:fillRect/>
          </a:stretch>
        </p:blipFill>
        <p:spPr>
          <a:xfrm>
            <a:off x="4038600" y="1191971"/>
            <a:ext cx="1232915" cy="1191767"/>
          </a:xfrm>
          <a:prstGeom prst="rect">
            <a:avLst/>
          </a:prstGeom>
        </p:spPr>
      </p:pic>
      <p:sp>
        <p:nvSpPr>
          <p:cNvPr id="13" name="object 13"/>
          <p:cNvSpPr txBox="1"/>
          <p:nvPr/>
        </p:nvSpPr>
        <p:spPr>
          <a:xfrm>
            <a:off x="9468351" y="2393782"/>
            <a:ext cx="1520190" cy="1089401"/>
          </a:xfrm>
          <a:prstGeom prst="rect">
            <a:avLst/>
          </a:prstGeom>
        </p:spPr>
        <p:txBody>
          <a:bodyPr vert="horz" wrap="square" lIns="0" tIns="12065" rIns="0" bIns="0" rtlCol="0">
            <a:spAutoFit/>
          </a:bodyPr>
          <a:lstStyle/>
          <a:p>
            <a:pPr marR="26034">
              <a:lnSpc>
                <a:spcPct val="100000"/>
              </a:lnSpc>
            </a:pPr>
            <a:r>
              <a:rPr sz="1000" b="1" dirty="0">
                <a:solidFill>
                  <a:srgbClr val="454545"/>
                </a:solidFill>
                <a:latin typeface="Arial"/>
                <a:cs typeface="Arial"/>
              </a:rPr>
              <a:t>Mr. Payton Lamb </a:t>
            </a:r>
            <a:r>
              <a:rPr sz="1000" dirty="0">
                <a:solidFill>
                  <a:srgbClr val="454545"/>
                </a:solidFill>
                <a:latin typeface="Arial"/>
                <a:cs typeface="Arial"/>
              </a:rPr>
              <a:t>Data Engineer Commonwealth of Virginia Office of the secretary of Administration</a:t>
            </a:r>
          </a:p>
          <a:p>
            <a:pPr marL="12700" marR="5080">
              <a:lnSpc>
                <a:spcPct val="100000"/>
              </a:lnSpc>
            </a:pPr>
            <a:r>
              <a:rPr sz="1000" dirty="0">
                <a:solidFill>
                  <a:srgbClr val="454545"/>
                </a:solidFill>
                <a:latin typeface="Arial"/>
                <a:cs typeface="Arial"/>
              </a:rPr>
              <a:t>Office</a:t>
            </a:r>
            <a:r>
              <a:rPr sz="1000" spc="-40" dirty="0">
                <a:solidFill>
                  <a:srgbClr val="454545"/>
                </a:solidFill>
                <a:latin typeface="Arial"/>
                <a:cs typeface="Arial"/>
              </a:rPr>
              <a:t> </a:t>
            </a:r>
            <a:r>
              <a:rPr sz="1000" dirty="0">
                <a:solidFill>
                  <a:srgbClr val="454545"/>
                </a:solidFill>
                <a:latin typeface="Arial"/>
                <a:cs typeface="Arial"/>
              </a:rPr>
              <a:t>of</a:t>
            </a:r>
            <a:r>
              <a:rPr sz="1000" spc="-25" dirty="0">
                <a:solidFill>
                  <a:srgbClr val="454545"/>
                </a:solidFill>
                <a:latin typeface="Arial"/>
                <a:cs typeface="Arial"/>
              </a:rPr>
              <a:t> </a:t>
            </a:r>
            <a:r>
              <a:rPr sz="1000" dirty="0">
                <a:solidFill>
                  <a:srgbClr val="454545"/>
                </a:solidFill>
                <a:latin typeface="Arial"/>
                <a:cs typeface="Arial"/>
              </a:rPr>
              <a:t>Data</a:t>
            </a:r>
            <a:r>
              <a:rPr sz="1000" spc="-15" dirty="0">
                <a:solidFill>
                  <a:srgbClr val="454545"/>
                </a:solidFill>
                <a:latin typeface="Arial"/>
                <a:cs typeface="Arial"/>
              </a:rPr>
              <a:t> </a:t>
            </a:r>
            <a:r>
              <a:rPr sz="1000" spc="-10" dirty="0">
                <a:solidFill>
                  <a:srgbClr val="454545"/>
                </a:solidFill>
                <a:latin typeface="Arial"/>
                <a:cs typeface="Arial"/>
              </a:rPr>
              <a:t>Governance </a:t>
            </a:r>
            <a:r>
              <a:rPr sz="1000" dirty="0">
                <a:solidFill>
                  <a:srgbClr val="454545"/>
                </a:solidFill>
                <a:latin typeface="Arial"/>
                <a:cs typeface="Arial"/>
              </a:rPr>
              <a:t>and</a:t>
            </a:r>
            <a:r>
              <a:rPr sz="1000" spc="-30" dirty="0">
                <a:solidFill>
                  <a:srgbClr val="454545"/>
                </a:solidFill>
                <a:latin typeface="Arial"/>
                <a:cs typeface="Arial"/>
              </a:rPr>
              <a:t> </a:t>
            </a:r>
            <a:r>
              <a:rPr sz="1000" spc="-10" dirty="0">
                <a:solidFill>
                  <a:srgbClr val="454545"/>
                </a:solidFill>
                <a:latin typeface="Arial"/>
                <a:cs typeface="Arial"/>
              </a:rPr>
              <a:t>Analytics</a:t>
            </a:r>
            <a:endParaRPr sz="1000" dirty="0">
              <a:latin typeface="Arial"/>
              <a:cs typeface="Arial"/>
            </a:endParaRPr>
          </a:p>
        </p:txBody>
      </p:sp>
      <p:pic>
        <p:nvPicPr>
          <p:cNvPr id="14" name="object 14"/>
          <p:cNvPicPr/>
          <p:nvPr/>
        </p:nvPicPr>
        <p:blipFill>
          <a:blip r:embed="rId4" cstate="email">
            <a:extLst>
              <a:ext uri="{28A0092B-C50C-407E-A947-70E740481C1C}">
                <a14:useLocalDpi xmlns:a14="http://schemas.microsoft.com/office/drawing/2010/main"/>
              </a:ext>
            </a:extLst>
          </a:blip>
          <a:stretch>
            <a:fillRect/>
          </a:stretch>
        </p:blipFill>
        <p:spPr>
          <a:xfrm>
            <a:off x="9552424" y="1143975"/>
            <a:ext cx="1196340" cy="1225295"/>
          </a:xfrm>
          <a:prstGeom prst="rect">
            <a:avLst/>
          </a:prstGeom>
        </p:spPr>
      </p:pic>
      <p:sp>
        <p:nvSpPr>
          <p:cNvPr id="15" name="object 15"/>
          <p:cNvSpPr txBox="1"/>
          <p:nvPr/>
        </p:nvSpPr>
        <p:spPr>
          <a:xfrm>
            <a:off x="881818" y="4954463"/>
            <a:ext cx="1541145" cy="784225"/>
          </a:xfrm>
          <a:prstGeom prst="rect">
            <a:avLst/>
          </a:prstGeom>
        </p:spPr>
        <p:txBody>
          <a:bodyPr vert="horz" wrap="square" lIns="0" tIns="12700" rIns="0" bIns="0" rtlCol="0">
            <a:spAutoFit/>
          </a:bodyPr>
          <a:lstStyle/>
          <a:p>
            <a:pPr marR="5080"/>
            <a:r>
              <a:rPr sz="1000" b="1" dirty="0">
                <a:solidFill>
                  <a:schemeClr val="bg2">
                    <a:lumMod val="10000"/>
                  </a:schemeClr>
                </a:solidFill>
                <a:latin typeface="Arial"/>
                <a:cs typeface="Arial"/>
              </a:rPr>
              <a:t>Ms.</a:t>
            </a:r>
            <a:r>
              <a:rPr sz="1000" b="1" spc="-50" dirty="0">
                <a:solidFill>
                  <a:schemeClr val="bg2">
                    <a:lumMod val="10000"/>
                  </a:schemeClr>
                </a:solidFill>
                <a:latin typeface="Arial"/>
                <a:cs typeface="Arial"/>
              </a:rPr>
              <a:t> </a:t>
            </a:r>
            <a:r>
              <a:rPr sz="1000" b="1" dirty="0">
                <a:solidFill>
                  <a:schemeClr val="bg2">
                    <a:lumMod val="10000"/>
                  </a:schemeClr>
                </a:solidFill>
                <a:latin typeface="Arial"/>
                <a:cs typeface="Arial"/>
              </a:rPr>
              <a:t>April</a:t>
            </a:r>
            <a:r>
              <a:rPr sz="1000" b="1" spc="15" dirty="0">
                <a:solidFill>
                  <a:schemeClr val="bg2">
                    <a:lumMod val="10000"/>
                  </a:schemeClr>
                </a:solidFill>
                <a:latin typeface="Arial"/>
                <a:cs typeface="Arial"/>
              </a:rPr>
              <a:t> </a:t>
            </a:r>
            <a:r>
              <a:rPr sz="1000" b="1" spc="-10" dirty="0">
                <a:solidFill>
                  <a:schemeClr val="bg2">
                    <a:lumMod val="10000"/>
                  </a:schemeClr>
                </a:solidFill>
                <a:latin typeface="Arial"/>
                <a:cs typeface="Arial"/>
              </a:rPr>
              <a:t>Mitchell</a:t>
            </a:r>
            <a:r>
              <a:rPr sz="1000" b="1" spc="500" dirty="0">
                <a:solidFill>
                  <a:schemeClr val="bg2">
                    <a:lumMod val="10000"/>
                  </a:schemeClr>
                </a:solidFill>
                <a:latin typeface="Arial"/>
                <a:cs typeface="Arial"/>
              </a:rPr>
              <a:t> </a:t>
            </a:r>
            <a:r>
              <a:rPr sz="1000" dirty="0">
                <a:solidFill>
                  <a:schemeClr val="bg2">
                    <a:lumMod val="10000"/>
                  </a:schemeClr>
                </a:solidFill>
                <a:latin typeface="Calibri"/>
                <a:cs typeface="Calibri"/>
              </a:rPr>
              <a:t>FBI</a:t>
            </a:r>
            <a:r>
              <a:rPr sz="1000" spc="10" dirty="0">
                <a:solidFill>
                  <a:schemeClr val="bg2">
                    <a:lumMod val="10000"/>
                  </a:schemeClr>
                </a:solidFill>
                <a:latin typeface="Calibri"/>
                <a:cs typeface="Calibri"/>
              </a:rPr>
              <a:t> </a:t>
            </a:r>
            <a:r>
              <a:rPr sz="1000" dirty="0">
                <a:solidFill>
                  <a:schemeClr val="bg2">
                    <a:lumMod val="10000"/>
                  </a:schemeClr>
                </a:solidFill>
                <a:latin typeface="Calibri"/>
                <a:cs typeface="Calibri"/>
              </a:rPr>
              <a:t>It </a:t>
            </a:r>
            <a:r>
              <a:rPr sz="1000" spc="-10" dirty="0">
                <a:solidFill>
                  <a:schemeClr val="bg2">
                    <a:lumMod val="10000"/>
                  </a:schemeClr>
                </a:solidFill>
                <a:latin typeface="Calibri"/>
                <a:cs typeface="Calibri"/>
              </a:rPr>
              <a:t>Specialist</a:t>
            </a:r>
            <a:r>
              <a:rPr sz="1000" dirty="0">
                <a:solidFill>
                  <a:schemeClr val="bg2">
                    <a:lumMod val="10000"/>
                  </a:schemeClr>
                </a:solidFill>
                <a:latin typeface="Calibri"/>
                <a:cs typeface="Calibri"/>
              </a:rPr>
              <a:t> and</a:t>
            </a:r>
            <a:r>
              <a:rPr sz="1000" spc="-10" dirty="0">
                <a:solidFill>
                  <a:schemeClr val="bg2">
                    <a:lumMod val="10000"/>
                  </a:schemeClr>
                </a:solidFill>
                <a:latin typeface="Calibri"/>
                <a:cs typeface="Calibri"/>
              </a:rPr>
              <a:t> Technical </a:t>
            </a:r>
            <a:r>
              <a:rPr sz="1000" dirty="0">
                <a:solidFill>
                  <a:schemeClr val="bg2">
                    <a:lumMod val="10000"/>
                  </a:schemeClr>
                </a:solidFill>
                <a:latin typeface="Calibri"/>
                <a:cs typeface="Calibri"/>
              </a:rPr>
              <a:t>Lead of</a:t>
            </a:r>
            <a:r>
              <a:rPr sz="1000" spc="-5" dirty="0">
                <a:solidFill>
                  <a:schemeClr val="bg2">
                    <a:lumMod val="10000"/>
                  </a:schemeClr>
                </a:solidFill>
                <a:latin typeface="Calibri"/>
                <a:cs typeface="Calibri"/>
              </a:rPr>
              <a:t> </a:t>
            </a:r>
            <a:r>
              <a:rPr sz="1000" dirty="0">
                <a:solidFill>
                  <a:schemeClr val="bg2">
                    <a:lumMod val="10000"/>
                  </a:schemeClr>
                </a:solidFill>
                <a:latin typeface="Calibri"/>
                <a:cs typeface="Calibri"/>
              </a:rPr>
              <a:t>Data</a:t>
            </a:r>
            <a:r>
              <a:rPr sz="1000" spc="-5" dirty="0">
                <a:solidFill>
                  <a:schemeClr val="bg2">
                    <a:lumMod val="10000"/>
                  </a:schemeClr>
                </a:solidFill>
                <a:latin typeface="Calibri"/>
                <a:cs typeface="Calibri"/>
              </a:rPr>
              <a:t> </a:t>
            </a:r>
            <a:r>
              <a:rPr sz="1000" spc="-10" dirty="0">
                <a:solidFill>
                  <a:schemeClr val="bg2">
                    <a:lumMod val="10000"/>
                  </a:schemeClr>
                </a:solidFill>
                <a:latin typeface="Calibri"/>
                <a:cs typeface="Calibri"/>
              </a:rPr>
              <a:t>Standards</a:t>
            </a:r>
            <a:r>
              <a:rPr sz="1000" spc="-15" dirty="0">
                <a:solidFill>
                  <a:schemeClr val="bg2">
                    <a:lumMod val="10000"/>
                  </a:schemeClr>
                </a:solidFill>
                <a:latin typeface="Calibri"/>
                <a:cs typeface="Calibri"/>
              </a:rPr>
              <a:t> </a:t>
            </a:r>
            <a:r>
              <a:rPr sz="1000" dirty="0">
                <a:solidFill>
                  <a:schemeClr val="bg2">
                    <a:lumMod val="10000"/>
                  </a:schemeClr>
                </a:solidFill>
                <a:latin typeface="Calibri"/>
                <a:cs typeface="Calibri"/>
              </a:rPr>
              <a:t>in</a:t>
            </a:r>
            <a:r>
              <a:rPr sz="1000" spc="-5" dirty="0">
                <a:solidFill>
                  <a:schemeClr val="bg2">
                    <a:lumMod val="10000"/>
                  </a:schemeClr>
                </a:solidFill>
                <a:latin typeface="Calibri"/>
                <a:cs typeface="Calibri"/>
              </a:rPr>
              <a:t> </a:t>
            </a:r>
            <a:r>
              <a:rPr sz="1000" spc="-25" dirty="0">
                <a:solidFill>
                  <a:schemeClr val="bg2">
                    <a:lumMod val="10000"/>
                  </a:schemeClr>
                </a:solidFill>
                <a:latin typeface="Calibri"/>
                <a:cs typeface="Calibri"/>
              </a:rPr>
              <a:t>the</a:t>
            </a:r>
            <a:r>
              <a:rPr sz="1000" dirty="0">
                <a:solidFill>
                  <a:schemeClr val="bg2">
                    <a:lumMod val="10000"/>
                  </a:schemeClr>
                </a:solidFill>
                <a:latin typeface="Calibri"/>
                <a:cs typeface="Calibri"/>
              </a:rPr>
              <a:t> Criminal</a:t>
            </a:r>
            <a:r>
              <a:rPr sz="1000" spc="-45" dirty="0">
                <a:solidFill>
                  <a:schemeClr val="bg2">
                    <a:lumMod val="10000"/>
                  </a:schemeClr>
                </a:solidFill>
                <a:latin typeface="Calibri"/>
                <a:cs typeface="Calibri"/>
              </a:rPr>
              <a:t> </a:t>
            </a:r>
            <a:r>
              <a:rPr sz="1000" dirty="0">
                <a:solidFill>
                  <a:schemeClr val="bg2">
                    <a:lumMod val="10000"/>
                  </a:schemeClr>
                </a:solidFill>
                <a:latin typeface="Calibri"/>
                <a:cs typeface="Calibri"/>
              </a:rPr>
              <a:t>Justice</a:t>
            </a:r>
            <a:r>
              <a:rPr sz="1000" spc="-20" dirty="0">
                <a:solidFill>
                  <a:schemeClr val="bg2">
                    <a:lumMod val="10000"/>
                  </a:schemeClr>
                </a:solidFill>
                <a:latin typeface="Calibri"/>
                <a:cs typeface="Calibri"/>
              </a:rPr>
              <a:t> </a:t>
            </a:r>
            <a:r>
              <a:rPr sz="1000" spc="-10" dirty="0">
                <a:solidFill>
                  <a:schemeClr val="bg2">
                    <a:lumMod val="10000"/>
                  </a:schemeClr>
                </a:solidFill>
                <a:latin typeface="Calibri"/>
                <a:cs typeface="Calibri"/>
              </a:rPr>
              <a:t>Information </a:t>
            </a:r>
            <a:r>
              <a:rPr sz="1000" dirty="0">
                <a:solidFill>
                  <a:schemeClr val="bg2">
                    <a:lumMod val="10000"/>
                  </a:schemeClr>
                </a:solidFill>
                <a:latin typeface="Calibri"/>
                <a:cs typeface="Calibri"/>
              </a:rPr>
              <a:t>Services</a:t>
            </a:r>
            <a:r>
              <a:rPr sz="1000" spc="-30" dirty="0">
                <a:solidFill>
                  <a:schemeClr val="bg2">
                    <a:lumMod val="10000"/>
                  </a:schemeClr>
                </a:solidFill>
                <a:latin typeface="Calibri"/>
                <a:cs typeface="Calibri"/>
              </a:rPr>
              <a:t> </a:t>
            </a:r>
            <a:r>
              <a:rPr sz="1000" dirty="0">
                <a:solidFill>
                  <a:schemeClr val="bg2">
                    <a:lumMod val="10000"/>
                  </a:schemeClr>
                </a:solidFill>
                <a:latin typeface="Calibri"/>
                <a:cs typeface="Calibri"/>
              </a:rPr>
              <a:t>(CJIS)</a:t>
            </a:r>
            <a:r>
              <a:rPr sz="1000" spc="-40" dirty="0">
                <a:solidFill>
                  <a:schemeClr val="bg2">
                    <a:lumMod val="10000"/>
                  </a:schemeClr>
                </a:solidFill>
                <a:latin typeface="Calibri"/>
                <a:cs typeface="Calibri"/>
              </a:rPr>
              <a:t> </a:t>
            </a:r>
            <a:r>
              <a:rPr sz="1000" spc="-10" dirty="0">
                <a:solidFill>
                  <a:schemeClr val="bg2">
                    <a:lumMod val="10000"/>
                  </a:schemeClr>
                </a:solidFill>
                <a:latin typeface="Calibri"/>
                <a:cs typeface="Calibri"/>
              </a:rPr>
              <a:t>Division</a:t>
            </a:r>
            <a:endParaRPr sz="1000" dirty="0">
              <a:solidFill>
                <a:schemeClr val="bg2">
                  <a:lumMod val="10000"/>
                </a:schemeClr>
              </a:solidFill>
              <a:latin typeface="Calibri"/>
              <a:cs typeface="Calibri"/>
            </a:endParaRPr>
          </a:p>
        </p:txBody>
      </p:sp>
      <p:pic>
        <p:nvPicPr>
          <p:cNvPr id="16" name="object 16"/>
          <p:cNvPicPr/>
          <p:nvPr/>
        </p:nvPicPr>
        <p:blipFill>
          <a:blip r:embed="rId5" cstate="email">
            <a:extLst>
              <a:ext uri="{28A0092B-C50C-407E-A947-70E740481C1C}">
                <a14:useLocalDpi xmlns:a14="http://schemas.microsoft.com/office/drawing/2010/main"/>
              </a:ext>
            </a:extLst>
          </a:blip>
          <a:stretch>
            <a:fillRect/>
          </a:stretch>
        </p:blipFill>
        <p:spPr>
          <a:xfrm>
            <a:off x="1213923" y="3681797"/>
            <a:ext cx="929639" cy="1242060"/>
          </a:xfrm>
          <a:prstGeom prst="rect">
            <a:avLst/>
          </a:prstGeom>
        </p:spPr>
      </p:pic>
      <p:pic>
        <p:nvPicPr>
          <p:cNvPr id="21" name="object 21"/>
          <p:cNvPicPr/>
          <p:nvPr/>
        </p:nvPicPr>
        <p:blipFill>
          <a:blip r:embed="rId6" cstate="email">
            <a:extLst>
              <a:ext uri="{28A0092B-C50C-407E-A947-70E740481C1C}">
                <a14:useLocalDpi xmlns:a14="http://schemas.microsoft.com/office/drawing/2010/main"/>
              </a:ext>
            </a:extLst>
          </a:blip>
          <a:stretch>
            <a:fillRect/>
          </a:stretch>
        </p:blipFill>
        <p:spPr>
          <a:xfrm>
            <a:off x="4205438" y="3610673"/>
            <a:ext cx="928116" cy="1208532"/>
          </a:xfrm>
          <a:prstGeom prst="rect">
            <a:avLst/>
          </a:prstGeom>
        </p:spPr>
      </p:pic>
      <p:sp>
        <p:nvSpPr>
          <p:cNvPr id="22" name="object 22"/>
          <p:cNvSpPr txBox="1"/>
          <p:nvPr/>
        </p:nvSpPr>
        <p:spPr>
          <a:xfrm>
            <a:off x="4205438" y="4938768"/>
            <a:ext cx="1047750" cy="1001394"/>
          </a:xfrm>
          <a:prstGeom prst="rect">
            <a:avLst/>
          </a:prstGeom>
        </p:spPr>
        <p:txBody>
          <a:bodyPr vert="horz" wrap="square" lIns="0" tIns="12065" rIns="0" bIns="0" rtlCol="0">
            <a:spAutoFit/>
          </a:bodyPr>
          <a:lstStyle/>
          <a:p>
            <a:pPr marL="12700" marR="125095">
              <a:lnSpc>
                <a:spcPct val="100000"/>
              </a:lnSpc>
              <a:spcBef>
                <a:spcPts val="95"/>
              </a:spcBef>
            </a:pPr>
            <a:r>
              <a:rPr sz="1000" b="1" dirty="0">
                <a:solidFill>
                  <a:srgbClr val="454545"/>
                </a:solidFill>
                <a:latin typeface="Arial"/>
                <a:cs typeface="Arial"/>
              </a:rPr>
              <a:t>Mr.</a:t>
            </a:r>
            <a:r>
              <a:rPr sz="1000" b="1" spc="-20" dirty="0">
                <a:solidFill>
                  <a:srgbClr val="454545"/>
                </a:solidFill>
                <a:latin typeface="Arial"/>
                <a:cs typeface="Arial"/>
              </a:rPr>
              <a:t> </a:t>
            </a:r>
            <a:r>
              <a:rPr sz="1000" b="1" dirty="0">
                <a:solidFill>
                  <a:srgbClr val="454545"/>
                </a:solidFill>
                <a:latin typeface="Arial"/>
                <a:cs typeface="Arial"/>
              </a:rPr>
              <a:t>Tom</a:t>
            </a:r>
            <a:r>
              <a:rPr sz="1000" b="1" spc="-15" dirty="0">
                <a:solidFill>
                  <a:srgbClr val="454545"/>
                </a:solidFill>
                <a:latin typeface="Arial"/>
                <a:cs typeface="Arial"/>
              </a:rPr>
              <a:t> </a:t>
            </a:r>
            <a:r>
              <a:rPr sz="1000" b="1" spc="-10" dirty="0">
                <a:solidFill>
                  <a:srgbClr val="454545"/>
                </a:solidFill>
                <a:latin typeface="Arial"/>
                <a:cs typeface="Arial"/>
              </a:rPr>
              <a:t>Welch </a:t>
            </a:r>
            <a:r>
              <a:rPr sz="900" dirty="0">
                <a:solidFill>
                  <a:schemeClr val="bg2">
                    <a:lumMod val="10000"/>
                  </a:schemeClr>
                </a:solidFill>
                <a:latin typeface="Arial"/>
                <a:cs typeface="Arial"/>
              </a:rPr>
              <a:t>Director</a:t>
            </a:r>
            <a:r>
              <a:rPr sz="900" spc="-55" dirty="0">
                <a:solidFill>
                  <a:schemeClr val="bg2">
                    <a:lumMod val="10000"/>
                  </a:schemeClr>
                </a:solidFill>
                <a:latin typeface="Arial"/>
                <a:cs typeface="Arial"/>
              </a:rPr>
              <a:t> </a:t>
            </a:r>
            <a:r>
              <a:rPr sz="900" spc="-25" dirty="0">
                <a:solidFill>
                  <a:schemeClr val="bg2">
                    <a:lumMod val="10000"/>
                  </a:schemeClr>
                </a:solidFill>
                <a:latin typeface="Arial"/>
                <a:cs typeface="Arial"/>
              </a:rPr>
              <a:t>of </a:t>
            </a:r>
            <a:r>
              <a:rPr sz="900" spc="-10" dirty="0">
                <a:solidFill>
                  <a:schemeClr val="bg2">
                    <a:lumMod val="10000"/>
                  </a:schemeClr>
                </a:solidFill>
                <a:latin typeface="Arial"/>
                <a:cs typeface="Arial"/>
              </a:rPr>
              <a:t>Information Technology </a:t>
            </a:r>
            <a:r>
              <a:rPr sz="900" dirty="0">
                <a:solidFill>
                  <a:schemeClr val="bg2">
                    <a:lumMod val="10000"/>
                  </a:schemeClr>
                </a:solidFill>
                <a:latin typeface="Arial"/>
                <a:cs typeface="Arial"/>
              </a:rPr>
              <a:t>OHIO</a:t>
            </a:r>
            <a:r>
              <a:rPr sz="900" spc="-25" dirty="0">
                <a:solidFill>
                  <a:schemeClr val="bg2">
                    <a:lumMod val="10000"/>
                  </a:schemeClr>
                </a:solidFill>
                <a:latin typeface="Arial"/>
                <a:cs typeface="Arial"/>
              </a:rPr>
              <a:t> </a:t>
            </a:r>
            <a:r>
              <a:rPr sz="900" dirty="0">
                <a:solidFill>
                  <a:schemeClr val="bg2">
                    <a:lumMod val="10000"/>
                  </a:schemeClr>
                </a:solidFill>
                <a:latin typeface="Arial"/>
                <a:cs typeface="Arial"/>
              </a:rPr>
              <a:t>HIDTA</a:t>
            </a:r>
            <a:r>
              <a:rPr sz="900" spc="-15" dirty="0">
                <a:solidFill>
                  <a:schemeClr val="bg2">
                    <a:lumMod val="10000"/>
                  </a:schemeClr>
                </a:solidFill>
                <a:latin typeface="Arial"/>
                <a:cs typeface="Arial"/>
              </a:rPr>
              <a:t> </a:t>
            </a:r>
            <a:r>
              <a:rPr sz="900" spc="-50" dirty="0">
                <a:solidFill>
                  <a:schemeClr val="bg2">
                    <a:lumMod val="10000"/>
                  </a:schemeClr>
                </a:solidFill>
                <a:latin typeface="Arial"/>
                <a:cs typeface="Arial"/>
              </a:rPr>
              <a:t>–</a:t>
            </a:r>
            <a:endParaRPr sz="900" dirty="0">
              <a:solidFill>
                <a:schemeClr val="bg2">
                  <a:lumMod val="10000"/>
                </a:schemeClr>
              </a:solidFill>
              <a:latin typeface="Arial"/>
              <a:cs typeface="Arial"/>
            </a:endParaRPr>
          </a:p>
          <a:p>
            <a:pPr marL="12700" marR="5080">
              <a:lnSpc>
                <a:spcPct val="100000"/>
              </a:lnSpc>
              <a:spcBef>
                <a:spcPts val="5"/>
              </a:spcBef>
            </a:pPr>
            <a:r>
              <a:rPr sz="900" dirty="0">
                <a:solidFill>
                  <a:schemeClr val="bg2">
                    <a:lumMod val="10000"/>
                  </a:schemeClr>
                </a:solidFill>
                <a:latin typeface="Arial"/>
                <a:cs typeface="Arial"/>
              </a:rPr>
              <a:t>Including</a:t>
            </a:r>
            <a:r>
              <a:rPr sz="900" spc="-55" dirty="0">
                <a:solidFill>
                  <a:schemeClr val="bg2">
                    <a:lumMod val="10000"/>
                  </a:schemeClr>
                </a:solidFill>
                <a:latin typeface="Arial"/>
                <a:cs typeface="Arial"/>
              </a:rPr>
              <a:t> </a:t>
            </a:r>
            <a:r>
              <a:rPr sz="900" spc="-10" dirty="0">
                <a:solidFill>
                  <a:schemeClr val="bg2">
                    <a:lumMod val="10000"/>
                  </a:schemeClr>
                </a:solidFill>
                <a:latin typeface="Arial"/>
                <a:cs typeface="Arial"/>
              </a:rPr>
              <a:t>Northern </a:t>
            </a:r>
            <a:r>
              <a:rPr sz="900" dirty="0">
                <a:solidFill>
                  <a:schemeClr val="bg2">
                    <a:lumMod val="10000"/>
                  </a:schemeClr>
                </a:solidFill>
                <a:latin typeface="Arial"/>
                <a:cs typeface="Arial"/>
              </a:rPr>
              <a:t>KY</a:t>
            </a:r>
            <a:r>
              <a:rPr sz="900" spc="-10" dirty="0">
                <a:solidFill>
                  <a:schemeClr val="bg2">
                    <a:lumMod val="10000"/>
                  </a:schemeClr>
                </a:solidFill>
                <a:latin typeface="Arial"/>
                <a:cs typeface="Arial"/>
              </a:rPr>
              <a:t> </a:t>
            </a:r>
            <a:r>
              <a:rPr sz="900" dirty="0">
                <a:solidFill>
                  <a:schemeClr val="bg2">
                    <a:lumMod val="10000"/>
                  </a:schemeClr>
                </a:solidFill>
                <a:latin typeface="Arial"/>
                <a:cs typeface="Arial"/>
              </a:rPr>
              <a:t>&amp;</a:t>
            </a:r>
            <a:r>
              <a:rPr sz="900" spc="-5" dirty="0">
                <a:solidFill>
                  <a:schemeClr val="bg2">
                    <a:lumMod val="10000"/>
                  </a:schemeClr>
                </a:solidFill>
                <a:latin typeface="Arial"/>
                <a:cs typeface="Arial"/>
              </a:rPr>
              <a:t> </a:t>
            </a:r>
            <a:r>
              <a:rPr sz="900" dirty="0">
                <a:solidFill>
                  <a:schemeClr val="bg2">
                    <a:lumMod val="10000"/>
                  </a:schemeClr>
                </a:solidFill>
                <a:latin typeface="Arial"/>
                <a:cs typeface="Arial"/>
              </a:rPr>
              <a:t>Western</a:t>
            </a:r>
            <a:r>
              <a:rPr sz="900" spc="-15" dirty="0">
                <a:solidFill>
                  <a:schemeClr val="bg2">
                    <a:lumMod val="10000"/>
                  </a:schemeClr>
                </a:solidFill>
                <a:latin typeface="Arial"/>
                <a:cs typeface="Arial"/>
              </a:rPr>
              <a:t> </a:t>
            </a:r>
            <a:r>
              <a:rPr sz="900" spc="-25" dirty="0">
                <a:solidFill>
                  <a:schemeClr val="bg2">
                    <a:lumMod val="10000"/>
                  </a:schemeClr>
                </a:solidFill>
                <a:latin typeface="Arial"/>
                <a:cs typeface="Arial"/>
              </a:rPr>
              <a:t>PA</a:t>
            </a:r>
            <a:endParaRPr sz="900" dirty="0">
              <a:solidFill>
                <a:schemeClr val="bg2">
                  <a:lumMod val="10000"/>
                </a:schemeClr>
              </a:solidFill>
              <a:latin typeface="Arial"/>
              <a:cs typeface="Arial"/>
            </a:endParaRPr>
          </a:p>
        </p:txBody>
      </p:sp>
      <p:pic>
        <p:nvPicPr>
          <p:cNvPr id="25" name="Picture 24">
            <a:extLst>
              <a:ext uri="{FF2B5EF4-FFF2-40B4-BE49-F238E27FC236}">
                <a16:creationId xmlns:a16="http://schemas.microsoft.com/office/drawing/2014/main" id="{246AFCA7-A6DF-02BA-CD96-93CC1A0044EC}"/>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6553200" y="3659184"/>
            <a:ext cx="1517904" cy="1322998"/>
          </a:xfrm>
          <a:prstGeom prst="rect">
            <a:avLst/>
          </a:prstGeom>
        </p:spPr>
      </p:pic>
      <p:sp>
        <p:nvSpPr>
          <p:cNvPr id="26" name="object 22">
            <a:extLst>
              <a:ext uri="{FF2B5EF4-FFF2-40B4-BE49-F238E27FC236}">
                <a16:creationId xmlns:a16="http://schemas.microsoft.com/office/drawing/2014/main" id="{B9DBD4A2-CC34-AFAF-1ADC-4C03C18DADE2}"/>
              </a:ext>
            </a:extLst>
          </p:cNvPr>
          <p:cNvSpPr txBox="1"/>
          <p:nvPr/>
        </p:nvSpPr>
        <p:spPr>
          <a:xfrm>
            <a:off x="6650480" y="5063117"/>
            <a:ext cx="1517903" cy="499496"/>
          </a:xfrm>
          <a:prstGeom prst="rect">
            <a:avLst/>
          </a:prstGeom>
        </p:spPr>
        <p:txBody>
          <a:bodyPr vert="horz" wrap="square" lIns="0" tIns="12065" rIns="0" bIns="0" rtlCol="0">
            <a:spAutoFit/>
          </a:bodyPr>
          <a:lstStyle/>
          <a:p>
            <a:pPr marL="12700" marR="125095">
              <a:lnSpc>
                <a:spcPct val="100000"/>
              </a:lnSpc>
              <a:spcBef>
                <a:spcPts val="95"/>
              </a:spcBef>
            </a:pPr>
            <a:r>
              <a:rPr sz="1000" b="1" dirty="0">
                <a:solidFill>
                  <a:srgbClr val="454545"/>
                </a:solidFill>
                <a:latin typeface="Arial"/>
                <a:cs typeface="Arial"/>
              </a:rPr>
              <a:t>Mr.</a:t>
            </a:r>
            <a:r>
              <a:rPr sz="1000" b="1" spc="-20" dirty="0">
                <a:solidFill>
                  <a:srgbClr val="454545"/>
                </a:solidFill>
                <a:latin typeface="Arial"/>
                <a:cs typeface="Arial"/>
              </a:rPr>
              <a:t> </a:t>
            </a:r>
            <a:r>
              <a:rPr lang="en-US" sz="1000" b="1" spc="-20" dirty="0">
                <a:solidFill>
                  <a:srgbClr val="454545"/>
                </a:solidFill>
                <a:latin typeface="Arial"/>
                <a:cs typeface="Arial"/>
              </a:rPr>
              <a:t>James T. Herbert</a:t>
            </a:r>
          </a:p>
          <a:p>
            <a:pPr marL="12700" marR="125095">
              <a:lnSpc>
                <a:spcPct val="100000"/>
              </a:lnSpc>
              <a:spcBef>
                <a:spcPts val="95"/>
              </a:spcBef>
            </a:pPr>
            <a:r>
              <a:rPr lang="en-US" sz="1000" i="0" dirty="0">
                <a:solidFill>
                  <a:srgbClr val="545454"/>
                </a:solidFill>
                <a:effectLst/>
                <a:latin typeface="Georgia" panose="02040502050405020303" pitchFamily="18" charset="0"/>
              </a:rPr>
              <a:t>VP, CMO</a:t>
            </a:r>
          </a:p>
          <a:p>
            <a:pPr marL="12700" marR="125095">
              <a:lnSpc>
                <a:spcPct val="100000"/>
              </a:lnSpc>
              <a:spcBef>
                <a:spcPts val="95"/>
              </a:spcBef>
            </a:pPr>
            <a:r>
              <a:rPr lang="en-US" sz="1000" i="0" dirty="0">
                <a:solidFill>
                  <a:srgbClr val="545454"/>
                </a:solidFill>
                <a:effectLst/>
                <a:latin typeface="Georgia" panose="02040502050405020303" pitchFamily="18" charset="0"/>
              </a:rPr>
              <a:t> APN Software</a:t>
            </a:r>
            <a:endParaRPr sz="900" dirty="0">
              <a:latin typeface="Arial"/>
              <a:cs typeface="Arial"/>
            </a:endParaRPr>
          </a:p>
        </p:txBody>
      </p:sp>
      <p:pic>
        <p:nvPicPr>
          <p:cNvPr id="6" name="object 15">
            <a:extLst>
              <a:ext uri="{FF2B5EF4-FFF2-40B4-BE49-F238E27FC236}">
                <a16:creationId xmlns:a16="http://schemas.microsoft.com/office/drawing/2014/main" id="{AF500335-9E1D-FCC2-2668-BAA216647DC5}"/>
              </a:ext>
            </a:extLst>
          </p:cNvPr>
          <p:cNvPicPr/>
          <p:nvPr/>
        </p:nvPicPr>
        <p:blipFill>
          <a:blip r:embed="rId8" cstate="print"/>
          <a:stretch>
            <a:fillRect/>
          </a:stretch>
        </p:blipFill>
        <p:spPr>
          <a:xfrm>
            <a:off x="1066800" y="1191971"/>
            <a:ext cx="1301113" cy="1208532"/>
          </a:xfrm>
          <a:prstGeom prst="rect">
            <a:avLst/>
          </a:prstGeom>
        </p:spPr>
      </p:pic>
      <p:sp>
        <p:nvSpPr>
          <p:cNvPr id="7" name="object 16">
            <a:extLst>
              <a:ext uri="{FF2B5EF4-FFF2-40B4-BE49-F238E27FC236}">
                <a16:creationId xmlns:a16="http://schemas.microsoft.com/office/drawing/2014/main" id="{8B4E20BF-29CD-EF46-FF85-A08A21843E18}"/>
              </a:ext>
            </a:extLst>
          </p:cNvPr>
          <p:cNvSpPr txBox="1"/>
          <p:nvPr/>
        </p:nvSpPr>
        <p:spPr>
          <a:xfrm>
            <a:off x="1088817" y="2609382"/>
            <a:ext cx="1314602" cy="605294"/>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454545"/>
                </a:solidFill>
                <a:latin typeface="Arial"/>
                <a:cs typeface="Arial"/>
              </a:rPr>
              <a:t>Mr.</a:t>
            </a:r>
            <a:r>
              <a:rPr sz="900" b="1" spc="-20" dirty="0">
                <a:solidFill>
                  <a:srgbClr val="454545"/>
                </a:solidFill>
                <a:latin typeface="Arial"/>
                <a:cs typeface="Arial"/>
              </a:rPr>
              <a:t> </a:t>
            </a:r>
            <a:r>
              <a:rPr sz="900" b="1" dirty="0">
                <a:solidFill>
                  <a:srgbClr val="454545"/>
                </a:solidFill>
                <a:latin typeface="Arial"/>
                <a:cs typeface="Arial"/>
              </a:rPr>
              <a:t>Paul</a:t>
            </a:r>
            <a:r>
              <a:rPr sz="900" b="1" spc="-20" dirty="0">
                <a:solidFill>
                  <a:srgbClr val="454545"/>
                </a:solidFill>
                <a:latin typeface="Arial"/>
                <a:cs typeface="Arial"/>
              </a:rPr>
              <a:t> </a:t>
            </a:r>
            <a:r>
              <a:rPr sz="900" b="1" spc="-10" dirty="0">
                <a:solidFill>
                  <a:srgbClr val="454545"/>
                </a:solidFill>
                <a:latin typeface="Arial"/>
                <a:cs typeface="Arial"/>
              </a:rPr>
              <a:t>Wormeli</a:t>
            </a:r>
            <a:endParaRPr lang="en-US" sz="900" b="1" spc="-10" dirty="0">
              <a:solidFill>
                <a:srgbClr val="454545"/>
              </a:solidFill>
              <a:latin typeface="Arial"/>
              <a:cs typeface="Arial"/>
            </a:endParaRPr>
          </a:p>
          <a:p>
            <a:pPr marL="12700" marR="5080">
              <a:lnSpc>
                <a:spcPct val="100000"/>
              </a:lnSpc>
              <a:spcBef>
                <a:spcPts val="100"/>
              </a:spcBef>
            </a:pPr>
            <a:r>
              <a:rPr lang="en-US" sz="900" spc="-10" dirty="0">
                <a:solidFill>
                  <a:srgbClr val="454545"/>
                </a:solidFill>
                <a:latin typeface="Arial"/>
                <a:cs typeface="Arial"/>
              </a:rPr>
              <a:t> IJIS Institute</a:t>
            </a:r>
          </a:p>
          <a:p>
            <a:pPr marL="12700" marR="5080">
              <a:lnSpc>
                <a:spcPct val="100000"/>
              </a:lnSpc>
              <a:spcBef>
                <a:spcPts val="100"/>
              </a:spcBef>
            </a:pPr>
            <a:r>
              <a:rPr sz="900" dirty="0">
                <a:solidFill>
                  <a:srgbClr val="454545"/>
                </a:solidFill>
                <a:latin typeface="Arial"/>
                <a:cs typeface="Arial"/>
              </a:rPr>
              <a:t>Chair,</a:t>
            </a:r>
            <a:r>
              <a:rPr sz="900" spc="-10" dirty="0">
                <a:solidFill>
                  <a:srgbClr val="454545"/>
                </a:solidFill>
                <a:latin typeface="Arial"/>
                <a:cs typeface="Arial"/>
              </a:rPr>
              <a:t> </a:t>
            </a:r>
            <a:r>
              <a:rPr sz="900" spc="-20" dirty="0">
                <a:solidFill>
                  <a:srgbClr val="454545"/>
                </a:solidFill>
                <a:latin typeface="Arial"/>
                <a:cs typeface="Arial"/>
              </a:rPr>
              <a:t>NIEM</a:t>
            </a:r>
            <a:r>
              <a:rPr lang="en-US" sz="900" spc="-20" dirty="0">
                <a:solidFill>
                  <a:srgbClr val="454545"/>
                </a:solidFill>
                <a:latin typeface="Arial"/>
                <a:cs typeface="Arial"/>
              </a:rPr>
              <a:t>Open</a:t>
            </a:r>
            <a:r>
              <a:rPr sz="900" spc="-20" dirty="0">
                <a:solidFill>
                  <a:srgbClr val="454545"/>
                </a:solidFill>
                <a:latin typeface="Arial"/>
                <a:cs typeface="Arial"/>
              </a:rPr>
              <a:t> </a:t>
            </a:r>
            <a:endParaRPr lang="en-US" sz="900" spc="-10" dirty="0">
              <a:solidFill>
                <a:srgbClr val="454545"/>
              </a:solidFill>
              <a:latin typeface="Arial"/>
              <a:cs typeface="Arial"/>
            </a:endParaRPr>
          </a:p>
          <a:p>
            <a:pPr marL="12700" marR="5080">
              <a:lnSpc>
                <a:spcPct val="100000"/>
              </a:lnSpc>
              <a:spcBef>
                <a:spcPts val="100"/>
              </a:spcBef>
            </a:pPr>
            <a:r>
              <a:rPr lang="en-US" sz="900" spc="-10" dirty="0">
                <a:solidFill>
                  <a:srgbClr val="454545"/>
                </a:solidFill>
                <a:latin typeface="Arial"/>
                <a:cs typeface="Arial"/>
              </a:rPr>
              <a:t>Project Governing Board</a:t>
            </a:r>
            <a:endParaRPr sz="900" dirty="0">
              <a:latin typeface="Arial"/>
              <a:cs typeface="Arial"/>
            </a:endParaRPr>
          </a:p>
        </p:txBody>
      </p:sp>
      <p:pic>
        <p:nvPicPr>
          <p:cNvPr id="8" name="object 8">
            <a:extLst>
              <a:ext uri="{FF2B5EF4-FFF2-40B4-BE49-F238E27FC236}">
                <a16:creationId xmlns:a16="http://schemas.microsoft.com/office/drawing/2014/main" id="{16B02F69-6BAE-5B2D-15EA-E819D28DBDCC}"/>
              </a:ext>
            </a:extLst>
          </p:cNvPr>
          <p:cNvPicPr/>
          <p:nvPr/>
        </p:nvPicPr>
        <p:blipFill>
          <a:blip r:embed="rId9" cstate="email">
            <a:extLst>
              <a:ext uri="{28A0092B-C50C-407E-A947-70E740481C1C}">
                <a14:useLocalDpi xmlns:a14="http://schemas.microsoft.com/office/drawing/2010/main"/>
              </a:ext>
            </a:extLst>
          </a:blip>
          <a:stretch>
            <a:fillRect/>
          </a:stretch>
        </p:blipFill>
        <p:spPr>
          <a:xfrm>
            <a:off x="6920487" y="1143202"/>
            <a:ext cx="824483" cy="1240536"/>
          </a:xfrm>
          <a:prstGeom prst="rect">
            <a:avLst/>
          </a:prstGeom>
        </p:spPr>
      </p:pic>
      <p:sp>
        <p:nvSpPr>
          <p:cNvPr id="9" name="object 9">
            <a:extLst>
              <a:ext uri="{FF2B5EF4-FFF2-40B4-BE49-F238E27FC236}">
                <a16:creationId xmlns:a16="http://schemas.microsoft.com/office/drawing/2014/main" id="{259230E3-2515-31F5-A2D7-A505A274F5A6}"/>
              </a:ext>
            </a:extLst>
          </p:cNvPr>
          <p:cNvSpPr txBox="1"/>
          <p:nvPr/>
        </p:nvSpPr>
        <p:spPr>
          <a:xfrm>
            <a:off x="6768440" y="2595362"/>
            <a:ext cx="1100455" cy="787400"/>
          </a:xfrm>
          <a:prstGeom prst="rect">
            <a:avLst/>
          </a:prstGeom>
        </p:spPr>
        <p:txBody>
          <a:bodyPr vert="horz" wrap="square" lIns="0" tIns="12065" rIns="0" bIns="0" rtlCol="0">
            <a:spAutoFit/>
          </a:bodyPr>
          <a:lstStyle/>
          <a:p>
            <a:pPr marL="12700" marR="5080" indent="17780">
              <a:lnSpc>
                <a:spcPct val="100000"/>
              </a:lnSpc>
              <a:spcBef>
                <a:spcPts val="95"/>
              </a:spcBef>
            </a:pPr>
            <a:r>
              <a:rPr sz="1000" b="1" dirty="0">
                <a:solidFill>
                  <a:srgbClr val="454545"/>
                </a:solidFill>
                <a:latin typeface="Arial"/>
                <a:cs typeface="Arial"/>
              </a:rPr>
              <a:t>Mr.</a:t>
            </a:r>
            <a:r>
              <a:rPr sz="1000" b="1" spc="-25" dirty="0">
                <a:solidFill>
                  <a:srgbClr val="454545"/>
                </a:solidFill>
                <a:latin typeface="Arial"/>
                <a:cs typeface="Arial"/>
              </a:rPr>
              <a:t> </a:t>
            </a:r>
            <a:r>
              <a:rPr sz="1000" b="1" dirty="0">
                <a:solidFill>
                  <a:srgbClr val="454545"/>
                </a:solidFill>
                <a:latin typeface="Arial"/>
                <a:cs typeface="Arial"/>
              </a:rPr>
              <a:t>John</a:t>
            </a:r>
            <a:r>
              <a:rPr sz="1000" b="1" spc="-10" dirty="0">
                <a:solidFill>
                  <a:srgbClr val="454545"/>
                </a:solidFill>
                <a:latin typeface="Arial"/>
                <a:cs typeface="Arial"/>
              </a:rPr>
              <a:t> Wandelt </a:t>
            </a:r>
            <a:r>
              <a:rPr sz="1000" dirty="0">
                <a:solidFill>
                  <a:srgbClr val="454545"/>
                </a:solidFill>
                <a:latin typeface="Arial"/>
                <a:cs typeface="Arial"/>
              </a:rPr>
              <a:t>Principal</a:t>
            </a:r>
            <a:r>
              <a:rPr sz="1000" spc="-65" dirty="0">
                <a:solidFill>
                  <a:srgbClr val="454545"/>
                </a:solidFill>
                <a:latin typeface="Arial"/>
                <a:cs typeface="Arial"/>
              </a:rPr>
              <a:t> </a:t>
            </a:r>
            <a:r>
              <a:rPr sz="1000" spc="-10" dirty="0">
                <a:solidFill>
                  <a:srgbClr val="454545"/>
                </a:solidFill>
                <a:latin typeface="Arial"/>
                <a:cs typeface="Arial"/>
              </a:rPr>
              <a:t>Research </a:t>
            </a:r>
            <a:r>
              <a:rPr sz="1000" dirty="0">
                <a:solidFill>
                  <a:srgbClr val="454545"/>
                </a:solidFill>
                <a:latin typeface="Arial"/>
                <a:cs typeface="Arial"/>
              </a:rPr>
              <a:t>Scientist,</a:t>
            </a:r>
            <a:r>
              <a:rPr sz="1000" spc="-55" dirty="0">
                <a:solidFill>
                  <a:srgbClr val="454545"/>
                </a:solidFill>
                <a:latin typeface="Arial"/>
                <a:cs typeface="Arial"/>
              </a:rPr>
              <a:t> </a:t>
            </a:r>
            <a:r>
              <a:rPr sz="1000" spc="-10" dirty="0">
                <a:solidFill>
                  <a:srgbClr val="454545"/>
                </a:solidFill>
                <a:latin typeface="Arial"/>
                <a:cs typeface="Arial"/>
              </a:rPr>
              <a:t>Georgia </a:t>
            </a:r>
            <a:r>
              <a:rPr sz="1000" dirty="0">
                <a:solidFill>
                  <a:srgbClr val="454545"/>
                </a:solidFill>
                <a:latin typeface="Arial"/>
                <a:cs typeface="Arial"/>
              </a:rPr>
              <a:t>Tech</a:t>
            </a:r>
            <a:r>
              <a:rPr sz="1000" spc="-30" dirty="0">
                <a:solidFill>
                  <a:srgbClr val="454545"/>
                </a:solidFill>
                <a:latin typeface="Arial"/>
                <a:cs typeface="Arial"/>
              </a:rPr>
              <a:t> </a:t>
            </a:r>
            <a:r>
              <a:rPr sz="1000" spc="-10" dirty="0">
                <a:solidFill>
                  <a:srgbClr val="454545"/>
                </a:solidFill>
                <a:latin typeface="Arial"/>
                <a:cs typeface="Arial"/>
              </a:rPr>
              <a:t>Research Institute</a:t>
            </a:r>
            <a:endParaRPr sz="1000">
              <a:latin typeface="Arial"/>
              <a:cs typeface="Arial"/>
            </a:endParaRPr>
          </a:p>
        </p:txBody>
      </p:sp>
      <p:pic>
        <p:nvPicPr>
          <p:cNvPr id="3" name="Picture 2">
            <a:extLst>
              <a:ext uri="{FF2B5EF4-FFF2-40B4-BE49-F238E27FC236}">
                <a16:creationId xmlns:a16="http://schemas.microsoft.com/office/drawing/2014/main" id="{88335CA3-095B-2C88-CFFA-14C05D150A8D}"/>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9543192" y="3703096"/>
            <a:ext cx="1251367" cy="1251367"/>
          </a:xfrm>
          <a:prstGeom prst="rect">
            <a:avLst/>
          </a:prstGeom>
        </p:spPr>
      </p:pic>
      <p:sp>
        <p:nvSpPr>
          <p:cNvPr id="5" name="object 22">
            <a:extLst>
              <a:ext uri="{FF2B5EF4-FFF2-40B4-BE49-F238E27FC236}">
                <a16:creationId xmlns:a16="http://schemas.microsoft.com/office/drawing/2014/main" id="{43044432-EE3D-DBCA-03A3-176F316B6126}"/>
              </a:ext>
            </a:extLst>
          </p:cNvPr>
          <p:cNvSpPr txBox="1"/>
          <p:nvPr/>
        </p:nvSpPr>
        <p:spPr>
          <a:xfrm>
            <a:off x="9543192" y="5096827"/>
            <a:ext cx="1517903" cy="653384"/>
          </a:xfrm>
          <a:prstGeom prst="rect">
            <a:avLst/>
          </a:prstGeom>
        </p:spPr>
        <p:txBody>
          <a:bodyPr vert="horz" wrap="square" lIns="0" tIns="12065" rIns="0" bIns="0" rtlCol="0">
            <a:spAutoFit/>
          </a:bodyPr>
          <a:lstStyle/>
          <a:p>
            <a:pPr marL="12700" marR="125095">
              <a:lnSpc>
                <a:spcPct val="100000"/>
              </a:lnSpc>
              <a:spcBef>
                <a:spcPts val="95"/>
              </a:spcBef>
            </a:pPr>
            <a:r>
              <a:rPr sz="1000" b="1" dirty="0">
                <a:solidFill>
                  <a:srgbClr val="454545"/>
                </a:solidFill>
                <a:latin typeface="Arial"/>
                <a:cs typeface="Arial"/>
              </a:rPr>
              <a:t>Mr.</a:t>
            </a:r>
            <a:r>
              <a:rPr sz="1000" b="1" spc="-20" dirty="0">
                <a:solidFill>
                  <a:srgbClr val="454545"/>
                </a:solidFill>
                <a:latin typeface="Arial"/>
                <a:cs typeface="Arial"/>
              </a:rPr>
              <a:t> </a:t>
            </a:r>
            <a:r>
              <a:rPr lang="en-US" sz="1000" b="1" spc="-20" dirty="0">
                <a:solidFill>
                  <a:srgbClr val="454545"/>
                </a:solidFill>
                <a:latin typeface="Arial"/>
                <a:cs typeface="Arial"/>
              </a:rPr>
              <a:t>Jeff Butcher</a:t>
            </a:r>
          </a:p>
          <a:p>
            <a:pPr marL="12700" marR="125095">
              <a:lnSpc>
                <a:spcPct val="100000"/>
              </a:lnSpc>
              <a:spcBef>
                <a:spcPts val="95"/>
              </a:spcBef>
            </a:pPr>
            <a:r>
              <a:rPr lang="en-US" sz="1000" dirty="0">
                <a:solidFill>
                  <a:srgbClr val="545454"/>
                </a:solidFill>
                <a:latin typeface="Georgia" panose="02040502050405020303" pitchFamily="18" charset="0"/>
              </a:rPr>
              <a:t>Chief Software Architect,</a:t>
            </a:r>
          </a:p>
          <a:p>
            <a:pPr marL="12700" marR="125095">
              <a:lnSpc>
                <a:spcPct val="100000"/>
              </a:lnSpc>
              <a:spcBef>
                <a:spcPts val="95"/>
              </a:spcBef>
            </a:pPr>
            <a:r>
              <a:rPr lang="en-US" sz="1000" i="0" dirty="0">
                <a:solidFill>
                  <a:srgbClr val="545454"/>
                </a:solidFill>
                <a:effectLst/>
                <a:latin typeface="Georgia" panose="02040502050405020303" pitchFamily="18" charset="0"/>
              </a:rPr>
              <a:t>Senzing, Inc.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12160" y="311022"/>
            <a:ext cx="6913880" cy="1002030"/>
          </a:xfrm>
          <a:prstGeom prst="rect">
            <a:avLst/>
          </a:prstGeom>
        </p:spPr>
        <p:txBody>
          <a:bodyPr vert="horz" wrap="square" lIns="0" tIns="12700" rIns="0" bIns="0" rtlCol="0">
            <a:spAutoFit/>
          </a:bodyPr>
          <a:lstStyle/>
          <a:p>
            <a:pPr marL="1007744" marR="5080" indent="-995680">
              <a:lnSpc>
                <a:spcPct val="100000"/>
              </a:lnSpc>
              <a:spcBef>
                <a:spcPts val="100"/>
              </a:spcBef>
            </a:pPr>
            <a:r>
              <a:rPr sz="3200" dirty="0">
                <a:solidFill>
                  <a:srgbClr val="454545"/>
                </a:solidFill>
              </a:rPr>
              <a:t>PGB</a:t>
            </a:r>
            <a:r>
              <a:rPr sz="3200" spc="-15" dirty="0">
                <a:solidFill>
                  <a:srgbClr val="454545"/>
                </a:solidFill>
              </a:rPr>
              <a:t> </a:t>
            </a:r>
            <a:r>
              <a:rPr sz="3200" dirty="0">
                <a:solidFill>
                  <a:srgbClr val="454545"/>
                </a:solidFill>
              </a:rPr>
              <a:t>EXPERT</a:t>
            </a:r>
            <a:r>
              <a:rPr sz="3200" spc="-5" dirty="0">
                <a:solidFill>
                  <a:srgbClr val="454545"/>
                </a:solidFill>
              </a:rPr>
              <a:t> </a:t>
            </a:r>
            <a:r>
              <a:rPr sz="3200" dirty="0">
                <a:solidFill>
                  <a:srgbClr val="454545"/>
                </a:solidFill>
              </a:rPr>
              <a:t>VOTING</a:t>
            </a:r>
            <a:r>
              <a:rPr sz="3200" spc="-30" dirty="0">
                <a:solidFill>
                  <a:srgbClr val="454545"/>
                </a:solidFill>
              </a:rPr>
              <a:t> </a:t>
            </a:r>
            <a:r>
              <a:rPr sz="3200" dirty="0">
                <a:solidFill>
                  <a:srgbClr val="454545"/>
                </a:solidFill>
              </a:rPr>
              <a:t>MEMBERS</a:t>
            </a:r>
            <a:r>
              <a:rPr sz="3200" spc="-15" dirty="0">
                <a:solidFill>
                  <a:srgbClr val="454545"/>
                </a:solidFill>
              </a:rPr>
              <a:t> </a:t>
            </a:r>
            <a:r>
              <a:rPr sz="3200" spc="-50" dirty="0">
                <a:solidFill>
                  <a:srgbClr val="454545"/>
                </a:solidFill>
              </a:rPr>
              <a:t>&amp; </a:t>
            </a:r>
            <a:r>
              <a:rPr sz="3200" dirty="0">
                <a:solidFill>
                  <a:srgbClr val="454545"/>
                </a:solidFill>
              </a:rPr>
              <a:t>NON-VOTING</a:t>
            </a:r>
            <a:r>
              <a:rPr sz="3200" spc="-65" dirty="0">
                <a:solidFill>
                  <a:srgbClr val="454545"/>
                </a:solidFill>
              </a:rPr>
              <a:t> </a:t>
            </a:r>
            <a:r>
              <a:rPr sz="3200" spc="-10" dirty="0">
                <a:solidFill>
                  <a:srgbClr val="454545"/>
                </a:solidFill>
              </a:rPr>
              <a:t>MEMBERS</a:t>
            </a:r>
            <a:endParaRPr sz="3200" dirty="0"/>
          </a:p>
        </p:txBody>
      </p:sp>
      <p:sp>
        <p:nvSpPr>
          <p:cNvPr id="3" name="object 3"/>
          <p:cNvSpPr txBox="1"/>
          <p:nvPr/>
        </p:nvSpPr>
        <p:spPr>
          <a:xfrm>
            <a:off x="1314958" y="2456815"/>
            <a:ext cx="3670300" cy="544830"/>
          </a:xfrm>
          <a:prstGeom prst="rect">
            <a:avLst/>
          </a:prstGeom>
        </p:spPr>
        <p:txBody>
          <a:bodyPr vert="horz" wrap="square" lIns="0" tIns="12700" rIns="0" bIns="0" rtlCol="0">
            <a:spAutoFit/>
          </a:bodyPr>
          <a:lstStyle/>
          <a:p>
            <a:pPr algn="ctr">
              <a:lnSpc>
                <a:spcPct val="100000"/>
              </a:lnSpc>
              <a:spcBef>
                <a:spcPts val="100"/>
              </a:spcBef>
            </a:pPr>
            <a:r>
              <a:rPr sz="1800" b="1" dirty="0">
                <a:solidFill>
                  <a:srgbClr val="454545"/>
                </a:solidFill>
                <a:latin typeface="Arial"/>
                <a:cs typeface="Arial"/>
              </a:rPr>
              <a:t>PGB EXPERT</a:t>
            </a:r>
            <a:r>
              <a:rPr sz="1800" b="1" spc="-10" dirty="0">
                <a:solidFill>
                  <a:srgbClr val="454545"/>
                </a:solidFill>
                <a:latin typeface="Arial"/>
                <a:cs typeface="Arial"/>
              </a:rPr>
              <a:t> </a:t>
            </a:r>
            <a:r>
              <a:rPr sz="1800" b="1" dirty="0">
                <a:solidFill>
                  <a:srgbClr val="454545"/>
                </a:solidFill>
                <a:latin typeface="Arial"/>
                <a:cs typeface="Arial"/>
              </a:rPr>
              <a:t>VOTING</a:t>
            </a:r>
            <a:r>
              <a:rPr sz="1800" b="1" spc="5" dirty="0">
                <a:solidFill>
                  <a:srgbClr val="454545"/>
                </a:solidFill>
                <a:latin typeface="Arial"/>
                <a:cs typeface="Arial"/>
              </a:rPr>
              <a:t> </a:t>
            </a:r>
            <a:r>
              <a:rPr sz="1800" b="1" spc="-10" dirty="0">
                <a:solidFill>
                  <a:srgbClr val="454545"/>
                </a:solidFill>
                <a:latin typeface="Arial"/>
                <a:cs typeface="Arial"/>
              </a:rPr>
              <a:t>MEMBERS</a:t>
            </a:r>
            <a:endParaRPr sz="1800" dirty="0">
              <a:latin typeface="Arial"/>
              <a:cs typeface="Arial"/>
            </a:endParaRPr>
          </a:p>
          <a:p>
            <a:pPr marL="35560" algn="ctr">
              <a:lnSpc>
                <a:spcPct val="100000"/>
              </a:lnSpc>
              <a:spcBef>
                <a:spcPts val="5"/>
              </a:spcBef>
            </a:pPr>
            <a:r>
              <a:rPr sz="1600" b="1" spc="-10" dirty="0">
                <a:solidFill>
                  <a:srgbClr val="454545"/>
                </a:solidFill>
                <a:latin typeface="Arial"/>
                <a:cs typeface="Arial"/>
              </a:rPr>
              <a:t>Technical</a:t>
            </a:r>
            <a:r>
              <a:rPr sz="1600" b="1" spc="-60" dirty="0">
                <a:solidFill>
                  <a:srgbClr val="454545"/>
                </a:solidFill>
                <a:latin typeface="Arial"/>
                <a:cs typeface="Arial"/>
              </a:rPr>
              <a:t> </a:t>
            </a:r>
            <a:r>
              <a:rPr sz="1600" b="1" dirty="0">
                <a:solidFill>
                  <a:srgbClr val="454545"/>
                </a:solidFill>
                <a:latin typeface="Arial"/>
                <a:cs typeface="Arial"/>
              </a:rPr>
              <a:t>Steering</a:t>
            </a:r>
            <a:r>
              <a:rPr sz="1600" b="1" spc="-60" dirty="0">
                <a:solidFill>
                  <a:srgbClr val="454545"/>
                </a:solidFill>
                <a:latin typeface="Arial"/>
                <a:cs typeface="Arial"/>
              </a:rPr>
              <a:t> </a:t>
            </a:r>
            <a:r>
              <a:rPr sz="1600" b="1" spc="-10" dirty="0">
                <a:solidFill>
                  <a:srgbClr val="454545"/>
                </a:solidFill>
                <a:latin typeface="Arial"/>
                <a:cs typeface="Arial"/>
              </a:rPr>
              <a:t>Committees</a:t>
            </a:r>
            <a:endParaRPr sz="1600" dirty="0">
              <a:latin typeface="Arial"/>
              <a:cs typeface="Arial"/>
            </a:endParaRPr>
          </a:p>
        </p:txBody>
      </p:sp>
      <p:pic>
        <p:nvPicPr>
          <p:cNvPr id="4" name="object 4"/>
          <p:cNvPicPr/>
          <p:nvPr/>
        </p:nvPicPr>
        <p:blipFill>
          <a:blip r:embed="rId2" cstate="email">
            <a:extLst>
              <a:ext uri="{28A0092B-C50C-407E-A947-70E740481C1C}">
                <a14:useLocalDpi xmlns:a14="http://schemas.microsoft.com/office/drawing/2010/main"/>
              </a:ext>
            </a:extLst>
          </a:blip>
          <a:stretch>
            <a:fillRect/>
          </a:stretch>
        </p:blipFill>
        <p:spPr>
          <a:xfrm>
            <a:off x="8338965" y="3163823"/>
            <a:ext cx="1011936" cy="1024127"/>
          </a:xfrm>
          <a:prstGeom prst="rect">
            <a:avLst/>
          </a:prstGeom>
        </p:spPr>
      </p:pic>
      <p:pic>
        <p:nvPicPr>
          <p:cNvPr id="5" name="object 5"/>
          <p:cNvPicPr/>
          <p:nvPr/>
        </p:nvPicPr>
        <p:blipFill>
          <a:blip r:embed="rId3" cstate="email">
            <a:extLst>
              <a:ext uri="{28A0092B-C50C-407E-A947-70E740481C1C}">
                <a14:useLocalDpi xmlns:a14="http://schemas.microsoft.com/office/drawing/2010/main"/>
              </a:ext>
            </a:extLst>
          </a:blip>
          <a:stretch>
            <a:fillRect/>
          </a:stretch>
        </p:blipFill>
        <p:spPr>
          <a:xfrm>
            <a:off x="9960501" y="3034282"/>
            <a:ext cx="1147572" cy="1190244"/>
          </a:xfrm>
          <a:prstGeom prst="rect">
            <a:avLst/>
          </a:prstGeom>
        </p:spPr>
      </p:pic>
      <p:sp>
        <p:nvSpPr>
          <p:cNvPr id="6" name="object 6"/>
          <p:cNvSpPr txBox="1"/>
          <p:nvPr/>
        </p:nvSpPr>
        <p:spPr>
          <a:xfrm>
            <a:off x="8422022" y="4388866"/>
            <a:ext cx="880744" cy="711835"/>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454545"/>
                </a:solidFill>
                <a:latin typeface="Arial"/>
                <a:cs typeface="Arial"/>
              </a:rPr>
              <a:t>Mr.</a:t>
            </a:r>
            <a:r>
              <a:rPr sz="900" b="1" spc="-25" dirty="0">
                <a:solidFill>
                  <a:srgbClr val="454545"/>
                </a:solidFill>
                <a:latin typeface="Arial"/>
                <a:cs typeface="Arial"/>
              </a:rPr>
              <a:t> </a:t>
            </a:r>
            <a:r>
              <a:rPr sz="900" b="1" dirty="0">
                <a:solidFill>
                  <a:srgbClr val="454545"/>
                </a:solidFill>
                <a:latin typeface="Arial"/>
                <a:cs typeface="Arial"/>
              </a:rPr>
              <a:t>Kamran</a:t>
            </a:r>
            <a:r>
              <a:rPr sz="900" b="1" spc="-15" dirty="0">
                <a:solidFill>
                  <a:srgbClr val="454545"/>
                </a:solidFill>
                <a:latin typeface="Arial"/>
                <a:cs typeface="Arial"/>
              </a:rPr>
              <a:t> </a:t>
            </a:r>
            <a:r>
              <a:rPr sz="900" b="1" spc="-20" dirty="0">
                <a:solidFill>
                  <a:srgbClr val="454545"/>
                </a:solidFill>
                <a:latin typeface="Arial"/>
                <a:cs typeface="Arial"/>
              </a:rPr>
              <a:t>Atri </a:t>
            </a:r>
            <a:r>
              <a:rPr sz="900" spc="-10" dirty="0">
                <a:solidFill>
                  <a:srgbClr val="454545"/>
                </a:solidFill>
                <a:latin typeface="Arial"/>
                <a:cs typeface="Arial"/>
              </a:rPr>
              <a:t>Co-</a:t>
            </a:r>
            <a:r>
              <a:rPr sz="900" dirty="0">
                <a:solidFill>
                  <a:srgbClr val="454545"/>
                </a:solidFill>
                <a:latin typeface="Arial"/>
                <a:cs typeface="Arial"/>
              </a:rPr>
              <a:t>Chair,</a:t>
            </a:r>
            <a:r>
              <a:rPr sz="900" spc="-10" dirty="0">
                <a:solidFill>
                  <a:srgbClr val="454545"/>
                </a:solidFill>
                <a:latin typeface="Arial"/>
                <a:cs typeface="Arial"/>
              </a:rPr>
              <a:t> </a:t>
            </a:r>
            <a:r>
              <a:rPr sz="900" spc="-20" dirty="0">
                <a:solidFill>
                  <a:srgbClr val="454545"/>
                </a:solidFill>
                <a:latin typeface="Arial"/>
                <a:cs typeface="Arial"/>
              </a:rPr>
              <a:t>NIEM </a:t>
            </a:r>
            <a:r>
              <a:rPr sz="900" spc="-10" dirty="0">
                <a:solidFill>
                  <a:srgbClr val="454545"/>
                </a:solidFill>
                <a:latin typeface="Arial"/>
                <a:cs typeface="Arial"/>
              </a:rPr>
              <a:t>Business Architecture </a:t>
            </a:r>
            <a:r>
              <a:rPr sz="900" dirty="0">
                <a:solidFill>
                  <a:srgbClr val="454545"/>
                </a:solidFill>
                <a:latin typeface="Arial"/>
                <a:cs typeface="Arial"/>
              </a:rPr>
              <a:t>Committee</a:t>
            </a:r>
            <a:r>
              <a:rPr sz="900" spc="-35" dirty="0">
                <a:solidFill>
                  <a:srgbClr val="454545"/>
                </a:solidFill>
                <a:latin typeface="Arial"/>
                <a:cs typeface="Arial"/>
              </a:rPr>
              <a:t> </a:t>
            </a:r>
            <a:r>
              <a:rPr sz="900" spc="-25" dirty="0">
                <a:solidFill>
                  <a:srgbClr val="454545"/>
                </a:solidFill>
                <a:latin typeface="Arial"/>
                <a:cs typeface="Arial"/>
              </a:rPr>
              <a:t>TSC</a:t>
            </a:r>
            <a:endParaRPr sz="900">
              <a:latin typeface="Arial"/>
              <a:cs typeface="Arial"/>
            </a:endParaRPr>
          </a:p>
        </p:txBody>
      </p:sp>
      <p:sp>
        <p:nvSpPr>
          <p:cNvPr id="8" name="object 8"/>
          <p:cNvSpPr txBox="1"/>
          <p:nvPr/>
        </p:nvSpPr>
        <p:spPr>
          <a:xfrm>
            <a:off x="6859651" y="2456815"/>
            <a:ext cx="4253865" cy="544830"/>
          </a:xfrm>
          <a:prstGeom prst="rect">
            <a:avLst/>
          </a:prstGeom>
        </p:spPr>
        <p:txBody>
          <a:bodyPr vert="horz" wrap="square" lIns="0" tIns="12700" rIns="0" bIns="0" rtlCol="0">
            <a:spAutoFit/>
          </a:bodyPr>
          <a:lstStyle/>
          <a:p>
            <a:pPr algn="ctr">
              <a:lnSpc>
                <a:spcPct val="100000"/>
              </a:lnSpc>
              <a:spcBef>
                <a:spcPts val="100"/>
              </a:spcBef>
            </a:pPr>
            <a:r>
              <a:rPr sz="1800" b="1" dirty="0">
                <a:solidFill>
                  <a:srgbClr val="454545"/>
                </a:solidFill>
                <a:latin typeface="Arial"/>
                <a:cs typeface="Arial"/>
              </a:rPr>
              <a:t>PGB</a:t>
            </a:r>
            <a:r>
              <a:rPr sz="1800" b="1" spc="10" dirty="0">
                <a:solidFill>
                  <a:srgbClr val="454545"/>
                </a:solidFill>
                <a:latin typeface="Arial"/>
                <a:cs typeface="Arial"/>
              </a:rPr>
              <a:t> </a:t>
            </a:r>
            <a:r>
              <a:rPr sz="1800" b="1" dirty="0">
                <a:solidFill>
                  <a:srgbClr val="454545"/>
                </a:solidFill>
                <a:latin typeface="Arial"/>
                <a:cs typeface="Arial"/>
              </a:rPr>
              <a:t>EXPERT </a:t>
            </a:r>
            <a:r>
              <a:rPr sz="1800" b="1" spc="-10" dirty="0">
                <a:solidFill>
                  <a:srgbClr val="454545"/>
                </a:solidFill>
                <a:latin typeface="Arial"/>
                <a:cs typeface="Arial"/>
              </a:rPr>
              <a:t>NON-</a:t>
            </a:r>
            <a:r>
              <a:rPr sz="1800" b="1" dirty="0">
                <a:solidFill>
                  <a:srgbClr val="454545"/>
                </a:solidFill>
                <a:latin typeface="Arial"/>
                <a:cs typeface="Arial"/>
              </a:rPr>
              <a:t>VOTING</a:t>
            </a:r>
            <a:r>
              <a:rPr sz="1800" b="1" spc="10" dirty="0">
                <a:solidFill>
                  <a:srgbClr val="454545"/>
                </a:solidFill>
                <a:latin typeface="Arial"/>
                <a:cs typeface="Arial"/>
              </a:rPr>
              <a:t> </a:t>
            </a:r>
            <a:r>
              <a:rPr sz="1800" b="1" spc="-10" dirty="0">
                <a:solidFill>
                  <a:srgbClr val="454545"/>
                </a:solidFill>
                <a:latin typeface="Arial"/>
                <a:cs typeface="Arial"/>
              </a:rPr>
              <a:t>MEMBERS</a:t>
            </a:r>
            <a:endParaRPr sz="1800" dirty="0">
              <a:latin typeface="Arial"/>
              <a:cs typeface="Arial"/>
            </a:endParaRPr>
          </a:p>
          <a:p>
            <a:pPr marL="43180" algn="ctr">
              <a:lnSpc>
                <a:spcPct val="100000"/>
              </a:lnSpc>
              <a:spcBef>
                <a:spcPts val="5"/>
              </a:spcBef>
            </a:pPr>
            <a:r>
              <a:rPr sz="1600" b="1" spc="-10" dirty="0">
                <a:solidFill>
                  <a:srgbClr val="454545"/>
                </a:solidFill>
                <a:latin typeface="Arial"/>
                <a:cs typeface="Arial"/>
              </a:rPr>
              <a:t>Technical</a:t>
            </a:r>
            <a:r>
              <a:rPr sz="1600" b="1" spc="-60" dirty="0">
                <a:solidFill>
                  <a:srgbClr val="454545"/>
                </a:solidFill>
                <a:latin typeface="Arial"/>
                <a:cs typeface="Arial"/>
              </a:rPr>
              <a:t> </a:t>
            </a:r>
            <a:r>
              <a:rPr sz="1600" b="1" dirty="0">
                <a:solidFill>
                  <a:srgbClr val="454545"/>
                </a:solidFill>
                <a:latin typeface="Arial"/>
                <a:cs typeface="Arial"/>
              </a:rPr>
              <a:t>Steering</a:t>
            </a:r>
            <a:r>
              <a:rPr sz="1600" b="1" spc="-60" dirty="0">
                <a:solidFill>
                  <a:srgbClr val="454545"/>
                </a:solidFill>
                <a:latin typeface="Arial"/>
                <a:cs typeface="Arial"/>
              </a:rPr>
              <a:t> </a:t>
            </a:r>
            <a:r>
              <a:rPr sz="1600" b="1" spc="-10" dirty="0">
                <a:solidFill>
                  <a:srgbClr val="454545"/>
                </a:solidFill>
                <a:latin typeface="Arial"/>
                <a:cs typeface="Arial"/>
              </a:rPr>
              <a:t>Committees</a:t>
            </a:r>
            <a:endParaRPr sz="1600" dirty="0">
              <a:latin typeface="Arial"/>
              <a:cs typeface="Arial"/>
            </a:endParaRPr>
          </a:p>
        </p:txBody>
      </p:sp>
      <p:pic>
        <p:nvPicPr>
          <p:cNvPr id="9" name="object 9"/>
          <p:cNvPicPr/>
          <p:nvPr/>
        </p:nvPicPr>
        <p:blipFill>
          <a:blip r:embed="rId4" cstate="email">
            <a:extLst>
              <a:ext uri="{28A0092B-C50C-407E-A947-70E740481C1C}">
                <a14:useLocalDpi xmlns:a14="http://schemas.microsoft.com/office/drawing/2010/main"/>
              </a:ext>
            </a:extLst>
          </a:blip>
          <a:stretch>
            <a:fillRect/>
          </a:stretch>
        </p:blipFill>
        <p:spPr>
          <a:xfrm>
            <a:off x="1511808" y="3201923"/>
            <a:ext cx="1104900" cy="1022603"/>
          </a:xfrm>
          <a:prstGeom prst="rect">
            <a:avLst/>
          </a:prstGeom>
        </p:spPr>
      </p:pic>
      <p:sp>
        <p:nvSpPr>
          <p:cNvPr id="10" name="object 10"/>
          <p:cNvSpPr txBox="1"/>
          <p:nvPr/>
        </p:nvSpPr>
        <p:spPr>
          <a:xfrm>
            <a:off x="1504950" y="4520945"/>
            <a:ext cx="927735" cy="711835"/>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454545"/>
                </a:solidFill>
                <a:latin typeface="Arial"/>
                <a:cs typeface="Arial"/>
              </a:rPr>
              <a:t>Mr.</a:t>
            </a:r>
            <a:r>
              <a:rPr sz="900" b="1" spc="-25" dirty="0">
                <a:solidFill>
                  <a:srgbClr val="454545"/>
                </a:solidFill>
                <a:latin typeface="Arial"/>
                <a:cs typeface="Arial"/>
              </a:rPr>
              <a:t> </a:t>
            </a:r>
            <a:r>
              <a:rPr sz="900" b="1" dirty="0">
                <a:solidFill>
                  <a:srgbClr val="454545"/>
                </a:solidFill>
                <a:latin typeface="Arial"/>
                <a:cs typeface="Arial"/>
              </a:rPr>
              <a:t>Thomas</a:t>
            </a:r>
            <a:r>
              <a:rPr sz="900" b="1" spc="-10" dirty="0">
                <a:solidFill>
                  <a:srgbClr val="454545"/>
                </a:solidFill>
                <a:latin typeface="Arial"/>
                <a:cs typeface="Arial"/>
              </a:rPr>
              <a:t> </a:t>
            </a:r>
            <a:r>
              <a:rPr sz="900" b="1" spc="-20" dirty="0">
                <a:solidFill>
                  <a:srgbClr val="454545"/>
                </a:solidFill>
                <a:latin typeface="Arial"/>
                <a:cs typeface="Arial"/>
              </a:rPr>
              <a:t>Krul </a:t>
            </a:r>
            <a:r>
              <a:rPr sz="900" spc="-10" dirty="0">
                <a:solidFill>
                  <a:srgbClr val="454545"/>
                </a:solidFill>
                <a:latin typeface="Arial"/>
                <a:cs typeface="Arial"/>
              </a:rPr>
              <a:t>Co-</a:t>
            </a:r>
            <a:r>
              <a:rPr sz="900" dirty="0">
                <a:solidFill>
                  <a:srgbClr val="454545"/>
                </a:solidFill>
                <a:latin typeface="Arial"/>
                <a:cs typeface="Arial"/>
              </a:rPr>
              <a:t>Chair,</a:t>
            </a:r>
            <a:r>
              <a:rPr sz="900" spc="-10" dirty="0">
                <a:solidFill>
                  <a:srgbClr val="454545"/>
                </a:solidFill>
                <a:latin typeface="Arial"/>
                <a:cs typeface="Arial"/>
              </a:rPr>
              <a:t> </a:t>
            </a:r>
            <a:r>
              <a:rPr sz="900" spc="-20" dirty="0">
                <a:solidFill>
                  <a:srgbClr val="454545"/>
                </a:solidFill>
                <a:latin typeface="Arial"/>
                <a:cs typeface="Arial"/>
              </a:rPr>
              <a:t>NIEM </a:t>
            </a:r>
            <a:r>
              <a:rPr sz="900" spc="-10" dirty="0">
                <a:solidFill>
                  <a:srgbClr val="454545"/>
                </a:solidFill>
                <a:latin typeface="Arial"/>
                <a:cs typeface="Arial"/>
              </a:rPr>
              <a:t>Business Architecture </a:t>
            </a:r>
            <a:r>
              <a:rPr sz="900" dirty="0">
                <a:solidFill>
                  <a:srgbClr val="454545"/>
                </a:solidFill>
                <a:latin typeface="Arial"/>
                <a:cs typeface="Arial"/>
              </a:rPr>
              <a:t>Committee</a:t>
            </a:r>
            <a:r>
              <a:rPr sz="900" spc="-35" dirty="0">
                <a:solidFill>
                  <a:srgbClr val="454545"/>
                </a:solidFill>
                <a:latin typeface="Arial"/>
                <a:cs typeface="Arial"/>
              </a:rPr>
              <a:t> </a:t>
            </a:r>
            <a:r>
              <a:rPr sz="900" spc="-25" dirty="0">
                <a:solidFill>
                  <a:srgbClr val="454545"/>
                </a:solidFill>
                <a:latin typeface="Arial"/>
                <a:cs typeface="Arial"/>
              </a:rPr>
              <a:t>TSC</a:t>
            </a:r>
            <a:endParaRPr sz="900" dirty="0">
              <a:latin typeface="Arial"/>
              <a:cs typeface="Arial"/>
            </a:endParaRPr>
          </a:p>
        </p:txBody>
      </p:sp>
      <p:sp>
        <p:nvSpPr>
          <p:cNvPr id="11" name="object 11"/>
          <p:cNvSpPr txBox="1"/>
          <p:nvPr/>
        </p:nvSpPr>
        <p:spPr>
          <a:xfrm>
            <a:off x="7147577" y="4503147"/>
            <a:ext cx="947419" cy="711835"/>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454545"/>
                </a:solidFill>
                <a:latin typeface="Arial"/>
                <a:cs typeface="Arial"/>
              </a:rPr>
              <a:t>Mr.</a:t>
            </a:r>
            <a:r>
              <a:rPr sz="900" b="1" spc="-25" dirty="0">
                <a:solidFill>
                  <a:srgbClr val="454545"/>
                </a:solidFill>
                <a:latin typeface="Arial"/>
                <a:cs typeface="Arial"/>
              </a:rPr>
              <a:t> </a:t>
            </a:r>
            <a:r>
              <a:rPr sz="900" b="1" dirty="0">
                <a:solidFill>
                  <a:srgbClr val="454545"/>
                </a:solidFill>
                <a:latin typeface="Arial"/>
                <a:cs typeface="Arial"/>
              </a:rPr>
              <a:t>Brad</a:t>
            </a:r>
            <a:r>
              <a:rPr sz="900" b="1" spc="-10" dirty="0">
                <a:solidFill>
                  <a:srgbClr val="454545"/>
                </a:solidFill>
                <a:latin typeface="Arial"/>
                <a:cs typeface="Arial"/>
              </a:rPr>
              <a:t> Bolliger </a:t>
            </a:r>
            <a:r>
              <a:rPr sz="900" spc="-10" dirty="0">
                <a:solidFill>
                  <a:srgbClr val="454545"/>
                </a:solidFill>
                <a:latin typeface="Arial"/>
                <a:cs typeface="Arial"/>
              </a:rPr>
              <a:t>Co-</a:t>
            </a:r>
            <a:r>
              <a:rPr sz="900" dirty="0">
                <a:solidFill>
                  <a:srgbClr val="454545"/>
                </a:solidFill>
                <a:latin typeface="Arial"/>
                <a:cs typeface="Arial"/>
              </a:rPr>
              <a:t>Chair,</a:t>
            </a:r>
            <a:r>
              <a:rPr sz="900" spc="-10" dirty="0">
                <a:solidFill>
                  <a:srgbClr val="454545"/>
                </a:solidFill>
                <a:latin typeface="Arial"/>
                <a:cs typeface="Arial"/>
              </a:rPr>
              <a:t> </a:t>
            </a:r>
            <a:r>
              <a:rPr sz="900" spc="-20" dirty="0">
                <a:solidFill>
                  <a:srgbClr val="454545"/>
                </a:solidFill>
                <a:latin typeface="Arial"/>
                <a:cs typeface="Arial"/>
              </a:rPr>
              <a:t>NIEM </a:t>
            </a:r>
            <a:r>
              <a:rPr sz="900" spc="-10" dirty="0">
                <a:solidFill>
                  <a:srgbClr val="454545"/>
                </a:solidFill>
                <a:latin typeface="Arial"/>
                <a:cs typeface="Arial"/>
              </a:rPr>
              <a:t>Technical Architecture </a:t>
            </a:r>
            <a:r>
              <a:rPr sz="900" dirty="0">
                <a:solidFill>
                  <a:srgbClr val="454545"/>
                </a:solidFill>
                <a:latin typeface="Arial"/>
                <a:cs typeface="Arial"/>
              </a:rPr>
              <a:t>Committee</a:t>
            </a:r>
            <a:r>
              <a:rPr sz="900" spc="-35" dirty="0">
                <a:solidFill>
                  <a:srgbClr val="454545"/>
                </a:solidFill>
                <a:latin typeface="Arial"/>
                <a:cs typeface="Arial"/>
              </a:rPr>
              <a:t> </a:t>
            </a:r>
            <a:r>
              <a:rPr sz="900" spc="-25" dirty="0">
                <a:solidFill>
                  <a:srgbClr val="454545"/>
                </a:solidFill>
                <a:latin typeface="Arial"/>
                <a:cs typeface="Arial"/>
              </a:rPr>
              <a:t>TSC</a:t>
            </a:r>
            <a:endParaRPr sz="900">
              <a:latin typeface="Arial"/>
              <a:cs typeface="Arial"/>
            </a:endParaRPr>
          </a:p>
        </p:txBody>
      </p:sp>
      <p:pic>
        <p:nvPicPr>
          <p:cNvPr id="12" name="object 12"/>
          <p:cNvPicPr/>
          <p:nvPr/>
        </p:nvPicPr>
        <p:blipFill>
          <a:blip r:embed="rId5" cstate="email">
            <a:extLst>
              <a:ext uri="{28A0092B-C50C-407E-A947-70E740481C1C}">
                <a14:useLocalDpi xmlns:a14="http://schemas.microsoft.com/office/drawing/2010/main"/>
              </a:ext>
            </a:extLst>
          </a:blip>
          <a:stretch>
            <a:fillRect/>
          </a:stretch>
        </p:blipFill>
        <p:spPr>
          <a:xfrm>
            <a:off x="7149863" y="3207366"/>
            <a:ext cx="816863" cy="1089659"/>
          </a:xfrm>
          <a:prstGeom prst="rect">
            <a:avLst/>
          </a:prstGeom>
        </p:spPr>
      </p:pic>
      <p:sp>
        <p:nvSpPr>
          <p:cNvPr id="14" name="object 14"/>
          <p:cNvSpPr txBox="1"/>
          <p:nvPr/>
        </p:nvSpPr>
        <p:spPr>
          <a:xfrm>
            <a:off x="10082802" y="4380737"/>
            <a:ext cx="927735" cy="711835"/>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454545"/>
                </a:solidFill>
                <a:latin typeface="Arial"/>
                <a:cs typeface="Arial"/>
              </a:rPr>
              <a:t>Dr.</a:t>
            </a:r>
            <a:r>
              <a:rPr sz="900" b="1" spc="-15" dirty="0">
                <a:solidFill>
                  <a:srgbClr val="454545"/>
                </a:solidFill>
                <a:latin typeface="Arial"/>
                <a:cs typeface="Arial"/>
              </a:rPr>
              <a:t> </a:t>
            </a:r>
            <a:r>
              <a:rPr sz="900" b="1" dirty="0">
                <a:solidFill>
                  <a:srgbClr val="454545"/>
                </a:solidFill>
                <a:latin typeface="Arial"/>
                <a:cs typeface="Arial"/>
              </a:rPr>
              <a:t>Scott</a:t>
            </a:r>
            <a:r>
              <a:rPr sz="900" b="1" spc="-25" dirty="0">
                <a:solidFill>
                  <a:srgbClr val="454545"/>
                </a:solidFill>
                <a:latin typeface="Arial"/>
                <a:cs typeface="Arial"/>
              </a:rPr>
              <a:t> </a:t>
            </a:r>
            <a:r>
              <a:rPr sz="900" b="1" spc="-10" dirty="0">
                <a:solidFill>
                  <a:srgbClr val="454545"/>
                </a:solidFill>
                <a:latin typeface="Arial"/>
                <a:cs typeface="Arial"/>
              </a:rPr>
              <a:t>Renner </a:t>
            </a:r>
            <a:r>
              <a:rPr sz="900" spc="-10" dirty="0">
                <a:solidFill>
                  <a:srgbClr val="454545"/>
                </a:solidFill>
                <a:latin typeface="Arial"/>
                <a:cs typeface="Arial"/>
              </a:rPr>
              <a:t>Co-</a:t>
            </a:r>
            <a:r>
              <a:rPr sz="900" dirty="0">
                <a:solidFill>
                  <a:srgbClr val="454545"/>
                </a:solidFill>
                <a:latin typeface="Arial"/>
                <a:cs typeface="Arial"/>
              </a:rPr>
              <a:t>Chair,</a:t>
            </a:r>
            <a:r>
              <a:rPr sz="900" spc="-10" dirty="0">
                <a:solidFill>
                  <a:srgbClr val="454545"/>
                </a:solidFill>
                <a:latin typeface="Arial"/>
                <a:cs typeface="Arial"/>
              </a:rPr>
              <a:t> </a:t>
            </a:r>
            <a:r>
              <a:rPr sz="900" spc="-20" dirty="0">
                <a:solidFill>
                  <a:srgbClr val="454545"/>
                </a:solidFill>
                <a:latin typeface="Arial"/>
                <a:cs typeface="Arial"/>
              </a:rPr>
              <a:t>NIEM </a:t>
            </a:r>
            <a:r>
              <a:rPr sz="900" spc="-10" dirty="0">
                <a:solidFill>
                  <a:srgbClr val="454545"/>
                </a:solidFill>
                <a:latin typeface="Arial"/>
                <a:cs typeface="Arial"/>
              </a:rPr>
              <a:t>Technical Architecture </a:t>
            </a:r>
            <a:r>
              <a:rPr sz="900" dirty="0">
                <a:solidFill>
                  <a:srgbClr val="454545"/>
                </a:solidFill>
                <a:latin typeface="Arial"/>
                <a:cs typeface="Arial"/>
              </a:rPr>
              <a:t>Committee</a:t>
            </a:r>
            <a:r>
              <a:rPr sz="900" spc="-35" dirty="0">
                <a:solidFill>
                  <a:srgbClr val="454545"/>
                </a:solidFill>
                <a:latin typeface="Arial"/>
                <a:cs typeface="Arial"/>
              </a:rPr>
              <a:t> </a:t>
            </a:r>
            <a:r>
              <a:rPr sz="900" spc="-25" dirty="0">
                <a:solidFill>
                  <a:srgbClr val="454545"/>
                </a:solidFill>
                <a:latin typeface="Arial"/>
                <a:cs typeface="Arial"/>
              </a:rPr>
              <a:t>TSC</a:t>
            </a:r>
            <a:endParaRPr sz="900">
              <a:latin typeface="Arial"/>
              <a:cs typeface="Arial"/>
            </a:endParaRPr>
          </a:p>
        </p:txBody>
      </p:sp>
      <p:sp>
        <p:nvSpPr>
          <p:cNvPr id="17" name="object 17"/>
          <p:cNvSpPr txBox="1">
            <a:spLocks noGrp="1"/>
          </p:cNvSpPr>
          <p:nvPr>
            <p:ph type="sldNum" sz="quarter" idx="7"/>
          </p:nvPr>
        </p:nvSpPr>
        <p:spPr>
          <a:prstGeom prst="rect">
            <a:avLst/>
          </a:prstGeom>
        </p:spPr>
        <p:txBody>
          <a:bodyPr vert="horz" wrap="square" lIns="0" tIns="0" rIns="0" bIns="0" rtlCol="0">
            <a:spAutoFit/>
          </a:bodyPr>
          <a:lstStyle/>
          <a:p>
            <a:pPr marL="80645">
              <a:lnSpc>
                <a:spcPts val="1425"/>
              </a:lnSpc>
            </a:pPr>
            <a:fld id="{81D60167-4931-47E6-BA6A-407CBD079E47}" type="slidenum">
              <a:rPr spc="-50" dirty="0"/>
              <a:t>4</a:t>
            </a:fld>
            <a:endParaRPr spc="-50" dirty="0"/>
          </a:p>
        </p:txBody>
      </p:sp>
      <p:sp>
        <p:nvSpPr>
          <p:cNvPr id="7" name="object 10">
            <a:extLst>
              <a:ext uri="{FF2B5EF4-FFF2-40B4-BE49-F238E27FC236}">
                <a16:creationId xmlns:a16="http://schemas.microsoft.com/office/drawing/2014/main" id="{EF01DAEF-9B21-3375-DAC6-CB1D65C8F1CA}"/>
              </a:ext>
            </a:extLst>
          </p:cNvPr>
          <p:cNvSpPr txBox="1"/>
          <p:nvPr/>
        </p:nvSpPr>
        <p:spPr>
          <a:xfrm>
            <a:off x="3298500" y="4548159"/>
            <a:ext cx="927735" cy="289823"/>
          </a:xfrm>
          <a:prstGeom prst="rect">
            <a:avLst/>
          </a:prstGeom>
        </p:spPr>
        <p:txBody>
          <a:bodyPr vert="horz" wrap="square" lIns="0" tIns="12700" rIns="0" bIns="0" rtlCol="0">
            <a:spAutoFit/>
          </a:bodyPr>
          <a:lstStyle/>
          <a:p>
            <a:pPr marL="12700" marR="5080">
              <a:lnSpc>
                <a:spcPct val="100000"/>
              </a:lnSpc>
              <a:spcBef>
                <a:spcPts val="100"/>
              </a:spcBef>
            </a:pPr>
            <a:r>
              <a:rPr sz="900" b="1" dirty="0">
                <a:solidFill>
                  <a:srgbClr val="454545"/>
                </a:solidFill>
                <a:latin typeface="Arial"/>
                <a:cs typeface="Arial"/>
              </a:rPr>
              <a:t>Mr.</a:t>
            </a:r>
            <a:r>
              <a:rPr sz="900" b="1" spc="-25" dirty="0">
                <a:solidFill>
                  <a:srgbClr val="454545"/>
                </a:solidFill>
                <a:latin typeface="Arial"/>
                <a:cs typeface="Arial"/>
              </a:rPr>
              <a:t> </a:t>
            </a:r>
            <a:r>
              <a:rPr lang="en-US" sz="900" b="1" spc="-25" dirty="0">
                <a:solidFill>
                  <a:srgbClr val="454545"/>
                </a:solidFill>
                <a:latin typeface="Arial"/>
                <a:cs typeface="Arial"/>
              </a:rPr>
              <a:t>Jim Cabral - </a:t>
            </a:r>
            <a:r>
              <a:rPr sz="900" b="1" spc="-10" dirty="0">
                <a:solidFill>
                  <a:srgbClr val="454545"/>
                </a:solidFill>
                <a:latin typeface="Arial"/>
                <a:cs typeface="Arial"/>
              </a:rPr>
              <a:t> </a:t>
            </a:r>
            <a:r>
              <a:rPr lang="en-US" sz="900" dirty="0">
                <a:solidFill>
                  <a:srgbClr val="454545"/>
                </a:solidFill>
                <a:latin typeface="Arial"/>
                <a:cs typeface="Arial"/>
              </a:rPr>
              <a:t>NTAC TSC</a:t>
            </a:r>
            <a:endParaRPr sz="900" dirty="0">
              <a:latin typeface="Arial"/>
              <a:cs typeface="Arial"/>
            </a:endParaRPr>
          </a:p>
        </p:txBody>
      </p:sp>
      <p:pic>
        <p:nvPicPr>
          <p:cNvPr id="2050" name="Picture 2" descr="Jim Cabral - Justice, Legal and Public Safety Technology ...">
            <a:extLst>
              <a:ext uri="{FF2B5EF4-FFF2-40B4-BE49-F238E27FC236}">
                <a16:creationId xmlns:a16="http://schemas.microsoft.com/office/drawing/2014/main" id="{E6DDC19A-9E54-2C86-E222-94A266041123}"/>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3226308" y="3179825"/>
            <a:ext cx="1194071" cy="11224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9630" y="4731659"/>
            <a:ext cx="3354070" cy="793750"/>
          </a:xfrm>
          <a:prstGeom prst="rect">
            <a:avLst/>
          </a:prstGeom>
        </p:spPr>
        <p:txBody>
          <a:bodyPr vert="horz" wrap="square" lIns="0" tIns="43815" rIns="0" bIns="0" rtlCol="0">
            <a:spAutoFit/>
          </a:bodyPr>
          <a:lstStyle/>
          <a:p>
            <a:pPr marL="12700" marR="5080" indent="227965">
              <a:lnSpc>
                <a:spcPts val="1939"/>
              </a:lnSpc>
              <a:spcBef>
                <a:spcPts val="345"/>
              </a:spcBef>
              <a:buClr>
                <a:srgbClr val="454545"/>
              </a:buClr>
              <a:buFont typeface="Arial"/>
              <a:buChar char="•"/>
              <a:tabLst>
                <a:tab pos="240665" algn="l"/>
              </a:tabLst>
            </a:pPr>
            <a:r>
              <a:rPr sz="1800" b="1" dirty="0">
                <a:solidFill>
                  <a:srgbClr val="454545"/>
                </a:solidFill>
                <a:latin typeface="Arial"/>
                <a:cs typeface="Arial"/>
              </a:rPr>
              <a:t>Ms.</a:t>
            </a:r>
            <a:r>
              <a:rPr sz="1800" b="1" spc="-15" dirty="0">
                <a:solidFill>
                  <a:srgbClr val="454545"/>
                </a:solidFill>
                <a:latin typeface="Arial"/>
                <a:cs typeface="Arial"/>
              </a:rPr>
              <a:t> </a:t>
            </a:r>
            <a:r>
              <a:rPr sz="1800" b="1" dirty="0">
                <a:solidFill>
                  <a:srgbClr val="454545"/>
                </a:solidFill>
                <a:latin typeface="Arial"/>
                <a:cs typeface="Arial"/>
              </a:rPr>
              <a:t>Kelly</a:t>
            </a:r>
            <a:r>
              <a:rPr sz="1800" b="1" spc="459" dirty="0">
                <a:solidFill>
                  <a:srgbClr val="454545"/>
                </a:solidFill>
                <a:latin typeface="Arial"/>
                <a:cs typeface="Arial"/>
              </a:rPr>
              <a:t> </a:t>
            </a:r>
            <a:r>
              <a:rPr sz="1800" b="1" dirty="0">
                <a:solidFill>
                  <a:srgbClr val="454545"/>
                </a:solidFill>
                <a:latin typeface="Arial"/>
                <a:cs typeface="Arial"/>
              </a:rPr>
              <a:t>Cullinane</a:t>
            </a:r>
            <a:r>
              <a:rPr sz="1800" b="1" spc="-15" dirty="0">
                <a:solidFill>
                  <a:srgbClr val="454545"/>
                </a:solidFill>
                <a:latin typeface="Arial"/>
                <a:cs typeface="Arial"/>
              </a:rPr>
              <a:t> </a:t>
            </a:r>
            <a:r>
              <a:rPr sz="1800" dirty="0">
                <a:solidFill>
                  <a:srgbClr val="454545"/>
                </a:solidFill>
                <a:latin typeface="Arial"/>
                <a:cs typeface="Arial"/>
              </a:rPr>
              <a:t>–</a:t>
            </a:r>
            <a:r>
              <a:rPr sz="1800" spc="-15" dirty="0">
                <a:solidFill>
                  <a:srgbClr val="454545"/>
                </a:solidFill>
                <a:latin typeface="Arial"/>
                <a:cs typeface="Arial"/>
              </a:rPr>
              <a:t> </a:t>
            </a:r>
            <a:r>
              <a:rPr sz="1800" spc="-20" dirty="0">
                <a:solidFill>
                  <a:srgbClr val="454545"/>
                </a:solidFill>
                <a:latin typeface="Arial"/>
                <a:cs typeface="Arial"/>
              </a:rPr>
              <a:t>OASIS </a:t>
            </a:r>
            <a:r>
              <a:rPr sz="1800" dirty="0">
                <a:solidFill>
                  <a:srgbClr val="454545"/>
                </a:solidFill>
                <a:latin typeface="Arial"/>
                <a:cs typeface="Arial"/>
              </a:rPr>
              <a:t>Senior</a:t>
            </a:r>
            <a:r>
              <a:rPr sz="1800" spc="-30" dirty="0">
                <a:solidFill>
                  <a:srgbClr val="454545"/>
                </a:solidFill>
                <a:latin typeface="Arial"/>
                <a:cs typeface="Arial"/>
              </a:rPr>
              <a:t> </a:t>
            </a:r>
            <a:r>
              <a:rPr sz="1800" dirty="0">
                <a:solidFill>
                  <a:srgbClr val="454545"/>
                </a:solidFill>
                <a:latin typeface="Arial"/>
                <a:cs typeface="Arial"/>
              </a:rPr>
              <a:t>Director</a:t>
            </a:r>
            <a:r>
              <a:rPr sz="1800" spc="-25" dirty="0">
                <a:solidFill>
                  <a:srgbClr val="454545"/>
                </a:solidFill>
                <a:latin typeface="Arial"/>
                <a:cs typeface="Arial"/>
              </a:rPr>
              <a:t> </a:t>
            </a:r>
            <a:r>
              <a:rPr sz="1800" dirty="0">
                <a:solidFill>
                  <a:srgbClr val="454545"/>
                </a:solidFill>
                <a:latin typeface="Arial"/>
                <a:cs typeface="Arial"/>
              </a:rPr>
              <a:t>of</a:t>
            </a:r>
            <a:r>
              <a:rPr sz="1800" spc="-40" dirty="0">
                <a:solidFill>
                  <a:srgbClr val="454545"/>
                </a:solidFill>
                <a:latin typeface="Arial"/>
                <a:cs typeface="Arial"/>
              </a:rPr>
              <a:t> </a:t>
            </a:r>
            <a:r>
              <a:rPr sz="1800" spc="-10" dirty="0">
                <a:solidFill>
                  <a:srgbClr val="454545"/>
                </a:solidFill>
                <a:latin typeface="Arial"/>
                <a:cs typeface="Arial"/>
              </a:rPr>
              <a:t>Standards Development</a:t>
            </a:r>
            <a:endParaRPr sz="1800">
              <a:latin typeface="Arial"/>
              <a:cs typeface="Arial"/>
            </a:endParaRPr>
          </a:p>
        </p:txBody>
      </p:sp>
      <p:sp>
        <p:nvSpPr>
          <p:cNvPr id="3" name="object 3"/>
          <p:cNvSpPr txBox="1">
            <a:spLocks noGrp="1"/>
          </p:cNvSpPr>
          <p:nvPr>
            <p:ph type="title"/>
          </p:nvPr>
        </p:nvSpPr>
        <p:spPr>
          <a:xfrm>
            <a:off x="688340" y="242696"/>
            <a:ext cx="2683510" cy="513715"/>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17375E"/>
                </a:solidFill>
              </a:rPr>
              <a:t>OASIS</a:t>
            </a:r>
            <a:r>
              <a:rPr sz="3200" spc="-15" dirty="0">
                <a:solidFill>
                  <a:srgbClr val="17375E"/>
                </a:solidFill>
              </a:rPr>
              <a:t> </a:t>
            </a:r>
            <a:r>
              <a:rPr sz="3200" spc="-40" dirty="0">
                <a:solidFill>
                  <a:srgbClr val="17375E"/>
                </a:solidFill>
              </a:rPr>
              <a:t>STAFF</a:t>
            </a:r>
            <a:endParaRPr sz="3200"/>
          </a:p>
        </p:txBody>
      </p:sp>
      <p:sp>
        <p:nvSpPr>
          <p:cNvPr id="4" name="object 4"/>
          <p:cNvSpPr txBox="1"/>
          <p:nvPr/>
        </p:nvSpPr>
        <p:spPr>
          <a:xfrm>
            <a:off x="6268379" y="2907482"/>
            <a:ext cx="3592829" cy="546735"/>
          </a:xfrm>
          <a:prstGeom prst="rect">
            <a:avLst/>
          </a:prstGeom>
        </p:spPr>
        <p:txBody>
          <a:bodyPr vert="horz" wrap="square" lIns="0" tIns="43815" rIns="0" bIns="0" rtlCol="0">
            <a:spAutoFit/>
          </a:bodyPr>
          <a:lstStyle/>
          <a:p>
            <a:pPr marL="12700" marR="5080" indent="227965">
              <a:lnSpc>
                <a:spcPts val="1939"/>
              </a:lnSpc>
              <a:spcBef>
                <a:spcPts val="345"/>
              </a:spcBef>
              <a:buFont typeface="Arial"/>
              <a:buChar char="•"/>
              <a:tabLst>
                <a:tab pos="240665" algn="l"/>
              </a:tabLst>
            </a:pPr>
            <a:r>
              <a:rPr sz="1800" b="1" dirty="0">
                <a:solidFill>
                  <a:srgbClr val="454545"/>
                </a:solidFill>
                <a:latin typeface="Arial"/>
                <a:cs typeface="Arial"/>
              </a:rPr>
              <a:t>Ms.</a:t>
            </a:r>
            <a:r>
              <a:rPr sz="1800" b="1" spc="-15" dirty="0">
                <a:solidFill>
                  <a:srgbClr val="454545"/>
                </a:solidFill>
                <a:latin typeface="Arial"/>
                <a:cs typeface="Arial"/>
              </a:rPr>
              <a:t> </a:t>
            </a:r>
            <a:r>
              <a:rPr sz="1800" b="1" dirty="0">
                <a:solidFill>
                  <a:srgbClr val="454545"/>
                </a:solidFill>
                <a:latin typeface="Arial"/>
                <a:cs typeface="Arial"/>
              </a:rPr>
              <a:t>Cathie</a:t>
            </a:r>
            <a:r>
              <a:rPr sz="1800" b="1" spc="-15" dirty="0">
                <a:solidFill>
                  <a:srgbClr val="454545"/>
                </a:solidFill>
                <a:latin typeface="Arial"/>
                <a:cs typeface="Arial"/>
              </a:rPr>
              <a:t> </a:t>
            </a:r>
            <a:r>
              <a:rPr sz="1800" b="1" dirty="0">
                <a:solidFill>
                  <a:srgbClr val="454545"/>
                </a:solidFill>
                <a:latin typeface="Arial"/>
                <a:cs typeface="Arial"/>
              </a:rPr>
              <a:t>Mayo</a:t>
            </a:r>
            <a:r>
              <a:rPr sz="1800" b="1" spc="5" dirty="0">
                <a:solidFill>
                  <a:srgbClr val="454545"/>
                </a:solidFill>
                <a:latin typeface="Arial"/>
                <a:cs typeface="Arial"/>
              </a:rPr>
              <a:t> </a:t>
            </a:r>
            <a:r>
              <a:rPr sz="1800" dirty="0">
                <a:solidFill>
                  <a:srgbClr val="454545"/>
                </a:solidFill>
                <a:latin typeface="Arial"/>
                <a:cs typeface="Arial"/>
              </a:rPr>
              <a:t>–</a:t>
            </a:r>
            <a:r>
              <a:rPr sz="1800" spc="-20" dirty="0">
                <a:solidFill>
                  <a:srgbClr val="454545"/>
                </a:solidFill>
                <a:latin typeface="Arial"/>
                <a:cs typeface="Arial"/>
              </a:rPr>
              <a:t> </a:t>
            </a:r>
            <a:r>
              <a:rPr sz="1800" dirty="0">
                <a:solidFill>
                  <a:srgbClr val="454545"/>
                </a:solidFill>
                <a:latin typeface="Arial"/>
                <a:cs typeface="Arial"/>
              </a:rPr>
              <a:t>OASIS</a:t>
            </a:r>
            <a:r>
              <a:rPr sz="1800" spc="-25" dirty="0">
                <a:solidFill>
                  <a:srgbClr val="454545"/>
                </a:solidFill>
                <a:latin typeface="Arial"/>
                <a:cs typeface="Arial"/>
              </a:rPr>
              <a:t> </a:t>
            </a:r>
            <a:r>
              <a:rPr sz="1800" spc="-10" dirty="0">
                <a:solidFill>
                  <a:srgbClr val="454545"/>
                </a:solidFill>
                <a:latin typeface="Arial"/>
                <a:cs typeface="Arial"/>
              </a:rPr>
              <a:t>Chief </a:t>
            </a:r>
            <a:r>
              <a:rPr sz="1800" dirty="0">
                <a:solidFill>
                  <a:srgbClr val="454545"/>
                </a:solidFill>
                <a:latin typeface="Arial"/>
                <a:cs typeface="Arial"/>
              </a:rPr>
              <a:t>Financial</a:t>
            </a:r>
            <a:r>
              <a:rPr sz="1800" spc="-35" dirty="0">
                <a:solidFill>
                  <a:srgbClr val="454545"/>
                </a:solidFill>
                <a:latin typeface="Arial"/>
                <a:cs typeface="Arial"/>
              </a:rPr>
              <a:t> </a:t>
            </a:r>
            <a:r>
              <a:rPr sz="1800" spc="-10" dirty="0">
                <a:solidFill>
                  <a:srgbClr val="454545"/>
                </a:solidFill>
                <a:latin typeface="Arial"/>
                <a:cs typeface="Arial"/>
              </a:rPr>
              <a:t>Officer</a:t>
            </a:r>
            <a:endParaRPr sz="1800" dirty="0">
              <a:latin typeface="Arial"/>
              <a:cs typeface="Arial"/>
            </a:endParaRPr>
          </a:p>
        </p:txBody>
      </p:sp>
      <p:pic>
        <p:nvPicPr>
          <p:cNvPr id="9" name="object 9"/>
          <p:cNvPicPr/>
          <p:nvPr/>
        </p:nvPicPr>
        <p:blipFill>
          <a:blip r:embed="rId2" cstate="email">
            <a:extLst>
              <a:ext uri="{28A0092B-C50C-407E-A947-70E740481C1C}">
                <a14:useLocalDpi xmlns:a14="http://schemas.microsoft.com/office/drawing/2010/main"/>
              </a:ext>
            </a:extLst>
          </a:blip>
          <a:stretch>
            <a:fillRect/>
          </a:stretch>
        </p:blipFill>
        <p:spPr>
          <a:xfrm>
            <a:off x="9945664" y="2070043"/>
            <a:ext cx="1639824" cy="1700784"/>
          </a:xfrm>
          <a:prstGeom prst="rect">
            <a:avLst/>
          </a:prstGeom>
        </p:spPr>
      </p:pic>
      <p:pic>
        <p:nvPicPr>
          <p:cNvPr id="10" name="object 10"/>
          <p:cNvPicPr/>
          <p:nvPr/>
        </p:nvPicPr>
        <p:blipFill>
          <a:blip r:embed="rId3" cstate="email">
            <a:extLst>
              <a:ext uri="{28A0092B-C50C-407E-A947-70E740481C1C}">
                <a14:useLocalDpi xmlns:a14="http://schemas.microsoft.com/office/drawing/2010/main"/>
              </a:ext>
            </a:extLst>
          </a:blip>
          <a:stretch>
            <a:fillRect/>
          </a:stretch>
        </p:blipFill>
        <p:spPr>
          <a:xfrm>
            <a:off x="3761013" y="4164351"/>
            <a:ext cx="1627632" cy="1627632"/>
          </a:xfrm>
          <a:prstGeom prst="rect">
            <a:avLst/>
          </a:prstGeom>
        </p:spPr>
      </p:pic>
      <p:sp>
        <p:nvSpPr>
          <p:cNvPr id="14" name="object 14"/>
          <p:cNvSpPr txBox="1"/>
          <p:nvPr/>
        </p:nvSpPr>
        <p:spPr>
          <a:xfrm>
            <a:off x="317093" y="2870657"/>
            <a:ext cx="2884805" cy="547370"/>
          </a:xfrm>
          <a:prstGeom prst="rect">
            <a:avLst/>
          </a:prstGeom>
        </p:spPr>
        <p:txBody>
          <a:bodyPr vert="horz" wrap="square" lIns="0" tIns="12700" rIns="0" bIns="0" rtlCol="0">
            <a:spAutoFit/>
          </a:bodyPr>
          <a:lstStyle/>
          <a:p>
            <a:pPr marL="241300" indent="-228600">
              <a:lnSpc>
                <a:spcPts val="2055"/>
              </a:lnSpc>
              <a:spcBef>
                <a:spcPts val="100"/>
              </a:spcBef>
              <a:buFont typeface="Arial"/>
              <a:buChar char="•"/>
              <a:tabLst>
                <a:tab pos="241300" algn="l"/>
              </a:tabLst>
            </a:pPr>
            <a:r>
              <a:rPr sz="1800" b="1" dirty="0">
                <a:solidFill>
                  <a:srgbClr val="454545"/>
                </a:solidFill>
                <a:latin typeface="Arial"/>
                <a:cs typeface="Arial"/>
              </a:rPr>
              <a:t>Mr.</a:t>
            </a:r>
            <a:r>
              <a:rPr sz="1800" b="1" spc="-60" dirty="0">
                <a:solidFill>
                  <a:srgbClr val="454545"/>
                </a:solidFill>
                <a:latin typeface="Arial"/>
                <a:cs typeface="Arial"/>
              </a:rPr>
              <a:t> </a:t>
            </a:r>
            <a:r>
              <a:rPr sz="1800" b="1" dirty="0">
                <a:solidFill>
                  <a:srgbClr val="454545"/>
                </a:solidFill>
                <a:latin typeface="Arial"/>
                <a:cs typeface="Arial"/>
              </a:rPr>
              <a:t>James</a:t>
            </a:r>
            <a:r>
              <a:rPr sz="1800" b="1" spc="-40" dirty="0">
                <a:solidFill>
                  <a:srgbClr val="454545"/>
                </a:solidFill>
                <a:latin typeface="Arial"/>
                <a:cs typeface="Arial"/>
              </a:rPr>
              <a:t> </a:t>
            </a:r>
            <a:r>
              <a:rPr sz="1800" b="1" dirty="0">
                <a:solidFill>
                  <a:srgbClr val="454545"/>
                </a:solidFill>
                <a:latin typeface="Arial"/>
                <a:cs typeface="Arial"/>
              </a:rPr>
              <a:t>Bryce</a:t>
            </a:r>
            <a:r>
              <a:rPr sz="1800" b="1" spc="-35" dirty="0">
                <a:solidFill>
                  <a:srgbClr val="454545"/>
                </a:solidFill>
                <a:latin typeface="Arial"/>
                <a:cs typeface="Arial"/>
              </a:rPr>
              <a:t> </a:t>
            </a:r>
            <a:r>
              <a:rPr sz="1800" b="1" dirty="0">
                <a:solidFill>
                  <a:srgbClr val="454545"/>
                </a:solidFill>
                <a:latin typeface="Arial"/>
                <a:cs typeface="Arial"/>
              </a:rPr>
              <a:t>Clark</a:t>
            </a:r>
            <a:r>
              <a:rPr sz="1800" b="1" spc="-50" dirty="0">
                <a:solidFill>
                  <a:srgbClr val="454545"/>
                </a:solidFill>
                <a:latin typeface="Arial"/>
                <a:cs typeface="Arial"/>
              </a:rPr>
              <a:t> </a:t>
            </a:r>
            <a:r>
              <a:rPr sz="1800" spc="-50" dirty="0">
                <a:solidFill>
                  <a:srgbClr val="454545"/>
                </a:solidFill>
                <a:latin typeface="Arial"/>
                <a:cs typeface="Arial"/>
              </a:rPr>
              <a:t>–</a:t>
            </a:r>
            <a:endParaRPr sz="1800" dirty="0">
              <a:latin typeface="Arial"/>
              <a:cs typeface="Arial"/>
            </a:endParaRPr>
          </a:p>
          <a:p>
            <a:pPr marL="12700">
              <a:lnSpc>
                <a:spcPts val="2055"/>
              </a:lnSpc>
            </a:pPr>
            <a:r>
              <a:rPr sz="1800" dirty="0">
                <a:solidFill>
                  <a:srgbClr val="454545"/>
                </a:solidFill>
                <a:latin typeface="Arial"/>
                <a:cs typeface="Arial"/>
              </a:rPr>
              <a:t>OASIS</a:t>
            </a:r>
            <a:r>
              <a:rPr sz="1800" spc="-35" dirty="0">
                <a:solidFill>
                  <a:srgbClr val="454545"/>
                </a:solidFill>
                <a:latin typeface="Arial"/>
                <a:cs typeface="Arial"/>
              </a:rPr>
              <a:t> </a:t>
            </a:r>
            <a:r>
              <a:rPr sz="1800" dirty="0">
                <a:solidFill>
                  <a:srgbClr val="454545"/>
                </a:solidFill>
                <a:latin typeface="Arial"/>
                <a:cs typeface="Arial"/>
              </a:rPr>
              <a:t>General</a:t>
            </a:r>
            <a:r>
              <a:rPr sz="1800" spc="-10" dirty="0">
                <a:solidFill>
                  <a:srgbClr val="454545"/>
                </a:solidFill>
                <a:latin typeface="Arial"/>
                <a:cs typeface="Arial"/>
              </a:rPr>
              <a:t> Counsel</a:t>
            </a:r>
            <a:endParaRPr sz="1800" dirty="0">
              <a:latin typeface="Arial"/>
              <a:cs typeface="Arial"/>
            </a:endParaRPr>
          </a:p>
        </p:txBody>
      </p:sp>
      <p:pic>
        <p:nvPicPr>
          <p:cNvPr id="15" name="object 15"/>
          <p:cNvPicPr/>
          <p:nvPr/>
        </p:nvPicPr>
        <p:blipFill>
          <a:blip r:embed="rId4" cstate="email">
            <a:extLst>
              <a:ext uri="{28A0092B-C50C-407E-A947-70E740481C1C}">
                <a14:useLocalDpi xmlns:a14="http://schemas.microsoft.com/office/drawing/2010/main"/>
              </a:ext>
            </a:extLst>
          </a:blip>
          <a:stretch>
            <a:fillRect/>
          </a:stretch>
        </p:blipFill>
        <p:spPr>
          <a:xfrm>
            <a:off x="3718559" y="2602991"/>
            <a:ext cx="1815083" cy="1205483"/>
          </a:xfrm>
          <a:prstGeom prst="rect">
            <a:avLst/>
          </a:prstGeom>
        </p:spPr>
      </p:pic>
      <p:sp>
        <p:nvSpPr>
          <p:cNvPr id="16" name="object 16"/>
          <p:cNvSpPr txBox="1">
            <a:spLocks noGrp="1"/>
          </p:cNvSpPr>
          <p:nvPr>
            <p:ph type="sldNum" sz="quarter" idx="7"/>
          </p:nvPr>
        </p:nvSpPr>
        <p:spPr>
          <a:prstGeom prst="rect">
            <a:avLst/>
          </a:prstGeom>
        </p:spPr>
        <p:txBody>
          <a:bodyPr vert="horz" wrap="square" lIns="0" tIns="0" rIns="0" bIns="0" rtlCol="0">
            <a:spAutoFit/>
          </a:bodyPr>
          <a:lstStyle/>
          <a:p>
            <a:pPr marL="37465">
              <a:lnSpc>
                <a:spcPts val="1425"/>
              </a:lnSpc>
            </a:pPr>
            <a:fld id="{81D60167-4931-47E6-BA6A-407CBD079E47}" type="slidenum">
              <a:rPr spc="-25" dirty="0"/>
              <a:t>5</a:t>
            </a:fld>
            <a:endParaRPr spc="-25" dirty="0"/>
          </a:p>
        </p:txBody>
      </p:sp>
      <p:pic>
        <p:nvPicPr>
          <p:cNvPr id="17" name="Picture 16">
            <a:extLst>
              <a:ext uri="{FF2B5EF4-FFF2-40B4-BE49-F238E27FC236}">
                <a16:creationId xmlns:a16="http://schemas.microsoft.com/office/drawing/2014/main" id="{FE6D15C9-6230-8ACC-69B3-20AFF34DBC8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958360" y="646043"/>
            <a:ext cx="1731045" cy="1690474"/>
          </a:xfrm>
          <a:prstGeom prst="rect">
            <a:avLst/>
          </a:prstGeom>
        </p:spPr>
      </p:pic>
      <p:sp>
        <p:nvSpPr>
          <p:cNvPr id="19" name="TextBox 18">
            <a:extLst>
              <a:ext uri="{FF2B5EF4-FFF2-40B4-BE49-F238E27FC236}">
                <a16:creationId xmlns:a16="http://schemas.microsoft.com/office/drawing/2014/main" id="{81A24B3E-CEFD-DF82-5E9A-FCAAB207B592}"/>
              </a:ext>
            </a:extLst>
          </p:cNvPr>
          <p:cNvSpPr txBox="1"/>
          <p:nvPr/>
        </p:nvSpPr>
        <p:spPr>
          <a:xfrm>
            <a:off x="269630" y="1168771"/>
            <a:ext cx="3899568" cy="901272"/>
          </a:xfrm>
          <a:prstGeom prst="rect">
            <a:avLst/>
          </a:prstGeom>
          <a:noFill/>
        </p:spPr>
        <p:txBody>
          <a:bodyPr wrap="square">
            <a:spAutoFit/>
          </a:bodyPr>
          <a:lstStyle/>
          <a:p>
            <a:pPr marL="12700" marR="5080" indent="227965">
              <a:lnSpc>
                <a:spcPts val="1939"/>
              </a:lnSpc>
              <a:spcBef>
                <a:spcPts val="345"/>
              </a:spcBef>
              <a:buFont typeface="Arial"/>
              <a:buChar char="•"/>
              <a:tabLst>
                <a:tab pos="240665" algn="l"/>
              </a:tabLst>
            </a:pPr>
            <a:r>
              <a:rPr lang="en-US" sz="1800" b="1" dirty="0">
                <a:solidFill>
                  <a:srgbClr val="454545"/>
                </a:solidFill>
                <a:latin typeface="Arial"/>
                <a:cs typeface="Arial"/>
              </a:rPr>
              <a:t>Ms.</a:t>
            </a:r>
            <a:r>
              <a:rPr lang="en-US" b="1" spc="-10" dirty="0">
                <a:solidFill>
                  <a:srgbClr val="454545"/>
                </a:solidFill>
                <a:latin typeface="Arial"/>
                <a:cs typeface="Arial"/>
              </a:rPr>
              <a:t> Rita Petti</a:t>
            </a:r>
            <a:r>
              <a:rPr lang="en-US" sz="1800" b="1" spc="-5" dirty="0">
                <a:solidFill>
                  <a:srgbClr val="454545"/>
                </a:solidFill>
                <a:latin typeface="Arial"/>
                <a:cs typeface="Arial"/>
              </a:rPr>
              <a:t> </a:t>
            </a:r>
            <a:r>
              <a:rPr lang="en-US" sz="1800" dirty="0">
                <a:solidFill>
                  <a:srgbClr val="454545"/>
                </a:solidFill>
                <a:latin typeface="Arial"/>
                <a:cs typeface="Arial"/>
              </a:rPr>
              <a:t>–</a:t>
            </a:r>
            <a:r>
              <a:rPr lang="en-US" sz="1800" spc="-10" dirty="0">
                <a:solidFill>
                  <a:srgbClr val="454545"/>
                </a:solidFill>
                <a:latin typeface="Arial"/>
                <a:cs typeface="Arial"/>
              </a:rPr>
              <a:t> OASIS </a:t>
            </a:r>
            <a:r>
              <a:rPr lang="en-US" b="0" i="0" dirty="0">
                <a:solidFill>
                  <a:srgbClr val="0A2540"/>
                </a:solidFill>
                <a:effectLst/>
                <a:latin typeface="Poppins" panose="00000500000000000000" pitchFamily="2" charset="0"/>
              </a:rPr>
              <a:t>Director</a:t>
            </a:r>
          </a:p>
          <a:p>
            <a:pPr marL="12700" marR="5080">
              <a:lnSpc>
                <a:spcPts val="1939"/>
              </a:lnSpc>
              <a:spcBef>
                <a:spcPts val="345"/>
              </a:spcBef>
              <a:tabLst>
                <a:tab pos="240665" algn="l"/>
              </a:tabLst>
            </a:pPr>
            <a:r>
              <a:rPr lang="en-US" b="0" i="0" dirty="0">
                <a:solidFill>
                  <a:srgbClr val="0A2540"/>
                </a:solidFill>
                <a:effectLst/>
                <a:latin typeface="Poppins" panose="00000500000000000000" pitchFamily="2" charset="0"/>
              </a:rPr>
              <a:t>of Business Development and</a:t>
            </a:r>
          </a:p>
          <a:p>
            <a:pPr marL="12700" marR="5080">
              <a:lnSpc>
                <a:spcPts val="1939"/>
              </a:lnSpc>
              <a:spcBef>
                <a:spcPts val="345"/>
              </a:spcBef>
              <a:tabLst>
                <a:tab pos="240665" algn="l"/>
              </a:tabLst>
            </a:pPr>
            <a:r>
              <a:rPr lang="en-US" b="0" i="0" dirty="0">
                <a:solidFill>
                  <a:srgbClr val="0A2540"/>
                </a:solidFill>
                <a:effectLst/>
                <a:latin typeface="Poppins" panose="00000500000000000000" pitchFamily="2" charset="0"/>
              </a:rPr>
              <a:t>Partnerships.</a:t>
            </a:r>
            <a:endParaRPr lang="en-US" sz="1800" dirty="0">
              <a:latin typeface="Arial"/>
              <a:cs typeface="Arial"/>
            </a:endParaRPr>
          </a:p>
        </p:txBody>
      </p:sp>
      <p:sp>
        <p:nvSpPr>
          <p:cNvPr id="6" name="object 6"/>
          <p:cNvSpPr txBox="1"/>
          <p:nvPr/>
        </p:nvSpPr>
        <p:spPr>
          <a:xfrm>
            <a:off x="6268379" y="756411"/>
            <a:ext cx="3324860" cy="546735"/>
          </a:xfrm>
          <a:prstGeom prst="rect">
            <a:avLst/>
          </a:prstGeom>
        </p:spPr>
        <p:txBody>
          <a:bodyPr vert="horz" wrap="square" lIns="0" tIns="43815" rIns="0" bIns="0" rtlCol="0">
            <a:spAutoFit/>
          </a:bodyPr>
          <a:lstStyle/>
          <a:p>
            <a:pPr marL="12700" marR="5080" indent="227965">
              <a:lnSpc>
                <a:spcPts val="1939"/>
              </a:lnSpc>
              <a:spcBef>
                <a:spcPts val="345"/>
              </a:spcBef>
              <a:buFont typeface="Arial"/>
              <a:buChar char="•"/>
              <a:tabLst>
                <a:tab pos="240665" algn="l"/>
              </a:tabLst>
            </a:pPr>
            <a:r>
              <a:rPr sz="1800" b="1" dirty="0">
                <a:solidFill>
                  <a:srgbClr val="454545"/>
                </a:solidFill>
                <a:latin typeface="Arial"/>
                <a:cs typeface="Arial"/>
              </a:rPr>
              <a:t>Ms.</a:t>
            </a:r>
            <a:r>
              <a:rPr sz="1800" b="1" spc="-20" dirty="0">
                <a:solidFill>
                  <a:srgbClr val="454545"/>
                </a:solidFill>
                <a:latin typeface="Arial"/>
                <a:cs typeface="Arial"/>
              </a:rPr>
              <a:t> </a:t>
            </a:r>
            <a:r>
              <a:rPr sz="1800" b="1" dirty="0">
                <a:solidFill>
                  <a:srgbClr val="454545"/>
                </a:solidFill>
                <a:latin typeface="Arial"/>
                <a:cs typeface="Arial"/>
              </a:rPr>
              <a:t>Holly</a:t>
            </a:r>
            <a:r>
              <a:rPr sz="1800" b="1" spc="-40" dirty="0">
                <a:solidFill>
                  <a:srgbClr val="454545"/>
                </a:solidFill>
                <a:latin typeface="Arial"/>
                <a:cs typeface="Arial"/>
              </a:rPr>
              <a:t> </a:t>
            </a:r>
            <a:r>
              <a:rPr sz="1800" b="1" dirty="0">
                <a:solidFill>
                  <a:srgbClr val="454545"/>
                </a:solidFill>
                <a:latin typeface="Arial"/>
                <a:cs typeface="Arial"/>
              </a:rPr>
              <a:t>Peterson</a:t>
            </a:r>
            <a:r>
              <a:rPr sz="1800" b="1" spc="-15" dirty="0">
                <a:solidFill>
                  <a:srgbClr val="454545"/>
                </a:solidFill>
                <a:latin typeface="Arial"/>
                <a:cs typeface="Arial"/>
              </a:rPr>
              <a:t> </a:t>
            </a:r>
            <a:r>
              <a:rPr sz="1800" dirty="0">
                <a:solidFill>
                  <a:srgbClr val="454545"/>
                </a:solidFill>
                <a:latin typeface="Arial"/>
                <a:cs typeface="Arial"/>
              </a:rPr>
              <a:t>–</a:t>
            </a:r>
            <a:r>
              <a:rPr sz="1800" spc="-30" dirty="0">
                <a:solidFill>
                  <a:srgbClr val="454545"/>
                </a:solidFill>
                <a:latin typeface="Arial"/>
                <a:cs typeface="Arial"/>
              </a:rPr>
              <a:t> </a:t>
            </a:r>
            <a:r>
              <a:rPr sz="1800" spc="-20" dirty="0">
                <a:solidFill>
                  <a:srgbClr val="454545"/>
                </a:solidFill>
                <a:latin typeface="Arial"/>
                <a:cs typeface="Arial"/>
              </a:rPr>
              <a:t>OASIS </a:t>
            </a:r>
            <a:r>
              <a:rPr sz="1800" dirty="0">
                <a:solidFill>
                  <a:srgbClr val="454545"/>
                </a:solidFill>
                <a:latin typeface="Arial"/>
                <a:cs typeface="Arial"/>
              </a:rPr>
              <a:t>Business</a:t>
            </a:r>
            <a:r>
              <a:rPr sz="1800" spc="-50" dirty="0">
                <a:solidFill>
                  <a:srgbClr val="454545"/>
                </a:solidFill>
                <a:latin typeface="Arial"/>
                <a:cs typeface="Arial"/>
              </a:rPr>
              <a:t> </a:t>
            </a:r>
            <a:r>
              <a:rPr sz="1800" dirty="0">
                <a:solidFill>
                  <a:srgbClr val="454545"/>
                </a:solidFill>
                <a:latin typeface="Arial"/>
                <a:cs typeface="Arial"/>
              </a:rPr>
              <a:t>Development</a:t>
            </a:r>
            <a:r>
              <a:rPr sz="1800" spc="-25" dirty="0">
                <a:solidFill>
                  <a:srgbClr val="454545"/>
                </a:solidFill>
                <a:latin typeface="Arial"/>
                <a:cs typeface="Arial"/>
              </a:rPr>
              <a:t> </a:t>
            </a:r>
            <a:r>
              <a:rPr sz="1800" spc="-10" dirty="0">
                <a:solidFill>
                  <a:srgbClr val="454545"/>
                </a:solidFill>
                <a:latin typeface="Arial"/>
                <a:cs typeface="Arial"/>
              </a:rPr>
              <a:t>Manager</a:t>
            </a:r>
            <a:endParaRPr sz="1800" dirty="0">
              <a:latin typeface="Arial"/>
              <a:cs typeface="Arial"/>
            </a:endParaRPr>
          </a:p>
        </p:txBody>
      </p:sp>
      <p:pic>
        <p:nvPicPr>
          <p:cNvPr id="7" name="object 7"/>
          <p:cNvPicPr/>
          <p:nvPr/>
        </p:nvPicPr>
        <p:blipFill>
          <a:blip r:embed="rId6" cstate="email">
            <a:extLst>
              <a:ext uri="{28A0092B-C50C-407E-A947-70E740481C1C}">
                <a14:useLocalDpi xmlns:a14="http://schemas.microsoft.com/office/drawing/2010/main"/>
              </a:ext>
            </a:extLst>
          </a:blip>
          <a:stretch>
            <a:fillRect/>
          </a:stretch>
        </p:blipFill>
        <p:spPr>
          <a:xfrm>
            <a:off x="9980012" y="405073"/>
            <a:ext cx="1623059" cy="16230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8841" rIns="0" bIns="0" rtlCol="0">
            <a:spAutoFit/>
          </a:bodyPr>
          <a:lstStyle/>
          <a:p>
            <a:pPr marL="297815">
              <a:lnSpc>
                <a:spcPct val="100000"/>
              </a:lnSpc>
              <a:spcBef>
                <a:spcPts val="95"/>
              </a:spcBef>
            </a:pPr>
            <a:r>
              <a:rPr dirty="0"/>
              <a:t>ROLL</a:t>
            </a:r>
            <a:r>
              <a:rPr spc="-130" dirty="0"/>
              <a:t> </a:t>
            </a:r>
            <a:r>
              <a:rPr spc="-20" dirty="0"/>
              <a:t>CALL</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80645">
              <a:lnSpc>
                <a:spcPts val="1425"/>
              </a:lnSpc>
            </a:pPr>
            <a:fld id="{81D60167-4931-47E6-BA6A-407CBD079E47}" type="slidenum">
              <a:rPr spc="-50" dirty="0"/>
              <a:t>6</a:t>
            </a:fld>
            <a:endParaRPr spc="-50" dirty="0"/>
          </a:p>
        </p:txBody>
      </p:sp>
      <p:sp>
        <p:nvSpPr>
          <p:cNvPr id="3" name="object 3"/>
          <p:cNvSpPr txBox="1"/>
          <p:nvPr/>
        </p:nvSpPr>
        <p:spPr>
          <a:xfrm>
            <a:off x="609600" y="838200"/>
            <a:ext cx="8538845" cy="5270032"/>
          </a:xfrm>
          <a:prstGeom prst="rect">
            <a:avLst/>
          </a:prstGeom>
        </p:spPr>
        <p:txBody>
          <a:bodyPr vert="horz" wrap="square" lIns="0" tIns="12065" rIns="0" bIns="0" rtlCol="0">
            <a:spAutoFit/>
          </a:bodyPr>
          <a:lstStyle/>
          <a:p>
            <a:pPr marL="354965" indent="-342265">
              <a:lnSpc>
                <a:spcPct val="100000"/>
              </a:lnSpc>
              <a:spcBef>
                <a:spcPts val="95"/>
              </a:spcBef>
              <a:buClr>
                <a:srgbClr val="1F487C"/>
              </a:buClr>
              <a:buFont typeface="Arial"/>
              <a:buChar char="•"/>
              <a:tabLst>
                <a:tab pos="354965" algn="l"/>
              </a:tabLst>
            </a:pPr>
            <a:r>
              <a:rPr lang="en-US" sz="1900" b="1" dirty="0">
                <a:solidFill>
                  <a:srgbClr val="334052"/>
                </a:solidFill>
                <a:latin typeface="Arial"/>
                <a:cs typeface="Arial"/>
              </a:rPr>
              <a:t>PGB</a:t>
            </a:r>
            <a:r>
              <a:rPr lang="en-US" sz="1900" b="1" spc="-85" dirty="0">
                <a:solidFill>
                  <a:srgbClr val="334052"/>
                </a:solidFill>
                <a:latin typeface="Arial"/>
                <a:cs typeface="Arial"/>
              </a:rPr>
              <a:t> Sponsor </a:t>
            </a:r>
            <a:r>
              <a:rPr lang="en-US" sz="1900" b="1" spc="-10" dirty="0">
                <a:solidFill>
                  <a:srgbClr val="334052"/>
                </a:solidFill>
                <a:latin typeface="Arial"/>
                <a:cs typeface="Arial"/>
              </a:rPr>
              <a:t>Voting</a:t>
            </a:r>
            <a:r>
              <a:rPr lang="en-US" sz="1900" b="1" spc="-75" dirty="0">
                <a:solidFill>
                  <a:srgbClr val="334052"/>
                </a:solidFill>
                <a:latin typeface="Arial"/>
                <a:cs typeface="Arial"/>
              </a:rPr>
              <a:t> </a:t>
            </a:r>
            <a:r>
              <a:rPr lang="en-US" sz="1900" b="1" spc="-10" dirty="0">
                <a:solidFill>
                  <a:srgbClr val="334052"/>
                </a:solidFill>
                <a:latin typeface="Arial"/>
                <a:cs typeface="Arial"/>
              </a:rPr>
              <a:t>Members (8):</a:t>
            </a:r>
            <a:endParaRPr lang="en-US" sz="1900" dirty="0">
              <a:latin typeface="Arial"/>
              <a:cs typeface="Arial"/>
            </a:endParaRPr>
          </a:p>
          <a:p>
            <a:pPr marL="756285" lvl="1" indent="-286385">
              <a:lnSpc>
                <a:spcPct val="100000"/>
              </a:lnSpc>
              <a:spcBef>
                <a:spcPts val="10"/>
              </a:spcBef>
              <a:buClr>
                <a:srgbClr val="1F487C"/>
              </a:buClr>
              <a:buChar char="–"/>
              <a:tabLst>
                <a:tab pos="756285" algn="l"/>
              </a:tabLst>
            </a:pPr>
            <a:r>
              <a:rPr lang="en-US" sz="2000" spc="-10" dirty="0">
                <a:solidFill>
                  <a:srgbClr val="454545"/>
                </a:solidFill>
                <a:latin typeface="Arial"/>
                <a:cs typeface="Arial"/>
              </a:rPr>
              <a:t>All Purpose Networks (APN)</a:t>
            </a:r>
          </a:p>
          <a:p>
            <a:pPr marL="756285" lvl="1" indent="-286385">
              <a:lnSpc>
                <a:spcPct val="100000"/>
              </a:lnSpc>
              <a:buClr>
                <a:srgbClr val="1F487C"/>
              </a:buClr>
              <a:buChar char="–"/>
              <a:tabLst>
                <a:tab pos="756285" algn="l"/>
              </a:tabLst>
            </a:pPr>
            <a:r>
              <a:rPr lang="en-US" sz="2000" dirty="0">
                <a:solidFill>
                  <a:srgbClr val="454545"/>
                </a:solidFill>
                <a:latin typeface="Arial"/>
                <a:cs typeface="Arial"/>
              </a:rPr>
              <a:t>Commonwealth</a:t>
            </a:r>
            <a:r>
              <a:rPr lang="en-US" sz="2000" spc="-50" dirty="0">
                <a:solidFill>
                  <a:srgbClr val="454545"/>
                </a:solidFill>
                <a:latin typeface="Arial"/>
                <a:cs typeface="Arial"/>
              </a:rPr>
              <a:t> </a:t>
            </a:r>
            <a:r>
              <a:rPr lang="en-US" sz="2000" dirty="0">
                <a:solidFill>
                  <a:srgbClr val="454545"/>
                </a:solidFill>
                <a:latin typeface="Arial"/>
                <a:cs typeface="Arial"/>
              </a:rPr>
              <a:t>of</a:t>
            </a:r>
            <a:r>
              <a:rPr lang="en-US" sz="2000" spc="-40" dirty="0">
                <a:solidFill>
                  <a:srgbClr val="454545"/>
                </a:solidFill>
                <a:latin typeface="Arial"/>
                <a:cs typeface="Arial"/>
              </a:rPr>
              <a:t> </a:t>
            </a:r>
            <a:r>
              <a:rPr lang="en-US" sz="2000" dirty="0">
                <a:solidFill>
                  <a:srgbClr val="454545"/>
                </a:solidFill>
                <a:latin typeface="Arial"/>
                <a:cs typeface="Arial"/>
              </a:rPr>
              <a:t>Virginia,</a:t>
            </a:r>
            <a:r>
              <a:rPr lang="en-US" sz="2000" spc="-60" dirty="0">
                <a:solidFill>
                  <a:srgbClr val="454545"/>
                </a:solidFill>
                <a:latin typeface="Arial"/>
                <a:cs typeface="Arial"/>
              </a:rPr>
              <a:t> </a:t>
            </a:r>
            <a:r>
              <a:rPr lang="en-US" sz="2000" dirty="0">
                <a:solidFill>
                  <a:srgbClr val="454545"/>
                </a:solidFill>
                <a:latin typeface="Arial"/>
                <a:cs typeface="Arial"/>
              </a:rPr>
              <a:t>Office</a:t>
            </a:r>
            <a:r>
              <a:rPr lang="en-US" sz="2000" spc="-35" dirty="0">
                <a:solidFill>
                  <a:srgbClr val="454545"/>
                </a:solidFill>
                <a:latin typeface="Arial"/>
                <a:cs typeface="Arial"/>
              </a:rPr>
              <a:t> </a:t>
            </a:r>
            <a:r>
              <a:rPr lang="en-US" sz="2000" dirty="0">
                <a:solidFill>
                  <a:srgbClr val="454545"/>
                </a:solidFill>
                <a:latin typeface="Arial"/>
                <a:cs typeface="Arial"/>
              </a:rPr>
              <a:t>of</a:t>
            </a:r>
            <a:r>
              <a:rPr lang="en-US" sz="2000" spc="-40" dirty="0">
                <a:solidFill>
                  <a:srgbClr val="454545"/>
                </a:solidFill>
                <a:latin typeface="Arial"/>
                <a:cs typeface="Arial"/>
              </a:rPr>
              <a:t> </a:t>
            </a:r>
            <a:r>
              <a:rPr lang="en-US" sz="2000" dirty="0">
                <a:solidFill>
                  <a:srgbClr val="454545"/>
                </a:solidFill>
                <a:latin typeface="Arial"/>
                <a:cs typeface="Arial"/>
              </a:rPr>
              <a:t>Data</a:t>
            </a:r>
            <a:r>
              <a:rPr lang="en-US" sz="2000" spc="-40" dirty="0">
                <a:solidFill>
                  <a:srgbClr val="454545"/>
                </a:solidFill>
                <a:latin typeface="Arial"/>
                <a:cs typeface="Arial"/>
              </a:rPr>
              <a:t> </a:t>
            </a:r>
            <a:r>
              <a:rPr lang="en-US" sz="2000" dirty="0">
                <a:solidFill>
                  <a:srgbClr val="454545"/>
                </a:solidFill>
                <a:latin typeface="Arial"/>
                <a:cs typeface="Arial"/>
              </a:rPr>
              <a:t>Governance</a:t>
            </a:r>
            <a:r>
              <a:rPr lang="en-US" sz="2000" spc="-35" dirty="0">
                <a:solidFill>
                  <a:srgbClr val="454545"/>
                </a:solidFill>
                <a:latin typeface="Arial"/>
                <a:cs typeface="Arial"/>
              </a:rPr>
              <a:t> </a:t>
            </a:r>
            <a:r>
              <a:rPr lang="en-US" sz="2000" dirty="0">
                <a:solidFill>
                  <a:srgbClr val="454545"/>
                </a:solidFill>
                <a:latin typeface="Arial"/>
                <a:cs typeface="Arial"/>
              </a:rPr>
              <a:t>and</a:t>
            </a:r>
            <a:r>
              <a:rPr lang="en-US" sz="2000" spc="-114" dirty="0">
                <a:solidFill>
                  <a:srgbClr val="454545"/>
                </a:solidFill>
                <a:latin typeface="Arial"/>
                <a:cs typeface="Arial"/>
              </a:rPr>
              <a:t> </a:t>
            </a:r>
            <a:r>
              <a:rPr lang="en-US" sz="2000" spc="-10" dirty="0">
                <a:solidFill>
                  <a:srgbClr val="454545"/>
                </a:solidFill>
                <a:latin typeface="Arial"/>
                <a:cs typeface="Arial"/>
              </a:rPr>
              <a:t>Analytics (ODGA)</a:t>
            </a:r>
            <a:endParaRPr lang="en-US" sz="2000" dirty="0">
              <a:latin typeface="Arial"/>
              <a:cs typeface="Arial"/>
            </a:endParaRPr>
          </a:p>
          <a:p>
            <a:pPr marL="756285" lvl="1" indent="-286385">
              <a:lnSpc>
                <a:spcPct val="100000"/>
              </a:lnSpc>
              <a:buClr>
                <a:srgbClr val="1F487C"/>
              </a:buClr>
              <a:buChar char="–"/>
              <a:tabLst>
                <a:tab pos="756285" algn="l"/>
              </a:tabLst>
            </a:pPr>
            <a:r>
              <a:rPr lang="en-US" sz="2000" dirty="0">
                <a:solidFill>
                  <a:srgbClr val="454545"/>
                </a:solidFill>
                <a:latin typeface="Arial"/>
                <a:cs typeface="Arial"/>
              </a:rPr>
              <a:t>Criminal</a:t>
            </a:r>
            <a:r>
              <a:rPr lang="en-US" sz="2000" spc="-65" dirty="0">
                <a:solidFill>
                  <a:srgbClr val="454545"/>
                </a:solidFill>
                <a:latin typeface="Arial"/>
                <a:cs typeface="Arial"/>
              </a:rPr>
              <a:t> J</a:t>
            </a:r>
            <a:r>
              <a:rPr lang="en-US" sz="2000" dirty="0">
                <a:solidFill>
                  <a:srgbClr val="454545"/>
                </a:solidFill>
                <a:latin typeface="Arial"/>
                <a:cs typeface="Arial"/>
              </a:rPr>
              <a:t>ustice</a:t>
            </a:r>
            <a:r>
              <a:rPr lang="en-US" sz="2000" spc="-65" dirty="0">
                <a:solidFill>
                  <a:srgbClr val="454545"/>
                </a:solidFill>
                <a:latin typeface="Arial"/>
                <a:cs typeface="Arial"/>
              </a:rPr>
              <a:t> </a:t>
            </a:r>
            <a:r>
              <a:rPr lang="en-US" sz="2000" dirty="0">
                <a:solidFill>
                  <a:srgbClr val="454545"/>
                </a:solidFill>
                <a:latin typeface="Arial"/>
                <a:cs typeface="Arial"/>
              </a:rPr>
              <a:t>Information</a:t>
            </a:r>
            <a:r>
              <a:rPr lang="en-US" sz="2000" spc="-30" dirty="0">
                <a:solidFill>
                  <a:srgbClr val="454545"/>
                </a:solidFill>
                <a:latin typeface="Arial"/>
                <a:cs typeface="Arial"/>
              </a:rPr>
              <a:t> </a:t>
            </a:r>
            <a:r>
              <a:rPr lang="en-US" sz="2000" dirty="0">
                <a:solidFill>
                  <a:srgbClr val="454545"/>
                </a:solidFill>
                <a:latin typeface="Arial"/>
                <a:cs typeface="Arial"/>
              </a:rPr>
              <a:t>Systems</a:t>
            </a:r>
            <a:r>
              <a:rPr lang="en-US" sz="2000" spc="-30" dirty="0">
                <a:solidFill>
                  <a:srgbClr val="454545"/>
                </a:solidFill>
                <a:latin typeface="Arial"/>
                <a:cs typeface="Arial"/>
              </a:rPr>
              <a:t> </a:t>
            </a:r>
            <a:r>
              <a:rPr lang="en-US" sz="2000" dirty="0">
                <a:solidFill>
                  <a:srgbClr val="454545"/>
                </a:solidFill>
                <a:latin typeface="Arial"/>
                <a:cs typeface="Arial"/>
              </a:rPr>
              <a:t>Division</a:t>
            </a:r>
            <a:r>
              <a:rPr lang="en-US" sz="2000" spc="-75" dirty="0">
                <a:solidFill>
                  <a:srgbClr val="454545"/>
                </a:solidFill>
                <a:latin typeface="Arial"/>
                <a:cs typeface="Arial"/>
              </a:rPr>
              <a:t> </a:t>
            </a:r>
            <a:r>
              <a:rPr lang="en-US" sz="2000" dirty="0">
                <a:solidFill>
                  <a:srgbClr val="454545"/>
                </a:solidFill>
                <a:latin typeface="Arial"/>
                <a:cs typeface="Arial"/>
              </a:rPr>
              <a:t>(CJISD),</a:t>
            </a:r>
            <a:r>
              <a:rPr lang="en-US" sz="2000" spc="-40" dirty="0">
                <a:solidFill>
                  <a:srgbClr val="454545"/>
                </a:solidFill>
                <a:latin typeface="Arial"/>
                <a:cs typeface="Arial"/>
              </a:rPr>
              <a:t> </a:t>
            </a:r>
            <a:r>
              <a:rPr lang="en-US" sz="2000" dirty="0">
                <a:solidFill>
                  <a:srgbClr val="454545"/>
                </a:solidFill>
                <a:latin typeface="Arial"/>
                <a:cs typeface="Arial"/>
              </a:rPr>
              <a:t>Federal</a:t>
            </a:r>
            <a:r>
              <a:rPr lang="en-US" sz="2000" spc="-55" dirty="0">
                <a:solidFill>
                  <a:srgbClr val="454545"/>
                </a:solidFill>
                <a:latin typeface="Arial"/>
                <a:cs typeface="Arial"/>
              </a:rPr>
              <a:t> </a:t>
            </a:r>
            <a:r>
              <a:rPr lang="en-US" sz="2000" dirty="0">
                <a:solidFill>
                  <a:srgbClr val="454545"/>
                </a:solidFill>
                <a:latin typeface="Arial"/>
                <a:cs typeface="Arial"/>
              </a:rPr>
              <a:t>Bureau</a:t>
            </a:r>
            <a:r>
              <a:rPr lang="en-US" sz="2000" spc="-50" dirty="0">
                <a:solidFill>
                  <a:srgbClr val="454545"/>
                </a:solidFill>
                <a:latin typeface="Arial"/>
                <a:cs typeface="Arial"/>
              </a:rPr>
              <a:t> </a:t>
            </a:r>
            <a:r>
              <a:rPr lang="en-US" sz="2000" dirty="0">
                <a:solidFill>
                  <a:srgbClr val="454545"/>
                </a:solidFill>
                <a:latin typeface="Arial"/>
                <a:cs typeface="Arial"/>
              </a:rPr>
              <a:t>of</a:t>
            </a:r>
            <a:r>
              <a:rPr lang="en-US" sz="2000" spc="-50" dirty="0">
                <a:solidFill>
                  <a:srgbClr val="454545"/>
                </a:solidFill>
                <a:latin typeface="Arial"/>
                <a:cs typeface="Arial"/>
              </a:rPr>
              <a:t> </a:t>
            </a:r>
            <a:r>
              <a:rPr lang="en-US" sz="2000" spc="-10" dirty="0">
                <a:solidFill>
                  <a:srgbClr val="454545"/>
                </a:solidFill>
                <a:latin typeface="Arial"/>
                <a:cs typeface="Arial"/>
              </a:rPr>
              <a:t>Investigation</a:t>
            </a:r>
          </a:p>
          <a:p>
            <a:pPr marL="756285" lvl="1" indent="-286385">
              <a:lnSpc>
                <a:spcPct val="100000"/>
              </a:lnSpc>
              <a:buClr>
                <a:srgbClr val="1F487C"/>
              </a:buClr>
              <a:buChar char="–"/>
              <a:tabLst>
                <a:tab pos="756285" algn="l"/>
              </a:tabLst>
            </a:pPr>
            <a:r>
              <a:rPr lang="en-US" sz="2000" dirty="0">
                <a:solidFill>
                  <a:srgbClr val="334052"/>
                </a:solidFill>
                <a:latin typeface="Arial"/>
                <a:cs typeface="Arial"/>
              </a:rPr>
              <a:t>Department</a:t>
            </a:r>
            <a:r>
              <a:rPr lang="en-US" sz="2000" spc="-10" dirty="0">
                <a:solidFill>
                  <a:srgbClr val="334052"/>
                </a:solidFill>
                <a:latin typeface="Arial"/>
                <a:cs typeface="Arial"/>
              </a:rPr>
              <a:t> </a:t>
            </a:r>
            <a:r>
              <a:rPr lang="en-US" sz="2000" dirty="0">
                <a:solidFill>
                  <a:srgbClr val="334052"/>
                </a:solidFill>
                <a:latin typeface="Arial"/>
                <a:cs typeface="Arial"/>
              </a:rPr>
              <a:t>of</a:t>
            </a:r>
            <a:r>
              <a:rPr lang="en-US" sz="2000" spc="-25" dirty="0">
                <a:solidFill>
                  <a:srgbClr val="334052"/>
                </a:solidFill>
                <a:latin typeface="Arial"/>
                <a:cs typeface="Arial"/>
              </a:rPr>
              <a:t> </a:t>
            </a:r>
            <a:r>
              <a:rPr lang="en-US" sz="2000" dirty="0">
                <a:solidFill>
                  <a:srgbClr val="334052"/>
                </a:solidFill>
                <a:latin typeface="Arial"/>
                <a:cs typeface="Arial"/>
              </a:rPr>
              <a:t>Homeland</a:t>
            </a:r>
            <a:r>
              <a:rPr lang="en-US" sz="2000" spc="-35" dirty="0">
                <a:solidFill>
                  <a:srgbClr val="334052"/>
                </a:solidFill>
                <a:latin typeface="Arial"/>
                <a:cs typeface="Arial"/>
              </a:rPr>
              <a:t> </a:t>
            </a:r>
            <a:r>
              <a:rPr lang="en-US" sz="2000" dirty="0">
                <a:solidFill>
                  <a:srgbClr val="334052"/>
                </a:solidFill>
                <a:latin typeface="Arial"/>
                <a:cs typeface="Arial"/>
              </a:rPr>
              <a:t>Security</a:t>
            </a:r>
            <a:r>
              <a:rPr lang="en-US" sz="2000" spc="-30" dirty="0">
                <a:solidFill>
                  <a:srgbClr val="334052"/>
                </a:solidFill>
                <a:latin typeface="Arial"/>
                <a:cs typeface="Arial"/>
              </a:rPr>
              <a:t> </a:t>
            </a:r>
            <a:r>
              <a:rPr lang="en-US" sz="2000" dirty="0">
                <a:solidFill>
                  <a:srgbClr val="334052"/>
                </a:solidFill>
                <a:latin typeface="Arial"/>
                <a:cs typeface="Arial"/>
              </a:rPr>
              <a:t>Science</a:t>
            </a:r>
            <a:r>
              <a:rPr lang="en-US" sz="2000" spc="-55" dirty="0">
                <a:solidFill>
                  <a:srgbClr val="334052"/>
                </a:solidFill>
                <a:latin typeface="Arial"/>
                <a:cs typeface="Arial"/>
              </a:rPr>
              <a:t> </a:t>
            </a:r>
            <a:r>
              <a:rPr lang="en-US" sz="2000" dirty="0">
                <a:solidFill>
                  <a:srgbClr val="334052"/>
                </a:solidFill>
                <a:latin typeface="Arial"/>
                <a:cs typeface="Arial"/>
              </a:rPr>
              <a:t>&amp;</a:t>
            </a:r>
            <a:r>
              <a:rPr lang="en-US" sz="2000" spc="-55" dirty="0">
                <a:solidFill>
                  <a:srgbClr val="334052"/>
                </a:solidFill>
                <a:latin typeface="Arial"/>
                <a:cs typeface="Arial"/>
              </a:rPr>
              <a:t> </a:t>
            </a:r>
            <a:r>
              <a:rPr lang="en-US" sz="2000" spc="-20" dirty="0">
                <a:solidFill>
                  <a:srgbClr val="334052"/>
                </a:solidFill>
                <a:latin typeface="Arial"/>
                <a:cs typeface="Arial"/>
              </a:rPr>
              <a:t>Technology</a:t>
            </a:r>
            <a:r>
              <a:rPr lang="en-US" sz="2000" spc="-40" dirty="0">
                <a:solidFill>
                  <a:srgbClr val="334052"/>
                </a:solidFill>
                <a:latin typeface="Arial"/>
                <a:cs typeface="Arial"/>
              </a:rPr>
              <a:t> </a:t>
            </a:r>
            <a:r>
              <a:rPr lang="en-US" sz="2000" dirty="0">
                <a:solidFill>
                  <a:srgbClr val="334052"/>
                </a:solidFill>
                <a:latin typeface="Arial"/>
                <a:cs typeface="Arial"/>
              </a:rPr>
              <a:t>(DHS</a:t>
            </a:r>
            <a:r>
              <a:rPr lang="en-US" sz="2000" spc="-30" dirty="0">
                <a:solidFill>
                  <a:srgbClr val="334052"/>
                </a:solidFill>
                <a:latin typeface="Arial"/>
                <a:cs typeface="Arial"/>
              </a:rPr>
              <a:t> </a:t>
            </a:r>
            <a:r>
              <a:rPr lang="en-US" sz="2000" spc="-20" dirty="0">
                <a:solidFill>
                  <a:srgbClr val="334052"/>
                </a:solidFill>
                <a:latin typeface="Arial"/>
                <a:cs typeface="Arial"/>
              </a:rPr>
              <a:t>S&amp;T)</a:t>
            </a:r>
            <a:endParaRPr lang="en-US" sz="2000" dirty="0">
              <a:highlight>
                <a:srgbClr val="FFFF00"/>
              </a:highlight>
              <a:latin typeface="Arial"/>
              <a:cs typeface="Arial"/>
            </a:endParaRPr>
          </a:p>
          <a:p>
            <a:pPr marL="756285" lvl="1" indent="-286385">
              <a:lnSpc>
                <a:spcPct val="100000"/>
              </a:lnSpc>
              <a:buClr>
                <a:srgbClr val="1F487C"/>
              </a:buClr>
              <a:buChar char="–"/>
              <a:tabLst>
                <a:tab pos="756285" algn="l"/>
              </a:tabLst>
            </a:pPr>
            <a:r>
              <a:rPr lang="en-US" sz="2000" dirty="0">
                <a:solidFill>
                  <a:srgbClr val="334052"/>
                </a:solidFill>
                <a:latin typeface="Arial"/>
                <a:cs typeface="Arial"/>
              </a:rPr>
              <a:t>Georgia</a:t>
            </a:r>
            <a:r>
              <a:rPr lang="en-US" sz="2000" spc="-75" dirty="0">
                <a:solidFill>
                  <a:srgbClr val="334052"/>
                </a:solidFill>
                <a:latin typeface="Arial"/>
                <a:cs typeface="Arial"/>
              </a:rPr>
              <a:t> </a:t>
            </a:r>
            <a:r>
              <a:rPr lang="en-US" sz="2000" spc="-35" dirty="0">
                <a:solidFill>
                  <a:srgbClr val="334052"/>
                </a:solidFill>
                <a:latin typeface="Arial"/>
                <a:cs typeface="Arial"/>
              </a:rPr>
              <a:t>Tech</a:t>
            </a:r>
            <a:r>
              <a:rPr lang="en-US" sz="2000" spc="-50" dirty="0">
                <a:solidFill>
                  <a:srgbClr val="334052"/>
                </a:solidFill>
                <a:latin typeface="Arial"/>
                <a:cs typeface="Arial"/>
              </a:rPr>
              <a:t> </a:t>
            </a:r>
            <a:r>
              <a:rPr lang="en-US" sz="2000" dirty="0">
                <a:solidFill>
                  <a:srgbClr val="334052"/>
                </a:solidFill>
                <a:latin typeface="Arial"/>
                <a:cs typeface="Arial"/>
              </a:rPr>
              <a:t>Research</a:t>
            </a:r>
            <a:r>
              <a:rPr lang="en-US" sz="2000" spc="-65" dirty="0">
                <a:solidFill>
                  <a:srgbClr val="334052"/>
                </a:solidFill>
                <a:latin typeface="Arial"/>
                <a:cs typeface="Arial"/>
              </a:rPr>
              <a:t> </a:t>
            </a:r>
            <a:r>
              <a:rPr lang="en-US" sz="2000" dirty="0">
                <a:solidFill>
                  <a:srgbClr val="334052"/>
                </a:solidFill>
                <a:latin typeface="Arial"/>
                <a:cs typeface="Arial"/>
              </a:rPr>
              <a:t>Institute</a:t>
            </a:r>
            <a:r>
              <a:rPr lang="en-US" sz="2000" spc="-60" dirty="0">
                <a:solidFill>
                  <a:srgbClr val="334052"/>
                </a:solidFill>
                <a:latin typeface="Arial"/>
                <a:cs typeface="Arial"/>
              </a:rPr>
              <a:t> </a:t>
            </a:r>
            <a:r>
              <a:rPr lang="en-US" sz="2000" spc="-10" dirty="0">
                <a:solidFill>
                  <a:srgbClr val="334052"/>
                </a:solidFill>
                <a:latin typeface="Arial"/>
                <a:cs typeface="Arial"/>
              </a:rPr>
              <a:t>(GTRI)</a:t>
            </a:r>
            <a:endParaRPr lang="en-US" sz="2000" dirty="0">
              <a:latin typeface="Arial"/>
              <a:cs typeface="Arial"/>
            </a:endParaRPr>
          </a:p>
          <a:p>
            <a:pPr marL="756285" lvl="1" indent="-286385">
              <a:lnSpc>
                <a:spcPct val="100000"/>
              </a:lnSpc>
              <a:spcBef>
                <a:spcPts val="5"/>
              </a:spcBef>
              <a:buClr>
                <a:srgbClr val="1F487C"/>
              </a:buClr>
              <a:buChar char="–"/>
              <a:tabLst>
                <a:tab pos="756285" algn="l"/>
              </a:tabLst>
            </a:pPr>
            <a:r>
              <a:rPr lang="en-US" sz="2000" dirty="0">
                <a:solidFill>
                  <a:srgbClr val="454545"/>
                </a:solidFill>
                <a:latin typeface="Arial"/>
                <a:cs typeface="Arial"/>
              </a:rPr>
              <a:t>IJIS Institute</a:t>
            </a:r>
            <a:r>
              <a:rPr lang="en-US" sz="2000" spc="-60" dirty="0">
                <a:solidFill>
                  <a:srgbClr val="454545"/>
                </a:solidFill>
                <a:latin typeface="Arial"/>
                <a:cs typeface="Arial"/>
              </a:rPr>
              <a:t> (IJIS)</a:t>
            </a:r>
            <a:endParaRPr lang="en-US" sz="2000" dirty="0">
              <a:latin typeface="Arial"/>
              <a:cs typeface="Arial"/>
            </a:endParaRPr>
          </a:p>
          <a:p>
            <a:pPr marL="756285" lvl="1" indent="-286385">
              <a:lnSpc>
                <a:spcPct val="100000"/>
              </a:lnSpc>
              <a:buClr>
                <a:srgbClr val="1F487C"/>
              </a:buClr>
              <a:buChar char="–"/>
              <a:tabLst>
                <a:tab pos="756285" algn="l"/>
              </a:tabLst>
            </a:pPr>
            <a:r>
              <a:rPr lang="en-US" sz="2000" spc="-10" dirty="0">
                <a:solidFill>
                  <a:srgbClr val="454545"/>
                </a:solidFill>
                <a:latin typeface="Arial"/>
                <a:cs typeface="Arial"/>
              </a:rPr>
              <a:t>National</a:t>
            </a:r>
            <a:r>
              <a:rPr lang="en-US" sz="2000" spc="-105" dirty="0">
                <a:solidFill>
                  <a:srgbClr val="454545"/>
                </a:solidFill>
                <a:latin typeface="Arial"/>
                <a:cs typeface="Arial"/>
              </a:rPr>
              <a:t> </a:t>
            </a:r>
            <a:r>
              <a:rPr lang="en-US" sz="2000" dirty="0">
                <a:solidFill>
                  <a:srgbClr val="454545"/>
                </a:solidFill>
                <a:latin typeface="Arial"/>
                <a:cs typeface="Arial"/>
              </a:rPr>
              <a:t>Association</a:t>
            </a:r>
            <a:r>
              <a:rPr lang="en-US" sz="2000" spc="-85" dirty="0">
                <a:solidFill>
                  <a:srgbClr val="454545"/>
                </a:solidFill>
                <a:latin typeface="Arial"/>
                <a:cs typeface="Arial"/>
              </a:rPr>
              <a:t> </a:t>
            </a:r>
            <a:r>
              <a:rPr lang="en-US" sz="2000" dirty="0">
                <a:solidFill>
                  <a:srgbClr val="454545"/>
                </a:solidFill>
                <a:latin typeface="Arial"/>
                <a:cs typeface="Arial"/>
              </a:rPr>
              <a:t>for</a:t>
            </a:r>
            <a:r>
              <a:rPr lang="en-US" sz="2000" spc="-20" dirty="0">
                <a:solidFill>
                  <a:srgbClr val="454545"/>
                </a:solidFill>
                <a:latin typeface="Arial"/>
                <a:cs typeface="Arial"/>
              </a:rPr>
              <a:t> </a:t>
            </a:r>
            <a:r>
              <a:rPr lang="en-US" sz="2000" dirty="0">
                <a:solidFill>
                  <a:srgbClr val="454545"/>
                </a:solidFill>
                <a:latin typeface="Arial"/>
                <a:cs typeface="Arial"/>
              </a:rPr>
              <a:t>Justice</a:t>
            </a:r>
            <a:r>
              <a:rPr lang="en-US" sz="2000" spc="-45" dirty="0">
                <a:solidFill>
                  <a:srgbClr val="454545"/>
                </a:solidFill>
                <a:latin typeface="Arial"/>
                <a:cs typeface="Arial"/>
              </a:rPr>
              <a:t> </a:t>
            </a:r>
            <a:r>
              <a:rPr lang="en-US" sz="2000" dirty="0">
                <a:solidFill>
                  <a:srgbClr val="454545"/>
                </a:solidFill>
                <a:latin typeface="Arial"/>
                <a:cs typeface="Arial"/>
              </a:rPr>
              <a:t>Information</a:t>
            </a:r>
            <a:r>
              <a:rPr lang="en-US" sz="2000" spc="-15" dirty="0">
                <a:solidFill>
                  <a:srgbClr val="454545"/>
                </a:solidFill>
                <a:latin typeface="Arial"/>
                <a:cs typeface="Arial"/>
              </a:rPr>
              <a:t> </a:t>
            </a:r>
            <a:r>
              <a:rPr lang="en-US" sz="2000" dirty="0">
                <a:solidFill>
                  <a:srgbClr val="454545"/>
                </a:solidFill>
                <a:latin typeface="Arial"/>
                <a:cs typeface="Arial"/>
              </a:rPr>
              <a:t>Systems</a:t>
            </a:r>
            <a:r>
              <a:rPr lang="en-US" sz="2000" spc="-5" dirty="0">
                <a:solidFill>
                  <a:srgbClr val="454545"/>
                </a:solidFill>
                <a:latin typeface="Arial"/>
                <a:cs typeface="Arial"/>
              </a:rPr>
              <a:t> </a:t>
            </a:r>
            <a:r>
              <a:rPr lang="en-US" sz="2000" spc="-10" dirty="0">
                <a:solidFill>
                  <a:srgbClr val="454545"/>
                </a:solidFill>
                <a:latin typeface="Arial"/>
                <a:cs typeface="Arial"/>
              </a:rPr>
              <a:t>(NAJIS)</a:t>
            </a:r>
          </a:p>
          <a:p>
            <a:pPr marL="756285" lvl="1" indent="-286385">
              <a:lnSpc>
                <a:spcPct val="100000"/>
              </a:lnSpc>
              <a:buClr>
                <a:srgbClr val="1F487C"/>
              </a:buClr>
              <a:buChar char="–"/>
              <a:tabLst>
                <a:tab pos="756285" algn="l"/>
              </a:tabLst>
            </a:pPr>
            <a:r>
              <a:rPr lang="en-US" sz="2000" spc="-10" dirty="0">
                <a:solidFill>
                  <a:srgbClr val="454545"/>
                </a:solidFill>
                <a:latin typeface="Arial"/>
                <a:cs typeface="Arial"/>
              </a:rPr>
              <a:t>Senzing, Inc.</a:t>
            </a:r>
          </a:p>
          <a:p>
            <a:pPr lvl="1">
              <a:lnSpc>
                <a:spcPct val="100000"/>
              </a:lnSpc>
              <a:spcBef>
                <a:spcPts val="70"/>
              </a:spcBef>
              <a:buClr>
                <a:srgbClr val="1F487C"/>
              </a:buClr>
              <a:buFont typeface="Arial"/>
              <a:buChar char="–"/>
            </a:pPr>
            <a:endParaRPr lang="en-US" sz="1600" dirty="0">
              <a:latin typeface="Arial"/>
              <a:cs typeface="Arial"/>
            </a:endParaRPr>
          </a:p>
          <a:p>
            <a:pPr marL="354965" indent="-342265">
              <a:lnSpc>
                <a:spcPct val="100000"/>
              </a:lnSpc>
              <a:buClr>
                <a:srgbClr val="1F487C"/>
              </a:buClr>
              <a:buFont typeface="Arial"/>
              <a:buChar char="•"/>
              <a:tabLst>
                <a:tab pos="354965" algn="l"/>
              </a:tabLst>
            </a:pPr>
            <a:r>
              <a:rPr lang="en-US" sz="1900" b="1" dirty="0">
                <a:solidFill>
                  <a:srgbClr val="334052"/>
                </a:solidFill>
                <a:latin typeface="Arial"/>
                <a:cs typeface="Arial"/>
              </a:rPr>
              <a:t>PGB</a:t>
            </a:r>
            <a:r>
              <a:rPr lang="en-US" sz="1900" b="1" spc="-75" dirty="0">
                <a:solidFill>
                  <a:srgbClr val="334052"/>
                </a:solidFill>
                <a:latin typeface="Arial"/>
                <a:cs typeface="Arial"/>
              </a:rPr>
              <a:t> </a:t>
            </a:r>
            <a:r>
              <a:rPr lang="en-US" sz="1900" b="1" dirty="0">
                <a:solidFill>
                  <a:srgbClr val="334052"/>
                </a:solidFill>
                <a:latin typeface="Arial"/>
                <a:cs typeface="Arial"/>
              </a:rPr>
              <a:t>Expert</a:t>
            </a:r>
            <a:r>
              <a:rPr lang="en-US" sz="1900" b="1" spc="-50" dirty="0">
                <a:solidFill>
                  <a:srgbClr val="334052"/>
                </a:solidFill>
                <a:latin typeface="Arial"/>
                <a:cs typeface="Arial"/>
              </a:rPr>
              <a:t> </a:t>
            </a:r>
            <a:r>
              <a:rPr lang="en-US" sz="1900" b="1" spc="-10" dirty="0">
                <a:solidFill>
                  <a:srgbClr val="334052"/>
                </a:solidFill>
                <a:latin typeface="Arial"/>
                <a:cs typeface="Arial"/>
              </a:rPr>
              <a:t>Voting</a:t>
            </a:r>
            <a:r>
              <a:rPr lang="en-US" sz="1900" b="1" spc="-65" dirty="0">
                <a:solidFill>
                  <a:srgbClr val="334052"/>
                </a:solidFill>
                <a:latin typeface="Arial"/>
                <a:cs typeface="Arial"/>
              </a:rPr>
              <a:t> </a:t>
            </a:r>
            <a:r>
              <a:rPr lang="en-US" sz="1900" b="1" spc="-10" dirty="0">
                <a:solidFill>
                  <a:srgbClr val="334052"/>
                </a:solidFill>
                <a:latin typeface="Arial"/>
                <a:cs typeface="Arial"/>
              </a:rPr>
              <a:t>Members (2)</a:t>
            </a:r>
            <a:endParaRPr lang="en-US" sz="1900" dirty="0">
              <a:latin typeface="Arial"/>
              <a:cs typeface="Arial"/>
            </a:endParaRPr>
          </a:p>
          <a:p>
            <a:pPr marL="756285" lvl="1" indent="-286385">
              <a:lnSpc>
                <a:spcPct val="100000"/>
              </a:lnSpc>
              <a:spcBef>
                <a:spcPts val="10"/>
              </a:spcBef>
              <a:buClr>
                <a:srgbClr val="1F487C"/>
              </a:buClr>
              <a:buChar char="–"/>
              <a:tabLst>
                <a:tab pos="756285" algn="l"/>
              </a:tabLst>
            </a:pPr>
            <a:r>
              <a:rPr lang="en-US" sz="1600" dirty="0">
                <a:solidFill>
                  <a:srgbClr val="334052"/>
                </a:solidFill>
                <a:latin typeface="Arial"/>
                <a:cs typeface="Arial"/>
              </a:rPr>
              <a:t>NBAC</a:t>
            </a:r>
            <a:r>
              <a:rPr lang="en-US" sz="1600" spc="-40" dirty="0">
                <a:solidFill>
                  <a:srgbClr val="334052"/>
                </a:solidFill>
                <a:latin typeface="Arial"/>
                <a:cs typeface="Arial"/>
              </a:rPr>
              <a:t> </a:t>
            </a:r>
            <a:r>
              <a:rPr lang="en-US" sz="1600" spc="-25" dirty="0">
                <a:solidFill>
                  <a:srgbClr val="334052"/>
                </a:solidFill>
                <a:latin typeface="Arial"/>
                <a:cs typeface="Arial"/>
              </a:rPr>
              <a:t>TSC</a:t>
            </a:r>
          </a:p>
          <a:p>
            <a:pPr marL="756285" lvl="1" indent="-286385">
              <a:lnSpc>
                <a:spcPct val="100000"/>
              </a:lnSpc>
              <a:buClr>
                <a:srgbClr val="1F487C"/>
              </a:buClr>
              <a:buChar char="–"/>
              <a:tabLst>
                <a:tab pos="756285" algn="l"/>
              </a:tabLst>
            </a:pPr>
            <a:r>
              <a:rPr lang="en-US" sz="1600" spc="-20" dirty="0">
                <a:solidFill>
                  <a:srgbClr val="334052"/>
                </a:solidFill>
                <a:latin typeface="Arial"/>
                <a:cs typeface="Arial"/>
              </a:rPr>
              <a:t>NTAC</a:t>
            </a:r>
            <a:r>
              <a:rPr lang="en-US" sz="1600" spc="-75" dirty="0">
                <a:solidFill>
                  <a:srgbClr val="334052"/>
                </a:solidFill>
                <a:latin typeface="Arial"/>
                <a:cs typeface="Arial"/>
              </a:rPr>
              <a:t> </a:t>
            </a:r>
            <a:r>
              <a:rPr lang="en-US" sz="1600" spc="-25" dirty="0">
                <a:solidFill>
                  <a:srgbClr val="334052"/>
                </a:solidFill>
                <a:latin typeface="Arial"/>
                <a:cs typeface="Arial"/>
              </a:rPr>
              <a:t>TSC</a:t>
            </a:r>
            <a:endParaRPr lang="en-US" sz="1600" dirty="0">
              <a:latin typeface="Arial"/>
              <a:cs typeface="Arial"/>
            </a:endParaRPr>
          </a:p>
          <a:p>
            <a:pPr lvl="1">
              <a:lnSpc>
                <a:spcPct val="100000"/>
              </a:lnSpc>
              <a:spcBef>
                <a:spcPts val="65"/>
              </a:spcBef>
              <a:buClr>
                <a:srgbClr val="1F487C"/>
              </a:buClr>
              <a:buFont typeface="Arial"/>
              <a:buChar char="–"/>
            </a:pPr>
            <a:endParaRPr lang="en-US" sz="1600" dirty="0">
              <a:latin typeface="Arial"/>
              <a:cs typeface="Arial"/>
            </a:endParaRPr>
          </a:p>
          <a:p>
            <a:pPr marL="354965" indent="-342265">
              <a:lnSpc>
                <a:spcPct val="100000"/>
              </a:lnSpc>
              <a:buClr>
                <a:srgbClr val="1F487C"/>
              </a:buClr>
              <a:buFont typeface="Arial"/>
              <a:buChar char="•"/>
              <a:tabLst>
                <a:tab pos="354965" algn="l"/>
              </a:tabLst>
            </a:pPr>
            <a:r>
              <a:rPr lang="en-US" sz="1900" b="1" dirty="0">
                <a:solidFill>
                  <a:srgbClr val="334052"/>
                </a:solidFill>
                <a:latin typeface="Arial"/>
                <a:cs typeface="Arial"/>
              </a:rPr>
              <a:t>PGB</a:t>
            </a:r>
            <a:r>
              <a:rPr lang="en-US" sz="1900" b="1" spc="-70" dirty="0">
                <a:solidFill>
                  <a:srgbClr val="334052"/>
                </a:solidFill>
                <a:latin typeface="Arial"/>
                <a:cs typeface="Arial"/>
              </a:rPr>
              <a:t> </a:t>
            </a:r>
            <a:r>
              <a:rPr lang="en-US" sz="1900" b="1" dirty="0">
                <a:solidFill>
                  <a:srgbClr val="334052"/>
                </a:solidFill>
                <a:latin typeface="Arial"/>
                <a:cs typeface="Arial"/>
              </a:rPr>
              <a:t>Expert</a:t>
            </a:r>
            <a:r>
              <a:rPr lang="en-US" sz="1900" b="1" spc="-40" dirty="0">
                <a:solidFill>
                  <a:srgbClr val="334052"/>
                </a:solidFill>
                <a:latin typeface="Arial"/>
                <a:cs typeface="Arial"/>
              </a:rPr>
              <a:t> </a:t>
            </a:r>
            <a:r>
              <a:rPr lang="en-US" sz="1900" b="1" spc="-25" dirty="0">
                <a:solidFill>
                  <a:srgbClr val="334052"/>
                </a:solidFill>
                <a:latin typeface="Arial"/>
                <a:cs typeface="Arial"/>
              </a:rPr>
              <a:t>NON-</a:t>
            </a:r>
            <a:r>
              <a:rPr lang="en-US" sz="1900" b="1" spc="-10" dirty="0">
                <a:solidFill>
                  <a:srgbClr val="334052"/>
                </a:solidFill>
                <a:latin typeface="Arial"/>
                <a:cs typeface="Arial"/>
              </a:rPr>
              <a:t>Voting</a:t>
            </a:r>
            <a:r>
              <a:rPr lang="en-US" sz="1900" b="1" spc="-50" dirty="0">
                <a:solidFill>
                  <a:srgbClr val="334052"/>
                </a:solidFill>
                <a:latin typeface="Arial"/>
                <a:cs typeface="Arial"/>
              </a:rPr>
              <a:t> </a:t>
            </a:r>
            <a:r>
              <a:rPr lang="en-US" sz="1900" b="1" spc="-10" dirty="0">
                <a:solidFill>
                  <a:srgbClr val="334052"/>
                </a:solidFill>
                <a:latin typeface="Arial"/>
                <a:cs typeface="Arial"/>
              </a:rPr>
              <a:t>Members (3)</a:t>
            </a:r>
          </a:p>
          <a:p>
            <a:pPr marL="354965" indent="-342265">
              <a:lnSpc>
                <a:spcPct val="100000"/>
              </a:lnSpc>
              <a:buClr>
                <a:srgbClr val="1F487C"/>
              </a:buClr>
              <a:buFont typeface="Arial"/>
              <a:buChar char="•"/>
              <a:tabLst>
                <a:tab pos="354965" algn="l"/>
              </a:tabLst>
            </a:pPr>
            <a:r>
              <a:rPr lang="en-US" sz="1900" b="1" spc="-10" dirty="0">
                <a:solidFill>
                  <a:srgbClr val="334052"/>
                </a:solidFill>
                <a:latin typeface="Arial"/>
                <a:cs typeface="Arial"/>
              </a:rPr>
              <a:t>Quorum: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3047" y="59817"/>
            <a:ext cx="10908842" cy="759899"/>
          </a:xfrm>
          <a:prstGeom prst="rect">
            <a:avLst/>
          </a:prstGeom>
        </p:spPr>
        <p:txBody>
          <a:bodyPr vert="horz" wrap="square" lIns="0" tIns="264870" rIns="0" bIns="0" rtlCol="0">
            <a:spAutoFit/>
          </a:bodyPr>
          <a:lstStyle/>
          <a:p>
            <a:pPr marL="297815">
              <a:lnSpc>
                <a:spcPct val="100000"/>
              </a:lnSpc>
              <a:spcBef>
                <a:spcPts val="105"/>
              </a:spcBef>
            </a:pPr>
            <a:r>
              <a:rPr sz="3200" spc="-20" dirty="0">
                <a:solidFill>
                  <a:srgbClr val="004383"/>
                </a:solidFill>
              </a:rPr>
              <a:t>APPROVAL</a:t>
            </a:r>
            <a:r>
              <a:rPr sz="3200" spc="-95" dirty="0">
                <a:solidFill>
                  <a:srgbClr val="004383"/>
                </a:solidFill>
              </a:rPr>
              <a:t> </a:t>
            </a:r>
            <a:r>
              <a:rPr sz="3200" dirty="0">
                <a:solidFill>
                  <a:srgbClr val="004383"/>
                </a:solidFill>
              </a:rPr>
              <a:t>OF</a:t>
            </a:r>
            <a:r>
              <a:rPr sz="3200" spc="-50" dirty="0">
                <a:solidFill>
                  <a:srgbClr val="004383"/>
                </a:solidFill>
              </a:rPr>
              <a:t> </a:t>
            </a:r>
            <a:r>
              <a:rPr lang="en-US" sz="3200" spc="-50" dirty="0">
                <a:solidFill>
                  <a:srgbClr val="004383"/>
                </a:solidFill>
              </a:rPr>
              <a:t>28 August </a:t>
            </a:r>
            <a:r>
              <a:rPr lang="en-US" sz="3200" dirty="0">
                <a:solidFill>
                  <a:srgbClr val="004383"/>
                </a:solidFill>
              </a:rPr>
              <a:t>20</a:t>
            </a:r>
            <a:r>
              <a:rPr sz="3200" dirty="0">
                <a:solidFill>
                  <a:srgbClr val="004383"/>
                </a:solidFill>
              </a:rPr>
              <a:t>2</a:t>
            </a:r>
            <a:r>
              <a:rPr lang="en-US" sz="3200" dirty="0">
                <a:solidFill>
                  <a:srgbClr val="004383"/>
                </a:solidFill>
              </a:rPr>
              <a:t>5</a:t>
            </a:r>
            <a:r>
              <a:rPr sz="3200" spc="-50" dirty="0">
                <a:solidFill>
                  <a:srgbClr val="004383"/>
                </a:solidFill>
              </a:rPr>
              <a:t> </a:t>
            </a:r>
            <a:r>
              <a:rPr sz="3200" dirty="0">
                <a:solidFill>
                  <a:srgbClr val="004383"/>
                </a:solidFill>
              </a:rPr>
              <a:t>PGB</a:t>
            </a:r>
            <a:r>
              <a:rPr sz="3200" spc="-15" dirty="0">
                <a:solidFill>
                  <a:srgbClr val="004383"/>
                </a:solidFill>
              </a:rPr>
              <a:t> </a:t>
            </a:r>
            <a:r>
              <a:rPr sz="3200" spc="-10" dirty="0">
                <a:solidFill>
                  <a:srgbClr val="004383"/>
                </a:solidFill>
              </a:rPr>
              <a:t>MINUTES</a:t>
            </a:r>
            <a:endParaRPr sz="3200" dirty="0"/>
          </a:p>
        </p:txBody>
      </p:sp>
      <p:sp>
        <p:nvSpPr>
          <p:cNvPr id="3" name="object 3"/>
          <p:cNvSpPr txBox="1"/>
          <p:nvPr/>
        </p:nvSpPr>
        <p:spPr>
          <a:xfrm>
            <a:off x="845007" y="1228471"/>
            <a:ext cx="10508793" cy="1243289"/>
          </a:xfrm>
          <a:prstGeom prst="rect">
            <a:avLst/>
          </a:prstGeom>
        </p:spPr>
        <p:txBody>
          <a:bodyPr vert="horz" wrap="square" lIns="0" tIns="12065" rIns="0" bIns="0" rtlCol="0">
            <a:spAutoFit/>
          </a:bodyPr>
          <a:lstStyle/>
          <a:p>
            <a:pPr marL="299085" marR="5080" indent="-287020">
              <a:lnSpc>
                <a:spcPct val="100000"/>
              </a:lnSpc>
              <a:spcBef>
                <a:spcPts val="95"/>
              </a:spcBef>
              <a:buClr>
                <a:srgbClr val="1F487C"/>
              </a:buClr>
              <a:buFont typeface="Arial"/>
              <a:buChar char="•"/>
              <a:tabLst>
                <a:tab pos="299085" algn="l"/>
              </a:tabLst>
            </a:pPr>
            <a:r>
              <a:rPr sz="1600" b="1" u="sng" dirty="0">
                <a:solidFill>
                  <a:srgbClr val="1E1C11"/>
                </a:solidFill>
                <a:uFill>
                  <a:solidFill>
                    <a:srgbClr val="1E1C11"/>
                  </a:solidFill>
                </a:uFill>
                <a:latin typeface="Arial"/>
                <a:cs typeface="Arial"/>
              </a:rPr>
              <a:t>Chair:</a:t>
            </a:r>
            <a:r>
              <a:rPr sz="1600" b="1" u="sng" spc="-15" dirty="0">
                <a:solidFill>
                  <a:srgbClr val="1E1C11"/>
                </a:solidFill>
                <a:uFill>
                  <a:solidFill>
                    <a:srgbClr val="1E1C11"/>
                  </a:solidFill>
                </a:uFill>
                <a:latin typeface="Arial"/>
                <a:cs typeface="Arial"/>
              </a:rPr>
              <a:t> </a:t>
            </a:r>
            <a:r>
              <a:rPr sz="1600" u="none" dirty="0">
                <a:solidFill>
                  <a:srgbClr val="1E1C11"/>
                </a:solidFill>
                <a:latin typeface="Arial"/>
                <a:cs typeface="Arial"/>
              </a:rPr>
              <a:t>A</a:t>
            </a:r>
            <a:r>
              <a:rPr sz="1600" u="none" spc="-110" dirty="0">
                <a:solidFill>
                  <a:srgbClr val="1E1C11"/>
                </a:solidFill>
                <a:latin typeface="Arial"/>
                <a:cs typeface="Arial"/>
              </a:rPr>
              <a:t> </a:t>
            </a:r>
            <a:r>
              <a:rPr sz="1600" u="none" dirty="0">
                <a:solidFill>
                  <a:srgbClr val="1E1C11"/>
                </a:solidFill>
                <a:latin typeface="Arial"/>
                <a:cs typeface="Arial"/>
              </a:rPr>
              <a:t>Draft</a:t>
            </a:r>
            <a:r>
              <a:rPr sz="1600" u="none" spc="-15" dirty="0">
                <a:solidFill>
                  <a:srgbClr val="1E1C11"/>
                </a:solidFill>
                <a:latin typeface="Arial"/>
                <a:cs typeface="Arial"/>
              </a:rPr>
              <a:t> </a:t>
            </a:r>
            <a:r>
              <a:rPr sz="1600" u="none" dirty="0">
                <a:solidFill>
                  <a:srgbClr val="1E1C11"/>
                </a:solidFill>
                <a:latin typeface="Arial"/>
                <a:cs typeface="Arial"/>
              </a:rPr>
              <a:t>of</a:t>
            </a:r>
            <a:r>
              <a:rPr sz="1600" u="none" spc="-25" dirty="0">
                <a:solidFill>
                  <a:srgbClr val="1E1C11"/>
                </a:solidFill>
                <a:latin typeface="Arial"/>
                <a:cs typeface="Arial"/>
              </a:rPr>
              <a:t> </a:t>
            </a:r>
            <a:r>
              <a:rPr sz="1600" u="none" dirty="0">
                <a:solidFill>
                  <a:srgbClr val="1E1C11"/>
                </a:solidFill>
                <a:latin typeface="Arial"/>
                <a:cs typeface="Arial"/>
              </a:rPr>
              <a:t>the</a:t>
            </a:r>
            <a:r>
              <a:rPr sz="1600" u="none" spc="-20" dirty="0">
                <a:solidFill>
                  <a:srgbClr val="1E1C11"/>
                </a:solidFill>
                <a:latin typeface="Arial"/>
                <a:cs typeface="Arial"/>
              </a:rPr>
              <a:t> </a:t>
            </a:r>
            <a:r>
              <a:rPr sz="1600" u="none" dirty="0">
                <a:solidFill>
                  <a:srgbClr val="1E1C11"/>
                </a:solidFill>
                <a:latin typeface="Arial"/>
                <a:cs typeface="Arial"/>
              </a:rPr>
              <a:t>NIEMOpen</a:t>
            </a:r>
            <a:r>
              <a:rPr sz="1600" u="none" spc="-25" dirty="0">
                <a:solidFill>
                  <a:srgbClr val="1E1C11"/>
                </a:solidFill>
                <a:latin typeface="Arial"/>
                <a:cs typeface="Arial"/>
              </a:rPr>
              <a:t> </a:t>
            </a:r>
            <a:r>
              <a:rPr lang="en-US" sz="1600" u="none" spc="-25" dirty="0">
                <a:solidFill>
                  <a:srgbClr val="1E1C11"/>
                </a:solidFill>
                <a:latin typeface="Arial"/>
                <a:cs typeface="Arial"/>
              </a:rPr>
              <a:t>28 </a:t>
            </a:r>
            <a:r>
              <a:rPr lang="en-US" sz="1600" spc="-25" dirty="0">
                <a:solidFill>
                  <a:srgbClr val="1E1C11"/>
                </a:solidFill>
                <a:latin typeface="Arial"/>
                <a:cs typeface="Arial"/>
              </a:rPr>
              <a:t>August</a:t>
            </a:r>
            <a:r>
              <a:rPr sz="1600" u="none" spc="-25" dirty="0">
                <a:solidFill>
                  <a:srgbClr val="1E1C11"/>
                </a:solidFill>
                <a:latin typeface="Arial"/>
                <a:cs typeface="Arial"/>
              </a:rPr>
              <a:t> </a:t>
            </a:r>
            <a:r>
              <a:rPr sz="1600" u="none" dirty="0">
                <a:solidFill>
                  <a:srgbClr val="1E1C11"/>
                </a:solidFill>
                <a:latin typeface="Arial"/>
                <a:cs typeface="Arial"/>
              </a:rPr>
              <a:t>202</a:t>
            </a:r>
            <a:r>
              <a:rPr lang="en-US" sz="1600" u="none" dirty="0">
                <a:solidFill>
                  <a:srgbClr val="1E1C11"/>
                </a:solidFill>
                <a:latin typeface="Arial"/>
                <a:cs typeface="Arial"/>
              </a:rPr>
              <a:t>5</a:t>
            </a:r>
            <a:r>
              <a:rPr sz="1600" u="none" spc="-35" dirty="0">
                <a:solidFill>
                  <a:srgbClr val="1E1C11"/>
                </a:solidFill>
                <a:latin typeface="Arial"/>
                <a:cs typeface="Arial"/>
              </a:rPr>
              <a:t> </a:t>
            </a:r>
            <a:r>
              <a:rPr sz="1600" u="none" dirty="0">
                <a:solidFill>
                  <a:srgbClr val="1E1C11"/>
                </a:solidFill>
                <a:latin typeface="Arial"/>
                <a:cs typeface="Arial"/>
              </a:rPr>
              <a:t>PGB</a:t>
            </a:r>
            <a:r>
              <a:rPr sz="1600" u="none" spc="405" dirty="0">
                <a:solidFill>
                  <a:srgbClr val="1E1C11"/>
                </a:solidFill>
                <a:latin typeface="Arial"/>
                <a:cs typeface="Arial"/>
              </a:rPr>
              <a:t> </a:t>
            </a:r>
            <a:r>
              <a:rPr sz="1600" u="none" dirty="0">
                <a:solidFill>
                  <a:srgbClr val="1E1C11"/>
                </a:solidFill>
                <a:latin typeface="Arial"/>
                <a:cs typeface="Arial"/>
              </a:rPr>
              <a:t>meeting</a:t>
            </a:r>
            <a:r>
              <a:rPr sz="1600" u="none" spc="-35" dirty="0">
                <a:solidFill>
                  <a:srgbClr val="1E1C11"/>
                </a:solidFill>
                <a:latin typeface="Arial"/>
                <a:cs typeface="Arial"/>
              </a:rPr>
              <a:t> </a:t>
            </a:r>
            <a:r>
              <a:rPr sz="1600" u="none" spc="-10" dirty="0">
                <a:solidFill>
                  <a:srgbClr val="1E1C11"/>
                </a:solidFill>
                <a:latin typeface="Arial"/>
                <a:cs typeface="Arial"/>
              </a:rPr>
              <a:t>minutes</a:t>
            </a:r>
            <a:r>
              <a:rPr lang="en-US" sz="1600" u="none" spc="-10" dirty="0">
                <a:solidFill>
                  <a:srgbClr val="1E1C11"/>
                </a:solidFill>
                <a:latin typeface="Arial"/>
                <a:cs typeface="Arial"/>
              </a:rPr>
              <a:t> </a:t>
            </a:r>
            <a:r>
              <a:rPr sz="1600" u="none" dirty="0">
                <a:solidFill>
                  <a:srgbClr val="1E1C11"/>
                </a:solidFill>
                <a:latin typeface="Arial"/>
                <a:cs typeface="Arial"/>
              </a:rPr>
              <a:t>was</a:t>
            </a:r>
            <a:r>
              <a:rPr sz="1600" u="none" spc="-25" dirty="0">
                <a:solidFill>
                  <a:srgbClr val="1E1C11"/>
                </a:solidFill>
                <a:latin typeface="Arial"/>
                <a:cs typeface="Arial"/>
              </a:rPr>
              <a:t> </a:t>
            </a:r>
            <a:r>
              <a:rPr sz="1600" u="none" dirty="0">
                <a:solidFill>
                  <a:srgbClr val="1E1C11"/>
                </a:solidFill>
                <a:latin typeface="Arial"/>
                <a:cs typeface="Arial"/>
              </a:rPr>
              <a:t>provided</a:t>
            </a:r>
            <a:r>
              <a:rPr sz="1600" u="none" spc="-35" dirty="0">
                <a:solidFill>
                  <a:srgbClr val="1E1C11"/>
                </a:solidFill>
                <a:latin typeface="Arial"/>
                <a:cs typeface="Arial"/>
              </a:rPr>
              <a:t> </a:t>
            </a:r>
            <a:r>
              <a:rPr sz="1600" u="none" dirty="0">
                <a:solidFill>
                  <a:srgbClr val="1E1C11"/>
                </a:solidFill>
                <a:latin typeface="Arial"/>
                <a:cs typeface="Arial"/>
              </a:rPr>
              <a:t>to</a:t>
            </a:r>
            <a:r>
              <a:rPr sz="1600" u="none" spc="-25" dirty="0">
                <a:solidFill>
                  <a:srgbClr val="1E1C11"/>
                </a:solidFill>
                <a:latin typeface="Arial"/>
                <a:cs typeface="Arial"/>
              </a:rPr>
              <a:t> </a:t>
            </a:r>
            <a:r>
              <a:rPr sz="1600" u="none" dirty="0">
                <a:solidFill>
                  <a:srgbClr val="1E1C11"/>
                </a:solidFill>
                <a:latin typeface="Arial"/>
                <a:cs typeface="Arial"/>
              </a:rPr>
              <a:t>the</a:t>
            </a:r>
            <a:r>
              <a:rPr sz="1600" u="none" spc="-25" dirty="0">
                <a:solidFill>
                  <a:srgbClr val="1E1C11"/>
                </a:solidFill>
                <a:latin typeface="Arial"/>
                <a:cs typeface="Arial"/>
              </a:rPr>
              <a:t> </a:t>
            </a:r>
            <a:r>
              <a:rPr sz="1600" u="none" dirty="0">
                <a:solidFill>
                  <a:srgbClr val="1E1C11"/>
                </a:solidFill>
                <a:latin typeface="Arial"/>
                <a:cs typeface="Arial"/>
              </a:rPr>
              <a:t>PGB</a:t>
            </a:r>
            <a:r>
              <a:rPr sz="1600" u="none" spc="-25" dirty="0">
                <a:solidFill>
                  <a:srgbClr val="1E1C11"/>
                </a:solidFill>
                <a:latin typeface="Arial"/>
                <a:cs typeface="Arial"/>
              </a:rPr>
              <a:t> </a:t>
            </a:r>
            <a:r>
              <a:rPr sz="1600" u="none" spc="-10" dirty="0">
                <a:solidFill>
                  <a:srgbClr val="1E1C11"/>
                </a:solidFill>
                <a:latin typeface="Arial"/>
                <a:cs typeface="Arial"/>
              </a:rPr>
              <a:t>Voting</a:t>
            </a:r>
            <a:r>
              <a:rPr lang="en-US" sz="1600" u="none" spc="-10" dirty="0">
                <a:solidFill>
                  <a:srgbClr val="1E1C11"/>
                </a:solidFill>
                <a:latin typeface="Arial"/>
                <a:cs typeface="Arial"/>
              </a:rPr>
              <a:t>/Expert Voting </a:t>
            </a:r>
            <a:r>
              <a:rPr sz="1600" u="none" spc="-50" dirty="0">
                <a:solidFill>
                  <a:srgbClr val="1E1C11"/>
                </a:solidFill>
                <a:latin typeface="Arial"/>
                <a:cs typeface="Arial"/>
              </a:rPr>
              <a:t> </a:t>
            </a:r>
            <a:r>
              <a:rPr sz="1600" u="none" dirty="0">
                <a:solidFill>
                  <a:srgbClr val="1E1C11"/>
                </a:solidFill>
                <a:latin typeface="Arial"/>
                <a:cs typeface="Arial"/>
              </a:rPr>
              <a:t>Members</a:t>
            </a:r>
            <a:r>
              <a:rPr sz="1600" u="none" spc="-25" dirty="0">
                <a:solidFill>
                  <a:srgbClr val="1E1C11"/>
                </a:solidFill>
                <a:latin typeface="Arial"/>
                <a:cs typeface="Arial"/>
              </a:rPr>
              <a:t> </a:t>
            </a:r>
            <a:r>
              <a:rPr sz="1600" u="none" dirty="0">
                <a:solidFill>
                  <a:srgbClr val="1E1C11"/>
                </a:solidFill>
                <a:latin typeface="Arial"/>
                <a:cs typeface="Arial"/>
              </a:rPr>
              <a:t>as</a:t>
            </a:r>
            <a:r>
              <a:rPr sz="1600" u="none" spc="-20" dirty="0">
                <a:solidFill>
                  <a:srgbClr val="1E1C11"/>
                </a:solidFill>
                <a:latin typeface="Arial"/>
                <a:cs typeface="Arial"/>
              </a:rPr>
              <a:t> </a:t>
            </a:r>
            <a:r>
              <a:rPr sz="1600" u="none" dirty="0">
                <a:solidFill>
                  <a:srgbClr val="1E1C11"/>
                </a:solidFill>
                <a:latin typeface="Arial"/>
                <a:cs typeface="Arial"/>
              </a:rPr>
              <a:t>a</a:t>
            </a:r>
            <a:r>
              <a:rPr sz="1600" u="none" spc="-40" dirty="0">
                <a:solidFill>
                  <a:srgbClr val="1E1C11"/>
                </a:solidFill>
                <a:latin typeface="Arial"/>
                <a:cs typeface="Arial"/>
              </a:rPr>
              <a:t> </a:t>
            </a:r>
            <a:r>
              <a:rPr sz="1600" u="none" dirty="0">
                <a:solidFill>
                  <a:srgbClr val="1E1C11"/>
                </a:solidFill>
                <a:latin typeface="Arial"/>
                <a:cs typeface="Arial"/>
              </a:rPr>
              <a:t>readahead:</a:t>
            </a:r>
            <a:r>
              <a:rPr sz="1600" u="none" spc="-15" dirty="0">
                <a:solidFill>
                  <a:srgbClr val="1E1C11"/>
                </a:solidFill>
                <a:latin typeface="Arial"/>
                <a:cs typeface="Arial"/>
              </a:rPr>
              <a:t> </a:t>
            </a:r>
            <a:r>
              <a:rPr sz="1600" u="none" dirty="0">
                <a:solidFill>
                  <a:srgbClr val="1E1C11"/>
                </a:solidFill>
                <a:latin typeface="Arial"/>
                <a:cs typeface="Arial"/>
              </a:rPr>
              <a:t>Please</a:t>
            </a:r>
            <a:r>
              <a:rPr sz="1600" u="none" spc="-60" dirty="0">
                <a:solidFill>
                  <a:srgbClr val="1E1C11"/>
                </a:solidFill>
                <a:latin typeface="Arial"/>
                <a:cs typeface="Arial"/>
              </a:rPr>
              <a:t> </a:t>
            </a:r>
            <a:r>
              <a:rPr sz="1600" u="none" dirty="0">
                <a:solidFill>
                  <a:srgbClr val="1E1C11"/>
                </a:solidFill>
                <a:latin typeface="Arial"/>
                <a:cs typeface="Arial"/>
              </a:rPr>
              <a:t>let</a:t>
            </a:r>
            <a:r>
              <a:rPr sz="1600" u="none" spc="-35" dirty="0">
                <a:solidFill>
                  <a:srgbClr val="1E1C11"/>
                </a:solidFill>
                <a:latin typeface="Arial"/>
                <a:cs typeface="Arial"/>
              </a:rPr>
              <a:t> </a:t>
            </a:r>
            <a:r>
              <a:rPr sz="1600" u="none" dirty="0">
                <a:solidFill>
                  <a:srgbClr val="1E1C11"/>
                </a:solidFill>
                <a:latin typeface="Arial"/>
                <a:cs typeface="Arial"/>
              </a:rPr>
              <a:t>me</a:t>
            </a:r>
            <a:r>
              <a:rPr sz="1600" u="none" spc="-30" dirty="0">
                <a:solidFill>
                  <a:srgbClr val="1E1C11"/>
                </a:solidFill>
                <a:latin typeface="Arial"/>
                <a:cs typeface="Arial"/>
              </a:rPr>
              <a:t> </a:t>
            </a:r>
            <a:r>
              <a:rPr sz="1600" u="none" spc="-20" dirty="0">
                <a:solidFill>
                  <a:srgbClr val="1E1C11"/>
                </a:solidFill>
                <a:latin typeface="Arial"/>
                <a:cs typeface="Arial"/>
              </a:rPr>
              <a:t>know </a:t>
            </a:r>
            <a:r>
              <a:rPr sz="1600" u="none" dirty="0">
                <a:solidFill>
                  <a:srgbClr val="1E1C11"/>
                </a:solidFill>
                <a:latin typeface="Arial"/>
                <a:cs typeface="Arial"/>
              </a:rPr>
              <a:t>now</a:t>
            </a:r>
            <a:r>
              <a:rPr sz="1600" u="none" spc="-25" dirty="0">
                <a:solidFill>
                  <a:srgbClr val="1E1C11"/>
                </a:solidFill>
                <a:latin typeface="Arial"/>
                <a:cs typeface="Arial"/>
              </a:rPr>
              <a:t> </a:t>
            </a:r>
            <a:r>
              <a:rPr sz="1600" u="none" dirty="0">
                <a:solidFill>
                  <a:srgbClr val="1E1C11"/>
                </a:solidFill>
                <a:latin typeface="Arial"/>
                <a:cs typeface="Arial"/>
              </a:rPr>
              <a:t>if</a:t>
            </a:r>
            <a:r>
              <a:rPr sz="1600" u="none" spc="-15" dirty="0">
                <a:solidFill>
                  <a:srgbClr val="1E1C11"/>
                </a:solidFill>
                <a:latin typeface="Arial"/>
                <a:cs typeface="Arial"/>
              </a:rPr>
              <a:t> </a:t>
            </a:r>
            <a:r>
              <a:rPr sz="1600" u="none" dirty="0">
                <a:solidFill>
                  <a:srgbClr val="1E1C11"/>
                </a:solidFill>
                <a:latin typeface="Arial"/>
                <a:cs typeface="Arial"/>
              </a:rPr>
              <a:t>you</a:t>
            </a:r>
            <a:r>
              <a:rPr sz="1600" u="none" spc="5" dirty="0">
                <a:solidFill>
                  <a:srgbClr val="1E1C11"/>
                </a:solidFill>
                <a:latin typeface="Arial"/>
                <a:cs typeface="Arial"/>
              </a:rPr>
              <a:t> </a:t>
            </a:r>
            <a:r>
              <a:rPr sz="1600" u="none" dirty="0">
                <a:solidFill>
                  <a:srgbClr val="1E1C11"/>
                </a:solidFill>
                <a:latin typeface="Arial"/>
                <a:cs typeface="Arial"/>
              </a:rPr>
              <a:t>found</a:t>
            </a:r>
            <a:r>
              <a:rPr sz="1600" u="none" spc="-5" dirty="0">
                <a:solidFill>
                  <a:srgbClr val="1E1C11"/>
                </a:solidFill>
                <a:latin typeface="Arial"/>
                <a:cs typeface="Arial"/>
              </a:rPr>
              <a:t> </a:t>
            </a:r>
            <a:r>
              <a:rPr sz="1600" u="none" dirty="0">
                <a:solidFill>
                  <a:srgbClr val="1E1C11"/>
                </a:solidFill>
                <a:latin typeface="Arial"/>
                <a:cs typeface="Arial"/>
              </a:rPr>
              <a:t>any</a:t>
            </a:r>
            <a:r>
              <a:rPr sz="1600" u="none" spc="-15" dirty="0">
                <a:solidFill>
                  <a:srgbClr val="1E1C11"/>
                </a:solidFill>
                <a:latin typeface="Arial"/>
                <a:cs typeface="Arial"/>
              </a:rPr>
              <a:t> </a:t>
            </a:r>
            <a:r>
              <a:rPr sz="1600" u="none" dirty="0">
                <a:solidFill>
                  <a:srgbClr val="1E1C11"/>
                </a:solidFill>
                <a:latin typeface="Arial"/>
                <a:cs typeface="Arial"/>
              </a:rPr>
              <a:t>errors</a:t>
            </a:r>
            <a:r>
              <a:rPr lang="en-US" sz="1600" u="none" dirty="0">
                <a:solidFill>
                  <a:srgbClr val="1E1C11"/>
                </a:solidFill>
                <a:highlight>
                  <a:srgbClr val="FFFF00"/>
                </a:highlight>
                <a:latin typeface="Arial"/>
                <a:cs typeface="Arial"/>
              </a:rPr>
              <a:t>: </a:t>
            </a:r>
            <a:r>
              <a:rPr lang="en-US" sz="1600" u="none" dirty="0">
                <a:solidFill>
                  <a:srgbClr val="1E1C11"/>
                </a:solidFill>
                <a:highlight>
                  <a:srgbClr val="FFFF00"/>
                </a:highlight>
                <a:latin typeface="Arial"/>
                <a:cs typeface="Arial"/>
                <a:hlinkClick r:id="rId2"/>
              </a:rPr>
              <a:t>https://github.com/niemopen/oasis-open-project/blob/main/pgb-meeting-minutes/2025/28-aug-25/(DRAFT)%20NIEMOpen%20PGB%20Meeting%20Minutes%2029%20Aug%20%202025%20v1%208-20-25.pdf</a:t>
            </a:r>
            <a:endParaRPr lang="en-US" sz="1600" u="none" dirty="0">
              <a:solidFill>
                <a:srgbClr val="1E1C11"/>
              </a:solidFill>
              <a:highlight>
                <a:srgbClr val="FFFF00"/>
              </a:highlight>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37465">
              <a:lnSpc>
                <a:spcPts val="1425"/>
              </a:lnSpc>
            </a:pPr>
            <a:fld id="{81D60167-4931-47E6-BA6A-407CBD079E47}" type="slidenum">
              <a:rPr spc="-25" dirty="0"/>
              <a:t>7</a:t>
            </a:fld>
            <a:endParaRPr spc="-25" dirty="0"/>
          </a:p>
        </p:txBody>
      </p:sp>
    </p:spTree>
    <p:extLst>
      <p:ext uri="{BB962C8B-B14F-4D97-AF65-F5344CB8AC3E}">
        <p14:creationId xmlns:p14="http://schemas.microsoft.com/office/powerpoint/2010/main" val="3552345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340" y="59817"/>
            <a:ext cx="7714615" cy="443070"/>
          </a:xfrm>
          <a:prstGeom prst="rect">
            <a:avLst/>
          </a:prstGeom>
        </p:spPr>
        <p:txBody>
          <a:bodyPr vert="horz" wrap="square" lIns="0" tIns="12065" rIns="0" bIns="0" rtlCol="0">
            <a:spAutoFit/>
          </a:bodyPr>
          <a:lstStyle/>
          <a:p>
            <a:pPr marL="12700">
              <a:lnSpc>
                <a:spcPct val="100000"/>
              </a:lnSpc>
              <a:spcBef>
                <a:spcPts val="95"/>
              </a:spcBef>
            </a:pPr>
            <a:r>
              <a:rPr dirty="0"/>
              <a:t>PROPOSED</a:t>
            </a:r>
            <a:r>
              <a:rPr spc="-80" dirty="0"/>
              <a:t> </a:t>
            </a:r>
            <a:r>
              <a:rPr lang="en-US" spc="-80" dirty="0"/>
              <a:t>4 DEC</a:t>
            </a:r>
            <a:r>
              <a:rPr spc="-100" dirty="0"/>
              <a:t> </a:t>
            </a:r>
            <a:r>
              <a:rPr dirty="0"/>
              <a:t>2025</a:t>
            </a:r>
            <a:r>
              <a:rPr spc="-75" dirty="0"/>
              <a:t> </a:t>
            </a:r>
            <a:r>
              <a:rPr dirty="0"/>
              <a:t>PGB</a:t>
            </a:r>
            <a:r>
              <a:rPr spc="-185" dirty="0"/>
              <a:t> </a:t>
            </a:r>
            <a:r>
              <a:rPr spc="-10" dirty="0"/>
              <a:t>AGENDA</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7465">
              <a:lnSpc>
                <a:spcPts val="1425"/>
              </a:lnSpc>
            </a:pPr>
            <a:fld id="{81D60167-4931-47E6-BA6A-407CBD079E47}" type="slidenum">
              <a:rPr spc="-25" dirty="0"/>
              <a:t>8</a:t>
            </a:fld>
            <a:endParaRPr spc="-25" dirty="0"/>
          </a:p>
        </p:txBody>
      </p:sp>
      <p:sp>
        <p:nvSpPr>
          <p:cNvPr id="3" name="object 3"/>
          <p:cNvSpPr txBox="1"/>
          <p:nvPr/>
        </p:nvSpPr>
        <p:spPr>
          <a:xfrm>
            <a:off x="688340" y="661644"/>
            <a:ext cx="4969510" cy="2401811"/>
          </a:xfrm>
          <a:prstGeom prst="rect">
            <a:avLst/>
          </a:prstGeom>
        </p:spPr>
        <p:txBody>
          <a:bodyPr vert="horz" wrap="square" lIns="0" tIns="13335" rIns="0" bIns="0" rtlCol="0">
            <a:spAutoFit/>
          </a:bodyPr>
          <a:lstStyle/>
          <a:p>
            <a:pPr marL="12700">
              <a:lnSpc>
                <a:spcPct val="100000"/>
              </a:lnSpc>
              <a:spcBef>
                <a:spcPts val="105"/>
              </a:spcBef>
            </a:pPr>
            <a:r>
              <a:rPr sz="2300" b="1" dirty="0">
                <a:solidFill>
                  <a:srgbClr val="1E1C11"/>
                </a:solidFill>
                <a:latin typeface="Arial"/>
                <a:cs typeface="Arial"/>
              </a:rPr>
              <a:t>Call</a:t>
            </a:r>
            <a:r>
              <a:rPr sz="2300" b="1" spc="-30" dirty="0">
                <a:solidFill>
                  <a:srgbClr val="1E1C11"/>
                </a:solidFill>
                <a:latin typeface="Arial"/>
                <a:cs typeface="Arial"/>
              </a:rPr>
              <a:t> </a:t>
            </a:r>
            <a:r>
              <a:rPr sz="2300" b="1" dirty="0">
                <a:solidFill>
                  <a:srgbClr val="1E1C11"/>
                </a:solidFill>
                <a:latin typeface="Arial"/>
                <a:cs typeface="Arial"/>
              </a:rPr>
              <a:t>to</a:t>
            </a:r>
            <a:r>
              <a:rPr sz="2300" b="1" spc="-20" dirty="0">
                <a:solidFill>
                  <a:srgbClr val="1E1C11"/>
                </a:solidFill>
                <a:latin typeface="Arial"/>
                <a:cs typeface="Arial"/>
              </a:rPr>
              <a:t> </a:t>
            </a:r>
            <a:r>
              <a:rPr sz="2300" b="1" spc="-10" dirty="0">
                <a:solidFill>
                  <a:srgbClr val="1E1C11"/>
                </a:solidFill>
                <a:latin typeface="Arial"/>
                <a:cs typeface="Arial"/>
              </a:rPr>
              <a:t>Order</a:t>
            </a:r>
            <a:endParaRPr sz="2300" dirty="0">
              <a:latin typeface="Arial"/>
              <a:cs typeface="Arial"/>
            </a:endParaRPr>
          </a:p>
          <a:p>
            <a:pPr marL="184150" indent="-171450">
              <a:lnSpc>
                <a:spcPct val="100000"/>
              </a:lnSpc>
              <a:spcBef>
                <a:spcPts val="20"/>
              </a:spcBef>
              <a:buClr>
                <a:srgbClr val="1F487C"/>
              </a:buClr>
              <a:buFont typeface="Arial" panose="020B0604020202020204" pitchFamily="34" charset="0"/>
              <a:buChar char="•"/>
              <a:tabLst>
                <a:tab pos="354965" algn="l"/>
              </a:tabLst>
            </a:pPr>
            <a:r>
              <a:rPr sz="1600" spc="-10" dirty="0">
                <a:solidFill>
                  <a:srgbClr val="1E1C11"/>
                </a:solidFill>
                <a:latin typeface="Arial"/>
                <a:cs typeface="Arial"/>
              </a:rPr>
              <a:t>Admin</a:t>
            </a:r>
            <a:endParaRPr sz="1600" dirty="0">
              <a:latin typeface="Arial"/>
              <a:cs typeface="Arial"/>
            </a:endParaRPr>
          </a:p>
          <a:p>
            <a:pPr marL="756285" lvl="1" indent="-286385">
              <a:lnSpc>
                <a:spcPct val="100000"/>
              </a:lnSpc>
              <a:buClr>
                <a:srgbClr val="1F487C"/>
              </a:buClr>
              <a:buChar char="–"/>
              <a:tabLst>
                <a:tab pos="756285" algn="l"/>
              </a:tabLst>
            </a:pPr>
            <a:r>
              <a:rPr lang="en-US" sz="1600" dirty="0">
                <a:solidFill>
                  <a:srgbClr val="1E1C11"/>
                </a:solidFill>
                <a:latin typeface="Arial"/>
                <a:cs typeface="Arial"/>
              </a:rPr>
              <a:t>Call to Order</a:t>
            </a:r>
            <a:endParaRPr sz="1600" dirty="0">
              <a:latin typeface="Arial"/>
              <a:cs typeface="Arial"/>
            </a:endParaRPr>
          </a:p>
          <a:p>
            <a:pPr marL="756285" lvl="1" indent="-286385">
              <a:lnSpc>
                <a:spcPct val="100000"/>
              </a:lnSpc>
              <a:spcBef>
                <a:spcPts val="5"/>
              </a:spcBef>
              <a:buClr>
                <a:srgbClr val="1F487C"/>
              </a:buClr>
              <a:buChar char="–"/>
              <a:tabLst>
                <a:tab pos="756285" algn="l"/>
              </a:tabLst>
            </a:pPr>
            <a:r>
              <a:rPr sz="1600" dirty="0">
                <a:solidFill>
                  <a:srgbClr val="1E1C11"/>
                </a:solidFill>
                <a:latin typeface="Arial"/>
                <a:cs typeface="Arial"/>
              </a:rPr>
              <a:t>Roll</a:t>
            </a:r>
            <a:r>
              <a:rPr sz="1600" spc="-25" dirty="0">
                <a:solidFill>
                  <a:srgbClr val="1E1C11"/>
                </a:solidFill>
                <a:latin typeface="Arial"/>
                <a:cs typeface="Arial"/>
              </a:rPr>
              <a:t> </a:t>
            </a:r>
            <a:r>
              <a:rPr sz="1600" dirty="0">
                <a:solidFill>
                  <a:srgbClr val="1E1C11"/>
                </a:solidFill>
                <a:latin typeface="Arial"/>
                <a:cs typeface="Arial"/>
              </a:rPr>
              <a:t>Call</a:t>
            </a:r>
            <a:r>
              <a:rPr sz="1600" spc="-10" dirty="0">
                <a:solidFill>
                  <a:srgbClr val="1E1C11"/>
                </a:solidFill>
                <a:latin typeface="Arial"/>
                <a:cs typeface="Arial"/>
              </a:rPr>
              <a:t> </a:t>
            </a:r>
            <a:r>
              <a:rPr sz="1600" dirty="0">
                <a:solidFill>
                  <a:srgbClr val="1E1C11"/>
                </a:solidFill>
                <a:latin typeface="Arial"/>
                <a:cs typeface="Arial"/>
              </a:rPr>
              <a:t>&amp;</a:t>
            </a:r>
            <a:r>
              <a:rPr sz="1600" spc="-25" dirty="0">
                <a:solidFill>
                  <a:srgbClr val="1E1C11"/>
                </a:solidFill>
                <a:latin typeface="Arial"/>
                <a:cs typeface="Arial"/>
              </a:rPr>
              <a:t> </a:t>
            </a:r>
            <a:r>
              <a:rPr sz="1600" spc="-10" dirty="0">
                <a:solidFill>
                  <a:srgbClr val="1E1C11"/>
                </a:solidFill>
                <a:latin typeface="Arial"/>
                <a:cs typeface="Arial"/>
              </a:rPr>
              <a:t>Introductions</a:t>
            </a:r>
            <a:endParaRPr sz="1600" dirty="0">
              <a:latin typeface="Arial"/>
              <a:cs typeface="Arial"/>
            </a:endParaRPr>
          </a:p>
          <a:p>
            <a:pPr marL="1155700" marR="290830" lvl="2" indent="-228600">
              <a:lnSpc>
                <a:spcPct val="80000"/>
              </a:lnSpc>
              <a:spcBef>
                <a:spcPts val="310"/>
              </a:spcBef>
              <a:buClr>
                <a:srgbClr val="1F487C"/>
              </a:buClr>
              <a:buFont typeface="Wingdings"/>
              <a:buChar char=""/>
              <a:tabLst>
                <a:tab pos="1155700" algn="l"/>
              </a:tabLst>
            </a:pPr>
            <a:r>
              <a:rPr lang="en-US" sz="1600" dirty="0">
                <a:solidFill>
                  <a:srgbClr val="1E1C11"/>
                </a:solidFill>
                <a:latin typeface="Arial"/>
                <a:cs typeface="Arial"/>
              </a:rPr>
              <a:t>Sponsor Appointed </a:t>
            </a:r>
            <a:r>
              <a:rPr sz="1600" dirty="0">
                <a:solidFill>
                  <a:srgbClr val="1E1C11"/>
                </a:solidFill>
                <a:latin typeface="Arial"/>
                <a:cs typeface="Arial"/>
              </a:rPr>
              <a:t>PGB</a:t>
            </a:r>
            <a:r>
              <a:rPr sz="1600" spc="-45" dirty="0">
                <a:solidFill>
                  <a:srgbClr val="1E1C11"/>
                </a:solidFill>
                <a:latin typeface="Arial"/>
                <a:cs typeface="Arial"/>
              </a:rPr>
              <a:t> </a:t>
            </a:r>
            <a:r>
              <a:rPr sz="1600" spc="-10" dirty="0">
                <a:solidFill>
                  <a:srgbClr val="1E1C11"/>
                </a:solidFill>
                <a:latin typeface="Arial"/>
                <a:cs typeface="Arial"/>
              </a:rPr>
              <a:t>Voting</a:t>
            </a:r>
            <a:r>
              <a:rPr sz="1600" spc="-30" dirty="0">
                <a:solidFill>
                  <a:srgbClr val="1E1C11"/>
                </a:solidFill>
                <a:latin typeface="Arial"/>
                <a:cs typeface="Arial"/>
              </a:rPr>
              <a:t> </a:t>
            </a:r>
            <a:r>
              <a:rPr sz="1600" dirty="0">
                <a:solidFill>
                  <a:srgbClr val="1E1C11"/>
                </a:solidFill>
                <a:latin typeface="Arial"/>
                <a:cs typeface="Arial"/>
              </a:rPr>
              <a:t>Members</a:t>
            </a:r>
            <a:r>
              <a:rPr sz="1600" spc="-5" dirty="0">
                <a:solidFill>
                  <a:srgbClr val="1E1C11"/>
                </a:solidFill>
                <a:latin typeface="Arial"/>
                <a:cs typeface="Arial"/>
              </a:rPr>
              <a:t> </a:t>
            </a:r>
            <a:r>
              <a:rPr sz="1600" dirty="0">
                <a:solidFill>
                  <a:srgbClr val="1E1C11"/>
                </a:solidFill>
                <a:latin typeface="Arial"/>
                <a:cs typeface="Arial"/>
              </a:rPr>
              <a:t>(Sponsors)</a:t>
            </a:r>
            <a:endParaRPr lang="en-US" sz="1600" spc="-5" dirty="0">
              <a:solidFill>
                <a:srgbClr val="1E1C11"/>
              </a:solidFill>
              <a:latin typeface="Arial"/>
              <a:cs typeface="Arial"/>
            </a:endParaRPr>
          </a:p>
          <a:p>
            <a:pPr marL="1155700" marR="290830" lvl="2" indent="-228600">
              <a:lnSpc>
                <a:spcPct val="80000"/>
              </a:lnSpc>
              <a:spcBef>
                <a:spcPts val="310"/>
              </a:spcBef>
              <a:buClr>
                <a:srgbClr val="1F487C"/>
              </a:buClr>
              <a:buFont typeface="Wingdings"/>
              <a:buChar char=""/>
              <a:tabLst>
                <a:tab pos="1155700" algn="l"/>
              </a:tabLst>
            </a:pPr>
            <a:r>
              <a:rPr sz="1600" dirty="0">
                <a:solidFill>
                  <a:srgbClr val="1E1C11"/>
                </a:solidFill>
                <a:latin typeface="Arial"/>
                <a:cs typeface="Arial"/>
              </a:rPr>
              <a:t>PGB</a:t>
            </a:r>
            <a:r>
              <a:rPr sz="1600" spc="-45" dirty="0">
                <a:solidFill>
                  <a:srgbClr val="1E1C11"/>
                </a:solidFill>
                <a:latin typeface="Arial"/>
                <a:cs typeface="Arial"/>
              </a:rPr>
              <a:t> </a:t>
            </a:r>
            <a:r>
              <a:rPr sz="1600" spc="-10" dirty="0">
                <a:solidFill>
                  <a:srgbClr val="1E1C11"/>
                </a:solidFill>
                <a:latin typeface="Arial"/>
                <a:cs typeface="Arial"/>
              </a:rPr>
              <a:t>Expert Voting</a:t>
            </a:r>
            <a:r>
              <a:rPr sz="1600" spc="-30" dirty="0">
                <a:solidFill>
                  <a:srgbClr val="1E1C11"/>
                </a:solidFill>
                <a:latin typeface="Arial"/>
                <a:cs typeface="Arial"/>
              </a:rPr>
              <a:t> </a:t>
            </a:r>
            <a:r>
              <a:rPr sz="1600" dirty="0">
                <a:solidFill>
                  <a:srgbClr val="1E1C11"/>
                </a:solidFill>
                <a:latin typeface="Arial"/>
                <a:cs typeface="Arial"/>
              </a:rPr>
              <a:t>Members (TSCs)</a:t>
            </a:r>
            <a:r>
              <a:rPr lang="en-US" sz="1600" dirty="0">
                <a:solidFill>
                  <a:srgbClr val="1E1C11"/>
                </a:solidFill>
                <a:latin typeface="Arial"/>
                <a:cs typeface="Arial"/>
              </a:rPr>
              <a:t> &amp;</a:t>
            </a:r>
            <a:r>
              <a:rPr lang="en-US" sz="1600" spc="-35" dirty="0">
                <a:solidFill>
                  <a:srgbClr val="1E1C11"/>
                </a:solidFill>
                <a:latin typeface="Arial"/>
                <a:cs typeface="Arial"/>
              </a:rPr>
              <a:t> </a:t>
            </a:r>
            <a:r>
              <a:rPr sz="1600" spc="-10" dirty="0">
                <a:solidFill>
                  <a:srgbClr val="1E1C11"/>
                </a:solidFill>
                <a:latin typeface="Arial"/>
                <a:cs typeface="Arial"/>
              </a:rPr>
              <a:t>Non-Voting </a:t>
            </a:r>
            <a:r>
              <a:rPr sz="1600" dirty="0">
                <a:solidFill>
                  <a:srgbClr val="1E1C11"/>
                </a:solidFill>
                <a:latin typeface="Arial"/>
                <a:cs typeface="Arial"/>
              </a:rPr>
              <a:t>Members</a:t>
            </a:r>
            <a:r>
              <a:rPr sz="1600" spc="10" dirty="0">
                <a:solidFill>
                  <a:srgbClr val="1E1C11"/>
                </a:solidFill>
                <a:latin typeface="Arial"/>
                <a:cs typeface="Arial"/>
              </a:rPr>
              <a:t> </a:t>
            </a:r>
            <a:r>
              <a:rPr sz="1600" dirty="0">
                <a:solidFill>
                  <a:srgbClr val="1E1C11"/>
                </a:solidFill>
                <a:latin typeface="Arial"/>
                <a:cs typeface="Arial"/>
              </a:rPr>
              <a:t>(TSC</a:t>
            </a:r>
            <a:r>
              <a:rPr sz="1600" spc="-20" dirty="0">
                <a:solidFill>
                  <a:srgbClr val="1E1C11"/>
                </a:solidFill>
                <a:latin typeface="Arial"/>
                <a:cs typeface="Arial"/>
              </a:rPr>
              <a:t> Co-</a:t>
            </a:r>
            <a:r>
              <a:rPr sz="1600" spc="-10" dirty="0">
                <a:solidFill>
                  <a:srgbClr val="1E1C11"/>
                </a:solidFill>
                <a:latin typeface="Arial"/>
                <a:cs typeface="Arial"/>
              </a:rPr>
              <a:t>Chairs)</a:t>
            </a:r>
            <a:endParaRPr sz="1600" dirty="0">
              <a:latin typeface="Arial"/>
              <a:cs typeface="Arial"/>
            </a:endParaRP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Approval of Meeting Agenda</a:t>
            </a:r>
          </a:p>
          <a:p>
            <a:pPr marL="12700">
              <a:lnSpc>
                <a:spcPct val="100000"/>
              </a:lnSpc>
              <a:buClr>
                <a:srgbClr val="1F487C"/>
              </a:buClr>
              <a:tabLst>
                <a:tab pos="354965" algn="l"/>
              </a:tabLst>
            </a:pPr>
            <a:endParaRPr sz="1200" dirty="0">
              <a:latin typeface="Arial"/>
              <a:cs typeface="Arial"/>
            </a:endParaRPr>
          </a:p>
        </p:txBody>
      </p:sp>
      <p:sp>
        <p:nvSpPr>
          <p:cNvPr id="5" name="object 5"/>
          <p:cNvSpPr txBox="1"/>
          <p:nvPr/>
        </p:nvSpPr>
        <p:spPr>
          <a:xfrm>
            <a:off x="6227022" y="3981084"/>
            <a:ext cx="5751450" cy="1644681"/>
          </a:xfrm>
          <a:prstGeom prst="rect">
            <a:avLst/>
          </a:prstGeom>
        </p:spPr>
        <p:txBody>
          <a:bodyPr vert="horz" wrap="square" lIns="0" tIns="43815" rIns="0" bIns="0" rtlCol="0">
            <a:spAutoFit/>
          </a:bodyPr>
          <a:lstStyle/>
          <a:p>
            <a:pPr marL="12700">
              <a:lnSpc>
                <a:spcPct val="100000"/>
              </a:lnSpc>
              <a:spcBef>
                <a:spcPts val="270"/>
              </a:spcBef>
            </a:pPr>
            <a:r>
              <a:rPr lang="en-US" sz="2400" b="1" spc="-10" dirty="0">
                <a:solidFill>
                  <a:srgbClr val="1E1C11"/>
                </a:solidFill>
                <a:latin typeface="Arial"/>
                <a:cs typeface="Arial"/>
              </a:rPr>
              <a:t>Other Business</a:t>
            </a:r>
            <a:endParaRPr sz="2400" dirty="0">
              <a:latin typeface="Arial"/>
              <a:cs typeface="Arial"/>
            </a:endParaRPr>
          </a:p>
          <a:p>
            <a:pPr marL="413384" indent="-342900">
              <a:lnSpc>
                <a:spcPct val="100000"/>
              </a:lnSpc>
              <a:buClr>
                <a:srgbClr val="1F487C"/>
              </a:buClr>
              <a:buChar char="•"/>
              <a:tabLst>
                <a:tab pos="413384" algn="l"/>
              </a:tabLst>
            </a:pPr>
            <a:r>
              <a:rPr lang="en-US" sz="1600" spc="-30" dirty="0">
                <a:solidFill>
                  <a:srgbClr val="1E1C11"/>
                </a:solidFill>
                <a:latin typeface="Arial"/>
                <a:cs typeface="Arial"/>
              </a:rPr>
              <a:t>Next</a:t>
            </a:r>
            <a:r>
              <a:rPr sz="1600" spc="-30" dirty="0">
                <a:solidFill>
                  <a:srgbClr val="1E1C11"/>
                </a:solidFill>
                <a:latin typeface="Arial"/>
                <a:cs typeface="Arial"/>
              </a:rPr>
              <a:t> </a:t>
            </a:r>
            <a:r>
              <a:rPr sz="1600" dirty="0">
                <a:solidFill>
                  <a:srgbClr val="1E1C11"/>
                </a:solidFill>
                <a:latin typeface="Arial"/>
                <a:cs typeface="Arial"/>
              </a:rPr>
              <a:t>Meeting</a:t>
            </a:r>
            <a:r>
              <a:rPr sz="1600" spc="-10" dirty="0">
                <a:solidFill>
                  <a:srgbClr val="1E1C11"/>
                </a:solidFill>
                <a:latin typeface="Arial"/>
                <a:cs typeface="Arial"/>
              </a:rPr>
              <a:t> Schedule</a:t>
            </a:r>
            <a:endParaRPr sz="1600" dirty="0">
              <a:latin typeface="Arial"/>
              <a:cs typeface="Arial"/>
            </a:endParaRPr>
          </a:p>
          <a:p>
            <a:pPr marL="413384" indent="-342900">
              <a:lnSpc>
                <a:spcPct val="100000"/>
              </a:lnSpc>
              <a:buClr>
                <a:srgbClr val="1F487C"/>
              </a:buClr>
              <a:buChar char="•"/>
              <a:tabLst>
                <a:tab pos="413384" algn="l"/>
              </a:tabLst>
            </a:pPr>
            <a:r>
              <a:rPr sz="1600" dirty="0">
                <a:solidFill>
                  <a:srgbClr val="1E1C11"/>
                </a:solidFill>
                <a:latin typeface="Arial"/>
                <a:cs typeface="Arial"/>
              </a:rPr>
              <a:t>Other</a:t>
            </a:r>
            <a:r>
              <a:rPr sz="1600" spc="-25" dirty="0">
                <a:solidFill>
                  <a:srgbClr val="1E1C11"/>
                </a:solidFill>
                <a:latin typeface="Arial"/>
                <a:cs typeface="Arial"/>
              </a:rPr>
              <a:t> </a:t>
            </a:r>
            <a:r>
              <a:rPr sz="1600" spc="-10" dirty="0">
                <a:solidFill>
                  <a:srgbClr val="1E1C11"/>
                </a:solidFill>
                <a:latin typeface="Arial"/>
                <a:cs typeface="Arial"/>
              </a:rPr>
              <a:t>Business/Discussion</a:t>
            </a:r>
            <a:endParaRPr lang="en-US" sz="1600" spc="-10" dirty="0">
              <a:solidFill>
                <a:srgbClr val="1E1C11"/>
              </a:solidFill>
              <a:latin typeface="Arial"/>
              <a:cs typeface="Arial"/>
            </a:endParaRPr>
          </a:p>
          <a:p>
            <a:pPr marL="413384" indent="-342900">
              <a:buClr>
                <a:srgbClr val="1F487C"/>
              </a:buClr>
              <a:buFontTx/>
              <a:buChar char="•"/>
              <a:tabLst>
                <a:tab pos="413384" algn="l"/>
              </a:tabLst>
            </a:pPr>
            <a:r>
              <a:rPr lang="en-US" sz="1600" spc="-10" dirty="0">
                <a:solidFill>
                  <a:srgbClr val="1E1C11"/>
                </a:solidFill>
                <a:latin typeface="Arial"/>
                <a:cs typeface="Arial"/>
              </a:rPr>
              <a:t>Around-the-Horn – PGB Voting Member Comments/Questions</a:t>
            </a:r>
          </a:p>
          <a:p>
            <a:pPr marL="413384" indent="-342900">
              <a:buClr>
                <a:srgbClr val="1F487C"/>
              </a:buClr>
              <a:buFontTx/>
              <a:buChar char="•"/>
              <a:tabLst>
                <a:tab pos="413384" algn="l"/>
              </a:tabLst>
            </a:pPr>
            <a:r>
              <a:rPr sz="1600" spc="-10" dirty="0">
                <a:solidFill>
                  <a:srgbClr val="1E1C11"/>
                </a:solidFill>
                <a:latin typeface="Arial"/>
                <a:cs typeface="Arial"/>
              </a:rPr>
              <a:t>Questions/Adjourn</a:t>
            </a:r>
            <a:endParaRPr sz="1600" dirty="0">
              <a:latin typeface="Arial"/>
              <a:cs typeface="Arial"/>
            </a:endParaRPr>
          </a:p>
        </p:txBody>
      </p:sp>
      <p:sp>
        <p:nvSpPr>
          <p:cNvPr id="8" name="object 4">
            <a:extLst>
              <a:ext uri="{FF2B5EF4-FFF2-40B4-BE49-F238E27FC236}">
                <a16:creationId xmlns:a16="http://schemas.microsoft.com/office/drawing/2014/main" id="{8009D8AF-AB2D-2E3A-9FAA-51121A7AC166}"/>
              </a:ext>
            </a:extLst>
          </p:cNvPr>
          <p:cNvSpPr txBox="1"/>
          <p:nvPr/>
        </p:nvSpPr>
        <p:spPr>
          <a:xfrm>
            <a:off x="6288150" y="2379934"/>
            <a:ext cx="4502593" cy="1367041"/>
          </a:xfrm>
          <a:prstGeom prst="rect">
            <a:avLst/>
          </a:prstGeom>
        </p:spPr>
        <p:txBody>
          <a:bodyPr vert="horz" wrap="square" lIns="0" tIns="12700" rIns="0" bIns="0" rtlCol="0">
            <a:spAutoFit/>
          </a:bodyPr>
          <a:lstStyle/>
          <a:p>
            <a:pPr marL="12065" marR="49530">
              <a:buClr>
                <a:srgbClr val="1F487C"/>
              </a:buClr>
              <a:tabLst>
                <a:tab pos="527685" algn="l"/>
              </a:tabLst>
            </a:pPr>
            <a:r>
              <a:rPr lang="en-US" sz="2400" b="1" i="1" spc="-10" dirty="0">
                <a:solidFill>
                  <a:srgbClr val="1E1C11"/>
                </a:solidFill>
                <a:latin typeface="Arial"/>
                <a:cs typeface="Arial"/>
              </a:rPr>
              <a:t>Motions</a:t>
            </a:r>
            <a:endParaRPr lang="en-US" sz="1200" i="1" dirty="0">
              <a:solidFill>
                <a:srgbClr val="334052"/>
              </a:solidFill>
              <a:latin typeface="Arial"/>
              <a:cs typeface="Arial"/>
            </a:endParaRPr>
          </a:p>
          <a:p>
            <a:pPr marL="240665" marR="49530" indent="-228600">
              <a:buClr>
                <a:srgbClr val="1F487C"/>
              </a:buClr>
              <a:buFont typeface="+mj-lt"/>
              <a:buAutoNum type="arabicPeriod"/>
              <a:tabLst>
                <a:tab pos="527685" algn="l"/>
              </a:tabLst>
            </a:pPr>
            <a:r>
              <a:rPr lang="en-US" sz="1600" spc="-5" dirty="0">
                <a:solidFill>
                  <a:srgbClr val="334052"/>
                </a:solidFill>
                <a:latin typeface="Arial"/>
                <a:cs typeface="Arial"/>
              </a:rPr>
              <a:t>Project Management Designation</a:t>
            </a:r>
          </a:p>
          <a:p>
            <a:pPr marL="240665" marR="49530" indent="-228600">
              <a:buClr>
                <a:srgbClr val="1F487C"/>
              </a:buClr>
              <a:buFont typeface="+mj-lt"/>
              <a:buAutoNum type="arabicPeriod"/>
              <a:tabLst>
                <a:tab pos="527685" algn="l"/>
              </a:tabLst>
            </a:pPr>
            <a:r>
              <a:rPr lang="en-US" sz="1600" spc="-5" dirty="0">
                <a:solidFill>
                  <a:srgbClr val="334052"/>
                </a:solidFill>
                <a:latin typeface="Arial"/>
                <a:cs typeface="Arial"/>
              </a:rPr>
              <a:t>New Domain Policy</a:t>
            </a:r>
          </a:p>
          <a:p>
            <a:pPr marL="240665" marR="49530" indent="-228600">
              <a:buClr>
                <a:srgbClr val="1F487C"/>
              </a:buClr>
              <a:buFont typeface="+mj-lt"/>
              <a:buAutoNum type="arabicPeriod"/>
              <a:tabLst>
                <a:tab pos="527685" algn="l"/>
              </a:tabLst>
            </a:pPr>
            <a:r>
              <a:rPr lang="en-US" sz="1600" spc="-5" dirty="0">
                <a:solidFill>
                  <a:srgbClr val="334052"/>
                </a:solidFill>
                <a:latin typeface="Arial"/>
                <a:cs typeface="Arial"/>
              </a:rPr>
              <a:t>Executive Committee creation</a:t>
            </a:r>
          </a:p>
          <a:p>
            <a:pPr marL="240665" marR="49530" indent="-228600">
              <a:buClr>
                <a:srgbClr val="1F487C"/>
              </a:buClr>
              <a:buFont typeface="+mj-lt"/>
              <a:buAutoNum type="arabicPeriod"/>
              <a:tabLst>
                <a:tab pos="527685" algn="l"/>
              </a:tabLst>
            </a:pPr>
            <a:r>
              <a:rPr lang="en-US" sz="1600" spc="-5" dirty="0">
                <a:solidFill>
                  <a:srgbClr val="334052"/>
                </a:solidFill>
                <a:latin typeface="Arial"/>
                <a:cs typeface="Arial"/>
              </a:rPr>
              <a:t>Approval of Petty Cash Discretionary Fund</a:t>
            </a:r>
          </a:p>
        </p:txBody>
      </p:sp>
      <p:sp>
        <p:nvSpPr>
          <p:cNvPr id="7" name="TextBox 6">
            <a:extLst>
              <a:ext uri="{FF2B5EF4-FFF2-40B4-BE49-F238E27FC236}">
                <a16:creationId xmlns:a16="http://schemas.microsoft.com/office/drawing/2014/main" id="{F796EB49-15F4-AA2E-86A6-AD2C3F462AB4}"/>
              </a:ext>
            </a:extLst>
          </p:cNvPr>
          <p:cNvSpPr txBox="1"/>
          <p:nvPr/>
        </p:nvSpPr>
        <p:spPr>
          <a:xfrm>
            <a:off x="688340" y="3209719"/>
            <a:ext cx="5328703" cy="2267287"/>
          </a:xfrm>
          <a:prstGeom prst="rect">
            <a:avLst/>
          </a:prstGeom>
          <a:noFill/>
        </p:spPr>
        <p:txBody>
          <a:bodyPr wrap="none" rtlCol="0">
            <a:spAutoFit/>
          </a:bodyPr>
          <a:lstStyle/>
          <a:p>
            <a:pPr marL="12700">
              <a:spcBef>
                <a:spcPts val="20"/>
              </a:spcBef>
              <a:buClr>
                <a:srgbClr val="1F487C"/>
              </a:buClr>
              <a:tabLst>
                <a:tab pos="354965" algn="l"/>
              </a:tabLst>
            </a:pPr>
            <a:r>
              <a:rPr lang="en-US" sz="2400" b="1" spc="-10" dirty="0">
                <a:solidFill>
                  <a:srgbClr val="1E1C11"/>
                </a:solidFill>
                <a:latin typeface="Arial"/>
                <a:cs typeface="Arial"/>
              </a:rPr>
              <a:t>Reports</a:t>
            </a:r>
            <a:endParaRPr lang="en-US" sz="2400" spc="-10" dirty="0">
              <a:solidFill>
                <a:srgbClr val="1E1C11"/>
              </a:solidFill>
              <a:latin typeface="Arial"/>
              <a:cs typeface="Arial"/>
            </a:endParaRPr>
          </a:p>
          <a:p>
            <a:pPr marL="413384" indent="-342900">
              <a:lnSpc>
                <a:spcPct val="100000"/>
              </a:lnSpc>
              <a:spcBef>
                <a:spcPts val="235"/>
              </a:spcBef>
              <a:buClr>
                <a:srgbClr val="1F487C"/>
              </a:buClr>
              <a:buChar char="•"/>
              <a:tabLst>
                <a:tab pos="413384" algn="l"/>
              </a:tabLst>
            </a:pPr>
            <a:r>
              <a:rPr lang="en-US" sz="1600" spc="-20" dirty="0">
                <a:solidFill>
                  <a:srgbClr val="1E1C11"/>
                </a:solidFill>
                <a:latin typeface="Arial"/>
                <a:cs typeface="Arial"/>
              </a:rPr>
              <a:t>NIEMOpen Progress</a:t>
            </a: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        8 Oct  NPC Meeting Update</a:t>
            </a: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      13 Nov Reveal Summit Webinar Update</a:t>
            </a: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    </a:t>
            </a:r>
            <a:r>
              <a:rPr lang="en-US" sz="1600" spc="-20" dirty="0">
                <a:solidFill>
                  <a:srgbClr val="1E1C11"/>
                </a:solidFill>
                <a:latin typeface="Arial"/>
                <a:cs typeface="Arial"/>
              </a:rPr>
              <a:t>NBAC</a:t>
            </a:r>
            <a:r>
              <a:rPr lang="en-US" sz="1600" spc="-65" dirty="0">
                <a:solidFill>
                  <a:srgbClr val="1E1C11"/>
                </a:solidFill>
                <a:latin typeface="Arial"/>
                <a:cs typeface="Arial"/>
              </a:rPr>
              <a:t> </a:t>
            </a:r>
            <a:r>
              <a:rPr lang="en-US" sz="1600" dirty="0">
                <a:solidFill>
                  <a:srgbClr val="1E1C11"/>
                </a:solidFill>
                <a:latin typeface="Arial"/>
                <a:cs typeface="Arial"/>
              </a:rPr>
              <a:t>Update</a:t>
            </a:r>
            <a:r>
              <a:rPr lang="en-US" sz="1600" spc="-35" dirty="0">
                <a:solidFill>
                  <a:srgbClr val="1E1C11"/>
                </a:solidFill>
                <a:latin typeface="Arial"/>
                <a:cs typeface="Arial"/>
              </a:rPr>
              <a:t> </a:t>
            </a:r>
            <a:r>
              <a:rPr lang="en-US" sz="1600" dirty="0">
                <a:solidFill>
                  <a:srgbClr val="1E1C11"/>
                </a:solidFill>
                <a:latin typeface="Arial"/>
                <a:cs typeface="Arial"/>
              </a:rPr>
              <a:t>–Jim Cabral </a:t>
            </a:r>
            <a:r>
              <a:rPr lang="en-US" sz="1600" spc="-50" dirty="0">
                <a:solidFill>
                  <a:srgbClr val="1E1C11"/>
                </a:solidFill>
                <a:latin typeface="Arial"/>
                <a:cs typeface="Arial"/>
              </a:rPr>
              <a:t>&amp; </a:t>
            </a:r>
            <a:r>
              <a:rPr lang="en-US" sz="1600" dirty="0">
                <a:solidFill>
                  <a:srgbClr val="1E1C11"/>
                </a:solidFill>
                <a:latin typeface="Arial"/>
                <a:cs typeface="Arial"/>
              </a:rPr>
              <a:t>Dr.</a:t>
            </a:r>
            <a:r>
              <a:rPr lang="en-US" sz="1600" spc="-50" dirty="0">
                <a:solidFill>
                  <a:srgbClr val="1E1C11"/>
                </a:solidFill>
                <a:latin typeface="Arial"/>
                <a:cs typeface="Arial"/>
              </a:rPr>
              <a:t> </a:t>
            </a:r>
            <a:r>
              <a:rPr lang="en-US" sz="1600" dirty="0">
                <a:solidFill>
                  <a:srgbClr val="1E1C11"/>
                </a:solidFill>
                <a:latin typeface="Arial"/>
                <a:cs typeface="Arial"/>
              </a:rPr>
              <a:t>Scott</a:t>
            </a:r>
            <a:r>
              <a:rPr lang="en-US" sz="1600" spc="-50" dirty="0">
                <a:solidFill>
                  <a:srgbClr val="1E1C11"/>
                </a:solidFill>
                <a:latin typeface="Arial"/>
                <a:cs typeface="Arial"/>
              </a:rPr>
              <a:t> </a:t>
            </a:r>
            <a:r>
              <a:rPr lang="en-US" sz="1600" spc="-10" dirty="0">
                <a:solidFill>
                  <a:srgbClr val="1E1C11"/>
                </a:solidFill>
                <a:latin typeface="Arial"/>
                <a:cs typeface="Arial"/>
              </a:rPr>
              <a:t>Renner</a:t>
            </a:r>
            <a:endParaRPr lang="en-US" sz="1600" spc="-10" dirty="0">
              <a:latin typeface="Arial"/>
              <a:cs typeface="Arial"/>
            </a:endParaRPr>
          </a:p>
          <a:p>
            <a:pPr marL="184150" indent="-171450">
              <a:spcBef>
                <a:spcPts val="20"/>
              </a:spcBef>
              <a:buClr>
                <a:srgbClr val="1F487C"/>
              </a:buClr>
              <a:buFont typeface="Arial" panose="020B0604020202020204" pitchFamily="34" charset="0"/>
              <a:buChar char="•"/>
              <a:tabLst>
                <a:tab pos="354965" algn="l"/>
              </a:tabLst>
            </a:pPr>
            <a:r>
              <a:rPr lang="en-US" sz="1600" spc="-10" dirty="0">
                <a:solidFill>
                  <a:srgbClr val="1E1C11"/>
                </a:solidFill>
                <a:latin typeface="Arial"/>
                <a:cs typeface="Arial"/>
              </a:rPr>
              <a:t>    </a:t>
            </a:r>
            <a:r>
              <a:rPr lang="en-US" sz="1600" dirty="0">
                <a:solidFill>
                  <a:srgbClr val="1E1C11"/>
                </a:solidFill>
                <a:latin typeface="Arial"/>
                <a:cs typeface="Arial"/>
              </a:rPr>
              <a:t>NTAC</a:t>
            </a:r>
            <a:r>
              <a:rPr lang="en-US" sz="1600" spc="-25" dirty="0">
                <a:solidFill>
                  <a:srgbClr val="1E1C11"/>
                </a:solidFill>
                <a:latin typeface="Arial"/>
                <a:cs typeface="Arial"/>
              </a:rPr>
              <a:t> </a:t>
            </a:r>
            <a:r>
              <a:rPr lang="en-US" sz="1600" dirty="0">
                <a:solidFill>
                  <a:srgbClr val="1E1C11"/>
                </a:solidFill>
                <a:latin typeface="Arial"/>
                <a:cs typeface="Arial"/>
              </a:rPr>
              <a:t>Update –</a:t>
            </a:r>
            <a:r>
              <a:rPr lang="en-US" sz="1600" spc="-40" dirty="0">
                <a:solidFill>
                  <a:srgbClr val="1E1C11"/>
                </a:solidFill>
                <a:latin typeface="Arial"/>
                <a:cs typeface="Arial"/>
              </a:rPr>
              <a:t> </a:t>
            </a:r>
            <a:r>
              <a:rPr lang="en-US" sz="1600" dirty="0">
                <a:solidFill>
                  <a:srgbClr val="1E1C11"/>
                </a:solidFill>
                <a:latin typeface="Arial"/>
                <a:cs typeface="Arial"/>
              </a:rPr>
              <a:t>Thomas</a:t>
            </a:r>
            <a:r>
              <a:rPr lang="en-US" sz="1600" spc="-30" dirty="0">
                <a:solidFill>
                  <a:srgbClr val="1E1C11"/>
                </a:solidFill>
                <a:latin typeface="Arial"/>
                <a:cs typeface="Arial"/>
              </a:rPr>
              <a:t> </a:t>
            </a:r>
            <a:r>
              <a:rPr lang="en-US" sz="1600" spc="-20" dirty="0">
                <a:solidFill>
                  <a:srgbClr val="1E1C11"/>
                </a:solidFill>
                <a:latin typeface="Arial"/>
                <a:cs typeface="Arial"/>
              </a:rPr>
              <a:t>Krul</a:t>
            </a:r>
          </a:p>
          <a:p>
            <a:pPr marL="413384" indent="-342900">
              <a:lnSpc>
                <a:spcPct val="100000"/>
              </a:lnSpc>
              <a:spcBef>
                <a:spcPts val="215"/>
              </a:spcBef>
              <a:buClr>
                <a:srgbClr val="1F487C"/>
              </a:buClr>
              <a:buChar char="•"/>
              <a:tabLst>
                <a:tab pos="413384" algn="l"/>
              </a:tabLst>
            </a:pPr>
            <a:r>
              <a:rPr lang="en-US" sz="1600" spc="-10" dirty="0">
                <a:solidFill>
                  <a:srgbClr val="1E1C11"/>
                </a:solidFill>
                <a:latin typeface="Arial"/>
                <a:cs typeface="Arial"/>
              </a:rPr>
              <a:t>Q3 2025 Financial Snapshot – Cathie Mayo (OASIS)</a:t>
            </a:r>
          </a:p>
          <a:p>
            <a:endParaRPr lang="en-US" dirty="0"/>
          </a:p>
        </p:txBody>
      </p:sp>
      <p:sp>
        <p:nvSpPr>
          <p:cNvPr id="4" name="object 5">
            <a:extLst>
              <a:ext uri="{FF2B5EF4-FFF2-40B4-BE49-F238E27FC236}">
                <a16:creationId xmlns:a16="http://schemas.microsoft.com/office/drawing/2014/main" id="{CF68D552-BE00-02BC-2339-0B15BF9BB9C0}"/>
              </a:ext>
            </a:extLst>
          </p:cNvPr>
          <p:cNvSpPr txBox="1"/>
          <p:nvPr/>
        </p:nvSpPr>
        <p:spPr>
          <a:xfrm>
            <a:off x="6227022" y="1016290"/>
            <a:ext cx="5751450" cy="1203535"/>
          </a:xfrm>
          <a:prstGeom prst="rect">
            <a:avLst/>
          </a:prstGeom>
        </p:spPr>
        <p:txBody>
          <a:bodyPr vert="horz" wrap="square" lIns="0" tIns="43815" rIns="0" bIns="0" rtlCol="0">
            <a:spAutoFit/>
          </a:bodyPr>
          <a:lstStyle/>
          <a:p>
            <a:pPr marL="12700">
              <a:lnSpc>
                <a:spcPct val="100000"/>
              </a:lnSpc>
              <a:spcBef>
                <a:spcPts val="270"/>
              </a:spcBef>
            </a:pPr>
            <a:r>
              <a:rPr lang="en-US" sz="2400" b="1" spc="-10" dirty="0">
                <a:solidFill>
                  <a:srgbClr val="1E1C11"/>
                </a:solidFill>
                <a:latin typeface="Arial"/>
                <a:cs typeface="Arial"/>
              </a:rPr>
              <a:t>Planning For Collaboration</a:t>
            </a:r>
            <a:endParaRPr sz="2400" dirty="0">
              <a:latin typeface="Arial"/>
              <a:cs typeface="Arial"/>
            </a:endParaRPr>
          </a:p>
          <a:p>
            <a:pPr marL="413384" indent="-342900">
              <a:lnSpc>
                <a:spcPct val="100000"/>
              </a:lnSpc>
              <a:spcBef>
                <a:spcPts val="235"/>
              </a:spcBef>
              <a:buClr>
                <a:srgbClr val="1F487C"/>
              </a:buClr>
              <a:buChar char="•"/>
              <a:tabLst>
                <a:tab pos="413384" algn="l"/>
              </a:tabLst>
            </a:pPr>
            <a:r>
              <a:rPr lang="en-US" sz="1600" spc="-20" dirty="0">
                <a:solidFill>
                  <a:srgbClr val="1E1C11"/>
                </a:solidFill>
                <a:latin typeface="Arial"/>
                <a:cs typeface="Arial"/>
              </a:rPr>
              <a:t>Strategic Planning Committee Report</a:t>
            </a:r>
            <a:endParaRPr sz="1600" dirty="0">
              <a:latin typeface="Arial"/>
              <a:cs typeface="Arial"/>
            </a:endParaRPr>
          </a:p>
          <a:p>
            <a:pPr marL="413384" indent="-342900">
              <a:lnSpc>
                <a:spcPct val="100000"/>
              </a:lnSpc>
              <a:spcBef>
                <a:spcPts val="215"/>
              </a:spcBef>
              <a:buClr>
                <a:srgbClr val="1F487C"/>
              </a:buClr>
              <a:buChar char="•"/>
              <a:tabLst>
                <a:tab pos="413384" algn="l"/>
              </a:tabLst>
            </a:pPr>
            <a:r>
              <a:rPr lang="en-US" sz="1600" dirty="0">
                <a:solidFill>
                  <a:srgbClr val="1E1C11"/>
                </a:solidFill>
                <a:latin typeface="Arial"/>
                <a:cs typeface="Arial"/>
              </a:rPr>
              <a:t>Group Discussion</a:t>
            </a:r>
            <a:endParaRPr lang="en-US" sz="1600" spc="-20" dirty="0">
              <a:solidFill>
                <a:srgbClr val="1E1C11"/>
              </a:solidFill>
              <a:latin typeface="Arial"/>
              <a:cs typeface="Arial"/>
            </a:endParaRPr>
          </a:p>
          <a:p>
            <a:pPr marL="413384" indent="-342900">
              <a:lnSpc>
                <a:spcPct val="100000"/>
              </a:lnSpc>
              <a:buClr>
                <a:srgbClr val="1F487C"/>
              </a:buClr>
              <a:buChar char="•"/>
              <a:tabLst>
                <a:tab pos="413384" algn="l"/>
              </a:tabLst>
            </a:pPr>
            <a:r>
              <a:rPr lang="en-US" sz="1600" spc="-30" dirty="0">
                <a:solidFill>
                  <a:srgbClr val="1E1C11"/>
                </a:solidFill>
                <a:latin typeface="Arial"/>
                <a:cs typeface="Arial"/>
              </a:rPr>
              <a:t>Action Planning</a:t>
            </a:r>
            <a:endParaRPr sz="1600" dirty="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11984" y="352593"/>
            <a:ext cx="10972800" cy="712451"/>
          </a:xfrm>
          <a:prstGeom prst="rect">
            <a:avLst/>
          </a:prstGeom>
        </p:spPr>
        <p:txBody>
          <a:bodyPr vert="horz" wrap="square" lIns="0" tIns="278841" rIns="0" bIns="0" rtlCol="0">
            <a:spAutoFit/>
          </a:bodyPr>
          <a:lstStyle/>
          <a:p>
            <a:pPr marL="297815" algn="l">
              <a:lnSpc>
                <a:spcPct val="100000"/>
              </a:lnSpc>
              <a:spcBef>
                <a:spcPts val="95"/>
              </a:spcBef>
            </a:pPr>
            <a:r>
              <a:rPr lang="en-US" spc="-10" dirty="0"/>
              <a:t>PROGRESS REPORT: Q4</a:t>
            </a:r>
            <a:endParaRPr spc="-10" dirty="0"/>
          </a:p>
        </p:txBody>
      </p:sp>
      <p:sp>
        <p:nvSpPr>
          <p:cNvPr id="7" name="Content Placeholder 6">
            <a:extLst>
              <a:ext uri="{FF2B5EF4-FFF2-40B4-BE49-F238E27FC236}">
                <a16:creationId xmlns:a16="http://schemas.microsoft.com/office/drawing/2014/main" id="{3E6C977F-E4BB-D5EE-2F18-735ABD7AA9D6}"/>
              </a:ext>
            </a:extLst>
          </p:cNvPr>
          <p:cNvSpPr>
            <a:spLocks noGrp="1"/>
          </p:cNvSpPr>
          <p:nvPr>
            <p:ph idx="1"/>
          </p:nvPr>
        </p:nvSpPr>
        <p:spPr/>
        <p:txBody>
          <a:bodyPr/>
          <a:lstStyle/>
          <a:p>
            <a:pPr marL="354965" indent="-342265">
              <a:lnSpc>
                <a:spcPct val="100000"/>
              </a:lnSpc>
              <a:spcBef>
                <a:spcPts val="380"/>
              </a:spcBef>
              <a:buClr>
                <a:srgbClr val="1F487C"/>
              </a:buClr>
              <a:buChar char="•"/>
              <a:tabLst>
                <a:tab pos="354965" algn="l"/>
              </a:tabLst>
            </a:pPr>
            <a:endParaRPr lang="en-US" sz="2200" dirty="0">
              <a:solidFill>
                <a:srgbClr val="334052"/>
              </a:solidFill>
              <a:latin typeface="Arial"/>
              <a:cs typeface="Arial"/>
            </a:endParaRPr>
          </a:p>
          <a:p>
            <a:pPr marL="355600">
              <a:spcBef>
                <a:spcPts val="380"/>
              </a:spcBef>
              <a:buClr>
                <a:srgbClr val="1F487C"/>
              </a:buClr>
              <a:tabLst>
                <a:tab pos="354965" algn="l"/>
              </a:tabLst>
            </a:pPr>
            <a:r>
              <a:rPr lang="en-US" sz="2200" dirty="0">
                <a:solidFill>
                  <a:srgbClr val="334052"/>
                </a:solidFill>
                <a:latin typeface="Arial"/>
                <a:cs typeface="Arial"/>
              </a:rPr>
              <a:t>V.6.0 progress</a:t>
            </a:r>
          </a:p>
          <a:p>
            <a:pPr marL="755650" lvl="1">
              <a:spcBef>
                <a:spcPts val="380"/>
              </a:spcBef>
              <a:buClr>
                <a:srgbClr val="1F487C"/>
              </a:buClr>
              <a:tabLst>
                <a:tab pos="354965" algn="l"/>
              </a:tabLst>
            </a:pPr>
            <a:r>
              <a:rPr lang="en-US" sz="2400" b="1" dirty="0">
                <a:solidFill>
                  <a:srgbClr val="334052"/>
                </a:solidFill>
                <a:latin typeface="Eras Bold ITC" panose="020B0907030504020204" pitchFamily="34" charset="77"/>
                <a:cs typeface="Arial"/>
              </a:rPr>
              <a:t>NDR 6.0 and NDR are OASIS Standards</a:t>
            </a:r>
          </a:p>
          <a:p>
            <a:pPr marL="355600">
              <a:spcBef>
                <a:spcPts val="380"/>
              </a:spcBef>
              <a:buClr>
                <a:srgbClr val="1F487C"/>
              </a:buClr>
              <a:tabLst>
                <a:tab pos="354965" algn="l"/>
              </a:tabLst>
            </a:pPr>
            <a:r>
              <a:rPr lang="en-US" sz="2200" dirty="0">
                <a:solidFill>
                  <a:srgbClr val="334052"/>
                </a:solidFill>
                <a:latin typeface="Arial"/>
                <a:cs typeface="Arial"/>
              </a:rPr>
              <a:t> Conducted 8 October NPC meeting</a:t>
            </a:r>
          </a:p>
          <a:p>
            <a:pPr marL="355600">
              <a:spcBef>
                <a:spcPts val="380"/>
              </a:spcBef>
              <a:buClr>
                <a:srgbClr val="1F487C"/>
              </a:buClr>
              <a:tabLst>
                <a:tab pos="354965" algn="l"/>
              </a:tabLst>
            </a:pPr>
            <a:r>
              <a:rPr lang="en-US" sz="2200" dirty="0">
                <a:solidFill>
                  <a:srgbClr val="334052"/>
                </a:solidFill>
                <a:latin typeface="Arial"/>
                <a:cs typeface="Arial"/>
              </a:rPr>
              <a:t> Forensics Townhall Postponed until 8 December 25 11 AM – 12 PM</a:t>
            </a:r>
          </a:p>
          <a:p>
            <a:pPr marL="355600">
              <a:spcBef>
                <a:spcPts val="380"/>
              </a:spcBef>
              <a:buClr>
                <a:srgbClr val="1F487C"/>
              </a:buClr>
              <a:tabLst>
                <a:tab pos="354965" algn="l"/>
              </a:tabLst>
            </a:pPr>
            <a:r>
              <a:rPr lang="en-US" sz="2200" dirty="0">
                <a:solidFill>
                  <a:srgbClr val="334052"/>
                </a:solidFill>
                <a:latin typeface="Arial"/>
                <a:cs typeface="Arial"/>
              </a:rPr>
              <a:t>Conducted 13 November Reveal Webinar</a:t>
            </a:r>
          </a:p>
          <a:p>
            <a:pPr marL="355600">
              <a:spcBef>
                <a:spcPts val="380"/>
              </a:spcBef>
              <a:buClr>
                <a:srgbClr val="1F487C"/>
              </a:buClr>
              <a:tabLst>
                <a:tab pos="354965" algn="l"/>
              </a:tabLst>
            </a:pPr>
            <a:r>
              <a:rPr lang="en-US" sz="2200" dirty="0">
                <a:solidFill>
                  <a:srgbClr val="334052"/>
                </a:solidFill>
                <a:latin typeface="Arial"/>
                <a:cs typeface="Arial"/>
              </a:rPr>
              <a:t>Converted assets from </a:t>
            </a:r>
            <a:r>
              <a:rPr lang="en-US" sz="2200" dirty="0" err="1">
                <a:solidFill>
                  <a:srgbClr val="334052"/>
                </a:solidFill>
                <a:latin typeface="Arial"/>
                <a:cs typeface="Arial"/>
              </a:rPr>
              <a:t>NIEM.gov</a:t>
            </a:r>
            <a:r>
              <a:rPr lang="en-US" sz="2200" dirty="0">
                <a:solidFill>
                  <a:srgbClr val="334052"/>
                </a:solidFill>
                <a:latin typeface="Arial"/>
                <a:cs typeface="Arial"/>
              </a:rPr>
              <a:t> to </a:t>
            </a:r>
            <a:r>
              <a:rPr lang="en-US" sz="2200" dirty="0" err="1">
                <a:solidFill>
                  <a:srgbClr val="334052"/>
                </a:solidFill>
                <a:latin typeface="Arial"/>
                <a:cs typeface="Arial"/>
              </a:rPr>
              <a:t>NIEMOpen.org</a:t>
            </a:r>
            <a:r>
              <a:rPr lang="en-US" sz="2200" dirty="0">
                <a:solidFill>
                  <a:srgbClr val="334052"/>
                </a:solidFill>
                <a:latin typeface="Arial"/>
                <a:cs typeface="Arial"/>
              </a:rPr>
              <a:t>, including GitHub content</a:t>
            </a:r>
          </a:p>
          <a:p>
            <a:pPr marL="355600">
              <a:spcBef>
                <a:spcPts val="380"/>
              </a:spcBef>
              <a:buClr>
                <a:srgbClr val="1F487C"/>
              </a:buClr>
              <a:tabLst>
                <a:tab pos="354965" algn="l"/>
              </a:tabLst>
            </a:pPr>
            <a:r>
              <a:rPr lang="en-US" sz="2200" dirty="0">
                <a:solidFill>
                  <a:srgbClr val="334052"/>
                </a:solidFill>
                <a:cs typeface="Arial"/>
              </a:rPr>
              <a:t>Completed training </a:t>
            </a:r>
            <a:r>
              <a:rPr lang="en-US" sz="2200" dirty="0">
                <a:solidFill>
                  <a:srgbClr val="334052"/>
                </a:solidFill>
                <a:latin typeface="Arial"/>
                <a:cs typeface="Arial"/>
              </a:rPr>
              <a:t>modifications to support V 6.0</a:t>
            </a:r>
          </a:p>
          <a:p>
            <a:pPr marL="12700" indent="0">
              <a:lnSpc>
                <a:spcPct val="100000"/>
              </a:lnSpc>
              <a:spcBef>
                <a:spcPts val="380"/>
              </a:spcBef>
              <a:buClr>
                <a:srgbClr val="1F487C"/>
              </a:buClr>
              <a:buNone/>
              <a:tabLst>
                <a:tab pos="354965" algn="l"/>
              </a:tabLst>
            </a:pPr>
            <a:endParaRPr lang="en-US" sz="2200" dirty="0">
              <a:solidFill>
                <a:srgbClr val="334052"/>
              </a:solidFill>
              <a:latin typeface="Arial"/>
              <a:cs typeface="Arial"/>
            </a:endParaRPr>
          </a:p>
          <a:p>
            <a:endParaRPr lang="en-US" dirty="0"/>
          </a:p>
        </p:txBody>
      </p:sp>
      <p:sp>
        <p:nvSpPr>
          <p:cNvPr id="4" name="object 4"/>
          <p:cNvSpPr txBox="1">
            <a:spLocks noGrp="1"/>
          </p:cNvSpPr>
          <p:nvPr>
            <p:ph type="sldNum" sz="quarter" idx="4"/>
          </p:nvPr>
        </p:nvSpPr>
        <p:spPr>
          <a:prstGeom prst="rect">
            <a:avLst/>
          </a:prstGeom>
        </p:spPr>
        <p:txBody>
          <a:bodyPr vert="horz" wrap="square" lIns="0" tIns="0" rIns="0" bIns="0" rtlCol="0">
            <a:spAutoFit/>
          </a:bodyPr>
          <a:lstStyle/>
          <a:p>
            <a:pPr marL="80645">
              <a:lnSpc>
                <a:spcPts val="1425"/>
              </a:lnSpc>
            </a:pPr>
            <a:fld id="{81D60167-4931-47E6-BA6A-407CBD079E47}" type="slidenum">
              <a:rPr spc="-50" dirty="0"/>
              <a:t>9</a:t>
            </a:fld>
            <a:endParaRPr spc="-50" dirty="0"/>
          </a:p>
        </p:txBody>
      </p:sp>
    </p:spTree>
    <p:extLst>
      <p:ext uri="{BB962C8B-B14F-4D97-AF65-F5344CB8AC3E}">
        <p14:creationId xmlns:p14="http://schemas.microsoft.com/office/powerpoint/2010/main" val="4221082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 calcmode="lin" valueType="num">
                                      <p:cBhvr>
                                        <p:cTn id="7" dur="1000" fill="hold"/>
                                        <p:tgtEl>
                                          <p:spTgt spid="7">
                                            <p:txEl>
                                              <p:pRg st="2" end="2"/>
                                            </p:txEl>
                                          </p:spTgt>
                                        </p:tgtEl>
                                        <p:attrNameLst>
                                          <p:attrName>ppt_w</p:attrName>
                                        </p:attrNameLst>
                                      </p:cBhvr>
                                      <p:tavLst>
                                        <p:tav tm="0">
                                          <p:val>
                                            <p:strVal val="#ppt_w*0.70"/>
                                          </p:val>
                                        </p:tav>
                                        <p:tav tm="100000">
                                          <p:val>
                                            <p:strVal val="#ppt_w"/>
                                          </p:val>
                                        </p:tav>
                                      </p:tavLst>
                                    </p:anim>
                                    <p:anim calcmode="lin" valueType="num">
                                      <p:cBhvr>
                                        <p:cTn id="8" dur="1000" fill="hold"/>
                                        <p:tgtEl>
                                          <p:spTgt spid="7">
                                            <p:txEl>
                                              <p:pRg st="2" end="2"/>
                                            </p:txEl>
                                          </p:spTgt>
                                        </p:tgtEl>
                                        <p:attrNameLst>
                                          <p:attrName>ppt_h</p:attrName>
                                        </p:attrNameLst>
                                      </p:cBhvr>
                                      <p:tavLst>
                                        <p:tav tm="0">
                                          <p:val>
                                            <p:strVal val="#ppt_h"/>
                                          </p:val>
                                        </p:tav>
                                        <p:tav tm="100000">
                                          <p:val>
                                            <p:strVal val="#ppt_h"/>
                                          </p:val>
                                        </p:tav>
                                      </p:tavLst>
                                    </p:anim>
                                    <p:animEffect transition="in" filter="fade">
                                      <p:cBhvr>
                                        <p:cTn id="9"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8CE97-8FCA-AFA2-55BB-3B172250653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16E306C5-4FC7-9FAE-560F-DC642CAA7A82}"/>
              </a:ext>
            </a:extLst>
          </p:cNvPr>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10</a:t>
            </a:fld>
            <a:endParaRPr spc="-25" dirty="0"/>
          </a:p>
        </p:txBody>
      </p:sp>
      <p:sp>
        <p:nvSpPr>
          <p:cNvPr id="4" name="TextBox 3">
            <a:extLst>
              <a:ext uri="{FF2B5EF4-FFF2-40B4-BE49-F238E27FC236}">
                <a16:creationId xmlns:a16="http://schemas.microsoft.com/office/drawing/2014/main" id="{F26750F3-AB51-AC8F-B6BD-C2147E839296}"/>
              </a:ext>
            </a:extLst>
          </p:cNvPr>
          <p:cNvSpPr txBox="1"/>
          <p:nvPr/>
        </p:nvSpPr>
        <p:spPr>
          <a:xfrm>
            <a:off x="533400" y="377936"/>
            <a:ext cx="6705600" cy="523220"/>
          </a:xfrm>
          <a:prstGeom prst="rect">
            <a:avLst/>
          </a:prstGeom>
          <a:noFill/>
        </p:spPr>
        <p:txBody>
          <a:bodyPr wrap="square">
            <a:spAutoFit/>
          </a:bodyPr>
          <a:lstStyle/>
          <a:p>
            <a:pPr marL="12700">
              <a:lnSpc>
                <a:spcPct val="100000"/>
              </a:lnSpc>
              <a:spcBef>
                <a:spcPts val="100"/>
              </a:spcBef>
            </a:pPr>
            <a:r>
              <a:rPr lang="en-US" sz="2800" b="1" spc="-40" dirty="0">
                <a:solidFill>
                  <a:srgbClr val="004383"/>
                </a:solidFill>
                <a:latin typeface="Arial"/>
                <a:cs typeface="Arial"/>
              </a:rPr>
              <a:t>8 October Leadership Meeting Recap</a:t>
            </a:r>
            <a:endParaRPr lang="en-US" sz="2800" dirty="0">
              <a:latin typeface="Arial"/>
              <a:cs typeface="Arial"/>
            </a:endParaRPr>
          </a:p>
        </p:txBody>
      </p:sp>
      <p:sp>
        <p:nvSpPr>
          <p:cNvPr id="5" name="TextBox 4">
            <a:extLst>
              <a:ext uri="{FF2B5EF4-FFF2-40B4-BE49-F238E27FC236}">
                <a16:creationId xmlns:a16="http://schemas.microsoft.com/office/drawing/2014/main" id="{0D3DF510-A3FC-5CBE-924E-8641C833A498}"/>
              </a:ext>
            </a:extLst>
          </p:cNvPr>
          <p:cNvSpPr txBox="1"/>
          <p:nvPr/>
        </p:nvSpPr>
        <p:spPr>
          <a:xfrm>
            <a:off x="1752600" y="1524000"/>
            <a:ext cx="8534400" cy="3970318"/>
          </a:xfrm>
          <a:prstGeom prst="rect">
            <a:avLst/>
          </a:prstGeom>
          <a:noFill/>
        </p:spPr>
        <p:txBody>
          <a:bodyPr wrap="square" rtlCol="0">
            <a:spAutoFit/>
          </a:bodyPr>
          <a:lstStyle/>
          <a:p>
            <a:pPr marL="457200" indent="-457200">
              <a:buFont typeface="Courier New" panose="02070309020205020404" pitchFamily="49" charset="0"/>
              <a:buChar char="o"/>
            </a:pPr>
            <a:r>
              <a:rPr lang="en-US" sz="2800" dirty="0"/>
              <a:t>NBAC, NTAC met in person and virtually to discuss progress and future plans</a:t>
            </a:r>
          </a:p>
          <a:p>
            <a:pPr marL="457200" indent="-457200">
              <a:buFont typeface="Courier New" panose="02070309020205020404" pitchFamily="49" charset="0"/>
              <a:buChar char="o"/>
            </a:pPr>
            <a:r>
              <a:rPr lang="en-US" sz="2800" dirty="0"/>
              <a:t>PGB represented in plenary session</a:t>
            </a:r>
          </a:p>
          <a:p>
            <a:pPr marL="457200" indent="-457200">
              <a:buFont typeface="Courier New" panose="02070309020205020404" pitchFamily="49" charset="0"/>
              <a:buChar char="o"/>
            </a:pPr>
            <a:r>
              <a:rPr lang="en-US" sz="2800" dirty="0"/>
              <a:t>General discussion on the future of NIEMOpen</a:t>
            </a:r>
          </a:p>
          <a:p>
            <a:pPr marL="457200" indent="-457200">
              <a:buFont typeface="Courier New" panose="02070309020205020404" pitchFamily="49" charset="0"/>
              <a:buChar char="o"/>
            </a:pPr>
            <a:r>
              <a:rPr lang="en-US" sz="2800" dirty="0"/>
              <a:t>Key issues</a:t>
            </a:r>
          </a:p>
          <a:p>
            <a:pPr lvl="6"/>
            <a:r>
              <a:rPr lang="en-US" sz="2800" dirty="0"/>
              <a:t>     	-Business and financial model</a:t>
            </a:r>
          </a:p>
          <a:p>
            <a:pPr lvl="3"/>
            <a:r>
              <a:rPr lang="en-US" sz="2800" dirty="0"/>
              <a:t>	-Organizational model</a:t>
            </a:r>
          </a:p>
          <a:p>
            <a:pPr lvl="3"/>
            <a:r>
              <a:rPr lang="en-US" sz="2800" dirty="0"/>
              <a:t>	-Support/Relevance to AI</a:t>
            </a:r>
          </a:p>
          <a:p>
            <a:pPr lvl="3"/>
            <a:r>
              <a:rPr lang="en-US" sz="2800" dirty="0"/>
              <a:t>Beginning of strategic planning process</a:t>
            </a:r>
          </a:p>
        </p:txBody>
      </p:sp>
    </p:spTree>
    <p:extLst>
      <p:ext uri="{BB962C8B-B14F-4D97-AF65-F5344CB8AC3E}">
        <p14:creationId xmlns:p14="http://schemas.microsoft.com/office/powerpoint/2010/main" val="3758824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FEFF7-B62C-B6A0-A1DE-BC77977A56D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0488082-C44A-0BDA-A738-68860EE1BFC7}"/>
              </a:ext>
            </a:extLst>
          </p:cNvPr>
          <p:cNvSpPr txBox="1">
            <a:spLocks noGrp="1"/>
          </p:cNvSpPr>
          <p:nvPr>
            <p:ph type="sldNum" sz="quarter" idx="4"/>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11</a:t>
            </a:fld>
            <a:endParaRPr spc="-25" dirty="0"/>
          </a:p>
        </p:txBody>
      </p:sp>
      <p:sp>
        <p:nvSpPr>
          <p:cNvPr id="4" name="TextBox 3">
            <a:extLst>
              <a:ext uri="{FF2B5EF4-FFF2-40B4-BE49-F238E27FC236}">
                <a16:creationId xmlns:a16="http://schemas.microsoft.com/office/drawing/2014/main" id="{30F2CAEC-E034-43C7-11D6-EAB4ADCE363E}"/>
              </a:ext>
            </a:extLst>
          </p:cNvPr>
          <p:cNvSpPr txBox="1"/>
          <p:nvPr/>
        </p:nvSpPr>
        <p:spPr>
          <a:xfrm>
            <a:off x="533400" y="377936"/>
            <a:ext cx="6705600" cy="523220"/>
          </a:xfrm>
          <a:prstGeom prst="rect">
            <a:avLst/>
          </a:prstGeom>
          <a:noFill/>
        </p:spPr>
        <p:txBody>
          <a:bodyPr wrap="square">
            <a:spAutoFit/>
          </a:bodyPr>
          <a:lstStyle/>
          <a:p>
            <a:pPr marL="12700">
              <a:lnSpc>
                <a:spcPct val="100000"/>
              </a:lnSpc>
              <a:spcBef>
                <a:spcPts val="100"/>
              </a:spcBef>
            </a:pPr>
            <a:r>
              <a:rPr lang="en-US" sz="2800" b="1" spc="-40" dirty="0">
                <a:solidFill>
                  <a:srgbClr val="004383"/>
                </a:solidFill>
                <a:latin typeface="Arial"/>
                <a:cs typeface="Arial"/>
              </a:rPr>
              <a:t>13 November Reveal Summit Recap</a:t>
            </a:r>
            <a:endParaRPr lang="en-US" sz="2800" dirty="0">
              <a:latin typeface="Arial"/>
              <a:cs typeface="Arial"/>
            </a:endParaRPr>
          </a:p>
        </p:txBody>
      </p:sp>
      <p:graphicFrame>
        <p:nvGraphicFramePr>
          <p:cNvPr id="7" name="Table 6">
            <a:extLst>
              <a:ext uri="{FF2B5EF4-FFF2-40B4-BE49-F238E27FC236}">
                <a16:creationId xmlns:a16="http://schemas.microsoft.com/office/drawing/2014/main" id="{BED0609E-4B66-DA35-84DB-7AB13B388904}"/>
              </a:ext>
            </a:extLst>
          </p:cNvPr>
          <p:cNvGraphicFramePr>
            <a:graphicFrameLocks noGrp="1"/>
          </p:cNvGraphicFramePr>
          <p:nvPr>
            <p:extLst>
              <p:ext uri="{D42A27DB-BD31-4B8C-83A1-F6EECF244321}">
                <p14:modId xmlns:p14="http://schemas.microsoft.com/office/powerpoint/2010/main" val="1542460866"/>
              </p:ext>
            </p:extLst>
          </p:nvPr>
        </p:nvGraphicFramePr>
        <p:xfrm>
          <a:off x="685800" y="990600"/>
          <a:ext cx="5410200" cy="5110515"/>
        </p:xfrm>
        <a:graphic>
          <a:graphicData uri="http://schemas.openxmlformats.org/drawingml/2006/table">
            <a:tbl>
              <a:tblPr firstRow="1" firstCol="1" bandRow="1">
                <a:tableStyleId>{5C22544A-7EE6-4342-B048-85BDC9FD1C3A}</a:tableStyleId>
              </a:tblPr>
              <a:tblGrid>
                <a:gridCol w="1198552">
                  <a:extLst>
                    <a:ext uri="{9D8B030D-6E8A-4147-A177-3AD203B41FA5}">
                      <a16:colId xmlns:a16="http://schemas.microsoft.com/office/drawing/2014/main" val="488606253"/>
                    </a:ext>
                  </a:extLst>
                </a:gridCol>
                <a:gridCol w="4211648">
                  <a:extLst>
                    <a:ext uri="{9D8B030D-6E8A-4147-A177-3AD203B41FA5}">
                      <a16:colId xmlns:a16="http://schemas.microsoft.com/office/drawing/2014/main" val="2626526045"/>
                    </a:ext>
                  </a:extLst>
                </a:gridCol>
              </a:tblGrid>
              <a:tr h="672615">
                <a:tc>
                  <a:txBody>
                    <a:bodyPr/>
                    <a:lstStyle/>
                    <a:p>
                      <a:pPr marL="0" marR="0">
                        <a:buNone/>
                      </a:pPr>
                      <a:r>
                        <a:rPr lang="en-US" sz="1200">
                          <a:effectLst/>
                        </a:rPr>
                        <a:t>9:00 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pPr>
                      <a:r>
                        <a:rPr lang="en-US" sz="2000" dirty="0">
                          <a:effectLst/>
                        </a:rPr>
                        <a:t>Welcome and Introduction</a:t>
                      </a:r>
                    </a:p>
                    <a:p>
                      <a:pPr marL="342900" marR="0" lvl="0" indent="-342900">
                        <a:buFont typeface="Symbol" pitchFamily="2" charset="2"/>
                        <a:buChar char=""/>
                      </a:pPr>
                      <a:r>
                        <a:rPr lang="en-US" sz="2000" dirty="0">
                          <a:effectLst/>
                        </a:rPr>
                        <a:t>Agenda and Opening</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188806211"/>
                  </a:ext>
                </a:extLst>
              </a:tr>
              <a:tr h="403569">
                <a:tc>
                  <a:txBody>
                    <a:bodyPr/>
                    <a:lstStyle/>
                    <a:p>
                      <a:pPr marL="0" marR="0">
                        <a:buNone/>
                      </a:pPr>
                      <a:r>
                        <a:rPr lang="en-US" sz="1200">
                          <a:effectLst/>
                        </a:rPr>
                        <a:t>9:20 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2000" dirty="0">
                          <a:effectLst/>
                        </a:rPr>
                        <a:t>Opening Keynote</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92285234"/>
                  </a:ext>
                </a:extLst>
              </a:tr>
              <a:tr h="528283">
                <a:tc>
                  <a:txBody>
                    <a:bodyPr/>
                    <a:lstStyle/>
                    <a:p>
                      <a:pPr marL="0" marR="0">
                        <a:buNone/>
                      </a:pPr>
                      <a:r>
                        <a:rPr lang="en-US" sz="1200">
                          <a:effectLst/>
                        </a:rPr>
                        <a:t>9:50 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tabLst>
                          <a:tab pos="228600" algn="l"/>
                        </a:tabLst>
                      </a:pPr>
                      <a:r>
                        <a:rPr lang="en-US" sz="2000" dirty="0">
                          <a:effectLst/>
                        </a:rPr>
                        <a:t>NIEMOpen 6.0 Architecture and Tools</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28459226"/>
                  </a:ext>
                </a:extLst>
              </a:tr>
              <a:tr h="403569">
                <a:tc>
                  <a:txBody>
                    <a:bodyPr/>
                    <a:lstStyle/>
                    <a:p>
                      <a:pPr marL="0" marR="0">
                        <a:buNone/>
                      </a:pPr>
                      <a:r>
                        <a:rPr lang="en-US" sz="1200">
                          <a:effectLst/>
                        </a:rPr>
                        <a:t>10:10 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tabLst>
                          <a:tab pos="228600" algn="l"/>
                        </a:tabLst>
                      </a:pPr>
                      <a:r>
                        <a:rPr lang="en-US" sz="2000" dirty="0">
                          <a:effectLst/>
                        </a:rPr>
                        <a:t>Automating JSON Exchanges – Live</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822733591"/>
                  </a:ext>
                </a:extLst>
              </a:tr>
              <a:tr h="403569">
                <a:tc>
                  <a:txBody>
                    <a:bodyPr/>
                    <a:lstStyle/>
                    <a:p>
                      <a:pPr marL="0" marR="0">
                        <a:buNone/>
                      </a:pPr>
                      <a:r>
                        <a:rPr lang="en-US" sz="1200" dirty="0">
                          <a:effectLst/>
                        </a:rPr>
                        <a:t>10:30 AM</a:t>
                      </a:r>
                      <a:endParaRPr lang="en-US" sz="12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2000" dirty="0">
                          <a:effectLst/>
                        </a:rPr>
                        <a:t>BREAK</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758282923"/>
                  </a:ext>
                </a:extLst>
              </a:tr>
              <a:tr h="1345230">
                <a:tc>
                  <a:txBody>
                    <a:bodyPr/>
                    <a:lstStyle/>
                    <a:p>
                      <a:pPr marL="0" marR="0">
                        <a:buNone/>
                      </a:pPr>
                      <a:r>
                        <a:rPr lang="en-US" sz="1200">
                          <a:effectLst/>
                        </a:rPr>
                        <a:t>10:45 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tabLst>
                          <a:tab pos="228600" algn="l"/>
                        </a:tabLst>
                      </a:pPr>
                      <a:r>
                        <a:rPr lang="en-US" sz="2000" dirty="0">
                          <a:effectLst/>
                        </a:rPr>
                        <a:t>Voices from the Field:</a:t>
                      </a:r>
                    </a:p>
                    <a:p>
                      <a:pPr marL="742950" marR="0" lvl="1" indent="-285750">
                        <a:buFont typeface="Courier New" panose="02070309020205020404" pitchFamily="49" charset="0"/>
                        <a:buChar char="o"/>
                      </a:pPr>
                      <a:r>
                        <a:rPr lang="en-US" sz="2000" dirty="0">
                          <a:effectLst/>
                        </a:rPr>
                        <a:t>Sonoma County, California</a:t>
                      </a:r>
                    </a:p>
                    <a:p>
                      <a:pPr marL="742950" marR="0" lvl="1" indent="-285750">
                        <a:buFont typeface="Courier New" panose="02070309020205020404" pitchFamily="49" charset="0"/>
                        <a:buChar char="o"/>
                      </a:pPr>
                      <a:r>
                        <a:rPr lang="en-US" sz="2000" dirty="0" err="1">
                          <a:effectLst/>
                        </a:rPr>
                        <a:t>RxCheck</a:t>
                      </a:r>
                      <a:endParaRPr lang="en-US" sz="2000" dirty="0">
                        <a:effectLst/>
                      </a:endParaRPr>
                    </a:p>
                    <a:p>
                      <a:pPr marL="742950" marR="0" lvl="1" indent="-285750">
                        <a:buFont typeface="Courier New" panose="02070309020205020404" pitchFamily="49" charset="0"/>
                        <a:buChar char="o"/>
                      </a:pPr>
                      <a:r>
                        <a:rPr lang="en-US" sz="2000" dirty="0">
                          <a:effectLst/>
                        </a:rPr>
                        <a:t>FBI CJIS</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20267965"/>
                  </a:ext>
                </a:extLst>
              </a:tr>
              <a:tr h="1272363">
                <a:tc>
                  <a:txBody>
                    <a:bodyPr/>
                    <a:lstStyle/>
                    <a:p>
                      <a:pPr marL="0" marR="0">
                        <a:buNone/>
                      </a:pPr>
                      <a:r>
                        <a:rPr lang="en-US" sz="1200">
                          <a:effectLst/>
                        </a:rPr>
                        <a:t>11:30 AM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tabLst>
                          <a:tab pos="228600" algn="l"/>
                        </a:tabLst>
                      </a:pPr>
                      <a:r>
                        <a:rPr lang="en-US" sz="2000" dirty="0">
                          <a:effectLst/>
                        </a:rPr>
                        <a:t>New NIEMOpen Domains</a:t>
                      </a:r>
                    </a:p>
                    <a:p>
                      <a:pPr marL="742950" marR="0" lvl="1" indent="-285750">
                        <a:buFont typeface="Courier New" panose="02070309020205020404" pitchFamily="49" charset="0"/>
                        <a:buChar char="o"/>
                      </a:pPr>
                      <a:r>
                        <a:rPr lang="en-US" sz="2000" dirty="0">
                          <a:effectLst/>
                        </a:rPr>
                        <a:t>Forensics</a:t>
                      </a:r>
                    </a:p>
                    <a:p>
                      <a:pPr marL="742950" marR="0" lvl="1" indent="-285750">
                        <a:buFont typeface="Courier New" panose="02070309020205020404" pitchFamily="49" charset="0"/>
                        <a:buChar char="o"/>
                      </a:pPr>
                      <a:r>
                        <a:rPr lang="en-US" sz="2000" dirty="0">
                          <a:effectLst/>
                        </a:rPr>
                        <a:t>Analytical Laboratories</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966362324"/>
                  </a:ext>
                </a:extLst>
              </a:tr>
            </a:tbl>
          </a:graphicData>
        </a:graphic>
      </p:graphicFrame>
      <p:graphicFrame>
        <p:nvGraphicFramePr>
          <p:cNvPr id="10" name="Table 9">
            <a:extLst>
              <a:ext uri="{FF2B5EF4-FFF2-40B4-BE49-F238E27FC236}">
                <a16:creationId xmlns:a16="http://schemas.microsoft.com/office/drawing/2014/main" id="{D26D9D7B-2B5A-4C12-7583-55CD4BEAE723}"/>
              </a:ext>
            </a:extLst>
          </p:cNvPr>
          <p:cNvGraphicFramePr>
            <a:graphicFrameLocks noGrp="1"/>
          </p:cNvGraphicFramePr>
          <p:nvPr>
            <p:extLst>
              <p:ext uri="{D42A27DB-BD31-4B8C-83A1-F6EECF244321}">
                <p14:modId xmlns:p14="http://schemas.microsoft.com/office/powerpoint/2010/main" val="1667337294"/>
              </p:ext>
            </p:extLst>
          </p:nvPr>
        </p:nvGraphicFramePr>
        <p:xfrm>
          <a:off x="6705601" y="990600"/>
          <a:ext cx="4800599" cy="5335413"/>
        </p:xfrm>
        <a:graphic>
          <a:graphicData uri="http://schemas.openxmlformats.org/drawingml/2006/table">
            <a:tbl>
              <a:tblPr firstRow="1" firstCol="1" bandRow="1">
                <a:tableStyleId>{5C22544A-7EE6-4342-B048-85BDC9FD1C3A}</a:tableStyleId>
              </a:tblPr>
              <a:tblGrid>
                <a:gridCol w="1063504">
                  <a:extLst>
                    <a:ext uri="{9D8B030D-6E8A-4147-A177-3AD203B41FA5}">
                      <a16:colId xmlns:a16="http://schemas.microsoft.com/office/drawing/2014/main" val="1438121563"/>
                    </a:ext>
                  </a:extLst>
                </a:gridCol>
                <a:gridCol w="3737095">
                  <a:extLst>
                    <a:ext uri="{9D8B030D-6E8A-4147-A177-3AD203B41FA5}">
                      <a16:colId xmlns:a16="http://schemas.microsoft.com/office/drawing/2014/main" val="299230857"/>
                    </a:ext>
                  </a:extLst>
                </a:gridCol>
              </a:tblGrid>
              <a:tr h="389160">
                <a:tc>
                  <a:txBody>
                    <a:bodyPr/>
                    <a:lstStyle/>
                    <a:p>
                      <a:pPr marL="0" marR="0">
                        <a:buNone/>
                      </a:pPr>
                      <a:r>
                        <a:rPr lang="en-US" sz="1200">
                          <a:effectLst/>
                        </a:rPr>
                        <a:t>1:00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pPr>
                      <a:r>
                        <a:rPr lang="en-US" sz="2000" dirty="0">
                          <a:effectLst/>
                        </a:rPr>
                        <a:t>The OASIS Open Family</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244354451"/>
                  </a:ext>
                </a:extLst>
              </a:tr>
              <a:tr h="518797">
                <a:tc>
                  <a:txBody>
                    <a:bodyPr/>
                    <a:lstStyle/>
                    <a:p>
                      <a:pPr marL="0" marR="0">
                        <a:buNone/>
                      </a:pPr>
                      <a:r>
                        <a:rPr lang="en-US" sz="1200">
                          <a:effectLst/>
                        </a:rPr>
                        <a:t>1:20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pPr>
                      <a:r>
                        <a:rPr lang="en-US" sz="2000" dirty="0">
                          <a:effectLst/>
                        </a:rPr>
                        <a:t>OASIS Standards and Beyond</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05141480"/>
                  </a:ext>
                </a:extLst>
              </a:tr>
              <a:tr h="614271">
                <a:tc>
                  <a:txBody>
                    <a:bodyPr/>
                    <a:lstStyle/>
                    <a:p>
                      <a:pPr marL="0" marR="0">
                        <a:buNone/>
                      </a:pPr>
                      <a:r>
                        <a:rPr lang="en-US" sz="1200">
                          <a:effectLst/>
                        </a:rPr>
                        <a:t>1:40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2000" dirty="0">
                          <a:effectLst/>
                        </a:rPr>
                        <a:t>Keynote: Our Digital Future</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53471197"/>
                  </a:ext>
                </a:extLst>
              </a:tr>
              <a:tr h="864662">
                <a:tc>
                  <a:txBody>
                    <a:bodyPr/>
                    <a:lstStyle/>
                    <a:p>
                      <a:pPr marL="0" marR="0">
                        <a:buNone/>
                      </a:pPr>
                      <a:r>
                        <a:rPr lang="en-US" sz="1200">
                          <a:effectLst/>
                        </a:rPr>
                        <a:t>2:00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tabLst>
                          <a:tab pos="228600" algn="l"/>
                        </a:tabLst>
                      </a:pPr>
                      <a:r>
                        <a:rPr lang="en-US" sz="2000" dirty="0">
                          <a:effectLst/>
                        </a:rPr>
                        <a:t>Shaping NIEMOpen for the Future</a:t>
                      </a:r>
                    </a:p>
                    <a:p>
                      <a:pPr marL="742950" marR="0" lvl="1" indent="-285750">
                        <a:buFont typeface="Courier New" panose="02070309020205020404" pitchFamily="49" charset="0"/>
                        <a:buChar char="o"/>
                      </a:pPr>
                      <a:r>
                        <a:rPr lang="en-US" sz="2000" dirty="0">
                          <a:effectLst/>
                        </a:rPr>
                        <a:t>AI, Ontologies, Knowledge Graphs</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894444918"/>
                  </a:ext>
                </a:extLst>
              </a:tr>
              <a:tr h="518797">
                <a:tc>
                  <a:txBody>
                    <a:bodyPr/>
                    <a:lstStyle/>
                    <a:p>
                      <a:pPr marL="0" marR="0">
                        <a:buNone/>
                      </a:pPr>
                      <a:r>
                        <a:rPr lang="en-US" sz="1200">
                          <a:effectLst/>
                        </a:rPr>
                        <a:t>2:30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2000" dirty="0">
                          <a:effectLst/>
                        </a:rPr>
                        <a:t>BREAK</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091966837"/>
                  </a:ext>
                </a:extLst>
              </a:tr>
              <a:tr h="518797">
                <a:tc>
                  <a:txBody>
                    <a:bodyPr/>
                    <a:lstStyle/>
                    <a:p>
                      <a:pPr marL="0" marR="0">
                        <a:buNone/>
                      </a:pPr>
                      <a:r>
                        <a:rPr lang="en-US" sz="1200">
                          <a:effectLst/>
                        </a:rPr>
                        <a:t>2:45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tabLst>
                          <a:tab pos="228600" algn="l"/>
                        </a:tabLst>
                      </a:pPr>
                      <a:r>
                        <a:rPr lang="en-US" sz="2000" dirty="0">
                          <a:effectLst/>
                        </a:rPr>
                        <a:t>The Collaborative Future</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0087861"/>
                  </a:ext>
                </a:extLst>
              </a:tr>
              <a:tr h="518797">
                <a:tc>
                  <a:txBody>
                    <a:bodyPr/>
                    <a:lstStyle/>
                    <a:p>
                      <a:pPr marL="0" marR="0">
                        <a:buNone/>
                      </a:pPr>
                      <a:r>
                        <a:rPr lang="en-US" sz="1200">
                          <a:effectLst/>
                        </a:rPr>
                        <a:t>3:05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0" marR="0" algn="ctr">
                        <a:buNone/>
                      </a:pPr>
                      <a:r>
                        <a:rPr lang="en-US" sz="2000" dirty="0">
                          <a:effectLst/>
                        </a:rPr>
                        <a:t>Keynote: The Open Data Vision</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983973616"/>
                  </a:ext>
                </a:extLst>
              </a:tr>
              <a:tr h="518797">
                <a:tc>
                  <a:txBody>
                    <a:bodyPr/>
                    <a:lstStyle/>
                    <a:p>
                      <a:pPr marL="0" marR="0">
                        <a:buNone/>
                      </a:pPr>
                      <a:r>
                        <a:rPr lang="en-US" sz="1200">
                          <a:effectLst/>
                        </a:rPr>
                        <a:t>3:35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tabLst>
                          <a:tab pos="228600" algn="l"/>
                        </a:tabLst>
                      </a:pPr>
                      <a:r>
                        <a:rPr lang="en-US" sz="2000" dirty="0">
                          <a:effectLst/>
                        </a:rPr>
                        <a:t>Excellence Awards</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482333939"/>
                  </a:ext>
                </a:extLst>
              </a:tr>
              <a:tr h="518797">
                <a:tc>
                  <a:txBody>
                    <a:bodyPr/>
                    <a:lstStyle/>
                    <a:p>
                      <a:pPr marL="0" marR="0">
                        <a:buNone/>
                      </a:pPr>
                      <a:r>
                        <a:rPr lang="en-US" sz="1200">
                          <a:effectLst/>
                        </a:rPr>
                        <a:t>3:50 PM</a:t>
                      </a:r>
                      <a:endParaRPr lang="en-US" sz="1200">
                        <a:effectLst/>
                        <a:latin typeface="Times New Roman" panose="02020603050405020304" pitchFamily="18" charset="0"/>
                        <a:ea typeface="Times New Roman" panose="02020603050405020304" pitchFamily="18" charset="0"/>
                      </a:endParaRPr>
                    </a:p>
                  </a:txBody>
                  <a:tcPr marL="68580" marR="68580" marT="0" marB="0"/>
                </a:tc>
                <a:tc>
                  <a:txBody>
                    <a:bodyPr/>
                    <a:lstStyle/>
                    <a:p>
                      <a:pPr marL="342900" marR="0" lvl="0" indent="-342900">
                        <a:buFont typeface="Symbol" pitchFamily="2" charset="2"/>
                        <a:buChar char=""/>
                      </a:pPr>
                      <a:r>
                        <a:rPr lang="en-US" sz="2000" dirty="0">
                          <a:effectLst/>
                        </a:rPr>
                        <a:t>Be a Part of the Journey</a:t>
                      </a:r>
                      <a:endParaRPr lang="en-US" sz="20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952370799"/>
                  </a:ext>
                </a:extLst>
              </a:tr>
            </a:tbl>
          </a:graphicData>
        </a:graphic>
      </p:graphicFrame>
    </p:spTree>
    <p:extLst>
      <p:ext uri="{BB962C8B-B14F-4D97-AF65-F5344CB8AC3E}">
        <p14:creationId xmlns:p14="http://schemas.microsoft.com/office/powerpoint/2010/main" val="2322495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12</a:t>
            </a:fld>
            <a:endParaRPr spc="-25" dirty="0"/>
          </a:p>
        </p:txBody>
      </p:sp>
      <p:sp>
        <p:nvSpPr>
          <p:cNvPr id="4" name="object 4"/>
          <p:cNvSpPr txBox="1"/>
          <p:nvPr/>
        </p:nvSpPr>
        <p:spPr>
          <a:xfrm>
            <a:off x="677586" y="838200"/>
            <a:ext cx="9799320" cy="1905650"/>
          </a:xfrm>
          <a:prstGeom prst="rect">
            <a:avLst/>
          </a:prstGeom>
        </p:spPr>
        <p:txBody>
          <a:bodyPr vert="horz" wrap="square" lIns="0" tIns="12700" rIns="0" bIns="0" rtlCol="0">
            <a:spAutoFit/>
          </a:bodyPr>
          <a:lstStyle/>
          <a:p>
            <a:pPr>
              <a:lnSpc>
                <a:spcPct val="100000"/>
              </a:lnSpc>
              <a:spcBef>
                <a:spcPts val="1165"/>
              </a:spcBef>
            </a:pPr>
            <a:endParaRPr sz="2400" dirty="0">
              <a:latin typeface="Arial"/>
              <a:cs typeface="Arial"/>
            </a:endParaRPr>
          </a:p>
          <a:p>
            <a:pPr marL="70485" marR="4700270" indent="-58419">
              <a:lnSpc>
                <a:spcPct val="100000"/>
              </a:lnSpc>
            </a:pPr>
            <a:r>
              <a:rPr sz="3300" b="1" spc="-10" dirty="0">
                <a:solidFill>
                  <a:srgbClr val="1E1C11"/>
                </a:solidFill>
                <a:latin typeface="Arial"/>
                <a:cs typeface="Arial"/>
              </a:rPr>
              <a:t>Updates</a:t>
            </a:r>
            <a:endParaRPr sz="3300" dirty="0">
              <a:latin typeface="Arial"/>
              <a:cs typeface="Arial"/>
            </a:endParaRPr>
          </a:p>
          <a:p>
            <a:pPr marL="413384" lvl="1" indent="-342900">
              <a:lnSpc>
                <a:spcPct val="100000"/>
              </a:lnSpc>
              <a:spcBef>
                <a:spcPts val="35"/>
              </a:spcBef>
              <a:buClr>
                <a:srgbClr val="1F487C"/>
              </a:buClr>
              <a:buChar char="•"/>
              <a:tabLst>
                <a:tab pos="413384" algn="l"/>
              </a:tabLst>
            </a:pPr>
            <a:r>
              <a:rPr sz="2200" spc="-20" dirty="0">
                <a:solidFill>
                  <a:srgbClr val="1E1C11"/>
                </a:solidFill>
                <a:latin typeface="Arial"/>
                <a:cs typeface="Arial"/>
              </a:rPr>
              <a:t>NTAC</a:t>
            </a:r>
            <a:r>
              <a:rPr sz="2200" spc="-60" dirty="0">
                <a:solidFill>
                  <a:srgbClr val="1E1C11"/>
                </a:solidFill>
                <a:latin typeface="Arial"/>
                <a:cs typeface="Arial"/>
              </a:rPr>
              <a:t> </a:t>
            </a:r>
            <a:r>
              <a:rPr sz="2200" dirty="0">
                <a:solidFill>
                  <a:srgbClr val="1E1C11"/>
                </a:solidFill>
                <a:latin typeface="Arial"/>
                <a:cs typeface="Arial"/>
              </a:rPr>
              <a:t>Update</a:t>
            </a:r>
            <a:r>
              <a:rPr sz="2200" spc="-70" dirty="0">
                <a:solidFill>
                  <a:srgbClr val="1E1C11"/>
                </a:solidFill>
                <a:latin typeface="Arial"/>
                <a:cs typeface="Arial"/>
              </a:rPr>
              <a:t> </a:t>
            </a:r>
            <a:r>
              <a:rPr sz="2200" dirty="0">
                <a:solidFill>
                  <a:srgbClr val="1E1C11"/>
                </a:solidFill>
                <a:latin typeface="Arial"/>
                <a:cs typeface="Arial"/>
              </a:rPr>
              <a:t>–</a:t>
            </a:r>
            <a:r>
              <a:rPr sz="2200" spc="-65" dirty="0">
                <a:solidFill>
                  <a:srgbClr val="1E1C11"/>
                </a:solidFill>
                <a:latin typeface="Arial"/>
                <a:cs typeface="Arial"/>
              </a:rPr>
              <a:t> </a:t>
            </a:r>
            <a:r>
              <a:rPr lang="en-US" sz="2200" spc="-65" dirty="0">
                <a:solidFill>
                  <a:srgbClr val="1E1C11"/>
                </a:solidFill>
                <a:latin typeface="Arial"/>
                <a:cs typeface="Arial"/>
              </a:rPr>
              <a:t>Mr. Jim Cabral &amp; Dr. Scott Renner</a:t>
            </a:r>
            <a:endParaRPr sz="2200" dirty="0">
              <a:latin typeface="Arial"/>
              <a:cs typeface="Arial"/>
            </a:endParaRPr>
          </a:p>
          <a:p>
            <a:pPr marL="413384" lvl="1" indent="-342900">
              <a:lnSpc>
                <a:spcPct val="100000"/>
              </a:lnSpc>
              <a:buClr>
                <a:srgbClr val="1F487C"/>
              </a:buClr>
              <a:buChar char="•"/>
              <a:tabLst>
                <a:tab pos="413384" algn="l"/>
              </a:tabLst>
            </a:pPr>
            <a:r>
              <a:rPr sz="2200" dirty="0">
                <a:solidFill>
                  <a:srgbClr val="1E1C11"/>
                </a:solidFill>
                <a:latin typeface="Arial"/>
                <a:cs typeface="Arial"/>
              </a:rPr>
              <a:t>NBAC</a:t>
            </a:r>
            <a:r>
              <a:rPr sz="2200" spc="-40" dirty="0">
                <a:solidFill>
                  <a:srgbClr val="1E1C11"/>
                </a:solidFill>
                <a:latin typeface="Arial"/>
                <a:cs typeface="Arial"/>
              </a:rPr>
              <a:t> </a:t>
            </a:r>
            <a:r>
              <a:rPr sz="2200" dirty="0">
                <a:solidFill>
                  <a:srgbClr val="1E1C11"/>
                </a:solidFill>
                <a:latin typeface="Arial"/>
                <a:cs typeface="Arial"/>
              </a:rPr>
              <a:t>Update</a:t>
            </a:r>
            <a:r>
              <a:rPr sz="2200" spc="-40" dirty="0">
                <a:solidFill>
                  <a:srgbClr val="1E1C11"/>
                </a:solidFill>
                <a:latin typeface="Arial"/>
                <a:cs typeface="Arial"/>
              </a:rPr>
              <a:t> </a:t>
            </a:r>
            <a:r>
              <a:rPr sz="2200" dirty="0">
                <a:solidFill>
                  <a:srgbClr val="1E1C11"/>
                </a:solidFill>
                <a:latin typeface="Arial"/>
                <a:cs typeface="Arial"/>
              </a:rPr>
              <a:t>–</a:t>
            </a:r>
            <a:r>
              <a:rPr sz="2200" spc="-75" dirty="0">
                <a:solidFill>
                  <a:srgbClr val="1E1C11"/>
                </a:solidFill>
                <a:latin typeface="Arial"/>
                <a:cs typeface="Arial"/>
              </a:rPr>
              <a:t> </a:t>
            </a:r>
            <a:r>
              <a:rPr lang="en-US" sz="2200" spc="-75" dirty="0">
                <a:solidFill>
                  <a:srgbClr val="1E1C11"/>
                </a:solidFill>
                <a:latin typeface="Arial"/>
                <a:cs typeface="Arial"/>
              </a:rPr>
              <a:t>Mr. Thomas Krul &amp; Mr. Kamran Atri</a:t>
            </a:r>
          </a:p>
          <a:p>
            <a:pPr marL="413384" lvl="1" indent="-342900">
              <a:lnSpc>
                <a:spcPct val="100000"/>
              </a:lnSpc>
              <a:buClr>
                <a:srgbClr val="1F487C"/>
              </a:buClr>
              <a:buChar char="•"/>
              <a:tabLst>
                <a:tab pos="413384" algn="l"/>
              </a:tabLst>
            </a:pPr>
            <a:r>
              <a:rPr lang="en-US" sz="2200" spc="-75" dirty="0">
                <a:solidFill>
                  <a:srgbClr val="1E1C11"/>
                </a:solidFill>
                <a:latin typeface="Arial"/>
                <a:cs typeface="Arial"/>
              </a:rPr>
              <a:t>Finance -- Ms. Cathie Mayo</a:t>
            </a:r>
            <a:endParaRPr sz="2200" dirty="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21955-121A-F5E4-1DD3-F5BB8166340C}"/>
              </a:ext>
            </a:extLst>
          </p:cNvPr>
          <p:cNvSpPr>
            <a:spLocks noGrp="1"/>
          </p:cNvSpPr>
          <p:nvPr>
            <p:ph type="title"/>
          </p:nvPr>
        </p:nvSpPr>
        <p:spPr/>
        <p:txBody>
          <a:bodyPr/>
          <a:lstStyle/>
          <a:p>
            <a:r>
              <a:rPr lang="en-US" dirty="0"/>
              <a:t>NTAC Update</a:t>
            </a:r>
          </a:p>
        </p:txBody>
      </p:sp>
      <p:sp>
        <p:nvSpPr>
          <p:cNvPr id="3" name="Text Placeholder 2">
            <a:extLst>
              <a:ext uri="{FF2B5EF4-FFF2-40B4-BE49-F238E27FC236}">
                <a16:creationId xmlns:a16="http://schemas.microsoft.com/office/drawing/2014/main" id="{C57217CD-A75D-E266-237C-8C1A27915472}"/>
              </a:ext>
            </a:extLst>
          </p:cNvPr>
          <p:cNvSpPr>
            <a:spLocks noGrp="1"/>
          </p:cNvSpPr>
          <p:nvPr>
            <p:ph type="body" sz="quarter" idx="13"/>
          </p:nvPr>
        </p:nvSpPr>
        <p:spPr/>
        <p:txBody>
          <a:bodyPr/>
          <a:lstStyle/>
          <a:p>
            <a:r>
              <a:rPr lang="en-US" sz="2800" dirty="0"/>
              <a:t>NIEMOpen 6.0 Model and NDR 6.0 are now OASIS Specifications</a:t>
            </a:r>
          </a:p>
          <a:p>
            <a:r>
              <a:rPr lang="en-US" sz="2800" dirty="0"/>
              <a:t>Proposed release schedule</a:t>
            </a:r>
          </a:p>
          <a:p>
            <a:pPr lvl="1"/>
            <a:r>
              <a:rPr lang="en-US" sz="2400" dirty="0"/>
              <a:t>Replacing the former three-year major / minor / minor schedule</a:t>
            </a:r>
          </a:p>
          <a:p>
            <a:r>
              <a:rPr lang="en-US" sz="2800" dirty="0"/>
              <a:t>IJIS survey of NIEM practitioners planned for early 2026</a:t>
            </a:r>
          </a:p>
          <a:p>
            <a:pPr lvl="1"/>
            <a:r>
              <a:rPr lang="en-US" sz="2400" dirty="0"/>
              <a:t>Obtain feature requests for future versions</a:t>
            </a:r>
          </a:p>
          <a:p>
            <a:r>
              <a:rPr lang="en-US" sz="2800" dirty="0"/>
              <a:t>NTAC virtual face-to-face meeting</a:t>
            </a:r>
          </a:p>
          <a:p>
            <a:pPr lvl="1"/>
            <a:r>
              <a:rPr lang="en-US" sz="2400" dirty="0"/>
              <a:t>In planning, delayed to 2026</a:t>
            </a:r>
          </a:p>
          <a:p>
            <a:endParaRPr lang="en-US" dirty="0"/>
          </a:p>
        </p:txBody>
      </p:sp>
    </p:spTree>
    <p:extLst>
      <p:ext uri="{BB962C8B-B14F-4D97-AF65-F5344CB8AC3E}">
        <p14:creationId xmlns:p14="http://schemas.microsoft.com/office/powerpoint/2010/main" val="2049094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F8146-DF36-D0E9-1201-9742D1DC7E88}"/>
              </a:ext>
            </a:extLst>
          </p:cNvPr>
          <p:cNvSpPr>
            <a:spLocks noGrp="1"/>
          </p:cNvSpPr>
          <p:nvPr>
            <p:ph type="title"/>
          </p:nvPr>
        </p:nvSpPr>
        <p:spPr/>
        <p:txBody>
          <a:bodyPr/>
          <a:lstStyle/>
          <a:p>
            <a:r>
              <a:rPr lang="en-US" dirty="0"/>
              <a:t>New release planning</a:t>
            </a:r>
          </a:p>
        </p:txBody>
      </p:sp>
      <p:sp>
        <p:nvSpPr>
          <p:cNvPr id="3" name="Text Placeholder 2">
            <a:extLst>
              <a:ext uri="{FF2B5EF4-FFF2-40B4-BE49-F238E27FC236}">
                <a16:creationId xmlns:a16="http://schemas.microsoft.com/office/drawing/2014/main" id="{16CB0F5E-EBDF-C415-3B03-464F15F24CB1}"/>
              </a:ext>
            </a:extLst>
          </p:cNvPr>
          <p:cNvSpPr>
            <a:spLocks noGrp="1"/>
          </p:cNvSpPr>
          <p:nvPr>
            <p:ph type="body" sz="quarter" idx="13"/>
          </p:nvPr>
        </p:nvSpPr>
        <p:spPr/>
        <p:txBody>
          <a:bodyPr/>
          <a:lstStyle/>
          <a:p>
            <a:r>
              <a:rPr lang="en-US" dirty="0"/>
              <a:t>Major release (e.g. NIEM 7)</a:t>
            </a:r>
          </a:p>
          <a:p>
            <a:pPr lvl="1"/>
            <a:r>
              <a:rPr lang="en-US" dirty="0"/>
              <a:t>May include technical architecture change</a:t>
            </a:r>
          </a:p>
          <a:p>
            <a:pPr lvl="1"/>
            <a:r>
              <a:rPr lang="en-US" dirty="0"/>
              <a:t>May include breaking changes to core</a:t>
            </a:r>
          </a:p>
          <a:p>
            <a:pPr lvl="1"/>
            <a:r>
              <a:rPr lang="en-US" dirty="0"/>
              <a:t>Review requirements and change requests every five years</a:t>
            </a:r>
          </a:p>
          <a:p>
            <a:r>
              <a:rPr lang="en-US" dirty="0"/>
              <a:t>Core updates</a:t>
            </a:r>
          </a:p>
          <a:p>
            <a:pPr lvl="1"/>
            <a:r>
              <a:rPr lang="en-US" dirty="0"/>
              <a:t>Only non-breaking changes to core (adding new components)</a:t>
            </a:r>
          </a:p>
          <a:p>
            <a:pPr lvl="1"/>
            <a:r>
              <a:rPr lang="en-US" dirty="0"/>
              <a:t>Domain updates are optional</a:t>
            </a:r>
          </a:p>
          <a:p>
            <a:pPr lvl="1"/>
            <a:r>
              <a:rPr lang="en-US" dirty="0"/>
              <a:t>When needed</a:t>
            </a:r>
          </a:p>
          <a:p>
            <a:r>
              <a:rPr lang="en-US" dirty="0"/>
              <a:t>Domain updates</a:t>
            </a:r>
          </a:p>
          <a:p>
            <a:pPr lvl="1"/>
            <a:r>
              <a:rPr lang="en-US" dirty="0"/>
              <a:t>Breaking or nonbreaking changes to a domain model</a:t>
            </a:r>
          </a:p>
          <a:p>
            <a:pPr lvl="1"/>
            <a:r>
              <a:rPr lang="en-US" dirty="0"/>
              <a:t>Domains can coordinate for inter-domain harmonization</a:t>
            </a:r>
          </a:p>
          <a:p>
            <a:pPr lvl="1"/>
            <a:r>
              <a:rPr lang="en-US" dirty="0"/>
              <a:t>When needed</a:t>
            </a:r>
          </a:p>
          <a:p>
            <a:endParaRPr lang="en-US" dirty="0"/>
          </a:p>
        </p:txBody>
      </p:sp>
      <p:sp>
        <p:nvSpPr>
          <p:cNvPr id="4" name="Slide Number Placeholder 3">
            <a:extLst>
              <a:ext uri="{FF2B5EF4-FFF2-40B4-BE49-F238E27FC236}">
                <a16:creationId xmlns:a16="http://schemas.microsoft.com/office/drawing/2014/main" id="{2142E9FF-BFF1-EF80-D670-1BB4286428A3}"/>
              </a:ext>
            </a:extLst>
          </p:cNvPr>
          <p:cNvSpPr>
            <a:spLocks noGrp="1"/>
          </p:cNvSpPr>
          <p:nvPr>
            <p:ph type="sldNum" sz="quarter" idx="4"/>
          </p:nvPr>
        </p:nvSpPr>
        <p:spPr/>
        <p:txBody>
          <a:bodyPr/>
          <a:lstStyle/>
          <a:p>
            <a:fld id="{6E6030FC-FB78-5E4D-92EA-5D9433591EA9}" type="slidenum">
              <a:rPr lang="en-US" smtClean="0"/>
              <a:pPr/>
              <a:t>14</a:t>
            </a:fld>
            <a:endParaRPr lang="en-US" dirty="0"/>
          </a:p>
        </p:txBody>
      </p:sp>
    </p:spTree>
    <p:extLst>
      <p:ext uri="{BB962C8B-B14F-4D97-AF65-F5344CB8AC3E}">
        <p14:creationId xmlns:p14="http://schemas.microsoft.com/office/powerpoint/2010/main" val="866001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52564-01CB-9A51-F440-C2B6EFB459A1}"/>
              </a:ext>
            </a:extLst>
          </p:cNvPr>
          <p:cNvSpPr>
            <a:spLocks noGrp="1"/>
          </p:cNvSpPr>
          <p:nvPr>
            <p:ph type="title"/>
          </p:nvPr>
        </p:nvSpPr>
        <p:spPr/>
        <p:txBody>
          <a:bodyPr/>
          <a:lstStyle/>
          <a:p>
            <a:r>
              <a:rPr lang="en-US" dirty="0"/>
              <a:t>Software engineering update</a:t>
            </a:r>
          </a:p>
        </p:txBody>
      </p:sp>
      <p:sp>
        <p:nvSpPr>
          <p:cNvPr id="4" name="Slide Number Placeholder 3">
            <a:extLst>
              <a:ext uri="{FF2B5EF4-FFF2-40B4-BE49-F238E27FC236}">
                <a16:creationId xmlns:a16="http://schemas.microsoft.com/office/drawing/2014/main" id="{5F6B9361-1904-A0A2-8FDA-3A8A2A56D8C7}"/>
              </a:ext>
            </a:extLst>
          </p:cNvPr>
          <p:cNvSpPr>
            <a:spLocks noGrp="1"/>
          </p:cNvSpPr>
          <p:nvPr>
            <p:ph type="sldNum" sz="quarter" idx="4"/>
          </p:nvPr>
        </p:nvSpPr>
        <p:spPr/>
        <p:txBody>
          <a:bodyPr/>
          <a:lstStyle/>
          <a:p>
            <a:fld id="{6E6030FC-FB78-5E4D-92EA-5D9433591EA9}" type="slidenum">
              <a:rPr lang="en-US" smtClean="0"/>
              <a:pPr/>
              <a:t>15</a:t>
            </a:fld>
            <a:endParaRPr lang="en-US" dirty="0"/>
          </a:p>
        </p:txBody>
      </p:sp>
      <p:sp>
        <p:nvSpPr>
          <p:cNvPr id="5" name="Rectangle 1">
            <a:extLst>
              <a:ext uri="{FF2B5EF4-FFF2-40B4-BE49-F238E27FC236}">
                <a16:creationId xmlns:a16="http://schemas.microsoft.com/office/drawing/2014/main" id="{5EE4D477-E421-4ED6-1C79-DCA3076432E6}"/>
              </a:ext>
            </a:extLst>
          </p:cNvPr>
          <p:cNvSpPr>
            <a:spLocks noGrp="1" noChangeArrowheads="1"/>
          </p:cNvSpPr>
          <p:nvPr>
            <p:ph type="body" sz="quarter" idx="13"/>
          </p:nvPr>
        </p:nvSpPr>
        <p:spPr bwMode="auto">
          <a:xfrm>
            <a:off x="440385" y="1600200"/>
            <a:ext cx="1175161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212121"/>
                </a:solidFill>
                <a:effectLst/>
                <a:latin typeface="Calibri" panose="020F0502020204030204" pitchFamily="34" charset="0"/>
              </a:rPr>
              <a:t>The SSGT and API have been migrated to new subdomains </a:t>
            </a:r>
            <a:br>
              <a:rPr kumimoji="0" lang="en-US" altLang="en-US" sz="3600" b="0" i="0" u="none" strike="noStrike" cap="none" normalizeH="0" baseline="0" dirty="0">
                <a:ln>
                  <a:noFill/>
                </a:ln>
                <a:solidFill>
                  <a:srgbClr val="212121"/>
                </a:solidFill>
                <a:effectLst/>
                <a:latin typeface="Calibri" panose="020F0502020204030204" pitchFamily="34" charset="0"/>
              </a:rPr>
            </a:br>
            <a:r>
              <a:rPr kumimoji="0" lang="en-US" altLang="en-US" sz="3600" b="0" i="0" u="none" strike="noStrike" cap="none" normalizeH="0" baseline="0" dirty="0">
                <a:ln>
                  <a:noFill/>
                </a:ln>
                <a:solidFill>
                  <a:srgbClr val="212121"/>
                </a:solidFill>
                <a:effectLst/>
                <a:latin typeface="Calibri" panose="020F0502020204030204" pitchFamily="34" charset="0"/>
              </a:rPr>
              <a:t>                on </a:t>
            </a:r>
            <a:r>
              <a:rPr kumimoji="0" lang="en-US" altLang="en-US" sz="3600" b="0" i="0" u="none" strike="noStrike" cap="none" normalizeH="0" baseline="0" dirty="0" err="1">
                <a:ln>
                  <a:noFill/>
                </a:ln>
                <a:solidFill>
                  <a:srgbClr val="212121"/>
                </a:solidFill>
                <a:effectLst/>
                <a:latin typeface="Calibri" panose="020F0502020204030204" pitchFamily="34" charset="0"/>
              </a:rPr>
              <a:t>tools.niemopen.org</a:t>
            </a:r>
            <a:r>
              <a:rPr kumimoji="0" lang="en-US" altLang="en-US" sz="3600" b="0" i="0" u="none" strike="noStrike" cap="none" normalizeH="0" baseline="0" dirty="0">
                <a:ln>
                  <a:noFill/>
                </a:ln>
                <a:solidFill>
                  <a:srgbClr val="212121"/>
                </a:solidFill>
                <a:effectLst/>
                <a:latin typeface="Calibri" panose="020F0502020204030204" pitchFamily="34" charset="0"/>
              </a:rPr>
              <a:t> and </a:t>
            </a:r>
            <a:r>
              <a:rPr kumimoji="0" lang="en-US" altLang="en-US" sz="3600" b="0" i="0" u="none" strike="noStrike" cap="none" normalizeH="0" baseline="0" dirty="0" err="1">
                <a:ln>
                  <a:noFill/>
                </a:ln>
                <a:solidFill>
                  <a:srgbClr val="212121"/>
                </a:solidFill>
                <a:effectLst/>
                <a:latin typeface="Calibri" panose="020F0502020204030204" pitchFamily="34" charset="0"/>
              </a:rPr>
              <a:t>api.niemopen.org</a:t>
            </a:r>
            <a:r>
              <a:rPr kumimoji="0" lang="en-US" altLang="en-US" sz="3600" b="0" i="0" u="none" strike="noStrike" cap="none" normalizeH="0" baseline="0" dirty="0">
                <a:ln>
                  <a:noFill/>
                </a:ln>
                <a:solidFill>
                  <a:srgbClr val="212121"/>
                </a:solidFill>
                <a:effectLst/>
                <a:latin typeface="Calibri" panose="020F0502020204030204" pitchFamily="34" charset="0"/>
              </a:rPr>
              <a:t>.</a:t>
            </a:r>
          </a:p>
          <a:p>
            <a:pPr marL="0" lvl="0" indent="0" defTabSz="914400" eaLnBrk="0" fontAlgn="base" hangingPunct="0">
              <a:spcBef>
                <a:spcPct val="0"/>
              </a:spcBef>
              <a:spcAft>
                <a:spcPct val="0"/>
              </a:spcAft>
              <a:buClrTx/>
              <a:buFontTx/>
              <a:buChar char="•"/>
            </a:pPr>
            <a:r>
              <a:rPr kumimoji="0" lang="en-US" altLang="en-US" sz="3600" b="0" i="0" u="none" strike="noStrike" cap="none" normalizeH="0" baseline="0" dirty="0">
                <a:ln>
                  <a:noFill/>
                </a:ln>
                <a:solidFill>
                  <a:srgbClr val="212121"/>
                </a:solidFill>
                <a:effectLst/>
                <a:latin typeface="Calibri" panose="020F0502020204030204" pitchFamily="34" charset="0"/>
              </a:rPr>
              <a:t>The API has been updated to use the latest versions of CMF </a:t>
            </a:r>
            <a:br>
              <a:rPr kumimoji="0" lang="en-US" altLang="en-US" sz="3600" b="0" i="0" u="none" strike="noStrike" cap="none" normalizeH="0" baseline="0" dirty="0">
                <a:ln>
                  <a:noFill/>
                </a:ln>
                <a:solidFill>
                  <a:srgbClr val="212121"/>
                </a:solidFill>
                <a:effectLst/>
                <a:latin typeface="Calibri" panose="020F0502020204030204" pitchFamily="34" charset="0"/>
              </a:rPr>
            </a:br>
            <a:r>
              <a:rPr kumimoji="0" lang="en-US" altLang="en-US" sz="3600" b="0" i="0" u="none" strike="noStrike" cap="none" normalizeH="0" baseline="0" dirty="0">
                <a:ln>
                  <a:noFill/>
                </a:ln>
                <a:solidFill>
                  <a:srgbClr val="212121"/>
                </a:solidFill>
                <a:effectLst/>
                <a:latin typeface="Calibri" panose="020F0502020204030204" pitchFamily="34" charset="0"/>
              </a:rPr>
              <a:t>                and the CMF </a:t>
            </a:r>
            <a:r>
              <a:rPr lang="en-US" altLang="en-US" sz="3600" dirty="0">
                <a:solidFill>
                  <a:srgbClr val="212121"/>
                </a:solidFill>
                <a:latin typeface="Calibri" panose="020F0502020204030204" pitchFamily="34" charset="0"/>
              </a:rPr>
              <a:t>tool</a:t>
            </a:r>
            <a:endParaRPr kumimoji="0" lang="en-US" altLang="en-US" sz="3600" b="0" i="0" u="none" strike="noStrike" cap="none" normalizeH="0" baseline="0" dirty="0">
              <a:ln>
                <a:noFill/>
              </a:ln>
              <a:solidFill>
                <a:srgbClr val="212121"/>
              </a:solidFill>
              <a:effectLst/>
              <a:latin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rgbClr val="212121"/>
                </a:solidFill>
                <a:effectLst/>
                <a:latin typeface="Calibri" panose="020F0502020204030204" pitchFamily="34" charset="0"/>
              </a:rPr>
              <a:t>NIEM Toolbox has been updated to use the new API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3600" dirty="0">
                <a:solidFill>
                  <a:srgbClr val="212121"/>
                </a:solidFill>
                <a:latin typeface="Calibri" panose="020F0502020204030204" pitchFamily="34" charset="0"/>
              </a:rPr>
              <a:t>S</a:t>
            </a:r>
            <a:r>
              <a:rPr kumimoji="0" lang="en-US" altLang="en-US" sz="3600" b="0" i="0" u="none" strike="noStrike" cap="none" normalizeH="0" baseline="0" dirty="0">
                <a:ln>
                  <a:noFill/>
                </a:ln>
                <a:solidFill>
                  <a:srgbClr val="212121"/>
                </a:solidFill>
                <a:effectLst/>
                <a:latin typeface="Calibri" panose="020F0502020204030204" pitchFamily="34" charset="0"/>
              </a:rPr>
              <a:t>ubset support in the API and NIEM Toolbox are in progress. </a:t>
            </a:r>
            <a:endParaRPr kumimoji="0" lang="en-US" altLang="en-US" sz="3600" b="0" i="0" u="none" strike="noStrike" cap="none" normalizeH="0" baseline="0" dirty="0">
              <a:ln>
                <a:noFill/>
              </a:ln>
              <a:solidFill>
                <a:srgbClr val="21212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17680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8624-C9EF-CBC2-5F4E-823E1DB8E762}"/>
              </a:ext>
            </a:extLst>
          </p:cNvPr>
          <p:cNvSpPr>
            <a:spLocks noGrp="1"/>
          </p:cNvSpPr>
          <p:nvPr>
            <p:ph type="title"/>
          </p:nvPr>
        </p:nvSpPr>
        <p:spPr/>
        <p:txBody>
          <a:bodyPr/>
          <a:lstStyle/>
          <a:p>
            <a:r>
              <a:rPr lang="en-US" dirty="0"/>
              <a:t>NBAC Update</a:t>
            </a:r>
          </a:p>
        </p:txBody>
      </p:sp>
      <p:sp>
        <p:nvSpPr>
          <p:cNvPr id="3" name="Text Placeholder 2">
            <a:extLst>
              <a:ext uri="{FF2B5EF4-FFF2-40B4-BE49-F238E27FC236}">
                <a16:creationId xmlns:a16="http://schemas.microsoft.com/office/drawing/2014/main" id="{653E4DA8-31AC-CD85-6023-508A0235BD1E}"/>
              </a:ext>
            </a:extLst>
          </p:cNvPr>
          <p:cNvSpPr>
            <a:spLocks noGrp="1"/>
          </p:cNvSpPr>
          <p:nvPr>
            <p:ph type="body" sz="quarter" idx="13"/>
          </p:nvPr>
        </p:nvSpPr>
        <p:spPr/>
        <p:txBody>
          <a:bodyPr/>
          <a:lstStyle/>
          <a:p>
            <a:r>
              <a:rPr lang="en-US" sz="3200" dirty="0"/>
              <a:t>Onboarding Forensics Domain</a:t>
            </a:r>
          </a:p>
          <a:p>
            <a:r>
              <a:rPr lang="en-US" sz="3200" dirty="0"/>
              <a:t>Forming Analytical Labs domain</a:t>
            </a:r>
          </a:p>
          <a:p>
            <a:r>
              <a:rPr lang="en-US" sz="3200" dirty="0"/>
              <a:t>Discussing and developing the harmonization process</a:t>
            </a:r>
          </a:p>
          <a:p>
            <a:r>
              <a:rPr lang="en-US" sz="3200" dirty="0"/>
              <a:t>Exploring Additional Domains</a:t>
            </a:r>
          </a:p>
          <a:p>
            <a:pPr lvl="1"/>
            <a:r>
              <a:rPr lang="en-US" sz="2800" dirty="0"/>
              <a:t>Identity management</a:t>
            </a:r>
          </a:p>
          <a:p>
            <a:pPr lvl="1"/>
            <a:r>
              <a:rPr lang="en-US" sz="2800" dirty="0"/>
              <a:t>Statistics</a:t>
            </a:r>
          </a:p>
          <a:p>
            <a:pPr lvl="1"/>
            <a:r>
              <a:rPr lang="en-US" sz="2800" dirty="0"/>
              <a:t>Utilities</a:t>
            </a:r>
          </a:p>
          <a:p>
            <a:pPr lvl="1"/>
            <a:r>
              <a:rPr lang="en-US" sz="2800" dirty="0"/>
              <a:t>Government Finance</a:t>
            </a:r>
            <a:endParaRPr lang="en-US" dirty="0"/>
          </a:p>
        </p:txBody>
      </p:sp>
      <p:sp>
        <p:nvSpPr>
          <p:cNvPr id="4" name="Slide Number Placeholder 3">
            <a:extLst>
              <a:ext uri="{FF2B5EF4-FFF2-40B4-BE49-F238E27FC236}">
                <a16:creationId xmlns:a16="http://schemas.microsoft.com/office/drawing/2014/main" id="{16ABC376-C4AE-D3E9-7464-BC2A095FCEC2}"/>
              </a:ext>
            </a:extLst>
          </p:cNvPr>
          <p:cNvSpPr>
            <a:spLocks noGrp="1"/>
          </p:cNvSpPr>
          <p:nvPr>
            <p:ph type="sldNum" sz="quarter" idx="4"/>
          </p:nvPr>
        </p:nvSpPr>
        <p:spPr/>
        <p:txBody>
          <a:bodyPr/>
          <a:lstStyle/>
          <a:p>
            <a:fld id="{6E6030FC-FB78-5E4D-92EA-5D9433591EA9}" type="slidenum">
              <a:rPr lang="en-US" smtClean="0"/>
              <a:pPr/>
              <a:t>16</a:t>
            </a:fld>
            <a:endParaRPr lang="en-US" dirty="0"/>
          </a:p>
        </p:txBody>
      </p:sp>
    </p:spTree>
    <p:extLst>
      <p:ext uri="{BB962C8B-B14F-4D97-AF65-F5344CB8AC3E}">
        <p14:creationId xmlns:p14="http://schemas.microsoft.com/office/powerpoint/2010/main" val="2551447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a:avLst/>
          </a:prstGeom>
        </p:spPr>
        <p:txBody>
          <a:bodyPr vert="horz" wrap="square" lIns="0" tIns="12065" rIns="0" bIns="0" rtlCol="0">
            <a:spAutoFit/>
          </a:bodyPr>
          <a:lstStyle/>
          <a:p>
            <a:pPr marL="12700">
              <a:lnSpc>
                <a:spcPct val="100000"/>
              </a:lnSpc>
              <a:spcBef>
                <a:spcPts val="95"/>
              </a:spcBef>
            </a:pPr>
            <a:r>
              <a:rPr dirty="0"/>
              <a:t>CY</a:t>
            </a:r>
            <a:r>
              <a:rPr spc="-105" dirty="0"/>
              <a:t> </a:t>
            </a:r>
            <a:r>
              <a:rPr dirty="0"/>
              <a:t>202</a:t>
            </a:r>
            <a:r>
              <a:rPr lang="en-US" dirty="0"/>
              <a:t>5</a:t>
            </a:r>
            <a:r>
              <a:rPr spc="-30" dirty="0"/>
              <a:t> </a:t>
            </a:r>
            <a:r>
              <a:rPr dirty="0"/>
              <a:t>Q</a:t>
            </a:r>
            <a:r>
              <a:rPr lang="en-US" dirty="0"/>
              <a:t>3</a:t>
            </a:r>
            <a:r>
              <a:rPr spc="-45" dirty="0"/>
              <a:t> </a:t>
            </a:r>
            <a:r>
              <a:rPr spc="-10" dirty="0"/>
              <a:t>FINANCIALS</a:t>
            </a:r>
          </a:p>
        </p:txBody>
      </p:sp>
      <p:sp>
        <p:nvSpPr>
          <p:cNvPr id="3" name="object 3"/>
          <p:cNvSpPr txBox="1"/>
          <p:nvPr/>
        </p:nvSpPr>
        <p:spPr>
          <a:xfrm>
            <a:off x="530758" y="1937765"/>
            <a:ext cx="3364229" cy="546735"/>
          </a:xfrm>
          <a:prstGeom prst="rect">
            <a:avLst/>
          </a:prstGeom>
        </p:spPr>
        <p:txBody>
          <a:bodyPr vert="horz" wrap="square" lIns="0" tIns="43815" rIns="0" bIns="0" rtlCol="0">
            <a:spAutoFit/>
          </a:bodyPr>
          <a:lstStyle/>
          <a:p>
            <a:pPr marL="12700" marR="5080">
              <a:lnSpc>
                <a:spcPts val="1939"/>
              </a:lnSpc>
              <a:spcBef>
                <a:spcPts val="345"/>
              </a:spcBef>
            </a:pPr>
            <a:r>
              <a:rPr sz="1800" b="1" dirty="0">
                <a:solidFill>
                  <a:srgbClr val="454545"/>
                </a:solidFill>
                <a:latin typeface="Arial"/>
                <a:cs typeface="Arial"/>
              </a:rPr>
              <a:t>Ms.</a:t>
            </a:r>
            <a:r>
              <a:rPr sz="1800" b="1" spc="-15" dirty="0">
                <a:solidFill>
                  <a:srgbClr val="454545"/>
                </a:solidFill>
                <a:latin typeface="Arial"/>
                <a:cs typeface="Arial"/>
              </a:rPr>
              <a:t> </a:t>
            </a:r>
            <a:r>
              <a:rPr sz="1800" b="1" dirty="0">
                <a:solidFill>
                  <a:srgbClr val="454545"/>
                </a:solidFill>
                <a:latin typeface="Arial"/>
                <a:cs typeface="Arial"/>
              </a:rPr>
              <a:t>Cathie</a:t>
            </a:r>
            <a:r>
              <a:rPr sz="1800" b="1" spc="-15" dirty="0">
                <a:solidFill>
                  <a:srgbClr val="454545"/>
                </a:solidFill>
                <a:latin typeface="Arial"/>
                <a:cs typeface="Arial"/>
              </a:rPr>
              <a:t> </a:t>
            </a:r>
            <a:r>
              <a:rPr sz="1800" b="1" dirty="0">
                <a:solidFill>
                  <a:srgbClr val="454545"/>
                </a:solidFill>
                <a:latin typeface="Arial"/>
                <a:cs typeface="Arial"/>
              </a:rPr>
              <a:t>Mayo</a:t>
            </a:r>
            <a:r>
              <a:rPr sz="1800" b="1" spc="5" dirty="0">
                <a:solidFill>
                  <a:srgbClr val="454545"/>
                </a:solidFill>
                <a:latin typeface="Arial"/>
                <a:cs typeface="Arial"/>
              </a:rPr>
              <a:t> </a:t>
            </a:r>
            <a:r>
              <a:rPr sz="1800" dirty="0">
                <a:solidFill>
                  <a:srgbClr val="454545"/>
                </a:solidFill>
                <a:latin typeface="Arial"/>
                <a:cs typeface="Arial"/>
              </a:rPr>
              <a:t>–</a:t>
            </a:r>
            <a:r>
              <a:rPr sz="1800" spc="-20" dirty="0">
                <a:solidFill>
                  <a:srgbClr val="454545"/>
                </a:solidFill>
                <a:latin typeface="Arial"/>
                <a:cs typeface="Arial"/>
              </a:rPr>
              <a:t> </a:t>
            </a:r>
            <a:r>
              <a:rPr sz="1800" dirty="0">
                <a:solidFill>
                  <a:srgbClr val="454545"/>
                </a:solidFill>
                <a:latin typeface="Arial"/>
                <a:cs typeface="Arial"/>
              </a:rPr>
              <a:t>OASIS</a:t>
            </a:r>
            <a:r>
              <a:rPr sz="1800" spc="-25" dirty="0">
                <a:solidFill>
                  <a:srgbClr val="454545"/>
                </a:solidFill>
                <a:latin typeface="Arial"/>
                <a:cs typeface="Arial"/>
              </a:rPr>
              <a:t> </a:t>
            </a:r>
            <a:r>
              <a:rPr sz="1800" spc="-10" dirty="0">
                <a:solidFill>
                  <a:srgbClr val="454545"/>
                </a:solidFill>
                <a:latin typeface="Arial"/>
                <a:cs typeface="Arial"/>
              </a:rPr>
              <a:t>Chief </a:t>
            </a:r>
            <a:r>
              <a:rPr sz="1800" dirty="0">
                <a:solidFill>
                  <a:srgbClr val="454545"/>
                </a:solidFill>
                <a:latin typeface="Arial"/>
                <a:cs typeface="Arial"/>
              </a:rPr>
              <a:t>Financial</a:t>
            </a:r>
            <a:r>
              <a:rPr sz="1800" spc="-35" dirty="0">
                <a:solidFill>
                  <a:srgbClr val="454545"/>
                </a:solidFill>
                <a:latin typeface="Arial"/>
                <a:cs typeface="Arial"/>
              </a:rPr>
              <a:t> </a:t>
            </a:r>
            <a:r>
              <a:rPr sz="1800" spc="-10" dirty="0">
                <a:solidFill>
                  <a:srgbClr val="454545"/>
                </a:solidFill>
                <a:latin typeface="Arial"/>
                <a:cs typeface="Arial"/>
              </a:rPr>
              <a:t>Officer</a:t>
            </a:r>
            <a:endParaRPr sz="1800">
              <a:latin typeface="Arial"/>
              <a:cs typeface="Arial"/>
            </a:endParaRPr>
          </a:p>
        </p:txBody>
      </p:sp>
      <p:pic>
        <p:nvPicPr>
          <p:cNvPr id="4" name="object 4"/>
          <p:cNvPicPr/>
          <p:nvPr/>
        </p:nvPicPr>
        <p:blipFill>
          <a:blip r:embed="rId2" cstate="email">
            <a:extLst>
              <a:ext uri="{28A0092B-C50C-407E-A947-70E740481C1C}">
                <a14:useLocalDpi xmlns:a14="http://schemas.microsoft.com/office/drawing/2010/main"/>
              </a:ext>
            </a:extLst>
          </a:blip>
          <a:stretch>
            <a:fillRect/>
          </a:stretch>
        </p:blipFill>
        <p:spPr>
          <a:xfrm>
            <a:off x="4061459" y="1711451"/>
            <a:ext cx="1668780" cy="1735836"/>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18</a:t>
            </a:fld>
            <a:endParaRPr spc="-25" dirty="0"/>
          </a:p>
        </p:txBody>
      </p:sp>
      <p:sp>
        <p:nvSpPr>
          <p:cNvPr id="5" name="object 2">
            <a:extLst>
              <a:ext uri="{FF2B5EF4-FFF2-40B4-BE49-F238E27FC236}">
                <a16:creationId xmlns:a16="http://schemas.microsoft.com/office/drawing/2014/main" id="{9BDEE009-370B-2F45-B7D0-73B685504D65}"/>
              </a:ext>
            </a:extLst>
          </p:cNvPr>
          <p:cNvSpPr txBox="1">
            <a:spLocks/>
          </p:cNvSpPr>
          <p:nvPr/>
        </p:nvSpPr>
        <p:spPr>
          <a:xfrm>
            <a:off x="688340" y="326593"/>
            <a:ext cx="4225925" cy="381515"/>
          </a:xfrm>
          <a:prstGeom prst="rect">
            <a:avLst/>
          </a:prstGeom>
        </p:spPr>
        <p:txBody>
          <a:bodyPr vert="horz" wrap="square" lIns="0" tIns="12065" rIns="0" bIns="0" rtlCol="0">
            <a:spAutoFit/>
          </a:bodyPr>
          <a:lstStyle>
            <a:lvl1pPr>
              <a:defRPr>
                <a:latin typeface="+mj-lt"/>
                <a:ea typeface="+mj-ea"/>
                <a:cs typeface="+mj-cs"/>
              </a:defRPr>
            </a:lvl1pPr>
          </a:lstStyle>
          <a:p>
            <a:pPr marL="12700">
              <a:spcBef>
                <a:spcPts val="95"/>
              </a:spcBef>
            </a:pPr>
            <a:r>
              <a:rPr lang="en-US" sz="2400" b="1" dirty="0"/>
              <a:t>CY/FY</a:t>
            </a:r>
            <a:r>
              <a:rPr lang="en-US" sz="2400" b="1" spc="-105" dirty="0"/>
              <a:t> </a:t>
            </a:r>
            <a:r>
              <a:rPr lang="en-US" sz="2400" b="1" dirty="0"/>
              <a:t>2025</a:t>
            </a:r>
            <a:r>
              <a:rPr lang="en-US" sz="2400" b="1" spc="-30" dirty="0"/>
              <a:t> </a:t>
            </a:r>
            <a:r>
              <a:rPr lang="en-US" sz="2400" b="1" dirty="0"/>
              <a:t>Q3</a:t>
            </a:r>
            <a:r>
              <a:rPr lang="en-US" sz="2400" b="1" spc="-45" dirty="0"/>
              <a:t> </a:t>
            </a:r>
            <a:r>
              <a:rPr lang="en-US" sz="2400" b="1" spc="-10" dirty="0"/>
              <a:t>FINANCIALS</a:t>
            </a:r>
          </a:p>
        </p:txBody>
      </p:sp>
      <p:sp>
        <p:nvSpPr>
          <p:cNvPr id="8" name="Rectangle 2">
            <a:extLst>
              <a:ext uri="{FF2B5EF4-FFF2-40B4-BE49-F238E27FC236}">
                <a16:creationId xmlns:a16="http://schemas.microsoft.com/office/drawing/2014/main" id="{421D6791-383D-87AA-57AF-B762EF624BF4}"/>
              </a:ext>
            </a:extLst>
          </p:cNvPr>
          <p:cNvSpPr>
            <a:spLocks noChangeArrowheads="1"/>
          </p:cNvSpPr>
          <p:nvPr/>
        </p:nvSpPr>
        <p:spPr bwMode="auto">
          <a:xfrm>
            <a:off x="19431000" y="2222938"/>
            <a:ext cx="4870695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a:ln>
                  <a:noFill/>
                </a:ln>
                <a:solidFill>
                  <a:schemeClr val="tx1"/>
                </a:solidFill>
                <a:effectLst/>
                <a:latin typeface="Times New Roman" panose="02020603050405020304" pitchFamily="18" charset="0"/>
              </a:rPr>
            </a:br>
            <a:endParaRPr kumimoji="0" lang="en-US" altLang="en-US" sz="20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AF103A1A-DD4D-D5E3-0885-8743746008FA}"/>
              </a:ext>
            </a:extLst>
          </p:cNvPr>
          <p:cNvSpPr txBox="1"/>
          <p:nvPr/>
        </p:nvSpPr>
        <p:spPr>
          <a:xfrm>
            <a:off x="17033875" y="351235"/>
            <a:ext cx="34067750" cy="6155531"/>
          </a:xfrm>
          <a:prstGeom prst="rect">
            <a:avLst/>
          </a:prstGeom>
          <a:noFill/>
        </p:spPr>
        <p:txBody>
          <a:bodyPr wrap="square">
            <a:spAutoFit/>
          </a:bodyPr>
          <a:lstStyle/>
          <a:p>
            <a:endParaRPr lang="en-US" sz="800" b="0" i="0" u="none" strike="noStrike" baseline="0" dirty="0">
              <a:latin typeface="Times New Roman" panose="02020603050405020304" pitchFamily="18" charset="0"/>
            </a:endParaRPr>
          </a:p>
          <a:p>
            <a:pPr marR="760" algn="ctr"/>
            <a:r>
              <a:rPr lang="en-US" sz="1600" b="1" i="1" u="none" strike="noStrike" baseline="0" dirty="0">
                <a:solidFill>
                  <a:srgbClr val="010101"/>
                </a:solidFill>
                <a:latin typeface="Arial" panose="020B0604020202020204" pitchFamily="34" charset="0"/>
              </a:rPr>
              <a:t>Fy2024 Balance Forward	</a:t>
            </a:r>
            <a:r>
              <a:rPr lang="en-US" sz="1800" b="0" i="1" u="none" strike="noStrike" baseline="0" dirty="0">
                <a:solidFill>
                  <a:srgbClr val="010101"/>
                </a:solidFill>
                <a:latin typeface="Arial" panose="020B0604020202020204" pitchFamily="34" charset="0"/>
              </a:rPr>
              <a:t>$   </a:t>
            </a:r>
            <a:r>
              <a:rPr lang="en-US" sz="1600" b="1" i="1" u="none" strike="noStrike" baseline="30000" dirty="0">
                <a:solidFill>
                  <a:srgbClr val="010101"/>
                </a:solidFill>
                <a:latin typeface="Arial" panose="020B0604020202020204" pitchFamily="34" charset="0"/>
              </a:rPr>
              <a:t>143,822.81	</a:t>
            </a:r>
            <a:endParaRPr lang="en-US" sz="800" b="0" i="0" u="none" strike="noStrike" baseline="0" dirty="0">
              <a:solidFill>
                <a:srgbClr val="010101"/>
              </a:solidFill>
              <a:latin typeface="Times New Roman" panose="02020603050405020304" pitchFamily="18" charset="0"/>
            </a:endParaRPr>
          </a:p>
          <a:p>
            <a:r>
              <a:rPr lang="en-US" sz="1600" b="0" i="0" u="none" strike="noStrike" baseline="0" dirty="0">
                <a:latin typeface="Times New Roman" panose="02020603050405020304" pitchFamily="18" charset="0"/>
              </a:rPr>
              <a:t>		</a:t>
            </a:r>
            <a:endParaRPr lang="en-US" sz="800" b="0" i="0" u="none" strike="noStrike" baseline="0" dirty="0">
              <a:latin typeface="Times New Roman" panose="02020603050405020304" pitchFamily="18" charset="0"/>
            </a:endParaRPr>
          </a:p>
          <a:p>
            <a:endParaRPr lang="en-US" sz="1800" b="0" i="0" u="none" strike="noStrike" baseline="0" dirty="0">
              <a:latin typeface="Times New Roman" panose="02020603050405020304" pitchFamily="18" charset="0"/>
            </a:endParaRPr>
          </a:p>
          <a:p>
            <a:r>
              <a:rPr lang="en-US" sz="1800" b="0" i="0" u="none" strike="noStrike" baseline="0" dirty="0">
                <a:solidFill>
                  <a:srgbClr val="010101"/>
                </a:solidFill>
                <a:latin typeface="Arial" panose="020B0604020202020204" pitchFamily="34" charset="0"/>
              </a:rPr>
              <a:t>y2025 Funding	</a:t>
            </a:r>
            <a:r>
              <a:rPr lang="en-US" sz="1600" b="0" i="0" u="none" strike="noStrike" baseline="0" dirty="0">
                <a:solidFill>
                  <a:srgbClr val="010101"/>
                </a:solidFill>
                <a:latin typeface="Times New Roman" panose="02020603050405020304" pitchFamily="18" charset="0"/>
              </a:rPr>
              <a:t>	</a:t>
            </a:r>
            <a:endParaRPr lang="en-US" sz="800" b="0" i="0" u="none" strike="noStrike" baseline="0" dirty="0">
              <a:solidFill>
                <a:srgbClr val="010101"/>
              </a:solidFill>
              <a:latin typeface="Times New Roman" panose="02020603050405020304" pitchFamily="18" charset="0"/>
            </a:endParaRPr>
          </a:p>
          <a:p>
            <a:pPr marR="620" algn="ctr"/>
            <a:r>
              <a:rPr lang="en-US" sz="1800" b="0" i="0" u="none" strike="noStrike" baseline="0" dirty="0">
                <a:solidFill>
                  <a:srgbClr val="010101"/>
                </a:solidFill>
                <a:latin typeface="Arial" panose="020B0604020202020204" pitchFamily="34" charset="0"/>
              </a:rPr>
              <a:t>2025- Ql	$      20,000	</a:t>
            </a:r>
            <a:endParaRPr lang="en-US" sz="800" b="0" i="0" u="none" strike="noStrike" baseline="0" dirty="0">
              <a:solidFill>
                <a:srgbClr val="010101"/>
              </a:solidFill>
              <a:latin typeface="Times New Roman" panose="02020603050405020304" pitchFamily="18" charset="0"/>
            </a:endParaRPr>
          </a:p>
          <a:p>
            <a:pPr marR="620" algn="ctr"/>
            <a:r>
              <a:rPr lang="en-US" sz="1800" b="0" i="0" u="none" strike="noStrike" baseline="0" dirty="0">
                <a:solidFill>
                  <a:srgbClr val="010101"/>
                </a:solidFill>
                <a:latin typeface="Arial" panose="020B0604020202020204" pitchFamily="34" charset="0"/>
              </a:rPr>
              <a:t>2025- Q2	$      </a:t>
            </a:r>
            <a:r>
              <a:rPr lang="en-US" sz="1800" b="0" i="0" u="none" strike="noStrike" baseline="30000" dirty="0">
                <a:solidFill>
                  <a:srgbClr val="010101"/>
                </a:solidFill>
                <a:latin typeface="Arial" panose="020B0604020202020204" pitchFamily="34" charset="0"/>
              </a:rPr>
              <a:t>20,000	</a:t>
            </a:r>
            <a:endParaRPr lang="en-US" sz="800" b="0" i="0" u="none" strike="noStrike" baseline="0" dirty="0">
              <a:solidFill>
                <a:srgbClr val="010101"/>
              </a:solidFill>
              <a:latin typeface="Times New Roman" panose="02020603050405020304" pitchFamily="18" charset="0"/>
            </a:endParaRPr>
          </a:p>
          <a:p>
            <a:pPr marR="520" algn="ctr"/>
            <a:r>
              <a:rPr lang="en-US" sz="1800" b="0" i="0" u="none" strike="noStrike" baseline="0" dirty="0">
                <a:solidFill>
                  <a:srgbClr val="010101"/>
                </a:solidFill>
                <a:latin typeface="Arial" panose="020B0604020202020204" pitchFamily="34" charset="0"/>
              </a:rPr>
              <a:t>2025- Q3	$      44,000	</a:t>
            </a:r>
            <a:endParaRPr lang="en-US" sz="800" b="0" i="0" u="none" strike="noStrike" baseline="0" dirty="0">
              <a:solidFill>
                <a:srgbClr val="010101"/>
              </a:solidFill>
              <a:latin typeface="Times New Roman" panose="02020603050405020304" pitchFamily="18" charset="0"/>
            </a:endParaRPr>
          </a:p>
          <a:p>
            <a:pPr marR="540" algn="ctr"/>
            <a:r>
              <a:rPr lang="en-US" sz="1800" b="0" i="0" u="none" strike="noStrike" baseline="0" dirty="0">
                <a:solidFill>
                  <a:srgbClr val="010101"/>
                </a:solidFill>
                <a:latin typeface="Arial" panose="020B0604020202020204" pitchFamily="34" charset="0"/>
              </a:rPr>
              <a:t>2025- Q4 YTD	$      1,300	</a:t>
            </a:r>
            <a:endParaRPr lang="en-US" sz="800" b="0" i="0" u="none" strike="noStrike" baseline="0" dirty="0">
              <a:solidFill>
                <a:srgbClr val="010101"/>
              </a:solidFill>
              <a:latin typeface="Times New Roman" panose="02020603050405020304" pitchFamily="18" charset="0"/>
            </a:endParaRPr>
          </a:p>
          <a:p>
            <a:pPr marR="600" algn="ctr"/>
            <a:r>
              <a:rPr lang="en-US" sz="1800" b="1" i="0" u="none" strike="noStrike" baseline="0" dirty="0">
                <a:solidFill>
                  <a:srgbClr val="010101"/>
                </a:solidFill>
                <a:latin typeface="Arial" panose="020B0604020202020204" pitchFamily="34" charset="0"/>
              </a:rPr>
              <a:t>Fy2025 Funding	</a:t>
            </a:r>
            <a:r>
              <a:rPr lang="en-US" sz="1800" b="0" i="0" u="none" strike="noStrike" baseline="0" dirty="0">
                <a:solidFill>
                  <a:srgbClr val="010101"/>
                </a:solidFill>
                <a:latin typeface="Arial" panose="020B0604020202020204" pitchFamily="34" charset="0"/>
              </a:rPr>
              <a:t>$     </a:t>
            </a:r>
            <a:r>
              <a:rPr lang="en-US" sz="1800" b="1" i="0" u="none" strike="noStrike" baseline="30000" dirty="0">
                <a:solidFill>
                  <a:srgbClr val="010101"/>
                </a:solidFill>
                <a:latin typeface="Arial" panose="020B0604020202020204" pitchFamily="34" charset="0"/>
              </a:rPr>
              <a:t>85,300	</a:t>
            </a:r>
            <a:endParaRPr lang="en-US" sz="800" b="0" i="0" u="none" strike="noStrike" baseline="0" dirty="0">
              <a:solidFill>
                <a:srgbClr val="010101"/>
              </a:solidFill>
              <a:latin typeface="Times New Roman" panose="02020603050405020304" pitchFamily="18" charset="0"/>
            </a:endParaRPr>
          </a:p>
          <a:p>
            <a:r>
              <a:rPr lang="en-US" sz="1400" b="0" i="0" u="none" strike="noStrike" baseline="0" dirty="0">
                <a:latin typeface="Times New Roman" panose="02020603050405020304" pitchFamily="18" charset="0"/>
              </a:rPr>
              <a:t>		</a:t>
            </a:r>
            <a:endParaRPr lang="en-US" sz="800" b="0" i="0" u="none" strike="noStrike" baseline="0" dirty="0">
              <a:latin typeface="Times New Roman" panose="02020603050405020304" pitchFamily="18" charset="0"/>
            </a:endParaRPr>
          </a:p>
          <a:p>
            <a:pPr marR="610" algn="ctr"/>
            <a:r>
              <a:rPr lang="en-US" sz="1800" b="1" i="0" u="none" strike="noStrike" baseline="0" dirty="0">
                <a:solidFill>
                  <a:srgbClr val="010101"/>
                </a:solidFill>
                <a:latin typeface="Arial" panose="020B0604020202020204" pitchFamily="34" charset="0"/>
              </a:rPr>
              <a:t>Fy2025 Total Funds Available YTD	</a:t>
            </a:r>
            <a:r>
              <a:rPr lang="en-US" sz="1800" b="0" i="0" u="none" strike="noStrike" baseline="0" dirty="0">
                <a:solidFill>
                  <a:srgbClr val="010101"/>
                </a:solidFill>
                <a:latin typeface="Arial" panose="020B0604020202020204" pitchFamily="34" charset="0"/>
              </a:rPr>
              <a:t>$     </a:t>
            </a:r>
            <a:r>
              <a:rPr lang="en-US" sz="1800" b="1" i="0" u="none" strike="noStrike" baseline="30000" dirty="0">
                <a:solidFill>
                  <a:srgbClr val="010101"/>
                </a:solidFill>
                <a:latin typeface="Arial" panose="020B0604020202020204" pitchFamily="34" charset="0"/>
              </a:rPr>
              <a:t>229,123	</a:t>
            </a:r>
            <a:endParaRPr lang="en-US" sz="800" b="0" i="0" u="none" strike="noStrike" baseline="0" dirty="0">
              <a:solidFill>
                <a:srgbClr val="010101"/>
              </a:solidFill>
              <a:latin typeface="Times New Roman" panose="02020603050405020304" pitchFamily="18" charset="0"/>
            </a:endParaRPr>
          </a:p>
          <a:p>
            <a:r>
              <a:rPr lang="en-US" sz="1600" b="0" i="0" u="none" strike="noStrike" baseline="0" dirty="0">
                <a:latin typeface="Times New Roman" panose="02020603050405020304" pitchFamily="18" charset="0"/>
              </a:rPr>
              <a:t>		</a:t>
            </a:r>
            <a:endParaRPr lang="en-US" sz="800" b="0" i="0" u="none" strike="noStrike" baseline="0" dirty="0">
              <a:latin typeface="Times New Roman" panose="02020603050405020304" pitchFamily="18" charset="0"/>
            </a:endParaRPr>
          </a:p>
          <a:p>
            <a:r>
              <a:rPr lang="en-US" sz="1800" b="0" i="0" u="none" strike="noStrike" baseline="0" dirty="0">
                <a:solidFill>
                  <a:srgbClr val="010101"/>
                </a:solidFill>
                <a:latin typeface="Arial" panose="020B0604020202020204" pitchFamily="34" charset="0"/>
              </a:rPr>
              <a:t>Expenditures	</a:t>
            </a:r>
            <a:r>
              <a:rPr lang="en-US" sz="1600" b="0" i="0" u="none" strike="noStrike" baseline="0" dirty="0">
                <a:solidFill>
                  <a:srgbClr val="010101"/>
                </a:solidFill>
                <a:latin typeface="Times New Roman" panose="02020603050405020304" pitchFamily="18" charset="0"/>
              </a:rPr>
              <a:t>	</a:t>
            </a:r>
            <a:endParaRPr lang="en-US" sz="800" b="0" i="0" u="none" strike="noStrike" baseline="0" dirty="0">
              <a:solidFill>
                <a:srgbClr val="010101"/>
              </a:solidFill>
              <a:latin typeface="Times New Roman" panose="02020603050405020304" pitchFamily="18" charset="0"/>
            </a:endParaRPr>
          </a:p>
          <a:p>
            <a:pPr marR="40" algn="ctr"/>
            <a:r>
              <a:rPr lang="en-US" sz="1800" b="0" i="0" u="none" strike="noStrike" baseline="0" dirty="0">
                <a:solidFill>
                  <a:srgbClr val="010101"/>
                </a:solidFill>
                <a:latin typeface="Arial" panose="020B0604020202020204" pitchFamily="34" charset="0"/>
              </a:rPr>
              <a:t>2025- Ql	$      (3,025)	</a:t>
            </a:r>
            <a:endParaRPr lang="en-US" sz="800" b="0" i="0" u="none" strike="noStrike" baseline="0" dirty="0">
              <a:solidFill>
                <a:srgbClr val="010101"/>
              </a:solidFill>
              <a:latin typeface="Times New Roman" panose="02020603050405020304" pitchFamily="18" charset="0"/>
            </a:endParaRPr>
          </a:p>
          <a:p>
            <a:pPr marR="40" algn="ctr"/>
            <a:r>
              <a:rPr lang="en-US" sz="1800" b="0" i="0" u="none" strike="noStrike" baseline="0" dirty="0">
                <a:solidFill>
                  <a:srgbClr val="010101"/>
                </a:solidFill>
                <a:latin typeface="Arial" panose="020B0604020202020204" pitchFamily="34" charset="0"/>
              </a:rPr>
              <a:t>2025- Q2	$      (4,644)	</a:t>
            </a:r>
            <a:endParaRPr lang="en-US" sz="800" b="0" i="0" u="none" strike="noStrike" baseline="0" dirty="0">
              <a:solidFill>
                <a:srgbClr val="010101"/>
              </a:solidFill>
              <a:latin typeface="Times New Roman" panose="02020603050405020304" pitchFamily="18" charset="0"/>
            </a:endParaRPr>
          </a:p>
          <a:p>
            <a:pPr marR="40" algn="ctr"/>
            <a:r>
              <a:rPr lang="en-US" sz="1800" b="0" i="0" u="none" strike="noStrike" baseline="0" dirty="0">
                <a:solidFill>
                  <a:srgbClr val="010101"/>
                </a:solidFill>
                <a:latin typeface="Arial" panose="020B0604020202020204" pitchFamily="34" charset="0"/>
              </a:rPr>
              <a:t>2025- Q3	$      (3,109)	</a:t>
            </a:r>
            <a:endParaRPr lang="en-US" sz="800" b="0" i="0" u="none" strike="noStrike" baseline="0" dirty="0">
              <a:solidFill>
                <a:srgbClr val="010101"/>
              </a:solidFill>
              <a:latin typeface="Times New Roman" panose="02020603050405020304" pitchFamily="18" charset="0"/>
            </a:endParaRPr>
          </a:p>
          <a:p>
            <a:pPr marR="40" algn="ctr"/>
            <a:r>
              <a:rPr lang="en-US" sz="1800" b="0" i="0" u="none" strike="noStrike" baseline="0" dirty="0">
                <a:solidFill>
                  <a:srgbClr val="010101"/>
                </a:solidFill>
                <a:latin typeface="Arial" panose="020B0604020202020204" pitchFamily="34" charset="0"/>
              </a:rPr>
              <a:t>2025- Q4 YTD	$      (4,682)	</a:t>
            </a:r>
            <a:endParaRPr lang="en-US" sz="800" b="0" i="0" u="none" strike="noStrike" baseline="0" dirty="0">
              <a:solidFill>
                <a:srgbClr val="010101"/>
              </a:solidFill>
              <a:latin typeface="Times New Roman" panose="02020603050405020304" pitchFamily="18" charset="0"/>
            </a:endParaRPr>
          </a:p>
          <a:p>
            <a:pPr algn="ctr"/>
            <a:r>
              <a:rPr lang="en-US" sz="1800" b="1" i="0" u="none" strike="noStrike" baseline="0" dirty="0">
                <a:solidFill>
                  <a:srgbClr val="010101"/>
                </a:solidFill>
                <a:latin typeface="Arial" panose="020B0604020202020204" pitchFamily="34" charset="0"/>
              </a:rPr>
              <a:t>Fy2025 Expenses	</a:t>
            </a:r>
            <a:r>
              <a:rPr lang="en-US" sz="1800" b="0" i="0" u="none" strike="noStrike" baseline="0" dirty="0">
                <a:solidFill>
                  <a:srgbClr val="010101"/>
                </a:solidFill>
                <a:latin typeface="Arial" panose="020B0604020202020204" pitchFamily="34" charset="0"/>
              </a:rPr>
              <a:t>$     </a:t>
            </a:r>
            <a:r>
              <a:rPr lang="en-US" sz="1800" b="1" i="0" u="none" strike="noStrike" baseline="30000" dirty="0">
                <a:solidFill>
                  <a:srgbClr val="010101"/>
                </a:solidFill>
                <a:latin typeface="Arial" panose="020B0604020202020204" pitchFamily="34" charset="0"/>
              </a:rPr>
              <a:t>(15,460)	</a:t>
            </a:r>
            <a:endParaRPr lang="en-US" sz="800" b="0" i="0" u="none" strike="noStrike" baseline="0" dirty="0">
              <a:solidFill>
                <a:srgbClr val="010101"/>
              </a:solidFill>
              <a:latin typeface="Times New Roman" panose="02020603050405020304" pitchFamily="18" charset="0"/>
            </a:endParaRPr>
          </a:p>
          <a:p>
            <a:r>
              <a:rPr lang="en-US" sz="1600" b="0" i="0" u="none" strike="noStrike" baseline="0" dirty="0">
                <a:latin typeface="Times New Roman" panose="02020603050405020304" pitchFamily="18" charset="0"/>
              </a:rPr>
              <a:t>		</a:t>
            </a:r>
            <a:endParaRPr lang="en-US" sz="800" b="0" i="0" u="none" strike="noStrike" baseline="0" dirty="0">
              <a:latin typeface="Times New Roman" panose="02020603050405020304" pitchFamily="18" charset="0"/>
            </a:endParaRPr>
          </a:p>
          <a:p>
            <a:pPr marR="140" algn="ctr"/>
            <a:r>
              <a:rPr lang="en-US" sz="1800" b="0" i="0" u="none" strike="noStrike" baseline="0" dirty="0">
                <a:solidFill>
                  <a:srgbClr val="010101"/>
                </a:solidFill>
                <a:latin typeface="Arial" panose="020B0604020202020204" pitchFamily="34" charset="0"/>
              </a:rPr>
              <a:t>GTRI SOW 2025-1 Reserve	$     </a:t>
            </a:r>
            <a:r>
              <a:rPr lang="en-US" sz="1800" b="0" i="0" u="none" strike="noStrike" baseline="30000" dirty="0">
                <a:solidFill>
                  <a:srgbClr val="010101"/>
                </a:solidFill>
                <a:latin typeface="Arial" panose="020B0604020202020204" pitchFamily="34" charset="0"/>
              </a:rPr>
              <a:t>(100,000)	</a:t>
            </a:r>
            <a:endParaRPr lang="en-US" sz="800" b="0" i="0" u="none" strike="noStrike" baseline="0" dirty="0">
              <a:solidFill>
                <a:srgbClr val="010101"/>
              </a:solidFill>
              <a:latin typeface="Times New Roman" panose="02020603050405020304" pitchFamily="18" charset="0"/>
            </a:endParaRPr>
          </a:p>
          <a:p>
            <a:pPr marR="40" algn="ctr"/>
            <a:r>
              <a:rPr lang="en-US" sz="1800" b="0" i="0" u="none" strike="noStrike" baseline="0" dirty="0">
                <a:solidFill>
                  <a:srgbClr val="010101"/>
                </a:solidFill>
                <a:latin typeface="Arial" panose="020B0604020202020204" pitchFamily="34" charset="0"/>
              </a:rPr>
              <a:t>NPC Leadership Meeting.	$      </a:t>
            </a:r>
            <a:r>
              <a:rPr lang="en-US" sz="1800" b="0" i="0" u="none" strike="noStrike" baseline="30000" dirty="0">
                <a:solidFill>
                  <a:srgbClr val="010101"/>
                </a:solidFill>
                <a:latin typeface="Arial" panose="020B0604020202020204" pitchFamily="34" charset="0"/>
              </a:rPr>
              <a:t>(2,000)	</a:t>
            </a:r>
            <a:endParaRPr lang="en-US" sz="800" b="0" i="0" u="none" strike="noStrike" baseline="0" dirty="0">
              <a:solidFill>
                <a:srgbClr val="010101"/>
              </a:solidFill>
              <a:latin typeface="Times New Roman" panose="02020603050405020304" pitchFamily="18" charset="0"/>
            </a:endParaRPr>
          </a:p>
          <a:p>
            <a:pPr marR="620" algn="ctr"/>
            <a:r>
              <a:rPr lang="en-US" sz="1600" b="1" i="1" u="none" strike="noStrike" baseline="0" dirty="0">
                <a:solidFill>
                  <a:srgbClr val="010101"/>
                </a:solidFill>
                <a:latin typeface="Arial" panose="020B0604020202020204" pitchFamily="34" charset="0"/>
              </a:rPr>
              <a:t>Ending Balance </a:t>
            </a:r>
            <a:r>
              <a:rPr lang="en-US" sz="1800" b="1" i="0" u="none" strike="noStrike" baseline="0" dirty="0">
                <a:solidFill>
                  <a:srgbClr val="010101"/>
                </a:solidFill>
                <a:latin typeface="Arial" panose="020B0604020202020204" pitchFamily="34" charset="0"/>
              </a:rPr>
              <a:t>2025- Q4	</a:t>
            </a:r>
            <a:r>
              <a:rPr lang="en-US" sz="1800" b="0" i="0" u="none" strike="noStrike" baseline="0" dirty="0">
                <a:solidFill>
                  <a:srgbClr val="010101"/>
                </a:solidFill>
                <a:latin typeface="Arial" panose="020B0604020202020204" pitchFamily="34" charset="0"/>
              </a:rPr>
              <a:t>$     </a:t>
            </a:r>
            <a:r>
              <a:rPr lang="en-US" sz="1800" b="1" i="0" u="none" strike="noStrike" baseline="30000" dirty="0">
                <a:solidFill>
                  <a:srgbClr val="010101"/>
                </a:solidFill>
                <a:latin typeface="Arial" panose="020B0604020202020204" pitchFamily="34" charset="0"/>
              </a:rPr>
              <a:t>111,663	</a:t>
            </a:r>
            <a:endParaRPr lang="en-US" sz="800" b="0" i="0" u="none" strike="noStrike" baseline="0" dirty="0">
              <a:solidFill>
                <a:srgbClr val="010101"/>
              </a:solidFill>
              <a:latin typeface="Times New Roman" panose="02020603050405020304" pitchFamily="18" charset="0"/>
            </a:endParaRPr>
          </a:p>
        </p:txBody>
      </p:sp>
      <p:sp>
        <p:nvSpPr>
          <p:cNvPr id="12" name="Rectangle 3">
            <a:extLst>
              <a:ext uri="{FF2B5EF4-FFF2-40B4-BE49-F238E27FC236}">
                <a16:creationId xmlns:a16="http://schemas.microsoft.com/office/drawing/2014/main" id="{6E8594A0-CB52-CFD3-0B00-600FCE16B2F9}"/>
              </a:ext>
            </a:extLst>
          </p:cNvPr>
          <p:cNvSpPr>
            <a:spLocks noChangeArrowheads="1"/>
          </p:cNvSpPr>
          <p:nvPr/>
        </p:nvSpPr>
        <p:spPr bwMode="auto">
          <a:xfrm>
            <a:off x="2498725" y="1119257"/>
            <a:ext cx="184731"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0" i="0" u="none" strike="noStrike" cap="none" normalizeH="0" baseline="0">
                <a:ln>
                  <a:noFill/>
                </a:ln>
                <a:solidFill>
                  <a:schemeClr val="tx1"/>
                </a:solidFill>
                <a:effectLst/>
                <a:latin typeface="Times New Roman" panose="02020603050405020304" pitchFamily="18" charset="0"/>
              </a:rPr>
            </a:br>
            <a:endParaRPr kumimoji="0" lang="en-US" altLang="en-US" sz="2000" b="0" i="0" u="none" strike="noStrike" cap="none" normalizeH="0" baseline="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id="{41BCAE15-BA68-9E74-75B5-0CCBF763DE9C}"/>
              </a:ext>
            </a:extLst>
          </p:cNvPr>
          <p:cNvGraphicFramePr>
            <a:graphicFrameLocks noGrp="1"/>
          </p:cNvGraphicFramePr>
          <p:nvPr>
            <p:extLst>
              <p:ext uri="{D42A27DB-BD31-4B8C-83A1-F6EECF244321}">
                <p14:modId xmlns:p14="http://schemas.microsoft.com/office/powerpoint/2010/main" val="3804861905"/>
              </p:ext>
            </p:extLst>
          </p:nvPr>
        </p:nvGraphicFramePr>
        <p:xfrm>
          <a:off x="2032000" y="2222938"/>
          <a:ext cx="8128000" cy="2743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24578173"/>
                    </a:ext>
                  </a:extLst>
                </a:gridCol>
                <a:gridCol w="4064000">
                  <a:extLst>
                    <a:ext uri="{9D8B030D-6E8A-4147-A177-3AD203B41FA5}">
                      <a16:colId xmlns:a16="http://schemas.microsoft.com/office/drawing/2014/main" val="3874633574"/>
                    </a:ext>
                  </a:extLst>
                </a:gridCol>
              </a:tblGrid>
              <a:tr h="370840">
                <a:tc>
                  <a:txBody>
                    <a:bodyPr/>
                    <a:lstStyle/>
                    <a:p>
                      <a:r>
                        <a:rPr lang="en-US" sz="2400" dirty="0"/>
                        <a:t>FY 2024 Balance Forward</a:t>
                      </a:r>
                    </a:p>
                  </a:txBody>
                  <a:tcPr/>
                </a:tc>
                <a:tc>
                  <a:txBody>
                    <a:bodyPr/>
                    <a:lstStyle/>
                    <a:p>
                      <a:r>
                        <a:rPr lang="en-US" sz="2400" dirty="0"/>
                        <a:t>$143,823</a:t>
                      </a:r>
                    </a:p>
                  </a:txBody>
                  <a:tcPr/>
                </a:tc>
                <a:extLst>
                  <a:ext uri="{0D108BD9-81ED-4DB2-BD59-A6C34878D82A}">
                    <a16:rowId xmlns:a16="http://schemas.microsoft.com/office/drawing/2014/main" val="1428300554"/>
                  </a:ext>
                </a:extLst>
              </a:tr>
              <a:tr h="370840">
                <a:tc>
                  <a:txBody>
                    <a:bodyPr/>
                    <a:lstStyle/>
                    <a:p>
                      <a:r>
                        <a:rPr lang="en-US" sz="2400" dirty="0"/>
                        <a:t>FY 2025 Funding</a:t>
                      </a:r>
                    </a:p>
                  </a:txBody>
                  <a:tcPr/>
                </a:tc>
                <a:tc>
                  <a:txBody>
                    <a:bodyPr/>
                    <a:lstStyle/>
                    <a:p>
                      <a:r>
                        <a:rPr lang="en-US" sz="2400" dirty="0"/>
                        <a:t>85,300</a:t>
                      </a:r>
                    </a:p>
                  </a:txBody>
                  <a:tcPr/>
                </a:tc>
                <a:extLst>
                  <a:ext uri="{0D108BD9-81ED-4DB2-BD59-A6C34878D82A}">
                    <a16:rowId xmlns:a16="http://schemas.microsoft.com/office/drawing/2014/main" val="2396003032"/>
                  </a:ext>
                </a:extLst>
              </a:tr>
              <a:tr h="370840">
                <a:tc>
                  <a:txBody>
                    <a:bodyPr/>
                    <a:lstStyle/>
                    <a:p>
                      <a:r>
                        <a:rPr lang="en-US" sz="2400" dirty="0"/>
                        <a:t>FY Total funds Available YTD</a:t>
                      </a:r>
                    </a:p>
                  </a:txBody>
                  <a:tcPr/>
                </a:tc>
                <a:tc>
                  <a:txBody>
                    <a:bodyPr/>
                    <a:lstStyle/>
                    <a:p>
                      <a:r>
                        <a:rPr lang="en-US" sz="2400" dirty="0"/>
                        <a:t>229,123</a:t>
                      </a:r>
                    </a:p>
                  </a:txBody>
                  <a:tcPr/>
                </a:tc>
                <a:extLst>
                  <a:ext uri="{0D108BD9-81ED-4DB2-BD59-A6C34878D82A}">
                    <a16:rowId xmlns:a16="http://schemas.microsoft.com/office/drawing/2014/main" val="1573228719"/>
                  </a:ext>
                </a:extLst>
              </a:tr>
              <a:tr h="370840">
                <a:tc>
                  <a:txBody>
                    <a:bodyPr/>
                    <a:lstStyle/>
                    <a:p>
                      <a:r>
                        <a:rPr lang="en-US" sz="2400" dirty="0"/>
                        <a:t>Expenditures 2025 YTD</a:t>
                      </a:r>
                    </a:p>
                  </a:txBody>
                  <a:tcPr/>
                </a:tc>
                <a:tc>
                  <a:txBody>
                    <a:bodyPr/>
                    <a:lstStyle/>
                    <a:p>
                      <a:r>
                        <a:rPr lang="en-US" sz="2400" dirty="0"/>
                        <a:t>15,460</a:t>
                      </a:r>
                    </a:p>
                  </a:txBody>
                  <a:tcPr/>
                </a:tc>
                <a:extLst>
                  <a:ext uri="{0D108BD9-81ED-4DB2-BD59-A6C34878D82A}">
                    <a16:rowId xmlns:a16="http://schemas.microsoft.com/office/drawing/2014/main" val="2121564205"/>
                  </a:ext>
                </a:extLst>
              </a:tr>
              <a:tr h="370840">
                <a:tc>
                  <a:txBody>
                    <a:bodyPr/>
                    <a:lstStyle/>
                    <a:p>
                      <a:r>
                        <a:rPr lang="en-US" sz="2400" dirty="0"/>
                        <a:t>Current Obligations</a:t>
                      </a:r>
                    </a:p>
                  </a:txBody>
                  <a:tcPr/>
                </a:tc>
                <a:tc>
                  <a:txBody>
                    <a:bodyPr/>
                    <a:lstStyle/>
                    <a:p>
                      <a:r>
                        <a:rPr lang="en-US" sz="2400" dirty="0"/>
                        <a:t>102,000</a:t>
                      </a:r>
                    </a:p>
                  </a:txBody>
                  <a:tcPr/>
                </a:tc>
                <a:extLst>
                  <a:ext uri="{0D108BD9-81ED-4DB2-BD59-A6C34878D82A}">
                    <a16:rowId xmlns:a16="http://schemas.microsoft.com/office/drawing/2014/main" val="2034083219"/>
                  </a:ext>
                </a:extLst>
              </a:tr>
              <a:tr h="370840">
                <a:tc>
                  <a:txBody>
                    <a:bodyPr/>
                    <a:lstStyle/>
                    <a:p>
                      <a:r>
                        <a:rPr lang="en-US" sz="2400" b="1" dirty="0"/>
                        <a:t>Ending Balance 2025-Q4</a:t>
                      </a:r>
                    </a:p>
                  </a:txBody>
                  <a:tcPr/>
                </a:tc>
                <a:tc>
                  <a:txBody>
                    <a:bodyPr/>
                    <a:lstStyle/>
                    <a:p>
                      <a:r>
                        <a:rPr lang="en-US" sz="2400" b="1" dirty="0"/>
                        <a:t>111,663</a:t>
                      </a:r>
                    </a:p>
                  </a:txBody>
                  <a:tcPr/>
                </a:tc>
                <a:extLst>
                  <a:ext uri="{0D108BD9-81ED-4DB2-BD59-A6C34878D82A}">
                    <a16:rowId xmlns:a16="http://schemas.microsoft.com/office/drawing/2014/main" val="1753835490"/>
                  </a:ext>
                </a:extLst>
              </a:tr>
            </a:tbl>
          </a:graphicData>
        </a:graphic>
      </p:graphicFrame>
      <p:sp>
        <p:nvSpPr>
          <p:cNvPr id="14" name="TextBox 13">
            <a:extLst>
              <a:ext uri="{FF2B5EF4-FFF2-40B4-BE49-F238E27FC236}">
                <a16:creationId xmlns:a16="http://schemas.microsoft.com/office/drawing/2014/main" id="{5DEC7E58-A2CC-6DA0-2438-9F984FB56785}"/>
              </a:ext>
            </a:extLst>
          </p:cNvPr>
          <p:cNvSpPr txBox="1"/>
          <p:nvPr/>
        </p:nvSpPr>
        <p:spPr>
          <a:xfrm>
            <a:off x="2019590" y="1642477"/>
            <a:ext cx="1905000" cy="369332"/>
          </a:xfrm>
          <a:prstGeom prst="rect">
            <a:avLst/>
          </a:prstGeom>
          <a:noFill/>
        </p:spPr>
        <p:txBody>
          <a:bodyPr wrap="square" rtlCol="0">
            <a:spAutoFit/>
          </a:bodyPr>
          <a:lstStyle/>
          <a:p>
            <a:r>
              <a:rPr lang="en-US" b="1" dirty="0"/>
              <a:t>Summary: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8841" rIns="0" bIns="0" rtlCol="0">
            <a:spAutoFit/>
          </a:bodyPr>
          <a:lstStyle/>
          <a:p>
            <a:pPr marL="297815">
              <a:lnSpc>
                <a:spcPct val="100000"/>
              </a:lnSpc>
              <a:spcBef>
                <a:spcPts val="95"/>
              </a:spcBef>
            </a:pPr>
            <a:r>
              <a:rPr spc="-10" dirty="0"/>
              <a:t>BREAK</a:t>
            </a:r>
          </a:p>
        </p:txBody>
      </p:sp>
      <p:pic>
        <p:nvPicPr>
          <p:cNvPr id="3" name="object 3"/>
          <p:cNvPicPr/>
          <p:nvPr/>
        </p:nvPicPr>
        <p:blipFill>
          <a:blip r:embed="rId2" cstate="print"/>
          <a:stretch>
            <a:fillRect/>
          </a:stretch>
        </p:blipFill>
        <p:spPr>
          <a:xfrm>
            <a:off x="4786538" y="2064674"/>
            <a:ext cx="2713234" cy="2713234"/>
          </a:xfrm>
          <a:prstGeom prst="rect">
            <a:avLst/>
          </a:prstGeom>
        </p:spPr>
      </p:pic>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19</a:t>
            </a:fld>
            <a:endParaRPr spc="-25" dirty="0"/>
          </a:p>
        </p:txBody>
      </p:sp>
    </p:spTree>
    <p:extLst>
      <p:ext uri="{BB962C8B-B14F-4D97-AF65-F5344CB8AC3E}">
        <p14:creationId xmlns:p14="http://schemas.microsoft.com/office/powerpoint/2010/main" val="3141781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email">
            <a:extLst>
              <a:ext uri="{28A0092B-C50C-407E-A947-70E740481C1C}">
                <a14:useLocalDpi xmlns:a14="http://schemas.microsoft.com/office/drawing/2010/main"/>
              </a:ext>
            </a:extLst>
          </a:blip>
          <a:stretch>
            <a:fillRect/>
          </a:stretch>
        </p:blipFill>
        <p:spPr>
          <a:xfrm>
            <a:off x="149464" y="1777084"/>
            <a:ext cx="11893071" cy="3303829"/>
          </a:xfrm>
          <a:prstGeom prst="rect">
            <a:avLst/>
          </a:prstGeom>
        </p:spPr>
      </p:pic>
      <p:sp>
        <p:nvSpPr>
          <p:cNvPr id="3" name="object 3"/>
          <p:cNvSpPr txBox="1"/>
          <p:nvPr/>
        </p:nvSpPr>
        <p:spPr>
          <a:xfrm>
            <a:off x="4114800" y="4114800"/>
            <a:ext cx="12128754" cy="2149306"/>
          </a:xfrm>
          <a:prstGeom prst="rect">
            <a:avLst/>
          </a:prstGeom>
        </p:spPr>
        <p:txBody>
          <a:bodyPr vert="horz" wrap="square" lIns="0" tIns="12700" rIns="0" bIns="0" rtlCol="0">
            <a:spAutoFit/>
          </a:bodyPr>
          <a:lstStyle/>
          <a:p>
            <a:pPr marR="3869054" algn="l">
              <a:lnSpc>
                <a:spcPts val="5270"/>
              </a:lnSpc>
              <a:spcBef>
                <a:spcPts val="100"/>
              </a:spcBef>
              <a:tabLst>
                <a:tab pos="1372235" algn="l"/>
              </a:tabLst>
            </a:pPr>
            <a:r>
              <a:rPr lang="en-US" sz="4400" b="1" spc="-25" dirty="0">
                <a:solidFill>
                  <a:srgbClr val="00516F"/>
                </a:solidFill>
                <a:latin typeface="Lucida Sans"/>
                <a:cs typeface="Lucida Sans"/>
              </a:rPr>
              <a:t>Planning for Collaboration</a:t>
            </a:r>
            <a:endParaRPr sz="4400" dirty="0">
              <a:latin typeface="Lucida Sans"/>
              <a:cs typeface="Lucida Sans"/>
            </a:endParaRPr>
          </a:p>
          <a:p>
            <a:pPr marR="3867150" algn="ctr">
              <a:lnSpc>
                <a:spcPts val="2150"/>
              </a:lnSpc>
            </a:pPr>
            <a:endParaRPr lang="en-US" sz="2800" b="1" spc="-35" dirty="0">
              <a:solidFill>
                <a:srgbClr val="8A8A8A"/>
              </a:solidFill>
              <a:latin typeface="Arial"/>
              <a:cs typeface="Arial"/>
            </a:endParaRPr>
          </a:p>
          <a:p>
            <a:pPr marR="3867150" algn="ctr">
              <a:lnSpc>
                <a:spcPts val="2150"/>
              </a:lnSpc>
            </a:pPr>
            <a:r>
              <a:rPr lang="en-US" sz="2800" b="1" spc="-35" dirty="0">
                <a:solidFill>
                  <a:srgbClr val="8A8A8A"/>
                </a:solidFill>
                <a:latin typeface="Arial"/>
                <a:cs typeface="Arial"/>
              </a:rPr>
              <a:t>December 4, 2025</a:t>
            </a:r>
            <a:endParaRPr sz="2800" dirty="0">
              <a:latin typeface="Arial"/>
              <a:cs typeface="Arial"/>
            </a:endParaRPr>
          </a:p>
          <a:p>
            <a:pPr marL="2939415">
              <a:lnSpc>
                <a:spcPct val="100000"/>
              </a:lnSpc>
              <a:spcBef>
                <a:spcPts val="5"/>
              </a:spcBef>
            </a:pPr>
            <a:endParaRPr lang="en-US" dirty="0">
              <a:latin typeface="Arial"/>
              <a:cs typeface="Arial"/>
            </a:endParaRPr>
          </a:p>
          <a:p>
            <a:pPr marL="2939415">
              <a:lnSpc>
                <a:spcPct val="100000"/>
              </a:lnSpc>
              <a:spcBef>
                <a:spcPts val="5"/>
              </a:spcBef>
            </a:pPr>
            <a:r>
              <a:rPr lang="en-US" sz="2000" b="1" dirty="0">
                <a:solidFill>
                  <a:srgbClr val="00516F"/>
                </a:solidFill>
                <a:latin typeface="Arial"/>
                <a:cs typeface="Arial"/>
              </a:rPr>
              <a:t>Paul Wormeli</a:t>
            </a:r>
            <a:endParaRPr sz="2000" b="1" dirty="0">
              <a:latin typeface="Arial"/>
              <a:cs typeface="Arial"/>
            </a:endParaRPr>
          </a:p>
          <a:p>
            <a:pPr marL="2939415">
              <a:lnSpc>
                <a:spcPct val="100000"/>
              </a:lnSpc>
            </a:pPr>
            <a:r>
              <a:rPr sz="2000" b="1" dirty="0">
                <a:solidFill>
                  <a:srgbClr val="00516F"/>
                </a:solidFill>
                <a:latin typeface="Arial"/>
                <a:cs typeface="Arial"/>
              </a:rPr>
              <a:t>NIEMOpen</a:t>
            </a:r>
            <a:r>
              <a:rPr sz="2000" b="1" spc="-50" dirty="0">
                <a:solidFill>
                  <a:srgbClr val="00516F"/>
                </a:solidFill>
                <a:latin typeface="Arial"/>
                <a:cs typeface="Arial"/>
              </a:rPr>
              <a:t> </a:t>
            </a:r>
            <a:r>
              <a:rPr sz="2000" b="1" dirty="0">
                <a:solidFill>
                  <a:srgbClr val="00516F"/>
                </a:solidFill>
                <a:latin typeface="Arial"/>
                <a:cs typeface="Arial"/>
              </a:rPr>
              <a:t>Project</a:t>
            </a:r>
            <a:r>
              <a:rPr sz="2000" b="1" spc="-25" dirty="0">
                <a:solidFill>
                  <a:srgbClr val="00516F"/>
                </a:solidFill>
                <a:latin typeface="Arial"/>
                <a:cs typeface="Arial"/>
              </a:rPr>
              <a:t> </a:t>
            </a:r>
            <a:r>
              <a:rPr sz="2000" b="1" dirty="0">
                <a:solidFill>
                  <a:srgbClr val="00516F"/>
                </a:solidFill>
                <a:latin typeface="Arial"/>
                <a:cs typeface="Arial"/>
              </a:rPr>
              <a:t>Governing</a:t>
            </a:r>
            <a:r>
              <a:rPr sz="2000" b="1" spc="-30" dirty="0">
                <a:solidFill>
                  <a:srgbClr val="00516F"/>
                </a:solidFill>
                <a:latin typeface="Arial"/>
                <a:cs typeface="Arial"/>
              </a:rPr>
              <a:t> </a:t>
            </a:r>
            <a:r>
              <a:rPr sz="2000" b="1" dirty="0">
                <a:solidFill>
                  <a:srgbClr val="00516F"/>
                </a:solidFill>
                <a:latin typeface="Arial"/>
                <a:cs typeface="Arial"/>
              </a:rPr>
              <a:t>Board</a:t>
            </a:r>
            <a:r>
              <a:rPr sz="2000" b="1" spc="-30" dirty="0">
                <a:solidFill>
                  <a:srgbClr val="00516F"/>
                </a:solidFill>
                <a:latin typeface="Arial"/>
                <a:cs typeface="Arial"/>
              </a:rPr>
              <a:t> </a:t>
            </a:r>
            <a:r>
              <a:rPr sz="2000" b="1" spc="-10" dirty="0">
                <a:solidFill>
                  <a:srgbClr val="00516F"/>
                </a:solidFill>
                <a:latin typeface="Arial"/>
                <a:cs typeface="Arial"/>
              </a:rPr>
              <a:t>Chair</a:t>
            </a:r>
            <a:endParaRPr sz="2000" b="1" dirty="0">
              <a:latin typeface="Arial"/>
              <a:cs typeface="Arial"/>
            </a:endParaRPr>
          </a:p>
        </p:txBody>
      </p:sp>
    </p:spTree>
    <p:extLst>
      <p:ext uri="{BB962C8B-B14F-4D97-AF65-F5344CB8AC3E}">
        <p14:creationId xmlns:p14="http://schemas.microsoft.com/office/powerpoint/2010/main" val="2324541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35D2-A54C-B713-3013-794A0F04562C}"/>
              </a:ext>
            </a:extLst>
          </p:cNvPr>
          <p:cNvSpPr>
            <a:spLocks noGrp="1"/>
          </p:cNvSpPr>
          <p:nvPr>
            <p:ph type="title"/>
          </p:nvPr>
        </p:nvSpPr>
        <p:spPr>
          <a:xfrm>
            <a:off x="641579" y="893590"/>
            <a:ext cx="10908842" cy="553998"/>
          </a:xfrm>
        </p:spPr>
        <p:txBody>
          <a:bodyPr>
            <a:normAutofit fontScale="90000"/>
          </a:bodyPr>
          <a:lstStyle/>
          <a:p>
            <a:r>
              <a:rPr lang="en-US" sz="3600"/>
              <a:t>Foundations for Effective Collaboration</a:t>
            </a:r>
            <a:endParaRPr lang="en-US" sz="3600" dirty="0"/>
          </a:p>
        </p:txBody>
      </p:sp>
      <p:sp>
        <p:nvSpPr>
          <p:cNvPr id="3" name="Content Placeholder 2">
            <a:extLst>
              <a:ext uri="{FF2B5EF4-FFF2-40B4-BE49-F238E27FC236}">
                <a16:creationId xmlns:a16="http://schemas.microsoft.com/office/drawing/2014/main" id="{9B86B2A6-619A-36AB-D5B2-1F69E0A76126}"/>
              </a:ext>
            </a:extLst>
          </p:cNvPr>
          <p:cNvSpPr>
            <a:spLocks noGrp="1"/>
          </p:cNvSpPr>
          <p:nvPr>
            <p:ph sz="half" idx="1"/>
          </p:nvPr>
        </p:nvSpPr>
        <p:spPr>
          <a:xfrm>
            <a:off x="584200" y="2240313"/>
            <a:ext cx="5283200" cy="3447098"/>
          </a:xfrm>
        </p:spPr>
        <p:txBody>
          <a:bodyPr>
            <a:normAutofit fontScale="92500" lnSpcReduction="20000"/>
          </a:bodyPr>
          <a:lstStyle/>
          <a:p>
            <a:pPr marL="457200" indent="-457200">
              <a:buFont typeface="Wingdings" pitchFamily="2" charset="2"/>
              <a:buChar char="ü"/>
            </a:pPr>
            <a:r>
              <a:rPr lang="en-US" b="1" dirty="0"/>
              <a:t>Shared Vision and Goals</a:t>
            </a:r>
          </a:p>
          <a:p>
            <a:pPr marL="457200" indent="-457200">
              <a:buFont typeface="Wingdings" pitchFamily="2" charset="2"/>
              <a:buChar char="ü"/>
            </a:pPr>
            <a:r>
              <a:rPr lang="en-US" b="1" dirty="0"/>
              <a:t>Measurable Objectives</a:t>
            </a:r>
          </a:p>
          <a:p>
            <a:pPr marL="457200" indent="-457200">
              <a:buFont typeface="Wingdings" pitchFamily="2" charset="2"/>
              <a:buChar char="ü"/>
            </a:pPr>
            <a:r>
              <a:rPr lang="en-US" b="1" dirty="0"/>
              <a:t>Clear Governance Structure</a:t>
            </a:r>
          </a:p>
          <a:p>
            <a:pPr marL="457200" indent="-457200">
              <a:buFont typeface="Wingdings" pitchFamily="2" charset="2"/>
              <a:buChar char="ü"/>
            </a:pPr>
            <a:r>
              <a:rPr lang="en-US" b="1" dirty="0"/>
              <a:t>Communications and Trust</a:t>
            </a:r>
          </a:p>
          <a:p>
            <a:pPr marL="457200" indent="-457200">
              <a:buFont typeface="Wingdings" pitchFamily="2" charset="2"/>
              <a:buChar char="ü"/>
            </a:pPr>
            <a:r>
              <a:rPr lang="en-US" b="1" dirty="0"/>
              <a:t>Sustained Mutual Benefit</a:t>
            </a:r>
          </a:p>
          <a:p>
            <a:endParaRPr lang="en-US" b="1" dirty="0"/>
          </a:p>
          <a:p>
            <a:endParaRPr lang="en-US" b="1" dirty="0"/>
          </a:p>
          <a:p>
            <a:endParaRPr lang="en-US" b="1" dirty="0"/>
          </a:p>
        </p:txBody>
      </p:sp>
      <p:sp>
        <p:nvSpPr>
          <p:cNvPr id="4" name="Content Placeholder 3">
            <a:extLst>
              <a:ext uri="{FF2B5EF4-FFF2-40B4-BE49-F238E27FC236}">
                <a16:creationId xmlns:a16="http://schemas.microsoft.com/office/drawing/2014/main" id="{07605693-2145-8902-7003-2FA2FB6AFE1F}"/>
              </a:ext>
            </a:extLst>
          </p:cNvPr>
          <p:cNvSpPr>
            <a:spLocks noGrp="1"/>
          </p:cNvSpPr>
          <p:nvPr>
            <p:ph sz="half" idx="2"/>
          </p:nvPr>
        </p:nvSpPr>
        <p:spPr>
          <a:xfrm>
            <a:off x="6172200" y="2240313"/>
            <a:ext cx="5283200" cy="2154436"/>
          </a:xfrm>
        </p:spPr>
        <p:txBody>
          <a:bodyPr>
            <a:normAutofit fontScale="92500" lnSpcReduction="20000"/>
          </a:bodyPr>
          <a:lstStyle/>
          <a:p>
            <a:pPr marL="457200" indent="-457200">
              <a:buFont typeface="Wingdings" pitchFamily="2" charset="2"/>
              <a:buChar char="ü"/>
            </a:pPr>
            <a:r>
              <a:rPr lang="en-US" b="1"/>
              <a:t>Stakeholder Commitment</a:t>
            </a:r>
          </a:p>
          <a:p>
            <a:pPr marL="457200" indent="-457200">
              <a:buFont typeface="Wingdings" pitchFamily="2" charset="2"/>
              <a:buChar char="ü"/>
            </a:pPr>
            <a:r>
              <a:rPr lang="en-US" b="1"/>
              <a:t>Dedicated Resources </a:t>
            </a:r>
          </a:p>
          <a:p>
            <a:pPr marL="457200" indent="-457200">
              <a:buFont typeface="Wingdings" pitchFamily="2" charset="2"/>
              <a:buChar char="ü"/>
            </a:pPr>
            <a:r>
              <a:rPr lang="en-US" b="1"/>
              <a:t>Adaptability</a:t>
            </a:r>
          </a:p>
          <a:p>
            <a:pPr marL="457200" indent="-457200">
              <a:buFont typeface="Wingdings" pitchFamily="2" charset="2"/>
              <a:buChar char="ü"/>
            </a:pPr>
            <a:r>
              <a:rPr lang="en-US" b="1"/>
              <a:t>Continuous Action </a:t>
            </a:r>
          </a:p>
          <a:p>
            <a:pPr marL="457200" indent="-457200">
              <a:buFont typeface="Wingdings" pitchFamily="2" charset="2"/>
              <a:buChar char="ü"/>
            </a:pPr>
            <a:r>
              <a:rPr lang="en-US" b="1"/>
              <a:t>Evaluation</a:t>
            </a:r>
            <a:endParaRPr lang="en-US" b="1" dirty="0"/>
          </a:p>
        </p:txBody>
      </p:sp>
    </p:spTree>
    <p:extLst>
      <p:ext uri="{BB962C8B-B14F-4D97-AF65-F5344CB8AC3E}">
        <p14:creationId xmlns:p14="http://schemas.microsoft.com/office/powerpoint/2010/main" val="12573816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549D6F8-42BF-9D37-38E3-58ED87A538DC}"/>
              </a:ext>
            </a:extLst>
          </p:cNvPr>
          <p:cNvSpPr txBox="1"/>
          <p:nvPr/>
        </p:nvSpPr>
        <p:spPr>
          <a:xfrm>
            <a:off x="76200" y="1143000"/>
            <a:ext cx="6858000" cy="4431983"/>
          </a:xfrm>
          <a:prstGeom prst="rect">
            <a:avLst/>
          </a:prstGeom>
          <a:noFill/>
        </p:spPr>
        <p:txBody>
          <a:bodyPr wrap="square" rtlCol="0">
            <a:spAutoFit/>
          </a:bodyPr>
          <a:lstStyle/>
          <a:p>
            <a:r>
              <a:rPr lang="en-US" sz="4800" dirty="0">
                <a:latin typeface="+mj-lt"/>
              </a:rPr>
              <a:t>NIEMOpen is:</a:t>
            </a:r>
          </a:p>
          <a:p>
            <a:endParaRPr lang="en-US" dirty="0">
              <a:latin typeface="+mj-lt"/>
            </a:endParaRPr>
          </a:p>
          <a:p>
            <a:pPr algn="ctr"/>
            <a:r>
              <a:rPr lang="en-US" sz="3600" dirty="0"/>
              <a:t>An open source framework </a:t>
            </a:r>
          </a:p>
          <a:p>
            <a:pPr algn="ctr"/>
            <a:r>
              <a:rPr lang="en-US" sz="3600" dirty="0"/>
              <a:t>for building a consensus on </a:t>
            </a:r>
          </a:p>
          <a:p>
            <a:pPr algn="ctr"/>
            <a:r>
              <a:rPr lang="en-US" sz="3600" dirty="0"/>
              <a:t>data standards that facilitate </a:t>
            </a:r>
          </a:p>
          <a:p>
            <a:pPr algn="ctr"/>
            <a:r>
              <a:rPr lang="en-US" sz="3600" dirty="0"/>
              <a:t>information sharing </a:t>
            </a:r>
          </a:p>
          <a:p>
            <a:pPr algn="ctr"/>
            <a:r>
              <a:rPr lang="en-US" sz="3600" dirty="0"/>
              <a:t>across domains</a:t>
            </a:r>
            <a:r>
              <a:rPr lang="en-US" sz="3600" dirty="0">
                <a:solidFill>
                  <a:srgbClr val="EE0000"/>
                </a:solidFill>
              </a:rPr>
              <a:t> </a:t>
            </a:r>
            <a:r>
              <a:rPr lang="en-US" sz="3600" dirty="0">
                <a:solidFill>
                  <a:srgbClr val="000000"/>
                </a:solidFill>
              </a:rPr>
              <a:t>and across nations</a:t>
            </a:r>
          </a:p>
        </p:txBody>
      </p:sp>
      <p:pic>
        <p:nvPicPr>
          <p:cNvPr id="6" name="Picture 5">
            <a:extLst>
              <a:ext uri="{FF2B5EF4-FFF2-40B4-BE49-F238E27FC236}">
                <a16:creationId xmlns:a16="http://schemas.microsoft.com/office/drawing/2014/main" id="{2B561ACF-89D5-832C-175D-AC70DBBCBD9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55739" y="0"/>
            <a:ext cx="5140071" cy="6858000"/>
          </a:xfrm>
          <a:prstGeom prst="rect">
            <a:avLst/>
          </a:prstGeom>
        </p:spPr>
      </p:pic>
    </p:spTree>
    <p:extLst>
      <p:ext uri="{BB962C8B-B14F-4D97-AF65-F5344CB8AC3E}">
        <p14:creationId xmlns:p14="http://schemas.microsoft.com/office/powerpoint/2010/main" val="2891098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E5D0B14F-B94C-1645-9C90-DC5FB085E5E3}"/>
              </a:ext>
            </a:extLst>
          </p:cNvPr>
          <p:cNvSpPr/>
          <p:nvPr/>
        </p:nvSpPr>
        <p:spPr>
          <a:xfrm>
            <a:off x="3153102" y="570581"/>
            <a:ext cx="5885794" cy="544435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2DBC0E4-8417-CC4D-905A-037DD541EFB9}"/>
              </a:ext>
            </a:extLst>
          </p:cNvPr>
          <p:cNvSpPr txBox="1"/>
          <p:nvPr/>
        </p:nvSpPr>
        <p:spPr>
          <a:xfrm>
            <a:off x="793528" y="490762"/>
            <a:ext cx="2359574" cy="1569660"/>
          </a:xfrm>
          <a:prstGeom prst="rect">
            <a:avLst/>
          </a:prstGeom>
          <a:noFill/>
        </p:spPr>
        <p:txBody>
          <a:bodyPr wrap="square" rtlCol="0">
            <a:spAutoFit/>
          </a:bodyPr>
          <a:lstStyle/>
          <a:p>
            <a:r>
              <a:rPr lang="en-US" sz="3200" dirty="0">
                <a:solidFill>
                  <a:srgbClr val="0070C0"/>
                </a:solidFill>
              </a:rPr>
              <a:t>The Voices</a:t>
            </a:r>
          </a:p>
          <a:p>
            <a:r>
              <a:rPr lang="en-US" sz="3200" dirty="0">
                <a:solidFill>
                  <a:srgbClr val="0070C0"/>
                </a:solidFill>
              </a:rPr>
              <a:t>Of </a:t>
            </a:r>
          </a:p>
          <a:p>
            <a:r>
              <a:rPr lang="en-US" sz="3200" dirty="0">
                <a:solidFill>
                  <a:srgbClr val="0070C0"/>
                </a:solidFill>
              </a:rPr>
              <a:t>NIEMOpen</a:t>
            </a:r>
          </a:p>
        </p:txBody>
      </p:sp>
      <p:sp>
        <p:nvSpPr>
          <p:cNvPr id="13" name="TextBox 12">
            <a:extLst>
              <a:ext uri="{FF2B5EF4-FFF2-40B4-BE49-F238E27FC236}">
                <a16:creationId xmlns:a16="http://schemas.microsoft.com/office/drawing/2014/main" id="{BF3DC474-0F3A-DE41-9976-DB00D4D6C032}"/>
              </a:ext>
            </a:extLst>
          </p:cNvPr>
          <p:cNvSpPr txBox="1"/>
          <p:nvPr/>
        </p:nvSpPr>
        <p:spPr>
          <a:xfrm>
            <a:off x="243881" y="3292760"/>
            <a:ext cx="3502698" cy="461665"/>
          </a:xfrm>
          <a:prstGeom prst="rect">
            <a:avLst/>
          </a:prstGeom>
          <a:noFill/>
        </p:spPr>
        <p:txBody>
          <a:bodyPr wrap="square" rtlCol="0">
            <a:spAutoFit/>
          </a:bodyPr>
          <a:lstStyle/>
          <a:p>
            <a:r>
              <a:rPr lang="en-US" sz="2400" b="1" dirty="0">
                <a:solidFill>
                  <a:schemeClr val="tx2"/>
                </a:solidFill>
                <a:latin typeface="Comic Sans MS" panose="030F0902030302020204" pitchFamily="66" charset="0"/>
              </a:rPr>
              <a:t>COLLABORATION</a:t>
            </a:r>
          </a:p>
        </p:txBody>
      </p:sp>
      <p:sp>
        <p:nvSpPr>
          <p:cNvPr id="14" name="TextBox 13">
            <a:extLst>
              <a:ext uri="{FF2B5EF4-FFF2-40B4-BE49-F238E27FC236}">
                <a16:creationId xmlns:a16="http://schemas.microsoft.com/office/drawing/2014/main" id="{51B603FA-24F7-684C-A0B1-F58568FA20B9}"/>
              </a:ext>
            </a:extLst>
          </p:cNvPr>
          <p:cNvSpPr txBox="1"/>
          <p:nvPr/>
        </p:nvSpPr>
        <p:spPr>
          <a:xfrm>
            <a:off x="5346564" y="6164198"/>
            <a:ext cx="2249215" cy="461665"/>
          </a:xfrm>
          <a:prstGeom prst="rect">
            <a:avLst/>
          </a:prstGeom>
          <a:noFill/>
        </p:spPr>
        <p:txBody>
          <a:bodyPr wrap="square" rtlCol="0">
            <a:spAutoFit/>
          </a:bodyPr>
          <a:lstStyle/>
          <a:p>
            <a:r>
              <a:rPr lang="en-US" sz="2400" b="1" dirty="0">
                <a:solidFill>
                  <a:schemeClr val="tx2"/>
                </a:solidFill>
                <a:latin typeface="Comic Sans MS" panose="030F0902030302020204" pitchFamily="66" charset="0"/>
              </a:rPr>
              <a:t>EQUALITY</a:t>
            </a:r>
          </a:p>
        </p:txBody>
      </p:sp>
      <p:sp>
        <p:nvSpPr>
          <p:cNvPr id="15" name="TextBox 14">
            <a:extLst>
              <a:ext uri="{FF2B5EF4-FFF2-40B4-BE49-F238E27FC236}">
                <a16:creationId xmlns:a16="http://schemas.microsoft.com/office/drawing/2014/main" id="{CC0B42B8-5DF7-6741-9A55-EB593A40336E}"/>
              </a:ext>
            </a:extLst>
          </p:cNvPr>
          <p:cNvSpPr txBox="1"/>
          <p:nvPr/>
        </p:nvSpPr>
        <p:spPr>
          <a:xfrm>
            <a:off x="9296400" y="3340086"/>
            <a:ext cx="3502698" cy="461665"/>
          </a:xfrm>
          <a:prstGeom prst="rect">
            <a:avLst/>
          </a:prstGeom>
          <a:noFill/>
        </p:spPr>
        <p:txBody>
          <a:bodyPr wrap="square" rtlCol="0">
            <a:spAutoFit/>
          </a:bodyPr>
          <a:lstStyle/>
          <a:p>
            <a:r>
              <a:rPr lang="en-US" sz="2400" b="1" dirty="0">
                <a:solidFill>
                  <a:schemeClr val="tx2"/>
                </a:solidFill>
                <a:latin typeface="Comic Sans MS" panose="030F0902030302020204" pitchFamily="66" charset="0"/>
              </a:rPr>
              <a:t>CONSENSUS</a:t>
            </a:r>
          </a:p>
        </p:txBody>
      </p:sp>
      <p:sp>
        <p:nvSpPr>
          <p:cNvPr id="16" name="Oval 15">
            <a:extLst>
              <a:ext uri="{FF2B5EF4-FFF2-40B4-BE49-F238E27FC236}">
                <a16:creationId xmlns:a16="http://schemas.microsoft.com/office/drawing/2014/main" id="{CDE0D8B5-8474-2C41-9026-335FE6F7AF03}"/>
              </a:ext>
            </a:extLst>
          </p:cNvPr>
          <p:cNvSpPr/>
          <p:nvPr/>
        </p:nvSpPr>
        <p:spPr bwMode="auto">
          <a:xfrm>
            <a:off x="3746579" y="2514600"/>
            <a:ext cx="1599985" cy="674623"/>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t" anchorCtr="0"/>
          <a:lstStyle/>
          <a:p>
            <a:pPr algn="ctr" fontAlgn="auto">
              <a:lnSpc>
                <a:spcPct val="90000"/>
              </a:lnSpc>
              <a:spcBef>
                <a:spcPts val="0"/>
              </a:spcBef>
              <a:spcAft>
                <a:spcPts val="0"/>
              </a:spcAft>
            </a:pPr>
            <a:r>
              <a:rPr lang="en-US" sz="2100" b="1" spc="-50" dirty="0">
                <a:solidFill>
                  <a:srgbClr val="304776"/>
                </a:solidFill>
                <a:latin typeface="Arial"/>
                <a:cs typeface="Arial"/>
              </a:rPr>
              <a:t>Tribal</a:t>
            </a:r>
          </a:p>
        </p:txBody>
      </p:sp>
      <p:sp>
        <p:nvSpPr>
          <p:cNvPr id="17" name="Oval 16">
            <a:extLst>
              <a:ext uri="{FF2B5EF4-FFF2-40B4-BE49-F238E27FC236}">
                <a16:creationId xmlns:a16="http://schemas.microsoft.com/office/drawing/2014/main" id="{F2202426-94D1-F848-AABB-3E4BA7B2C470}"/>
              </a:ext>
            </a:extLst>
          </p:cNvPr>
          <p:cNvSpPr/>
          <p:nvPr/>
        </p:nvSpPr>
        <p:spPr bwMode="auto">
          <a:xfrm>
            <a:off x="6557355" y="1538372"/>
            <a:ext cx="1828800" cy="674623"/>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ctr" anchorCtr="0"/>
          <a:lstStyle/>
          <a:p>
            <a:pPr algn="ctr" fontAlgn="auto">
              <a:lnSpc>
                <a:spcPct val="90000"/>
              </a:lnSpc>
              <a:spcBef>
                <a:spcPts val="0"/>
              </a:spcBef>
              <a:spcAft>
                <a:spcPts val="0"/>
              </a:spcAft>
            </a:pPr>
            <a:r>
              <a:rPr lang="en-US" b="1" spc="-50" dirty="0">
                <a:solidFill>
                  <a:srgbClr val="304776"/>
                </a:solidFill>
                <a:latin typeface="Arial"/>
                <a:cs typeface="Arial"/>
              </a:rPr>
              <a:t>Federal</a:t>
            </a:r>
          </a:p>
        </p:txBody>
      </p:sp>
      <p:sp>
        <p:nvSpPr>
          <p:cNvPr id="19" name="Oval 18">
            <a:extLst>
              <a:ext uri="{FF2B5EF4-FFF2-40B4-BE49-F238E27FC236}">
                <a16:creationId xmlns:a16="http://schemas.microsoft.com/office/drawing/2014/main" id="{6A0984EC-3E4E-734A-82AB-BEB02A80CB77}"/>
              </a:ext>
            </a:extLst>
          </p:cNvPr>
          <p:cNvSpPr/>
          <p:nvPr/>
        </p:nvSpPr>
        <p:spPr bwMode="auto">
          <a:xfrm>
            <a:off x="6557355" y="2587108"/>
            <a:ext cx="1828800" cy="674623"/>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ctr" anchorCtr="0"/>
          <a:lstStyle/>
          <a:p>
            <a:pPr algn="ctr" fontAlgn="auto">
              <a:lnSpc>
                <a:spcPct val="90000"/>
              </a:lnSpc>
              <a:spcBef>
                <a:spcPts val="0"/>
              </a:spcBef>
              <a:spcAft>
                <a:spcPts val="0"/>
              </a:spcAft>
            </a:pPr>
            <a:r>
              <a:rPr lang="en-US" b="1" spc="-50" dirty="0">
                <a:solidFill>
                  <a:srgbClr val="304776"/>
                </a:solidFill>
                <a:latin typeface="Arial"/>
                <a:cs typeface="Arial"/>
              </a:rPr>
              <a:t>Territorial</a:t>
            </a:r>
          </a:p>
        </p:txBody>
      </p:sp>
      <p:sp>
        <p:nvSpPr>
          <p:cNvPr id="20" name="Oval 19">
            <a:extLst>
              <a:ext uri="{FF2B5EF4-FFF2-40B4-BE49-F238E27FC236}">
                <a16:creationId xmlns:a16="http://schemas.microsoft.com/office/drawing/2014/main" id="{541FBB1D-C394-3A4B-B28C-7B9FDB31824D}"/>
              </a:ext>
            </a:extLst>
          </p:cNvPr>
          <p:cNvSpPr/>
          <p:nvPr/>
        </p:nvSpPr>
        <p:spPr bwMode="auto">
          <a:xfrm>
            <a:off x="4055237" y="1447800"/>
            <a:ext cx="1828800" cy="674623"/>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ctr" anchorCtr="0"/>
          <a:lstStyle/>
          <a:p>
            <a:pPr algn="ctr" fontAlgn="auto">
              <a:lnSpc>
                <a:spcPct val="90000"/>
              </a:lnSpc>
              <a:spcBef>
                <a:spcPts val="0"/>
              </a:spcBef>
              <a:spcAft>
                <a:spcPts val="0"/>
              </a:spcAft>
            </a:pPr>
            <a:r>
              <a:rPr lang="en-US" b="1" spc="-50" dirty="0">
                <a:solidFill>
                  <a:srgbClr val="304776"/>
                </a:solidFill>
                <a:latin typeface="Arial"/>
                <a:cs typeface="Arial"/>
              </a:rPr>
              <a:t>State</a:t>
            </a:r>
          </a:p>
        </p:txBody>
      </p:sp>
      <p:sp>
        <p:nvSpPr>
          <p:cNvPr id="21" name="Oval 20">
            <a:extLst>
              <a:ext uri="{FF2B5EF4-FFF2-40B4-BE49-F238E27FC236}">
                <a16:creationId xmlns:a16="http://schemas.microsoft.com/office/drawing/2014/main" id="{031EB420-FBAF-7E47-8B06-04C237717493}"/>
              </a:ext>
            </a:extLst>
          </p:cNvPr>
          <p:cNvSpPr/>
          <p:nvPr/>
        </p:nvSpPr>
        <p:spPr bwMode="auto">
          <a:xfrm>
            <a:off x="6483183" y="3505200"/>
            <a:ext cx="1828800" cy="888366"/>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ctr" anchorCtr="0"/>
          <a:lstStyle/>
          <a:p>
            <a:pPr algn="ctr" fontAlgn="auto">
              <a:lnSpc>
                <a:spcPct val="90000"/>
              </a:lnSpc>
              <a:spcBef>
                <a:spcPts val="0"/>
              </a:spcBef>
              <a:spcAft>
                <a:spcPts val="0"/>
              </a:spcAft>
            </a:pPr>
            <a:r>
              <a:rPr lang="en-US" b="1" spc="-50" dirty="0">
                <a:solidFill>
                  <a:srgbClr val="304776"/>
                </a:solidFill>
                <a:latin typeface="Arial"/>
                <a:cs typeface="Arial"/>
              </a:rPr>
              <a:t>Private</a:t>
            </a:r>
          </a:p>
          <a:p>
            <a:pPr algn="ctr" fontAlgn="auto">
              <a:lnSpc>
                <a:spcPct val="90000"/>
              </a:lnSpc>
              <a:spcBef>
                <a:spcPts val="0"/>
              </a:spcBef>
              <a:spcAft>
                <a:spcPts val="0"/>
              </a:spcAft>
            </a:pPr>
            <a:r>
              <a:rPr lang="en-US" b="1" spc="-50" dirty="0">
                <a:solidFill>
                  <a:srgbClr val="304776"/>
                </a:solidFill>
                <a:latin typeface="Arial"/>
                <a:cs typeface="Arial"/>
              </a:rPr>
              <a:t>Sector</a:t>
            </a:r>
          </a:p>
        </p:txBody>
      </p:sp>
      <p:sp>
        <p:nvSpPr>
          <p:cNvPr id="22" name="Oval 21">
            <a:extLst>
              <a:ext uri="{FF2B5EF4-FFF2-40B4-BE49-F238E27FC236}">
                <a16:creationId xmlns:a16="http://schemas.microsoft.com/office/drawing/2014/main" id="{AB257B4B-02E3-F949-89BF-8347C75C0B25}"/>
              </a:ext>
            </a:extLst>
          </p:cNvPr>
          <p:cNvSpPr/>
          <p:nvPr/>
        </p:nvSpPr>
        <p:spPr bwMode="auto">
          <a:xfrm>
            <a:off x="3783447" y="3612072"/>
            <a:ext cx="2504308" cy="674623"/>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t" anchorCtr="0"/>
          <a:lstStyle/>
          <a:p>
            <a:pPr algn="ctr" fontAlgn="auto">
              <a:lnSpc>
                <a:spcPct val="90000"/>
              </a:lnSpc>
              <a:spcBef>
                <a:spcPts val="0"/>
              </a:spcBef>
              <a:spcAft>
                <a:spcPts val="0"/>
              </a:spcAft>
            </a:pPr>
            <a:r>
              <a:rPr lang="en-US" sz="2100" b="1" spc="-50" dirty="0">
                <a:solidFill>
                  <a:srgbClr val="304776"/>
                </a:solidFill>
                <a:latin typeface="Arial"/>
                <a:cs typeface="Arial"/>
              </a:rPr>
              <a:t>International</a:t>
            </a:r>
          </a:p>
        </p:txBody>
      </p:sp>
      <p:sp>
        <p:nvSpPr>
          <p:cNvPr id="23" name="Oval 22">
            <a:extLst>
              <a:ext uri="{FF2B5EF4-FFF2-40B4-BE49-F238E27FC236}">
                <a16:creationId xmlns:a16="http://schemas.microsoft.com/office/drawing/2014/main" id="{7AC42403-636E-1841-AA77-485EC8516AE0}"/>
              </a:ext>
            </a:extLst>
          </p:cNvPr>
          <p:cNvSpPr/>
          <p:nvPr/>
        </p:nvSpPr>
        <p:spPr bwMode="auto">
          <a:xfrm>
            <a:off x="5296007" y="685800"/>
            <a:ext cx="1828800" cy="674623"/>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ctr" anchorCtr="0"/>
          <a:lstStyle/>
          <a:p>
            <a:pPr algn="ctr" fontAlgn="auto">
              <a:lnSpc>
                <a:spcPct val="90000"/>
              </a:lnSpc>
              <a:spcBef>
                <a:spcPts val="0"/>
              </a:spcBef>
              <a:spcAft>
                <a:spcPts val="0"/>
              </a:spcAft>
            </a:pPr>
            <a:r>
              <a:rPr lang="en-US" b="1" spc="-50" dirty="0">
                <a:solidFill>
                  <a:srgbClr val="304776"/>
                </a:solidFill>
                <a:latin typeface="Arial"/>
                <a:cs typeface="Arial"/>
              </a:rPr>
              <a:t>Local</a:t>
            </a:r>
          </a:p>
        </p:txBody>
      </p:sp>
      <p:sp>
        <p:nvSpPr>
          <p:cNvPr id="2" name="Oval 1">
            <a:extLst>
              <a:ext uri="{FF2B5EF4-FFF2-40B4-BE49-F238E27FC236}">
                <a16:creationId xmlns:a16="http://schemas.microsoft.com/office/drawing/2014/main" id="{101AA5BC-46E0-345D-9803-4B288DF43B4B}"/>
              </a:ext>
            </a:extLst>
          </p:cNvPr>
          <p:cNvSpPr/>
          <p:nvPr/>
        </p:nvSpPr>
        <p:spPr bwMode="auto">
          <a:xfrm>
            <a:off x="4055236" y="4637035"/>
            <a:ext cx="2092214" cy="609588"/>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ctr" anchorCtr="0"/>
          <a:lstStyle/>
          <a:p>
            <a:pPr algn="ctr" fontAlgn="auto">
              <a:lnSpc>
                <a:spcPct val="90000"/>
              </a:lnSpc>
              <a:spcBef>
                <a:spcPts val="0"/>
              </a:spcBef>
              <a:spcAft>
                <a:spcPts val="0"/>
              </a:spcAft>
            </a:pPr>
            <a:r>
              <a:rPr lang="en-US" b="1" spc="-50" dirty="0">
                <a:solidFill>
                  <a:schemeClr val="tx2"/>
                </a:solidFill>
                <a:latin typeface="Arial"/>
                <a:cs typeface="Arial"/>
              </a:rPr>
              <a:t>Professional Non-Profits</a:t>
            </a:r>
          </a:p>
        </p:txBody>
      </p:sp>
      <p:sp>
        <p:nvSpPr>
          <p:cNvPr id="3" name="Oval 2">
            <a:extLst>
              <a:ext uri="{FF2B5EF4-FFF2-40B4-BE49-F238E27FC236}">
                <a16:creationId xmlns:a16="http://schemas.microsoft.com/office/drawing/2014/main" id="{C36BB894-F084-9F7E-7FB3-97144804E265}"/>
              </a:ext>
            </a:extLst>
          </p:cNvPr>
          <p:cNvSpPr/>
          <p:nvPr/>
        </p:nvSpPr>
        <p:spPr bwMode="auto">
          <a:xfrm>
            <a:off x="6436480" y="4685977"/>
            <a:ext cx="1828800" cy="609588"/>
          </a:xfrm>
          <a:prstGeom prst="ellipse">
            <a:avLst/>
          </a:prstGeom>
          <a:gradFill>
            <a:gsLst>
              <a:gs pos="0">
                <a:srgbClr val="9EB3B6"/>
              </a:gs>
              <a:gs pos="100000">
                <a:schemeClr val="bg1"/>
              </a:gs>
            </a:gsLst>
          </a:gradFill>
          <a:ln>
            <a:solidFill>
              <a:srgbClr val="5C7073"/>
            </a:solidFill>
          </a:ln>
          <a:effectLst>
            <a:innerShdw blurRad="371475" dir="13500000">
              <a:schemeClr val="bg1"/>
            </a:innerShdw>
            <a:reflection stA="30000" endPos="10000" dist="12700" dir="5400000" sy="-100000" algn="bl" rotWithShape="0"/>
          </a:effectLst>
        </p:spPr>
        <p:style>
          <a:lnRef idx="1">
            <a:schemeClr val="dk1"/>
          </a:lnRef>
          <a:fillRef idx="2">
            <a:schemeClr val="dk1"/>
          </a:fillRef>
          <a:effectRef idx="1">
            <a:schemeClr val="dk1"/>
          </a:effectRef>
          <a:fontRef idx="minor">
            <a:schemeClr val="dk1"/>
          </a:fontRef>
        </p:style>
        <p:txBody>
          <a:bodyPr tIns="91440" rtlCol="0" anchor="ctr" anchorCtr="0"/>
          <a:lstStyle/>
          <a:p>
            <a:pPr algn="ctr" fontAlgn="auto">
              <a:lnSpc>
                <a:spcPct val="90000"/>
              </a:lnSpc>
              <a:spcBef>
                <a:spcPts val="0"/>
              </a:spcBef>
              <a:spcAft>
                <a:spcPts val="0"/>
              </a:spcAft>
            </a:pPr>
            <a:r>
              <a:rPr lang="en-US" b="1" spc="-50" dirty="0">
                <a:solidFill>
                  <a:schemeClr val="tx2"/>
                </a:solidFill>
                <a:latin typeface="Arial"/>
                <a:cs typeface="Arial"/>
              </a:rPr>
              <a:t>Other SDO’s</a:t>
            </a:r>
          </a:p>
        </p:txBody>
      </p:sp>
    </p:spTree>
    <p:extLst>
      <p:ext uri="{BB962C8B-B14F-4D97-AF65-F5344CB8AC3E}">
        <p14:creationId xmlns:p14="http://schemas.microsoft.com/office/powerpoint/2010/main" val="4166622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checkerboard(across)">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DB8CD1-3B91-32A9-69A8-AD17EF24E818}"/>
              </a:ext>
            </a:extLst>
          </p:cNvPr>
          <p:cNvSpPr txBox="1"/>
          <p:nvPr/>
        </p:nvSpPr>
        <p:spPr>
          <a:xfrm>
            <a:off x="1447800" y="990600"/>
            <a:ext cx="6324600" cy="523220"/>
          </a:xfrm>
          <a:prstGeom prst="rect">
            <a:avLst/>
          </a:prstGeom>
          <a:noFill/>
        </p:spPr>
        <p:txBody>
          <a:bodyPr wrap="square" rtlCol="0">
            <a:spAutoFit/>
          </a:bodyPr>
          <a:lstStyle/>
          <a:p>
            <a:r>
              <a:rPr lang="en-US" sz="2800" b="1" dirty="0"/>
              <a:t>NIEMOpen--Principles of Operation</a:t>
            </a:r>
          </a:p>
        </p:txBody>
      </p:sp>
      <p:sp>
        <p:nvSpPr>
          <p:cNvPr id="5" name="TextBox 4">
            <a:extLst>
              <a:ext uri="{FF2B5EF4-FFF2-40B4-BE49-F238E27FC236}">
                <a16:creationId xmlns:a16="http://schemas.microsoft.com/office/drawing/2014/main" id="{5CC66AE5-7A47-F16C-8BD5-8F73619CC162}"/>
              </a:ext>
            </a:extLst>
          </p:cNvPr>
          <p:cNvSpPr txBox="1"/>
          <p:nvPr/>
        </p:nvSpPr>
        <p:spPr>
          <a:xfrm>
            <a:off x="1981200" y="2090172"/>
            <a:ext cx="8458200" cy="3416320"/>
          </a:xfrm>
          <a:prstGeom prst="rect">
            <a:avLst/>
          </a:prstGeom>
          <a:noFill/>
        </p:spPr>
        <p:txBody>
          <a:bodyPr wrap="square" rtlCol="0">
            <a:spAutoFit/>
          </a:bodyPr>
          <a:lstStyle/>
          <a:p>
            <a:pPr marL="285750" indent="-285750">
              <a:spcAft>
                <a:spcPts val="1200"/>
              </a:spcAft>
              <a:buFont typeface="Wingdings" pitchFamily="2" charset="2"/>
              <a:buChar char="ü"/>
            </a:pPr>
            <a:r>
              <a:rPr lang="en-US" sz="2800" dirty="0"/>
              <a:t>NIEMOpen will remain open source and cost free</a:t>
            </a:r>
            <a:r>
              <a:rPr lang="en-US" sz="2800" dirty="0">
                <a:solidFill>
                  <a:srgbClr val="EE0000"/>
                </a:solidFill>
              </a:rPr>
              <a:t> </a:t>
            </a:r>
            <a:r>
              <a:rPr lang="en-US" sz="2800" dirty="0">
                <a:solidFill>
                  <a:schemeClr val="tx2"/>
                </a:solidFill>
              </a:rPr>
              <a:t>to use</a:t>
            </a:r>
          </a:p>
          <a:p>
            <a:pPr marL="285750" indent="-285750">
              <a:spcAft>
                <a:spcPts val="1200"/>
              </a:spcAft>
              <a:buFont typeface="Wingdings" pitchFamily="2" charset="2"/>
              <a:buChar char="ü"/>
            </a:pPr>
            <a:r>
              <a:rPr lang="en-US" sz="2800" dirty="0"/>
              <a:t>NIEMOpen will operate in accordance with the OASIS business model and rules</a:t>
            </a:r>
          </a:p>
          <a:p>
            <a:pPr marL="285750" indent="-285750">
              <a:spcAft>
                <a:spcPts val="1200"/>
              </a:spcAft>
              <a:buFont typeface="Wingdings" pitchFamily="2" charset="2"/>
              <a:buChar char="ü"/>
            </a:pPr>
            <a:r>
              <a:rPr lang="en-US" sz="2800" dirty="0"/>
              <a:t>The content and purposes of NIEMOpen will be determined by the collaborative decisions of its stakeholders</a:t>
            </a:r>
          </a:p>
        </p:txBody>
      </p:sp>
    </p:spTree>
    <p:extLst>
      <p:ext uri="{BB962C8B-B14F-4D97-AF65-F5344CB8AC3E}">
        <p14:creationId xmlns:p14="http://schemas.microsoft.com/office/powerpoint/2010/main" val="2733137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cstate="email">
            <a:alphaModFix amt="24947"/>
            <a:extLst>
              <a:ext uri="{BEBA8EAE-BF5A-486C-A8C5-ECC9F3942E4B}">
                <a14:imgProps xmlns:a14="http://schemas.microsoft.com/office/drawing/2010/main">
                  <a14:imgLayer r:embed="rId4">
                    <a14:imgEffect>
                      <a14:artisticCement trans="40000"/>
                    </a14:imgEffect>
                  </a14:imgLayer>
                </a14:imgProps>
              </a:ext>
              <a:ext uri="{28A0092B-C50C-407E-A947-70E740481C1C}">
                <a14:useLocalDpi xmlns:a14="http://schemas.microsoft.com/office/drawing/2010/main"/>
              </a:ext>
            </a:extLst>
          </a:blip>
          <a:tile tx="0" ty="0" sx="100000" sy="100000" flip="none" algn="tl"/>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45E607C-87A8-7D35-6728-0A30C02174DC}"/>
              </a:ext>
            </a:extLst>
          </p:cNvPr>
          <p:cNvSpPr txBox="1"/>
          <p:nvPr/>
        </p:nvSpPr>
        <p:spPr>
          <a:xfrm>
            <a:off x="990600" y="647700"/>
            <a:ext cx="9906000" cy="5562600"/>
          </a:xfrm>
          <a:prstGeom prst="rect">
            <a:avLst/>
          </a:prstGeom>
          <a:noFill/>
        </p:spPr>
        <p:txBody>
          <a:bodyPr wrap="square" rtlCol="0">
            <a:spAutoFit/>
          </a:bodyPr>
          <a:lstStyle/>
          <a:p>
            <a:endParaRPr lang="en-US" dirty="0"/>
          </a:p>
        </p:txBody>
      </p:sp>
      <p:sp>
        <p:nvSpPr>
          <p:cNvPr id="2" name="TextBox 1">
            <a:extLst>
              <a:ext uri="{FF2B5EF4-FFF2-40B4-BE49-F238E27FC236}">
                <a16:creationId xmlns:a16="http://schemas.microsoft.com/office/drawing/2014/main" id="{C546DE22-8B27-2F12-B6BD-5F1BCE2A0D3A}"/>
              </a:ext>
            </a:extLst>
          </p:cNvPr>
          <p:cNvSpPr txBox="1"/>
          <p:nvPr/>
        </p:nvSpPr>
        <p:spPr>
          <a:xfrm>
            <a:off x="1295400" y="647700"/>
            <a:ext cx="9601200" cy="646331"/>
          </a:xfrm>
          <a:prstGeom prst="rect">
            <a:avLst/>
          </a:prstGeom>
          <a:noFill/>
        </p:spPr>
        <p:txBody>
          <a:bodyPr wrap="square" rtlCol="0">
            <a:spAutoFit/>
          </a:bodyPr>
          <a:lstStyle/>
          <a:p>
            <a:r>
              <a:rPr lang="en-US" sz="3600" dirty="0">
                <a:latin typeface="ADLaM Display" panose="02010000000000000000" pitchFamily="2" charset="77"/>
                <a:ea typeface="ADLaM Display" panose="02010000000000000000" pitchFamily="2" charset="77"/>
                <a:cs typeface="ADLaM Display" panose="02010000000000000000" pitchFamily="2" charset="77"/>
              </a:rPr>
              <a:t>NIEMOpen as a Collaborative Community</a:t>
            </a:r>
          </a:p>
        </p:txBody>
      </p:sp>
      <p:graphicFrame>
        <p:nvGraphicFramePr>
          <p:cNvPr id="4" name="Diagram 3">
            <a:extLst>
              <a:ext uri="{FF2B5EF4-FFF2-40B4-BE49-F238E27FC236}">
                <a16:creationId xmlns:a16="http://schemas.microsoft.com/office/drawing/2014/main" id="{6284AD2B-7263-6164-98D5-3C14BA4F0104}"/>
              </a:ext>
            </a:extLst>
          </p:cNvPr>
          <p:cNvGraphicFramePr/>
          <p:nvPr>
            <p:extLst>
              <p:ext uri="{D42A27DB-BD31-4B8C-83A1-F6EECF244321}">
                <p14:modId xmlns:p14="http://schemas.microsoft.com/office/powerpoint/2010/main" val="838555252"/>
              </p:ext>
            </p:extLst>
          </p:nvPr>
        </p:nvGraphicFramePr>
        <p:xfrm>
          <a:off x="1143000" y="1676400"/>
          <a:ext cx="10045700" cy="38862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070516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5C6D8ABE-C5C1-8D47-B15C-3633CDE10ABD}"/>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graphicEl>
                                              <a:dgm id="{B2AA4985-4059-9F47-B720-C3B7360E2D9F}"/>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graphicEl>
                                              <a:dgm id="{ABA0A936-5EE6-4143-BEB1-3D0F8BB5A564}"/>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graphicEl>
                                              <a:dgm id="{6765135A-857B-4C47-9C9D-AC2999B63AB3}"/>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4775D474-5127-174F-9252-1F7301F00578}"/>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graphicEl>
                                              <a:dgm id="{6F4BCA31-15AE-7444-8AB0-D641B23C8F2B}"/>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graphicEl>
                                              <a:dgm id="{7BF7B538-A35A-244A-98F2-52CF37BB7643}"/>
                                            </p:graphic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graphicEl>
                                              <a:dgm id="{696170FB-475C-7F41-8B06-D81759EF588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Rounded Corners 59">
            <a:extLst>
              <a:ext uri="{FF2B5EF4-FFF2-40B4-BE49-F238E27FC236}">
                <a16:creationId xmlns:a16="http://schemas.microsoft.com/office/drawing/2014/main" id="{C72EBFB9-914E-4D23-96A9-569D76BDD4EC}"/>
              </a:ext>
            </a:extLst>
          </p:cNvPr>
          <p:cNvSpPr/>
          <p:nvPr/>
        </p:nvSpPr>
        <p:spPr bwMode="auto">
          <a:xfrm>
            <a:off x="9148380" y="3254270"/>
            <a:ext cx="3119602" cy="3072030"/>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tIns="91440" rtlCol="0" anchor="t" anchorCtr="0"/>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1" i="0" u="none" strike="noStrike" kern="1200" cap="none" spc="-50" normalizeH="0" baseline="0" noProof="0" dirty="0">
              <a:ln>
                <a:noFill/>
              </a:ln>
              <a:solidFill>
                <a:srgbClr val="1F497D"/>
              </a:solidFill>
              <a:effectLst/>
              <a:uLnTx/>
              <a:uFillTx/>
              <a:latin typeface="Arial"/>
              <a:ea typeface="+mn-ea"/>
              <a:cs typeface="Arial"/>
            </a:endParaRPr>
          </a:p>
        </p:txBody>
      </p:sp>
      <p:sp>
        <p:nvSpPr>
          <p:cNvPr id="2" name="Title 1">
            <a:extLst>
              <a:ext uri="{FF2B5EF4-FFF2-40B4-BE49-F238E27FC236}">
                <a16:creationId xmlns:a16="http://schemas.microsoft.com/office/drawing/2014/main" id="{43400C44-1B3E-47B1-89C0-9ECB58709038}"/>
              </a:ext>
            </a:extLst>
          </p:cNvPr>
          <p:cNvSpPr>
            <a:spLocks noGrp="1"/>
          </p:cNvSpPr>
          <p:nvPr>
            <p:ph type="title"/>
          </p:nvPr>
        </p:nvSpPr>
        <p:spPr>
          <a:xfrm>
            <a:off x="381000" y="525495"/>
            <a:ext cx="10972800" cy="458748"/>
          </a:xfrm>
        </p:spPr>
        <p:txBody>
          <a:bodyPr>
            <a:normAutofit fontScale="90000"/>
          </a:bodyPr>
          <a:lstStyle/>
          <a:p>
            <a:r>
              <a:rPr lang="en-US" dirty="0"/>
              <a:t>NIEMOpen COLLABORATIVE STRUCTURE </a:t>
            </a:r>
          </a:p>
        </p:txBody>
      </p:sp>
      <p:sp>
        <p:nvSpPr>
          <p:cNvPr id="7" name="Rectangle 6">
            <a:extLst>
              <a:ext uri="{FF2B5EF4-FFF2-40B4-BE49-F238E27FC236}">
                <a16:creationId xmlns:a16="http://schemas.microsoft.com/office/drawing/2014/main" id="{85729023-19AF-4423-9EBE-7A627540A0D1}"/>
              </a:ext>
            </a:extLst>
          </p:cNvPr>
          <p:cNvSpPr/>
          <p:nvPr/>
        </p:nvSpPr>
        <p:spPr bwMode="auto">
          <a:xfrm>
            <a:off x="5034904" y="1511855"/>
            <a:ext cx="2442232" cy="1272441"/>
          </a:xfrm>
          <a:prstGeom prst="rect">
            <a:avLst/>
          </a:prstGeom>
          <a:solidFill>
            <a:schemeClr val="accent3">
              <a:lumMod val="40000"/>
              <a:lumOff val="60000"/>
            </a:schemeClr>
          </a:solidFill>
          <a:ln/>
        </p:spPr>
        <p:style>
          <a:lnRef idx="2">
            <a:schemeClr val="accent3"/>
          </a:lnRef>
          <a:fillRef idx="1">
            <a:schemeClr val="lt1"/>
          </a:fillRef>
          <a:effectRef idx="0">
            <a:schemeClr val="accent3"/>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a:noFill/>
                </a:ln>
                <a:solidFill>
                  <a:srgbClr val="1F497D"/>
                </a:solidFill>
                <a:effectLst/>
                <a:uLnTx/>
                <a:uFillTx/>
                <a:latin typeface="Arial"/>
                <a:ea typeface="+mn-ea"/>
                <a:cs typeface="Arial"/>
              </a:rPr>
              <a:t>NIEM OPEN</a:t>
            </a:r>
            <a:endParaRPr kumimoji="0" lang="en-US" sz="2000" i="0" u="none" strike="noStrike" kern="1200" cap="none" spc="-50" normalizeH="0" baseline="0" noProof="0" dirty="0">
              <a:ln>
                <a:noFill/>
              </a:ln>
              <a:solidFill>
                <a:srgbClr val="FFFF00"/>
              </a:solidFill>
              <a:effectLst/>
              <a:highlight>
                <a:srgbClr val="C0C0C0"/>
              </a:highligh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rPr>
              <a:t>Project Governing Board</a:t>
            </a:r>
          </a:p>
        </p:txBody>
      </p:sp>
      <p:sp>
        <p:nvSpPr>
          <p:cNvPr id="13" name="Rectangle 12">
            <a:extLst>
              <a:ext uri="{FF2B5EF4-FFF2-40B4-BE49-F238E27FC236}">
                <a16:creationId xmlns:a16="http://schemas.microsoft.com/office/drawing/2014/main" id="{AB9FA8BC-D07A-48CF-9A01-E1BE71523EBD}"/>
              </a:ext>
            </a:extLst>
          </p:cNvPr>
          <p:cNvSpPr/>
          <p:nvPr/>
        </p:nvSpPr>
        <p:spPr bwMode="auto">
          <a:xfrm>
            <a:off x="1714590" y="3243270"/>
            <a:ext cx="2442232" cy="1272440"/>
          </a:xfrm>
          <a:prstGeom prst="rect">
            <a:avLst/>
          </a:prstGeom>
          <a:solidFill>
            <a:schemeClr val="accent6">
              <a:lumMod val="40000"/>
              <a:lumOff val="60000"/>
            </a:schemeClr>
          </a:solidFill>
          <a:ln w="38100">
            <a:solidFill>
              <a:schemeClr val="accent6">
                <a:lumMod val="60000"/>
                <a:lumOff val="40000"/>
              </a:schemeClr>
            </a:solidFill>
            <a:prstDash val="solid"/>
          </a:ln>
        </p:spPr>
        <p:style>
          <a:lnRef idx="2">
            <a:schemeClr val="accent3"/>
          </a:lnRef>
          <a:fillRef idx="1">
            <a:schemeClr val="lt1"/>
          </a:fillRef>
          <a:effectRef idx="0">
            <a:schemeClr val="accent3"/>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kern="1200" spc="-50" dirty="0">
                <a:solidFill>
                  <a:srgbClr val="EEECE1">
                    <a:lumMod val="10000"/>
                  </a:srgbClr>
                </a:solidFill>
                <a:latin typeface="Arial"/>
                <a:cs typeface="Arial"/>
              </a:rPr>
              <a:t>T</a:t>
            </a:r>
            <a:r>
              <a:rPr kumimoji="0" lang="en-US" sz="2000" b="1" i="0" u="none" strike="noStrike" kern="1200" cap="none" spc="-50" normalizeH="0" baseline="0" noProof="0" dirty="0" err="1">
                <a:ln>
                  <a:noFill/>
                </a:ln>
                <a:solidFill>
                  <a:srgbClr val="EEECE1">
                    <a:lumMod val="10000"/>
                  </a:srgbClr>
                </a:solidFill>
                <a:effectLst/>
                <a:uLnTx/>
                <a:uFillTx/>
                <a:latin typeface="Arial"/>
                <a:ea typeface="+mn-ea"/>
                <a:cs typeface="Arial"/>
              </a:rPr>
              <a:t>echnical</a:t>
            </a:r>
            <a:r>
              <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rPr>
              <a:t> Steering Committee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(NIEMOpen </a:t>
            </a:r>
            <a:r>
              <a:rPr kumimoji="0" lang="en-US" sz="2000" b="1" i="1" u="sng" strike="noStrike" kern="1200" cap="none" spc="-50" normalizeH="0" baseline="0" noProof="0" dirty="0">
                <a:ln>
                  <a:noFill/>
                </a:ln>
                <a:solidFill>
                  <a:srgbClr val="9BBB59">
                    <a:lumMod val="75000"/>
                  </a:srgbClr>
                </a:solidFill>
                <a:effectLst/>
                <a:uLnTx/>
                <a:uFillTx/>
                <a:latin typeface="Arial"/>
                <a:ea typeface="+mn-ea"/>
                <a:cs typeface="Arial"/>
              </a:rPr>
              <a:t>NMO</a:t>
            </a: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a:t>
            </a:r>
          </a:p>
        </p:txBody>
      </p:sp>
      <p:sp>
        <p:nvSpPr>
          <p:cNvPr id="16" name="Rectangle 15">
            <a:extLst>
              <a:ext uri="{FF2B5EF4-FFF2-40B4-BE49-F238E27FC236}">
                <a16:creationId xmlns:a16="http://schemas.microsoft.com/office/drawing/2014/main" id="{07DBDC7B-6652-45C7-AC82-92D7E553F022}"/>
              </a:ext>
            </a:extLst>
          </p:cNvPr>
          <p:cNvSpPr/>
          <p:nvPr/>
        </p:nvSpPr>
        <p:spPr bwMode="auto">
          <a:xfrm>
            <a:off x="5027284" y="3254270"/>
            <a:ext cx="2442232" cy="1272440"/>
          </a:xfrm>
          <a:prstGeom prst="rect">
            <a:avLst/>
          </a:prstGeom>
          <a:solidFill>
            <a:schemeClr val="accent6">
              <a:lumMod val="40000"/>
              <a:lumOff val="60000"/>
            </a:schemeClr>
          </a:solidFill>
          <a:ln>
            <a:solidFill>
              <a:schemeClr val="accent6">
                <a:lumMod val="60000"/>
                <a:lumOff val="40000"/>
              </a:schemeClr>
            </a:solidFill>
          </a:ln>
        </p:spPr>
        <p:style>
          <a:lnRef idx="2">
            <a:schemeClr val="accent3"/>
          </a:lnRef>
          <a:fillRef idx="1">
            <a:schemeClr val="lt1"/>
          </a:fillRef>
          <a:effectRef idx="0">
            <a:schemeClr val="accent3"/>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rPr>
              <a:t>Technical Steering Committee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(NIEMOpen </a:t>
            </a:r>
            <a:r>
              <a:rPr kumimoji="0" lang="en-US" sz="2000" b="1" i="1" u="sng" strike="noStrike" kern="1200" cap="none" spc="-50" normalizeH="0" baseline="0" noProof="0" dirty="0">
                <a:ln>
                  <a:noFill/>
                </a:ln>
                <a:solidFill>
                  <a:srgbClr val="FF0000"/>
                </a:solidFill>
                <a:effectLst/>
                <a:uLnTx/>
                <a:uFillTx/>
                <a:latin typeface="Arial"/>
                <a:ea typeface="+mn-ea"/>
                <a:cs typeface="Arial"/>
              </a:rPr>
              <a:t>NBAC</a:t>
            </a: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a:t>
            </a:r>
          </a:p>
        </p:txBody>
      </p:sp>
      <p:pic>
        <p:nvPicPr>
          <p:cNvPr id="18" name="Picture 17" descr="Logo&#10;&#10;Description automatically generated">
            <a:extLst>
              <a:ext uri="{FF2B5EF4-FFF2-40B4-BE49-F238E27FC236}">
                <a16:creationId xmlns:a16="http://schemas.microsoft.com/office/drawing/2014/main" id="{FA7EA71D-48A3-49F4-B3C9-D6D8FA72AB2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180182" y="1641432"/>
            <a:ext cx="284346" cy="284346"/>
          </a:xfrm>
          <a:prstGeom prst="rect">
            <a:avLst/>
          </a:prstGeom>
        </p:spPr>
      </p:pic>
      <p:sp>
        <p:nvSpPr>
          <p:cNvPr id="19" name="Rectangle 18">
            <a:extLst>
              <a:ext uri="{FF2B5EF4-FFF2-40B4-BE49-F238E27FC236}">
                <a16:creationId xmlns:a16="http://schemas.microsoft.com/office/drawing/2014/main" id="{14799F0B-3000-42A8-A5F3-53B7C4BB4951}"/>
              </a:ext>
            </a:extLst>
          </p:cNvPr>
          <p:cNvSpPr/>
          <p:nvPr/>
        </p:nvSpPr>
        <p:spPr bwMode="auto">
          <a:xfrm>
            <a:off x="8339978" y="3254270"/>
            <a:ext cx="2442232" cy="1240872"/>
          </a:xfrm>
          <a:prstGeom prst="rect">
            <a:avLst/>
          </a:prstGeom>
          <a:solidFill>
            <a:schemeClr val="accent6">
              <a:lumMod val="40000"/>
              <a:lumOff val="60000"/>
            </a:schemeClr>
          </a:solidFill>
          <a:ln>
            <a:solidFill>
              <a:schemeClr val="accent6">
                <a:lumMod val="60000"/>
                <a:lumOff val="40000"/>
              </a:schemeClr>
            </a:solidFill>
          </a:ln>
        </p:spPr>
        <p:style>
          <a:lnRef idx="2">
            <a:schemeClr val="accent3"/>
          </a:lnRef>
          <a:fillRef idx="1">
            <a:schemeClr val="lt1"/>
          </a:fillRef>
          <a:effectRef idx="0">
            <a:schemeClr val="accent3"/>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rPr>
              <a:t>Technical Steering Committee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(NIEMOpen </a:t>
            </a:r>
            <a:r>
              <a:rPr kumimoji="0" lang="en-US" sz="2000" b="1" i="1" u="sng" strike="noStrike" kern="1200" cap="none" spc="-50" normalizeH="0" baseline="0" noProof="0" dirty="0">
                <a:ln>
                  <a:noFill/>
                </a:ln>
                <a:solidFill>
                  <a:srgbClr val="1F497D">
                    <a:lumMod val="75000"/>
                  </a:srgbClr>
                </a:solidFill>
                <a:effectLst/>
                <a:uLnTx/>
                <a:uFillTx/>
                <a:latin typeface="Arial"/>
                <a:ea typeface="+mn-ea"/>
                <a:cs typeface="Arial"/>
              </a:rPr>
              <a:t>NTAC</a:t>
            </a: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a:t>
            </a:r>
          </a:p>
        </p:txBody>
      </p:sp>
      <p:cxnSp>
        <p:nvCxnSpPr>
          <p:cNvPr id="21" name="Connector: Elbow 20">
            <a:extLst>
              <a:ext uri="{FF2B5EF4-FFF2-40B4-BE49-F238E27FC236}">
                <a16:creationId xmlns:a16="http://schemas.microsoft.com/office/drawing/2014/main" id="{891908E6-DF25-4BAB-990A-1D00264CA27E}"/>
              </a:ext>
            </a:extLst>
          </p:cNvPr>
          <p:cNvCxnSpPr>
            <a:cxnSpLocks/>
          </p:cNvCxnSpPr>
          <p:nvPr/>
        </p:nvCxnSpPr>
        <p:spPr>
          <a:xfrm rot="5400000">
            <a:off x="4348686" y="1348706"/>
            <a:ext cx="486735" cy="3312694"/>
          </a:xfrm>
          <a:prstGeom prst="bentConnector3">
            <a:avLst>
              <a:gd name="adj1" fmla="val 5000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E4D03A3E-ED91-4FFD-B13A-1B4F0951A2F0}"/>
              </a:ext>
            </a:extLst>
          </p:cNvPr>
          <p:cNvCxnSpPr>
            <a:cxnSpLocks/>
            <a:stCxn id="7" idx="2"/>
            <a:endCxn id="19" idx="0"/>
          </p:cNvCxnSpPr>
          <p:nvPr/>
        </p:nvCxnSpPr>
        <p:spPr>
          <a:xfrm rot="16200000" flipH="1">
            <a:off x="7673570" y="1366746"/>
            <a:ext cx="469974" cy="3305074"/>
          </a:xfrm>
          <a:prstGeom prst="bentConnector3">
            <a:avLst>
              <a:gd name="adj1" fmla="val 50000"/>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D2EAF4C4-3CDC-4084-AA61-E5C730AD717C}"/>
              </a:ext>
            </a:extLst>
          </p:cNvPr>
          <p:cNvCxnSpPr>
            <a:cxnSpLocks/>
            <a:stCxn id="7" idx="2"/>
            <a:endCxn id="16" idx="0"/>
          </p:cNvCxnSpPr>
          <p:nvPr/>
        </p:nvCxnSpPr>
        <p:spPr>
          <a:xfrm flipH="1">
            <a:off x="6248400" y="2784296"/>
            <a:ext cx="7620" cy="46997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id="{27F925DD-0575-4289-B22E-C8515ABC215D}"/>
              </a:ext>
            </a:extLst>
          </p:cNvPr>
          <p:cNvSpPr/>
          <p:nvPr/>
        </p:nvSpPr>
        <p:spPr bwMode="auto">
          <a:xfrm>
            <a:off x="5082294" y="5069362"/>
            <a:ext cx="2442232" cy="1272440"/>
          </a:xfrm>
          <a:prstGeom prst="rect">
            <a:avLst/>
          </a:prstGeom>
          <a:solidFill>
            <a:schemeClr val="accent1">
              <a:lumMod val="40000"/>
              <a:lumOff val="60000"/>
            </a:schemeClr>
          </a:solidFill>
          <a:ln>
            <a:solidFill>
              <a:schemeClr val="accent1">
                <a:lumMod val="60000"/>
                <a:lumOff val="40000"/>
              </a:schemeClr>
            </a:solidFill>
          </a:ln>
        </p:spPr>
        <p:style>
          <a:lnRef idx="2">
            <a:schemeClr val="accent3"/>
          </a:lnRef>
          <a:fillRef idx="1">
            <a:schemeClr val="lt1"/>
          </a:fillRef>
          <a:effectRef idx="0">
            <a:schemeClr val="accent3"/>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NBAC Subcommittees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i="1" kern="1200" spc="-50" dirty="0">
                <a:solidFill>
                  <a:srgbClr val="EEECE1">
                    <a:lumMod val="10000"/>
                  </a:srgbClr>
                </a:solidFill>
                <a:latin typeface="Arial"/>
                <a:cs typeface="Arial"/>
              </a:rPr>
              <a:t>(Domains)</a:t>
            </a:r>
            <a:endPar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endParaRPr>
          </a:p>
        </p:txBody>
      </p:sp>
      <p:sp>
        <p:nvSpPr>
          <p:cNvPr id="39" name="Rectangle 38">
            <a:extLst>
              <a:ext uri="{FF2B5EF4-FFF2-40B4-BE49-F238E27FC236}">
                <a16:creationId xmlns:a16="http://schemas.microsoft.com/office/drawing/2014/main" id="{05706E35-8F8E-41D6-9237-083538BDABE7}"/>
              </a:ext>
            </a:extLst>
          </p:cNvPr>
          <p:cNvSpPr/>
          <p:nvPr/>
        </p:nvSpPr>
        <p:spPr bwMode="auto">
          <a:xfrm>
            <a:off x="1769600" y="4953000"/>
            <a:ext cx="2442232" cy="1143000"/>
          </a:xfrm>
          <a:prstGeom prst="rect">
            <a:avLst/>
          </a:prstGeom>
          <a:solidFill>
            <a:schemeClr val="accent1">
              <a:lumMod val="40000"/>
              <a:lumOff val="60000"/>
            </a:schemeClr>
          </a:solidFill>
          <a:ln>
            <a:solidFill>
              <a:schemeClr val="accent1">
                <a:lumMod val="60000"/>
                <a:lumOff val="40000"/>
              </a:schemeClr>
            </a:solidFill>
          </a:ln>
        </p:spPr>
        <p:style>
          <a:lnRef idx="2">
            <a:schemeClr val="accent3"/>
          </a:lnRef>
          <a:fillRef idx="1">
            <a:schemeClr val="lt1"/>
          </a:fillRef>
          <a:effectRef idx="0">
            <a:schemeClr val="accent3"/>
          </a:effectRef>
          <a:fontRef idx="minor">
            <a:schemeClr val="dk1"/>
          </a:fontRef>
        </p:style>
        <p:txBody>
          <a:bodyPr tIns="9144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rPr>
              <a:t>Communications &amp; Outreach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rPr>
              <a:t>Subcommittee </a:t>
            </a:r>
          </a:p>
        </p:txBody>
      </p:sp>
      <p:cxnSp>
        <p:nvCxnSpPr>
          <p:cNvPr id="9" name="Straight Arrow Connector 8">
            <a:extLst>
              <a:ext uri="{FF2B5EF4-FFF2-40B4-BE49-F238E27FC236}">
                <a16:creationId xmlns:a16="http://schemas.microsoft.com/office/drawing/2014/main" id="{B4A21954-B9EA-12BA-AB8E-933965E34AA9}"/>
              </a:ext>
            </a:extLst>
          </p:cNvPr>
          <p:cNvCxnSpPr>
            <a:cxnSpLocks/>
            <a:stCxn id="39" idx="3"/>
            <a:endCxn id="16" idx="1"/>
          </p:cNvCxnSpPr>
          <p:nvPr/>
        </p:nvCxnSpPr>
        <p:spPr>
          <a:xfrm flipV="1">
            <a:off x="4211832" y="3890490"/>
            <a:ext cx="815452" cy="1634010"/>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D26E09C2-D47B-9A84-8F00-D78EDAC27F76}"/>
              </a:ext>
            </a:extLst>
          </p:cNvPr>
          <p:cNvCxnSpPr>
            <a:stCxn id="39" idx="0"/>
            <a:endCxn id="39" idx="0"/>
          </p:cNvCxnSpPr>
          <p:nvPr/>
        </p:nvCxnSpPr>
        <p:spPr>
          <a:xfrm>
            <a:off x="2990716" y="495300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DF382EE-EC38-D71E-90FF-E9F19D36CD62}"/>
              </a:ext>
            </a:extLst>
          </p:cNvPr>
          <p:cNvCxnSpPr>
            <a:stCxn id="13" idx="2"/>
          </p:cNvCxnSpPr>
          <p:nvPr/>
        </p:nvCxnSpPr>
        <p:spPr>
          <a:xfrm>
            <a:off x="2935706" y="4515710"/>
            <a:ext cx="0" cy="437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BE5C0F2C-A027-485D-DC3F-0FA567533254}"/>
              </a:ext>
            </a:extLst>
          </p:cNvPr>
          <p:cNvSpPr/>
          <p:nvPr/>
        </p:nvSpPr>
        <p:spPr bwMode="auto">
          <a:xfrm>
            <a:off x="1600200" y="1804194"/>
            <a:ext cx="2442232" cy="630843"/>
          </a:xfrm>
          <a:prstGeom prst="rect">
            <a:avLst/>
          </a:prstGeom>
          <a:ln/>
        </p:spPr>
        <p:style>
          <a:lnRef idx="2">
            <a:schemeClr val="accent4"/>
          </a:lnRef>
          <a:fillRef idx="1">
            <a:schemeClr val="lt1"/>
          </a:fillRef>
          <a:effectRef idx="0">
            <a:schemeClr val="accent4"/>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50" normalizeH="0" baseline="0" noProof="0" dirty="0">
                <a:ln>
                  <a:noFill/>
                </a:ln>
                <a:solidFill>
                  <a:srgbClr val="EEECE1">
                    <a:lumMod val="10000"/>
                  </a:srgbClr>
                </a:solidFill>
                <a:effectLst/>
                <a:uLnTx/>
                <a:uFillTx/>
                <a:latin typeface="Arial"/>
                <a:ea typeface="+mn-ea"/>
                <a:cs typeface="Arial"/>
              </a:rPr>
              <a:t>SPONSORS</a:t>
            </a:r>
            <a:endParaRPr kumimoji="0" lang="en-US" sz="2800" b="1" i="0" u="none" strike="noStrike" kern="1200" cap="none" spc="-50" normalizeH="0" baseline="0" noProof="0" dirty="0">
              <a:ln>
                <a:noFill/>
              </a:ln>
              <a:solidFill>
                <a:srgbClr val="EEECE1">
                  <a:lumMod val="10000"/>
                </a:srgbClr>
              </a:solidFill>
              <a:effectLst/>
              <a:uLnTx/>
              <a:uFillTx/>
              <a:latin typeface="Arial"/>
              <a:ea typeface="+mn-ea"/>
              <a:cs typeface="Arial"/>
            </a:endParaRPr>
          </a:p>
        </p:txBody>
      </p:sp>
      <p:cxnSp>
        <p:nvCxnSpPr>
          <p:cNvPr id="45" name="Elbow Connector 44">
            <a:extLst>
              <a:ext uri="{FF2B5EF4-FFF2-40B4-BE49-F238E27FC236}">
                <a16:creationId xmlns:a16="http://schemas.microsoft.com/office/drawing/2014/main" id="{4263BFCE-5B85-7261-6C05-7495B86D2E2E}"/>
              </a:ext>
            </a:extLst>
          </p:cNvPr>
          <p:cNvCxnSpPr>
            <a:cxnSpLocks/>
            <a:stCxn id="43" idx="3"/>
          </p:cNvCxnSpPr>
          <p:nvPr/>
        </p:nvCxnSpPr>
        <p:spPr>
          <a:xfrm flipV="1">
            <a:off x="4042432" y="2119615"/>
            <a:ext cx="910568"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330E89A-1A53-C0CB-3AB4-7AD7A79C4C8F}"/>
              </a:ext>
            </a:extLst>
          </p:cNvPr>
          <p:cNvCxnSpPr>
            <a:stCxn id="16" idx="2"/>
          </p:cNvCxnSpPr>
          <p:nvPr/>
        </p:nvCxnSpPr>
        <p:spPr>
          <a:xfrm>
            <a:off x="6248400" y="4526710"/>
            <a:ext cx="0" cy="542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672F9E9C-CFB7-ECA2-D24B-AD856B642E83}"/>
              </a:ext>
            </a:extLst>
          </p:cNvPr>
          <p:cNvSpPr/>
          <p:nvPr/>
        </p:nvSpPr>
        <p:spPr bwMode="auto">
          <a:xfrm>
            <a:off x="8414038" y="5069362"/>
            <a:ext cx="2442232" cy="918426"/>
          </a:xfrm>
          <a:prstGeom prst="rect">
            <a:avLst/>
          </a:prstGeom>
          <a:solidFill>
            <a:schemeClr val="accent1">
              <a:lumMod val="40000"/>
              <a:lumOff val="60000"/>
            </a:schemeClr>
          </a:solidFill>
          <a:ln>
            <a:solidFill>
              <a:schemeClr val="accent1">
                <a:lumMod val="60000"/>
                <a:lumOff val="40000"/>
              </a:schemeClr>
            </a:solidFill>
          </a:ln>
        </p:spPr>
        <p:style>
          <a:lnRef idx="2">
            <a:schemeClr val="accent3"/>
          </a:lnRef>
          <a:fillRef idx="1">
            <a:schemeClr val="lt1"/>
          </a:fillRef>
          <a:effectRef idx="0">
            <a:schemeClr val="accent3"/>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50" normalizeH="0" baseline="0" noProof="0" dirty="0">
                <a:ln>
                  <a:noFill/>
                </a:ln>
                <a:solidFill>
                  <a:srgbClr val="EEECE1">
                    <a:lumMod val="10000"/>
                  </a:srgbClr>
                </a:solidFill>
                <a:effectLst/>
                <a:uLnTx/>
                <a:uFillTx/>
                <a:latin typeface="Arial"/>
                <a:ea typeface="+mn-ea"/>
                <a:cs typeface="Arial"/>
              </a:rPr>
              <a:t>Engineering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i="1" kern="1200" spc="-50" dirty="0">
                <a:solidFill>
                  <a:srgbClr val="EEECE1">
                    <a:lumMod val="10000"/>
                  </a:srgbClr>
                </a:solidFill>
                <a:latin typeface="Arial"/>
                <a:cs typeface="Arial"/>
              </a:rPr>
              <a:t>Services</a:t>
            </a:r>
            <a:endParaRPr kumimoji="0" lang="en-US" sz="2000" b="1" i="0" u="none" strike="noStrike" kern="1200" cap="none" spc="-50" normalizeH="0" baseline="0" noProof="0" dirty="0">
              <a:ln>
                <a:noFill/>
              </a:ln>
              <a:solidFill>
                <a:srgbClr val="EEECE1">
                  <a:lumMod val="10000"/>
                </a:srgbClr>
              </a:solidFill>
              <a:effectLst/>
              <a:uLnTx/>
              <a:uFillTx/>
              <a:latin typeface="Arial"/>
              <a:ea typeface="+mn-ea"/>
              <a:cs typeface="Arial"/>
            </a:endParaRPr>
          </a:p>
        </p:txBody>
      </p:sp>
      <p:cxnSp>
        <p:nvCxnSpPr>
          <p:cNvPr id="55" name="Straight Arrow Connector 54">
            <a:extLst>
              <a:ext uri="{FF2B5EF4-FFF2-40B4-BE49-F238E27FC236}">
                <a16:creationId xmlns:a16="http://schemas.microsoft.com/office/drawing/2014/main" id="{CE768B25-654F-745B-0129-468D3936926B}"/>
              </a:ext>
            </a:extLst>
          </p:cNvPr>
          <p:cNvCxnSpPr>
            <a:stCxn id="19" idx="2"/>
          </p:cNvCxnSpPr>
          <p:nvPr/>
        </p:nvCxnSpPr>
        <p:spPr>
          <a:xfrm>
            <a:off x="9561094" y="4495142"/>
            <a:ext cx="0" cy="574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3877EDDB-3CB3-E11F-DC05-CD6E9411FE6C}"/>
              </a:ext>
            </a:extLst>
          </p:cNvPr>
          <p:cNvSpPr/>
          <p:nvPr/>
        </p:nvSpPr>
        <p:spPr bwMode="auto">
          <a:xfrm>
            <a:off x="8248448" y="1696963"/>
            <a:ext cx="2442232" cy="933792"/>
          </a:xfrm>
          <a:prstGeom prst="rect">
            <a:avLst/>
          </a:prstGeom>
          <a:solidFill>
            <a:schemeClr val="accent5"/>
          </a:solidFill>
          <a:ln/>
        </p:spPr>
        <p:style>
          <a:lnRef idx="2">
            <a:schemeClr val="accent4"/>
          </a:lnRef>
          <a:fillRef idx="1">
            <a:schemeClr val="lt1"/>
          </a:fillRef>
          <a:effectRef idx="0">
            <a:schemeClr val="accent4"/>
          </a:effectRef>
          <a:fontRef idx="minor">
            <a:schemeClr val="dk1"/>
          </a:fontRef>
        </p:style>
        <p:txBody>
          <a:bodyPr tIns="9144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i="1" kern="1200" spc="-50" dirty="0">
                <a:solidFill>
                  <a:srgbClr val="EEECE1">
                    <a:lumMod val="10000"/>
                  </a:srgbClr>
                </a:solidFill>
                <a:latin typeface="Arial"/>
                <a:cs typeface="Arial"/>
              </a:rPr>
              <a:t>OASIS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50" normalizeH="0" baseline="0" noProof="0" dirty="0">
                <a:ln>
                  <a:noFill/>
                </a:ln>
                <a:solidFill>
                  <a:srgbClr val="EEECE1">
                    <a:lumMod val="10000"/>
                  </a:srgbClr>
                </a:solidFill>
                <a:effectLst/>
                <a:uLnTx/>
                <a:uFillTx/>
                <a:latin typeface="Arial"/>
                <a:ea typeface="+mn-ea"/>
                <a:cs typeface="Arial"/>
              </a:rPr>
              <a:t>SUPPORT</a:t>
            </a:r>
            <a:endParaRPr kumimoji="0" lang="en-US" sz="2400" b="1" i="0" u="none" strike="noStrike" kern="1200" cap="none" spc="-50" normalizeH="0" baseline="0" noProof="0" dirty="0">
              <a:ln>
                <a:noFill/>
              </a:ln>
              <a:solidFill>
                <a:srgbClr val="EEECE1">
                  <a:lumMod val="10000"/>
                </a:srgbClr>
              </a:solidFill>
              <a:effectLst/>
              <a:uLnTx/>
              <a:uFillTx/>
              <a:latin typeface="Arial"/>
              <a:ea typeface="+mn-ea"/>
              <a:cs typeface="Arial"/>
            </a:endParaRPr>
          </a:p>
        </p:txBody>
      </p:sp>
      <p:cxnSp>
        <p:nvCxnSpPr>
          <p:cNvPr id="62" name="Straight Arrow Connector 61">
            <a:extLst>
              <a:ext uri="{FF2B5EF4-FFF2-40B4-BE49-F238E27FC236}">
                <a16:creationId xmlns:a16="http://schemas.microsoft.com/office/drawing/2014/main" id="{812E3242-2105-4E6E-BCC0-4605870C3D32}"/>
              </a:ext>
            </a:extLst>
          </p:cNvPr>
          <p:cNvCxnSpPr>
            <a:cxnSpLocks/>
            <a:stCxn id="57" idx="1"/>
            <a:endCxn id="7" idx="3"/>
          </p:cNvCxnSpPr>
          <p:nvPr/>
        </p:nvCxnSpPr>
        <p:spPr>
          <a:xfrm flipH="1" flipV="1">
            <a:off x="7477136" y="2148076"/>
            <a:ext cx="771312" cy="157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5163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AD5B6-B005-09EC-45F2-9C2BA61DE3B5}"/>
              </a:ext>
            </a:extLst>
          </p:cNvPr>
          <p:cNvSpPr>
            <a:spLocks noGrp="1"/>
          </p:cNvSpPr>
          <p:nvPr>
            <p:ph type="title"/>
          </p:nvPr>
        </p:nvSpPr>
        <p:spPr>
          <a:xfrm>
            <a:off x="914400" y="152400"/>
            <a:ext cx="10908842" cy="553998"/>
          </a:xfrm>
        </p:spPr>
        <p:txBody>
          <a:bodyPr/>
          <a:lstStyle/>
          <a:p>
            <a:r>
              <a:rPr lang="en-US" sz="3600" dirty="0"/>
              <a:t>NIEMOpen Program Objectives</a:t>
            </a:r>
          </a:p>
        </p:txBody>
      </p:sp>
      <p:sp>
        <p:nvSpPr>
          <p:cNvPr id="7" name="TextBox 6">
            <a:extLst>
              <a:ext uri="{FF2B5EF4-FFF2-40B4-BE49-F238E27FC236}">
                <a16:creationId xmlns:a16="http://schemas.microsoft.com/office/drawing/2014/main" id="{8A3B76A7-A9D7-E116-A333-753058693311}"/>
              </a:ext>
            </a:extLst>
          </p:cNvPr>
          <p:cNvSpPr txBox="1"/>
          <p:nvPr/>
        </p:nvSpPr>
        <p:spPr>
          <a:xfrm>
            <a:off x="2362200" y="914400"/>
            <a:ext cx="8534400" cy="6063198"/>
          </a:xfrm>
          <a:prstGeom prst="rect">
            <a:avLst/>
          </a:prstGeom>
          <a:noFill/>
        </p:spPr>
        <p:txBody>
          <a:bodyPr wrap="square" rtlCol="0">
            <a:spAutoFit/>
          </a:bodyPr>
          <a:lstStyle/>
          <a:p>
            <a:pPr marL="285750" indent="-285750">
              <a:buFont typeface="Wingdings" pitchFamily="2" charset="2"/>
              <a:buChar char="Ø"/>
            </a:pPr>
            <a:r>
              <a:rPr lang="en-US" sz="3200" b="1" dirty="0">
                <a:latin typeface="Verdana Pro Cond Semibold" panose="020B0706030504040204" pitchFamily="34" charset="0"/>
              </a:rPr>
              <a:t>Rebuild the Project Management Office</a:t>
            </a:r>
          </a:p>
          <a:p>
            <a:pPr marL="285750" indent="-285750">
              <a:buFont typeface="Wingdings" pitchFamily="2" charset="2"/>
              <a:buChar char="Ø"/>
            </a:pPr>
            <a:r>
              <a:rPr lang="en-US" sz="3200" b="1" dirty="0">
                <a:latin typeface="Verdana Pro Cond Semibold" panose="020B0706030504040204" pitchFamily="34" charset="0"/>
              </a:rPr>
              <a:t>Capture user needs and wants</a:t>
            </a:r>
          </a:p>
          <a:p>
            <a:pPr marL="285750" indent="-285750">
              <a:buFont typeface="Wingdings" pitchFamily="2" charset="2"/>
              <a:buChar char="Ø"/>
            </a:pPr>
            <a:r>
              <a:rPr lang="en-US" sz="3200" b="1" dirty="0">
                <a:latin typeface="Verdana Pro Cond Semibold" panose="020B0706030504040204" pitchFamily="34" charset="0"/>
              </a:rPr>
              <a:t>Empower committees to be self-sufficient</a:t>
            </a:r>
          </a:p>
          <a:p>
            <a:pPr marL="285750" indent="-285750">
              <a:buFont typeface="Wingdings" pitchFamily="2" charset="2"/>
              <a:buChar char="Ø"/>
            </a:pPr>
            <a:r>
              <a:rPr lang="en-US" sz="3200" b="1" dirty="0">
                <a:latin typeface="Verdana Pro Cond Semibold" panose="020B0706030504040204" pitchFamily="34" charset="0"/>
              </a:rPr>
              <a:t>Recruit sponsors</a:t>
            </a:r>
          </a:p>
          <a:p>
            <a:pPr marL="285750" indent="-285750">
              <a:buFont typeface="Wingdings" pitchFamily="2" charset="2"/>
              <a:buChar char="Ø"/>
            </a:pPr>
            <a:r>
              <a:rPr lang="en-US" sz="3200" b="1" dirty="0">
                <a:latin typeface="Verdana Pro Cond Semibold" panose="020B0706030504040204" pitchFamily="34" charset="0"/>
              </a:rPr>
              <a:t>Establish funding for engineering services</a:t>
            </a:r>
          </a:p>
          <a:p>
            <a:pPr marL="285750" indent="-285750">
              <a:buFont typeface="Wingdings" pitchFamily="2" charset="2"/>
              <a:buChar char="Ø"/>
            </a:pPr>
            <a:r>
              <a:rPr lang="en-US" sz="3200" b="1" dirty="0">
                <a:latin typeface="Verdana Pro Cond Semibold" panose="020B0706030504040204" pitchFamily="34" charset="0"/>
              </a:rPr>
              <a:t>Energize dormant domains</a:t>
            </a:r>
          </a:p>
          <a:p>
            <a:pPr marL="285750" indent="-285750">
              <a:buFont typeface="Wingdings" pitchFamily="2" charset="2"/>
              <a:buChar char="Ø"/>
            </a:pPr>
            <a:r>
              <a:rPr lang="en-US" sz="3200" b="1" dirty="0">
                <a:latin typeface="Verdana Pro Cond Semibold" panose="020B0706030504040204" pitchFamily="34" charset="0"/>
              </a:rPr>
              <a:t>Expand domains </a:t>
            </a:r>
            <a:r>
              <a:rPr lang="en-US" sz="3200" b="1" dirty="0">
                <a:solidFill>
                  <a:srgbClr val="000000"/>
                </a:solidFill>
                <a:latin typeface="Verdana Pro Cond Semibold" panose="020B0706030504040204" pitchFamily="34" charset="0"/>
              </a:rPr>
              <a:t>&amp; mission</a:t>
            </a:r>
          </a:p>
          <a:p>
            <a:pPr marL="285750" indent="-285750">
              <a:buFont typeface="Wingdings" pitchFamily="2" charset="2"/>
              <a:buChar char="Ø"/>
            </a:pPr>
            <a:r>
              <a:rPr lang="en-US" sz="3200" b="1" dirty="0">
                <a:latin typeface="Verdana Pro Cond Semibold" panose="020B0706030504040204" pitchFamily="34" charset="0"/>
              </a:rPr>
              <a:t>Increase industry engagement</a:t>
            </a:r>
          </a:p>
          <a:p>
            <a:pPr marL="285750" indent="-285750">
              <a:buFont typeface="Wingdings" pitchFamily="2" charset="2"/>
              <a:buChar char="Ø"/>
            </a:pPr>
            <a:r>
              <a:rPr lang="en-US" sz="3200" b="1" dirty="0">
                <a:solidFill>
                  <a:srgbClr val="000000"/>
                </a:solidFill>
                <a:latin typeface="Verdana Pro Cond Semibold" panose="020B0706030504040204" pitchFamily="34" charset="0"/>
              </a:rPr>
              <a:t>Increase non-profit association and other SDO’s engagement</a:t>
            </a:r>
          </a:p>
          <a:p>
            <a:pPr marL="285750" indent="-285750">
              <a:buFont typeface="Wingdings" pitchFamily="2" charset="2"/>
              <a:buChar char="Ø"/>
            </a:pPr>
            <a:r>
              <a:rPr lang="en-US" sz="3200" b="1" dirty="0">
                <a:latin typeface="Verdana Pro Cond Semibold" panose="020B0706030504040204" pitchFamily="34" charset="0"/>
              </a:rPr>
              <a:t>Expand international footprint</a:t>
            </a:r>
          </a:p>
          <a:p>
            <a:endParaRPr lang="en-US" dirty="0"/>
          </a:p>
          <a:p>
            <a:endParaRPr lang="en-US" dirty="0"/>
          </a:p>
        </p:txBody>
      </p:sp>
    </p:spTree>
    <p:extLst>
      <p:ext uri="{BB962C8B-B14F-4D97-AF65-F5344CB8AC3E}">
        <p14:creationId xmlns:p14="http://schemas.microsoft.com/office/powerpoint/2010/main" val="1213968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A7C87-87E6-3AC3-C28A-1C0D22DD4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2EC3F-8DED-66CE-0EB3-C14795EC6DD7}"/>
              </a:ext>
            </a:extLst>
          </p:cNvPr>
          <p:cNvSpPr>
            <a:spLocks noGrp="1"/>
          </p:cNvSpPr>
          <p:nvPr>
            <p:ph type="title"/>
          </p:nvPr>
        </p:nvSpPr>
        <p:spPr>
          <a:xfrm>
            <a:off x="914400" y="533400"/>
            <a:ext cx="10908842" cy="553998"/>
          </a:xfrm>
        </p:spPr>
        <p:txBody>
          <a:bodyPr/>
          <a:lstStyle/>
          <a:p>
            <a:r>
              <a:rPr lang="en-US" sz="3600" dirty="0"/>
              <a:t>NIEMOpen Technical Objectives</a:t>
            </a:r>
          </a:p>
        </p:txBody>
      </p:sp>
      <p:sp>
        <p:nvSpPr>
          <p:cNvPr id="7" name="TextBox 6">
            <a:extLst>
              <a:ext uri="{FF2B5EF4-FFF2-40B4-BE49-F238E27FC236}">
                <a16:creationId xmlns:a16="http://schemas.microsoft.com/office/drawing/2014/main" id="{4F6B9032-0C64-4322-C2F2-075A6AD9CACF}"/>
              </a:ext>
            </a:extLst>
          </p:cNvPr>
          <p:cNvSpPr txBox="1"/>
          <p:nvPr/>
        </p:nvSpPr>
        <p:spPr>
          <a:xfrm>
            <a:off x="2362200" y="1447800"/>
            <a:ext cx="8534400" cy="5570756"/>
          </a:xfrm>
          <a:prstGeom prst="rect">
            <a:avLst/>
          </a:prstGeom>
          <a:noFill/>
        </p:spPr>
        <p:txBody>
          <a:bodyPr wrap="square" rtlCol="0">
            <a:spAutoFit/>
          </a:bodyPr>
          <a:lstStyle/>
          <a:p>
            <a:pPr marL="285750" indent="-285750">
              <a:buFont typeface="Wingdings" pitchFamily="2" charset="2"/>
              <a:buChar char="Ø"/>
            </a:pPr>
            <a:r>
              <a:rPr lang="en-US" sz="3200" b="1" dirty="0">
                <a:latin typeface="Verdana Pro Cond Semibold" panose="020B0706030504040204" pitchFamily="34" charset="0"/>
              </a:rPr>
              <a:t>Publish V6.0 as an OASIS standard</a:t>
            </a:r>
          </a:p>
          <a:p>
            <a:pPr marL="285750" indent="-285750">
              <a:buFont typeface="Wingdings" pitchFamily="2" charset="2"/>
              <a:buChar char="Ø"/>
            </a:pPr>
            <a:r>
              <a:rPr lang="en-US" sz="3200" b="1" dirty="0">
                <a:latin typeface="Verdana Pro Cond Semibold" panose="020B0706030504040204" pitchFamily="34" charset="0"/>
              </a:rPr>
              <a:t>Publish V6.0 as an ISO Standard </a:t>
            </a:r>
          </a:p>
          <a:p>
            <a:pPr marL="285750" indent="-285750">
              <a:buFont typeface="Wingdings" pitchFamily="2" charset="2"/>
              <a:buChar char="Ø"/>
            </a:pPr>
            <a:r>
              <a:rPr lang="en-US" sz="3200" b="1" dirty="0">
                <a:latin typeface="Verdana Pro Cond Semibold" panose="020B0706030504040204" pitchFamily="34" charset="0"/>
              </a:rPr>
              <a:t>Deploy and test full tools suite</a:t>
            </a:r>
          </a:p>
          <a:p>
            <a:pPr marL="285750" indent="-285750">
              <a:buFont typeface="Wingdings" pitchFamily="2" charset="2"/>
              <a:buChar char="Ø"/>
            </a:pPr>
            <a:r>
              <a:rPr lang="en-US" sz="3200" b="1" dirty="0">
                <a:latin typeface="Verdana Pro Cond Semibold" panose="020B0706030504040204" pitchFamily="34" charset="0"/>
              </a:rPr>
              <a:t>Incorporate new domains</a:t>
            </a:r>
          </a:p>
          <a:p>
            <a:pPr marL="285750" indent="-285750">
              <a:buFont typeface="Wingdings" pitchFamily="2" charset="2"/>
              <a:buChar char="Ø"/>
            </a:pPr>
            <a:r>
              <a:rPr lang="en-US" sz="3200" b="1" dirty="0">
                <a:latin typeface="Verdana Pro Cond Semibold" panose="020B0706030504040204" pitchFamily="34" charset="0"/>
              </a:rPr>
              <a:t>Establish a new release life cycle</a:t>
            </a:r>
          </a:p>
          <a:p>
            <a:pPr marL="285750" indent="-285750">
              <a:buFont typeface="Wingdings" pitchFamily="2" charset="2"/>
              <a:buChar char="Ø"/>
            </a:pPr>
            <a:r>
              <a:rPr lang="en-US" sz="3200" b="1" dirty="0">
                <a:latin typeface="Verdana Pro Cond Semibold" panose="020B0706030504040204" pitchFamily="34" charset="0"/>
              </a:rPr>
              <a:t>Determine the content of V7.0</a:t>
            </a:r>
          </a:p>
          <a:p>
            <a:pPr marL="285750" indent="-285750">
              <a:buFont typeface="Wingdings" pitchFamily="2" charset="2"/>
              <a:buChar char="Ø"/>
            </a:pPr>
            <a:r>
              <a:rPr lang="en-US" sz="3200" b="1" dirty="0">
                <a:latin typeface="Verdana Pro Cond Semibold" panose="020B0706030504040204" pitchFamily="34" charset="0"/>
              </a:rPr>
              <a:t>Implement AI based </a:t>
            </a:r>
            <a:r>
              <a:rPr lang="en-US" sz="3200" b="1" dirty="0">
                <a:solidFill>
                  <a:srgbClr val="000000"/>
                </a:solidFill>
                <a:latin typeface="Verdana Pro Cond Semibold" panose="020B0706030504040204" pitchFamily="34" charset="0"/>
              </a:rPr>
              <a:t>Support Services</a:t>
            </a:r>
          </a:p>
          <a:p>
            <a:pPr marL="285750" indent="-285750">
              <a:buFont typeface="Wingdings" pitchFamily="2" charset="2"/>
              <a:buChar char="Ø"/>
            </a:pPr>
            <a:r>
              <a:rPr lang="en-US" sz="3200" b="1" dirty="0">
                <a:latin typeface="Verdana Pro Cond Semibold" panose="020B0706030504040204" pitchFamily="34" charset="0"/>
              </a:rPr>
              <a:t>Automate model management using AI</a:t>
            </a:r>
          </a:p>
          <a:p>
            <a:pPr marL="285750" indent="-285750">
              <a:buFont typeface="Wingdings" pitchFamily="2" charset="2"/>
              <a:buChar char="Ø"/>
            </a:pPr>
            <a:r>
              <a:rPr lang="en-US" sz="3200" b="1" dirty="0">
                <a:latin typeface="Verdana Pro Cond Semibold" panose="020B0706030504040204" pitchFamily="34" charset="0"/>
              </a:rPr>
              <a:t>Internationalize NIEMOpen Model and assets</a:t>
            </a:r>
          </a:p>
          <a:p>
            <a:endParaRPr lang="en-US" dirty="0"/>
          </a:p>
          <a:p>
            <a:endParaRPr lang="en-US" dirty="0"/>
          </a:p>
        </p:txBody>
      </p:sp>
    </p:spTree>
    <p:extLst>
      <p:ext uri="{BB962C8B-B14F-4D97-AF65-F5344CB8AC3E}">
        <p14:creationId xmlns:p14="http://schemas.microsoft.com/office/powerpoint/2010/main" val="2064704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D71C7-119D-279B-0B48-1C3E72090B46}"/>
              </a:ext>
            </a:extLst>
          </p:cNvPr>
          <p:cNvSpPr>
            <a:spLocks noGrp="1"/>
          </p:cNvSpPr>
          <p:nvPr>
            <p:ph type="title"/>
          </p:nvPr>
        </p:nvSpPr>
        <p:spPr>
          <a:xfrm>
            <a:off x="567690" y="609600"/>
            <a:ext cx="10908842" cy="430887"/>
          </a:xfrm>
        </p:spPr>
        <p:txBody>
          <a:bodyPr/>
          <a:lstStyle/>
          <a:p>
            <a:r>
              <a:rPr lang="en-US" dirty="0"/>
              <a:t>Project Management Office Functions</a:t>
            </a:r>
          </a:p>
        </p:txBody>
      </p:sp>
      <p:sp>
        <p:nvSpPr>
          <p:cNvPr id="3" name="Text Placeholder 2">
            <a:extLst>
              <a:ext uri="{FF2B5EF4-FFF2-40B4-BE49-F238E27FC236}">
                <a16:creationId xmlns:a16="http://schemas.microsoft.com/office/drawing/2014/main" id="{A3B01019-D39F-515B-6561-5664EC6D5696}"/>
              </a:ext>
            </a:extLst>
          </p:cNvPr>
          <p:cNvSpPr>
            <a:spLocks noGrp="1"/>
          </p:cNvSpPr>
          <p:nvPr>
            <p:ph type="body" idx="1"/>
          </p:nvPr>
        </p:nvSpPr>
        <p:spPr>
          <a:xfrm>
            <a:off x="567690" y="1072097"/>
            <a:ext cx="11582400" cy="5201424"/>
          </a:xfrm>
        </p:spPr>
        <p:txBody>
          <a:bodyPr>
            <a:normAutofit lnSpcReduction="10000"/>
          </a:bodyPr>
          <a:lstStyle/>
          <a:p>
            <a:pPr marL="514350" lvl="0" indent="-514350">
              <a:buFont typeface="+mj-lt"/>
              <a:buAutoNum type="arabicPeriod"/>
            </a:pPr>
            <a:r>
              <a:rPr lang="en-US" sz="2800" dirty="0">
                <a:solidFill>
                  <a:srgbClr val="000000"/>
                </a:solidFill>
              </a:rPr>
              <a:t>Administrative/liaison support to NBAC and NTAC</a:t>
            </a:r>
          </a:p>
          <a:p>
            <a:pPr marL="514350" lvl="0" indent="-514350">
              <a:buFont typeface="+mj-lt"/>
              <a:buAutoNum type="arabicPeriod"/>
            </a:pPr>
            <a:r>
              <a:rPr lang="en-US" sz="2800" dirty="0">
                <a:solidFill>
                  <a:srgbClr val="000000"/>
                </a:solidFill>
              </a:rPr>
              <a:t>Manage NIEM program communication responses</a:t>
            </a:r>
          </a:p>
          <a:p>
            <a:pPr marL="514350" lvl="0" indent="-514350">
              <a:buFont typeface="+mj-lt"/>
              <a:buAutoNum type="arabicPeriod"/>
            </a:pPr>
            <a:r>
              <a:rPr lang="en-US" sz="2800" dirty="0">
                <a:solidFill>
                  <a:srgbClr val="000000"/>
                </a:solidFill>
              </a:rPr>
              <a:t>OASIS liaison and coordination</a:t>
            </a:r>
          </a:p>
          <a:p>
            <a:pPr marL="514350" lvl="0" indent="-514350">
              <a:buFont typeface="+mj-lt"/>
              <a:buAutoNum type="arabicPeriod"/>
            </a:pPr>
            <a:r>
              <a:rPr lang="en-US" sz="2800" dirty="0">
                <a:solidFill>
                  <a:srgbClr val="000000"/>
                </a:solidFill>
              </a:rPr>
              <a:t>Outreach and communications to new sponsors and communities</a:t>
            </a:r>
          </a:p>
          <a:p>
            <a:pPr marL="514350" lvl="0" indent="-514350">
              <a:buFont typeface="+mj-lt"/>
              <a:buAutoNum type="arabicPeriod"/>
            </a:pPr>
            <a:r>
              <a:rPr lang="en-US" sz="2800" dirty="0">
                <a:solidFill>
                  <a:srgbClr val="000000"/>
                </a:solidFill>
              </a:rPr>
              <a:t>Website and GitHub repository maintenance</a:t>
            </a:r>
          </a:p>
          <a:p>
            <a:pPr marL="514350" lvl="0" indent="-514350">
              <a:buFont typeface="+mj-lt"/>
              <a:buAutoNum type="arabicPeriod"/>
            </a:pPr>
            <a:r>
              <a:rPr lang="en-US" sz="2800" dirty="0">
                <a:solidFill>
                  <a:srgbClr val="000000"/>
                </a:solidFill>
              </a:rPr>
              <a:t>Social media management (LinkedIn, </a:t>
            </a:r>
            <a:r>
              <a:rPr lang="en-US" sz="2800" dirty="0" err="1">
                <a:solidFill>
                  <a:srgbClr val="000000"/>
                </a:solidFill>
              </a:rPr>
              <a:t>YouTube,X</a:t>
            </a:r>
            <a:r>
              <a:rPr lang="en-US" sz="2800" dirty="0">
                <a:solidFill>
                  <a:srgbClr val="000000"/>
                </a:solidFill>
              </a:rPr>
              <a:t>)</a:t>
            </a:r>
          </a:p>
          <a:p>
            <a:pPr marL="514350" lvl="0" indent="-514350">
              <a:buFont typeface="+mj-lt"/>
              <a:buAutoNum type="arabicPeriod"/>
            </a:pPr>
            <a:r>
              <a:rPr lang="en-US" sz="2800" dirty="0">
                <a:solidFill>
                  <a:srgbClr val="000000"/>
                </a:solidFill>
              </a:rPr>
              <a:t>Technical and management training coordination</a:t>
            </a:r>
          </a:p>
          <a:p>
            <a:pPr marL="514350" lvl="0" indent="-514350">
              <a:buFont typeface="+mj-lt"/>
              <a:buAutoNum type="arabicPeriod"/>
            </a:pPr>
            <a:r>
              <a:rPr lang="en-US" sz="2800" dirty="0">
                <a:solidFill>
                  <a:srgbClr val="000000"/>
                </a:solidFill>
              </a:rPr>
              <a:t>Manage AWS hosting and Technical Support</a:t>
            </a:r>
          </a:p>
          <a:p>
            <a:pPr marL="514350" lvl="0" indent="-514350">
              <a:buFont typeface="+mj-lt"/>
              <a:buAutoNum type="arabicPeriod"/>
            </a:pPr>
            <a:r>
              <a:rPr lang="en-US" sz="2800" dirty="0">
                <a:solidFill>
                  <a:srgbClr val="000000"/>
                </a:solidFill>
              </a:rPr>
              <a:t>Technical model hosting and response support</a:t>
            </a:r>
          </a:p>
          <a:p>
            <a:pPr marL="514350" lvl="0" indent="-514350">
              <a:buFont typeface="+mj-lt"/>
              <a:buAutoNum type="arabicPeriod"/>
            </a:pPr>
            <a:r>
              <a:rPr lang="en-US" sz="2800" dirty="0">
                <a:solidFill>
                  <a:srgbClr val="000000"/>
                </a:solidFill>
              </a:rPr>
              <a:t>Engineering services to update the NIEMOpen model and tools</a:t>
            </a:r>
          </a:p>
          <a:p>
            <a:pPr marL="514350" lvl="0" indent="-514350">
              <a:buFont typeface="+mj-lt"/>
              <a:buAutoNum type="arabicPeriod"/>
            </a:pPr>
            <a:r>
              <a:rPr lang="en-US" sz="2800" dirty="0">
                <a:solidFill>
                  <a:srgbClr val="000000"/>
                </a:solidFill>
              </a:rPr>
              <a:t>Support for data component harmonizations</a:t>
            </a:r>
          </a:p>
          <a:p>
            <a:endParaRPr lang="en-US" dirty="0"/>
          </a:p>
        </p:txBody>
      </p:sp>
    </p:spTree>
    <p:extLst>
      <p:ext uri="{BB962C8B-B14F-4D97-AF65-F5344CB8AC3E}">
        <p14:creationId xmlns:p14="http://schemas.microsoft.com/office/powerpoint/2010/main" val="9745353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50C6F754-B030-085F-F67C-05D7CE21548C}"/>
              </a:ext>
            </a:extLst>
          </p:cNvPr>
          <p:cNvSpPr txBox="1">
            <a:spLocks/>
          </p:cNvSpPr>
          <p:nvPr/>
        </p:nvSpPr>
        <p:spPr>
          <a:xfrm>
            <a:off x="636181" y="311962"/>
            <a:ext cx="10515600" cy="1325563"/>
          </a:xfrm>
          <a:prstGeom prst="rect">
            <a:avLst/>
          </a:prstGeom>
        </p:spPr>
        <p:txBody>
          <a:bodyPr/>
          <a:lstStyle>
            <a:lvl1pPr>
              <a:defRPr>
                <a:latin typeface="+mj-lt"/>
                <a:ea typeface="+mj-ea"/>
                <a:cs typeface="+mj-cs"/>
              </a:defRPr>
            </a:lvl1pPr>
          </a:lstStyle>
          <a:p>
            <a:r>
              <a:rPr lang="en-US" sz="3600" b="1" dirty="0"/>
              <a:t>PMO Transition</a:t>
            </a:r>
          </a:p>
        </p:txBody>
      </p:sp>
      <p:sp>
        <p:nvSpPr>
          <p:cNvPr id="7" name="Content Placeholder 4">
            <a:extLst>
              <a:ext uri="{FF2B5EF4-FFF2-40B4-BE49-F238E27FC236}">
                <a16:creationId xmlns:a16="http://schemas.microsoft.com/office/drawing/2014/main" id="{C5E9AF82-D9E9-61E3-A631-42CB4DE326B4}"/>
              </a:ext>
            </a:extLst>
          </p:cNvPr>
          <p:cNvSpPr txBox="1">
            <a:spLocks/>
          </p:cNvSpPr>
          <p:nvPr/>
        </p:nvSpPr>
        <p:spPr>
          <a:xfrm>
            <a:off x="636181" y="986775"/>
            <a:ext cx="10515600" cy="4351338"/>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57200" indent="-457200">
              <a:spcAft>
                <a:spcPts val="600"/>
              </a:spcAft>
              <a:buFont typeface="Wingdings" pitchFamily="2" charset="2"/>
              <a:buChar char="q"/>
            </a:pPr>
            <a:r>
              <a:rPr lang="en-US" sz="2800" dirty="0"/>
              <a:t>Objective: Engage a non-profit to be responsible for the PMO, directly reporting to the PGB</a:t>
            </a:r>
          </a:p>
          <a:p>
            <a:pPr marL="457200" indent="-457200">
              <a:spcAft>
                <a:spcPts val="600"/>
              </a:spcAft>
              <a:buFont typeface="Wingdings" pitchFamily="2" charset="2"/>
              <a:buChar char="q"/>
            </a:pPr>
            <a:r>
              <a:rPr lang="en-US" sz="2800" dirty="0"/>
              <a:t>Criteria for selecting a non-profit</a:t>
            </a:r>
          </a:p>
          <a:p>
            <a:pPr marL="914400" lvl="1" indent="-457200">
              <a:spcAft>
                <a:spcPts val="600"/>
              </a:spcAft>
              <a:buFont typeface="Wingdings" pitchFamily="2" charset="2"/>
              <a:buChar char="Ø"/>
            </a:pPr>
            <a:r>
              <a:rPr lang="en-US" sz="2400" dirty="0"/>
              <a:t>Enduring non-profit associated with information sharing</a:t>
            </a:r>
          </a:p>
          <a:p>
            <a:pPr marL="914400" lvl="1" indent="-457200">
              <a:spcAft>
                <a:spcPts val="600"/>
              </a:spcAft>
              <a:buFont typeface="Wingdings" pitchFamily="2" charset="2"/>
              <a:buChar char="Ø"/>
            </a:pPr>
            <a:r>
              <a:rPr lang="en-US" sz="2400" dirty="0"/>
              <a:t>Connections to industry and practitioners</a:t>
            </a:r>
          </a:p>
          <a:p>
            <a:pPr marL="914400" lvl="1" indent="-457200">
              <a:spcAft>
                <a:spcPts val="600"/>
              </a:spcAft>
              <a:buFont typeface="Wingdings" pitchFamily="2" charset="2"/>
              <a:buChar char="Ø"/>
            </a:pPr>
            <a:r>
              <a:rPr lang="en-US" sz="2400" dirty="0"/>
              <a:t>Track record of technical assistance</a:t>
            </a:r>
            <a:r>
              <a:rPr lang="en-US" sz="2400" dirty="0">
                <a:solidFill>
                  <a:srgbClr val="000000"/>
                </a:solidFill>
              </a:rPr>
              <a:t>, training, </a:t>
            </a:r>
            <a:r>
              <a:rPr lang="en-US" sz="2400" dirty="0"/>
              <a:t>and convening</a:t>
            </a:r>
          </a:p>
          <a:p>
            <a:pPr marL="914400" lvl="1" indent="-457200">
              <a:spcAft>
                <a:spcPts val="600"/>
              </a:spcAft>
              <a:buFont typeface="Wingdings" pitchFamily="2" charset="2"/>
              <a:buChar char="Ø"/>
            </a:pPr>
            <a:r>
              <a:rPr lang="en-US" sz="2400" dirty="0"/>
              <a:t>Access to technological expertise</a:t>
            </a:r>
          </a:p>
          <a:p>
            <a:pPr marL="457200" indent="-457200">
              <a:spcAft>
                <a:spcPts val="600"/>
              </a:spcAft>
              <a:buFont typeface="Wingdings" pitchFamily="2" charset="2"/>
              <a:buChar char="q"/>
            </a:pPr>
            <a:r>
              <a:rPr lang="en-US" sz="2800" dirty="0"/>
              <a:t>Best fit: IJIS Institute with top IT industry members and over 1,000 practitioners as associate members and a </a:t>
            </a:r>
            <a:r>
              <a:rPr lang="en-US" sz="2800" dirty="0">
                <a:solidFill>
                  <a:srgbClr val="000000"/>
                </a:solidFill>
              </a:rPr>
              <a:t>25</a:t>
            </a:r>
            <a:r>
              <a:rPr lang="en-US" sz="2800" dirty="0">
                <a:solidFill>
                  <a:srgbClr val="EE0000"/>
                </a:solidFill>
              </a:rPr>
              <a:t> </a:t>
            </a:r>
            <a:r>
              <a:rPr lang="en-US" sz="2800" dirty="0"/>
              <a:t>year track record of technology assistance</a:t>
            </a:r>
            <a:r>
              <a:rPr lang="en-US" sz="2800" dirty="0">
                <a:solidFill>
                  <a:srgbClr val="000000"/>
                </a:solidFill>
              </a:rPr>
              <a:t>, training, </a:t>
            </a:r>
            <a:r>
              <a:rPr lang="en-US" sz="2800" dirty="0"/>
              <a:t>and convening; in place relevant standing committees; alliance partners with other non-profits</a:t>
            </a:r>
          </a:p>
        </p:txBody>
      </p:sp>
    </p:spTree>
    <p:extLst>
      <p:ext uri="{BB962C8B-B14F-4D97-AF65-F5344CB8AC3E}">
        <p14:creationId xmlns:p14="http://schemas.microsoft.com/office/powerpoint/2010/main" val="3953269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AC708C-E8BE-DB6F-586E-E2EA3DB0EABA}"/>
              </a:ext>
            </a:extLst>
          </p:cNvPr>
          <p:cNvSpPr txBox="1"/>
          <p:nvPr/>
        </p:nvSpPr>
        <p:spPr>
          <a:xfrm>
            <a:off x="1447800" y="685800"/>
            <a:ext cx="4953000" cy="523220"/>
          </a:xfrm>
          <a:prstGeom prst="rect">
            <a:avLst/>
          </a:prstGeom>
          <a:noFill/>
        </p:spPr>
        <p:txBody>
          <a:bodyPr wrap="square" rtlCol="0">
            <a:spAutoFit/>
          </a:bodyPr>
          <a:lstStyle/>
          <a:p>
            <a:r>
              <a:rPr lang="en-US" sz="2800" b="1" dirty="0"/>
              <a:t>Proposed PGB action</a:t>
            </a:r>
          </a:p>
        </p:txBody>
      </p:sp>
      <p:sp>
        <p:nvSpPr>
          <p:cNvPr id="3" name="TextBox 2">
            <a:extLst>
              <a:ext uri="{FF2B5EF4-FFF2-40B4-BE49-F238E27FC236}">
                <a16:creationId xmlns:a16="http://schemas.microsoft.com/office/drawing/2014/main" id="{327E24F8-DC0D-8B3A-6532-CF561D6F746D}"/>
              </a:ext>
            </a:extLst>
          </p:cNvPr>
          <p:cNvSpPr txBox="1"/>
          <p:nvPr/>
        </p:nvSpPr>
        <p:spPr>
          <a:xfrm>
            <a:off x="1676400" y="1600200"/>
            <a:ext cx="9601200" cy="4201150"/>
          </a:xfrm>
          <a:prstGeom prst="rect">
            <a:avLst/>
          </a:prstGeom>
          <a:noFill/>
        </p:spPr>
        <p:txBody>
          <a:bodyPr wrap="square" rtlCol="0">
            <a:spAutoFit/>
          </a:bodyPr>
          <a:lstStyle/>
          <a:p>
            <a:pPr>
              <a:spcAft>
                <a:spcPts val="600"/>
              </a:spcAft>
            </a:pPr>
            <a:r>
              <a:rPr lang="en-US" sz="2800" dirty="0"/>
              <a:t>1. Appoint IJIS Institute as the NIEMOpen Project Management Office for a 3-year term</a:t>
            </a:r>
          </a:p>
          <a:p>
            <a:pPr>
              <a:spcAft>
                <a:spcPts val="600"/>
              </a:spcAft>
            </a:pPr>
            <a:r>
              <a:rPr lang="en-US" sz="2800" dirty="0"/>
              <a:t>2. Work to recruit volunteers as necessary to perform services under IJIS direction until funding is available to pay for PMO staff</a:t>
            </a:r>
          </a:p>
          <a:p>
            <a:pPr>
              <a:spcAft>
                <a:spcPts val="600"/>
              </a:spcAft>
            </a:pPr>
            <a:r>
              <a:rPr lang="en-US" sz="2800" dirty="0"/>
              <a:t>3. Commit to provide funding to IJIS for PMO staff as sponsor contributions allow. </a:t>
            </a:r>
          </a:p>
          <a:p>
            <a:pPr>
              <a:spcAft>
                <a:spcPts val="600"/>
              </a:spcAft>
            </a:pPr>
            <a:r>
              <a:rPr lang="en-US" sz="2800" dirty="0"/>
              <a:t>4. Work with IJIS to develop a contractual agreement for the extent of services with $40K initial funding</a:t>
            </a:r>
          </a:p>
        </p:txBody>
      </p:sp>
    </p:spTree>
    <p:extLst>
      <p:ext uri="{BB962C8B-B14F-4D97-AF65-F5344CB8AC3E}">
        <p14:creationId xmlns:p14="http://schemas.microsoft.com/office/powerpoint/2010/main" val="3350081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74B827-6F6B-C2C0-D99D-7E8319767A97}"/>
              </a:ext>
            </a:extLst>
          </p:cNvPr>
          <p:cNvSpPr txBox="1"/>
          <p:nvPr/>
        </p:nvSpPr>
        <p:spPr>
          <a:xfrm>
            <a:off x="1600200" y="914400"/>
            <a:ext cx="4876800" cy="584775"/>
          </a:xfrm>
          <a:prstGeom prst="rect">
            <a:avLst/>
          </a:prstGeom>
          <a:noFill/>
        </p:spPr>
        <p:txBody>
          <a:bodyPr wrap="square" rtlCol="0">
            <a:spAutoFit/>
          </a:bodyPr>
          <a:lstStyle/>
          <a:p>
            <a:r>
              <a:rPr lang="en-US" sz="3200" b="1" dirty="0"/>
              <a:t>Update Domain Policy</a:t>
            </a:r>
            <a:r>
              <a:rPr lang="en-US" dirty="0"/>
              <a:t> </a:t>
            </a:r>
          </a:p>
        </p:txBody>
      </p:sp>
      <p:sp>
        <p:nvSpPr>
          <p:cNvPr id="3" name="TextBox 2">
            <a:extLst>
              <a:ext uri="{FF2B5EF4-FFF2-40B4-BE49-F238E27FC236}">
                <a16:creationId xmlns:a16="http://schemas.microsoft.com/office/drawing/2014/main" id="{ADA5809F-D08A-0B45-8F42-BB199D0ADF16}"/>
              </a:ext>
            </a:extLst>
          </p:cNvPr>
          <p:cNvSpPr txBox="1"/>
          <p:nvPr/>
        </p:nvSpPr>
        <p:spPr>
          <a:xfrm>
            <a:off x="2057400" y="1942505"/>
            <a:ext cx="8382000" cy="4001095"/>
          </a:xfrm>
          <a:prstGeom prst="rect">
            <a:avLst/>
          </a:prstGeom>
          <a:noFill/>
        </p:spPr>
        <p:txBody>
          <a:bodyPr wrap="square" rtlCol="0">
            <a:spAutoFit/>
          </a:bodyPr>
          <a:lstStyle/>
          <a:p>
            <a:pPr marL="514350" indent="-514350">
              <a:spcAft>
                <a:spcPts val="1200"/>
              </a:spcAft>
              <a:buFont typeface="+mj-lt"/>
              <a:buAutoNum type="arabicPeriod"/>
            </a:pPr>
            <a:r>
              <a:rPr lang="en-US" sz="2800" dirty="0"/>
              <a:t>New domains are welcome, subject to NBAC and PGB approval</a:t>
            </a:r>
          </a:p>
          <a:p>
            <a:pPr marL="514350" indent="-514350">
              <a:spcAft>
                <a:spcPts val="1200"/>
              </a:spcAft>
              <a:buFont typeface="+mj-lt"/>
              <a:buAutoNum type="arabicPeriod"/>
            </a:pPr>
            <a:r>
              <a:rPr lang="en-US" sz="2800" dirty="0"/>
              <a:t>Domains must have a responsible organization as the Steward</a:t>
            </a:r>
          </a:p>
          <a:p>
            <a:pPr marL="514350" indent="-514350">
              <a:spcAft>
                <a:spcPts val="1200"/>
              </a:spcAft>
              <a:buFont typeface="+mj-lt"/>
              <a:buAutoNum type="arabicPeriod"/>
            </a:pPr>
            <a:r>
              <a:rPr lang="en-US" sz="2800" dirty="0"/>
              <a:t>The Steward of a domain must be a NIEMOpen sponsor</a:t>
            </a:r>
          </a:p>
          <a:p>
            <a:pPr marL="514350" indent="-514350">
              <a:spcAft>
                <a:spcPts val="1200"/>
              </a:spcAft>
              <a:buFont typeface="+mj-lt"/>
              <a:buAutoNum type="arabicPeriod"/>
            </a:pPr>
            <a:r>
              <a:rPr lang="en-US" sz="2800" dirty="0"/>
              <a:t>The proposal must include a funding plan for the ingestion of initial new data components</a:t>
            </a:r>
          </a:p>
        </p:txBody>
      </p:sp>
    </p:spTree>
    <p:extLst>
      <p:ext uri="{BB962C8B-B14F-4D97-AF65-F5344CB8AC3E}">
        <p14:creationId xmlns:p14="http://schemas.microsoft.com/office/powerpoint/2010/main" val="1083246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88E7408-5249-ED06-1C9C-FEC22DF69F8C}"/>
              </a:ext>
            </a:extLst>
          </p:cNvPr>
          <p:cNvSpPr txBox="1"/>
          <p:nvPr/>
        </p:nvSpPr>
        <p:spPr>
          <a:xfrm>
            <a:off x="1600200" y="914400"/>
            <a:ext cx="4876800" cy="584775"/>
          </a:xfrm>
          <a:prstGeom prst="rect">
            <a:avLst/>
          </a:prstGeom>
          <a:noFill/>
        </p:spPr>
        <p:txBody>
          <a:bodyPr wrap="square" rtlCol="0">
            <a:spAutoFit/>
          </a:bodyPr>
          <a:lstStyle/>
          <a:p>
            <a:r>
              <a:rPr lang="en-US" sz="3200" b="1" dirty="0"/>
              <a:t>Organizational change</a:t>
            </a:r>
            <a:endParaRPr lang="en-US" b="1" dirty="0"/>
          </a:p>
        </p:txBody>
      </p:sp>
      <p:sp>
        <p:nvSpPr>
          <p:cNvPr id="3" name="TextBox 2">
            <a:extLst>
              <a:ext uri="{FF2B5EF4-FFF2-40B4-BE49-F238E27FC236}">
                <a16:creationId xmlns:a16="http://schemas.microsoft.com/office/drawing/2014/main" id="{5FB04735-3E56-80AF-9C8B-D1583DB1A134}"/>
              </a:ext>
            </a:extLst>
          </p:cNvPr>
          <p:cNvSpPr txBox="1"/>
          <p:nvPr/>
        </p:nvSpPr>
        <p:spPr>
          <a:xfrm>
            <a:off x="2667000" y="2209800"/>
            <a:ext cx="8153400" cy="2862322"/>
          </a:xfrm>
          <a:prstGeom prst="rect">
            <a:avLst/>
          </a:prstGeom>
          <a:noFill/>
        </p:spPr>
        <p:txBody>
          <a:bodyPr wrap="square" rtlCol="0">
            <a:spAutoFit/>
          </a:bodyPr>
          <a:lstStyle/>
          <a:p>
            <a:r>
              <a:rPr lang="en-US" sz="3600" dirty="0"/>
              <a:t>Proposed:  Create an Executive Committee consisting of Premiere sponsors who have the charter to develop proposed policy and strategy for PGB approval.</a:t>
            </a:r>
          </a:p>
        </p:txBody>
      </p:sp>
    </p:spTree>
    <p:extLst>
      <p:ext uri="{BB962C8B-B14F-4D97-AF65-F5344CB8AC3E}">
        <p14:creationId xmlns:p14="http://schemas.microsoft.com/office/powerpoint/2010/main" val="459748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52E4D-37A5-4D6A-9478-96057393945C}"/>
              </a:ext>
            </a:extLst>
          </p:cNvPr>
          <p:cNvSpPr>
            <a:spLocks noGrp="1"/>
          </p:cNvSpPr>
          <p:nvPr>
            <p:ph type="title"/>
          </p:nvPr>
        </p:nvSpPr>
        <p:spPr>
          <a:xfrm>
            <a:off x="609600" y="240701"/>
            <a:ext cx="10972800" cy="1083170"/>
          </a:xfrm>
        </p:spPr>
        <p:txBody>
          <a:bodyPr>
            <a:normAutofit/>
          </a:bodyPr>
          <a:lstStyle/>
          <a:p>
            <a:r>
              <a:rPr lang="en-US" dirty="0"/>
              <a:t>Motion to Establish a PGB Chair Petty Cash Fund</a:t>
            </a:r>
          </a:p>
        </p:txBody>
      </p:sp>
      <p:sp>
        <p:nvSpPr>
          <p:cNvPr id="4" name="Slide Number Placeholder 3">
            <a:extLst>
              <a:ext uri="{FF2B5EF4-FFF2-40B4-BE49-F238E27FC236}">
                <a16:creationId xmlns:a16="http://schemas.microsoft.com/office/drawing/2014/main" id="{232F9F86-FA15-41A5-B9B9-43428562A11F}"/>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E6030FC-FB78-5E4D-92EA-5D9433591EA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Text Placeholder 4">
            <a:extLst>
              <a:ext uri="{FF2B5EF4-FFF2-40B4-BE49-F238E27FC236}">
                <a16:creationId xmlns:a16="http://schemas.microsoft.com/office/drawing/2014/main" id="{CDBE064F-7427-4BCA-9E66-CC500B588838}"/>
              </a:ext>
            </a:extLst>
          </p:cNvPr>
          <p:cNvSpPr txBox="1">
            <a:spLocks/>
          </p:cNvSpPr>
          <p:nvPr/>
        </p:nvSpPr>
        <p:spPr>
          <a:xfrm flipH="1">
            <a:off x="472587" y="809632"/>
            <a:ext cx="5329187" cy="2062103"/>
          </a:xfrm>
          <a:prstGeom prst="rect">
            <a:avLst/>
          </a:prstGeom>
          <a:noFill/>
        </p:spPr>
        <p:txBody>
          <a:bodyPr vert="horz" wrap="square" lIns="91440" tIns="45720" rIns="91440" bIns="45720" rtlCol="0">
            <a:spAutoFit/>
          </a:bodyPr>
          <a:lstStyle>
            <a:lvl1pPr marL="342900" indent="-342900" algn="l" defTabSz="457200" rtl="0" eaLnBrk="1" latinLnBrk="0" hangingPunct="1">
              <a:spcBef>
                <a:spcPct val="20000"/>
              </a:spcBef>
              <a:buClr>
                <a:schemeClr val="tx2"/>
              </a:buClr>
              <a:buFont typeface="Arial"/>
              <a:buChar char="•"/>
              <a:defRPr sz="2400" kern="1200">
                <a:solidFill>
                  <a:srgbClr val="334052"/>
                </a:solidFill>
                <a:latin typeface="+mn-lt"/>
                <a:ea typeface="+mn-ea"/>
                <a:cs typeface="+mn-cs"/>
              </a:defRPr>
            </a:lvl1pPr>
            <a:lvl2pPr marL="742950" indent="-285750" algn="l" defTabSz="457200" rtl="0" eaLnBrk="1" latinLnBrk="0" hangingPunct="1">
              <a:spcBef>
                <a:spcPct val="20000"/>
              </a:spcBef>
              <a:buClr>
                <a:schemeClr val="tx2"/>
              </a:buClr>
              <a:buFont typeface="Arial"/>
              <a:buChar char="–"/>
              <a:defRPr sz="2000" kern="1200">
                <a:solidFill>
                  <a:srgbClr val="334052"/>
                </a:solidFill>
                <a:latin typeface="+mn-lt"/>
                <a:ea typeface="+mn-ea"/>
                <a:cs typeface="+mn-cs"/>
              </a:defRPr>
            </a:lvl2pPr>
            <a:lvl3pPr marL="1143000" indent="-228600" algn="l" defTabSz="457200" rtl="0" eaLnBrk="1" latinLnBrk="0" hangingPunct="1">
              <a:spcBef>
                <a:spcPct val="20000"/>
              </a:spcBef>
              <a:buClr>
                <a:schemeClr val="tx2"/>
              </a:buClr>
              <a:buFont typeface="Arial"/>
              <a:buChar char="•"/>
              <a:defRPr sz="1800" kern="1200">
                <a:solidFill>
                  <a:srgbClr val="334052"/>
                </a:solidFill>
                <a:latin typeface="+mn-lt"/>
                <a:ea typeface="+mn-ea"/>
                <a:cs typeface="+mn-cs"/>
              </a:defRPr>
            </a:lvl3pPr>
            <a:lvl4pPr marL="1600200" indent="-228600" algn="l" defTabSz="457200" rtl="0" eaLnBrk="1" latinLnBrk="0" hangingPunct="1">
              <a:spcBef>
                <a:spcPct val="20000"/>
              </a:spcBef>
              <a:buClr>
                <a:schemeClr val="tx2"/>
              </a:buClr>
              <a:buFont typeface="Arial"/>
              <a:buChar char="–"/>
              <a:defRPr sz="1600" kern="1200">
                <a:solidFill>
                  <a:srgbClr val="334052"/>
                </a:solidFill>
                <a:latin typeface="+mn-lt"/>
                <a:ea typeface="+mn-ea"/>
                <a:cs typeface="+mn-cs"/>
              </a:defRPr>
            </a:lvl4pPr>
            <a:lvl5pPr marL="2057400" indent="-228600" algn="l" defTabSz="457200" rtl="0" eaLnBrk="1" latinLnBrk="0" hangingPunct="1">
              <a:spcBef>
                <a:spcPct val="20000"/>
              </a:spcBef>
              <a:buClr>
                <a:schemeClr val="tx2"/>
              </a:buClr>
              <a:buFont typeface="Arial"/>
              <a:buChar char="»"/>
              <a:defRPr sz="1600" kern="1200">
                <a:solidFill>
                  <a:srgbClr val="33405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lvl="0" indent="-285750" defTabSz="914400">
              <a:spcBef>
                <a:spcPts val="0"/>
              </a:spcBef>
              <a:buClrTx/>
              <a:buFont typeface="Arial" panose="020B0604020202020204" pitchFamily="34" charset="0"/>
              <a:buChar char="•"/>
              <a:defRPr/>
            </a:pPr>
            <a:r>
              <a:rPr kumimoji="0" lang="en-US" sz="1600" b="1" i="0" u="sng" strike="noStrike" kern="1200" cap="none" spc="0" normalizeH="0" baseline="0" noProof="0" dirty="0">
                <a:ln>
                  <a:noFill/>
                </a:ln>
                <a:solidFill>
                  <a:srgbClr val="EEECE1">
                    <a:lumMod val="10000"/>
                  </a:srgbClr>
                </a:solidFill>
                <a:effectLst/>
                <a:uLnTx/>
                <a:uFillTx/>
                <a:latin typeface="Arial"/>
                <a:ea typeface="+mn-ea"/>
                <a:cs typeface="+mn-cs"/>
              </a:rPr>
              <a:t>Chair: </a:t>
            </a:r>
            <a:r>
              <a:rPr kumimoji="0" lang="en-US" sz="1600" i="0" strike="noStrike" kern="1200" cap="none" spc="0" normalizeH="0" baseline="0" noProof="0" dirty="0">
                <a:ln>
                  <a:noFill/>
                </a:ln>
                <a:solidFill>
                  <a:srgbClr val="EEECE1">
                    <a:lumMod val="10000"/>
                  </a:srgbClr>
                </a:solidFill>
                <a:effectLst/>
                <a:uLnTx/>
                <a:uFillTx/>
                <a:latin typeface="Arial"/>
                <a:ea typeface="+mn-ea"/>
                <a:cs typeface="+mn-cs"/>
              </a:rPr>
              <a:t>  Approve a </a:t>
            </a:r>
            <a:r>
              <a:rPr lang="en-US" sz="1600" dirty="0">
                <a:solidFill>
                  <a:srgbClr val="EEECE1">
                    <a:lumMod val="10000"/>
                  </a:srgbClr>
                </a:solidFill>
                <a:latin typeface="Arial"/>
              </a:rPr>
              <a:t>$5K </a:t>
            </a:r>
            <a:r>
              <a:rPr kumimoji="0" lang="en-US" sz="1600" i="0" strike="noStrike" kern="1200" cap="none" spc="0" normalizeH="0" baseline="0" noProof="0" dirty="0">
                <a:ln>
                  <a:noFill/>
                </a:ln>
                <a:solidFill>
                  <a:srgbClr val="EEECE1">
                    <a:lumMod val="10000"/>
                  </a:srgbClr>
                </a:solidFill>
                <a:effectLst/>
                <a:uLnTx/>
                <a:uFillTx/>
                <a:latin typeface="Arial"/>
                <a:ea typeface="+mn-ea"/>
                <a:cs typeface="+mn-cs"/>
              </a:rPr>
              <a:t>PGB Chair discretionary Petty Cash fund.</a:t>
            </a:r>
          </a:p>
          <a:p>
            <a:pPr marL="0" marR="0" lvl="0" indent="0" algn="l" defTabSz="914400" rtl="0" eaLnBrk="1" fontAlgn="auto" latinLnBrk="0" hangingPunct="1">
              <a:lnSpc>
                <a:spcPct val="100000"/>
              </a:lnSpc>
              <a:spcBef>
                <a:spcPts val="0"/>
              </a:spcBef>
              <a:spcAft>
                <a:spcPts val="0"/>
              </a:spcAft>
              <a:buClrTx/>
              <a:buSzTx/>
              <a:buNone/>
              <a:tabLst/>
              <a:defRPr/>
            </a:pPr>
            <a:endParaRPr kumimoji="0" lang="en-US" sz="1600" b="1" i="0" u="sng" strike="noStrike" kern="1200" cap="none" spc="0" normalizeH="0" baseline="0" noProof="0" dirty="0">
              <a:ln>
                <a:noFill/>
              </a:ln>
              <a:solidFill>
                <a:srgbClr val="EEECE1">
                  <a:lumMod val="10000"/>
                </a:srgbClr>
              </a:solidFill>
              <a:effectLst/>
              <a:uLnTx/>
              <a:uFillTx/>
              <a:latin typeface="Arial"/>
              <a:ea typeface="+mn-ea"/>
              <a:cs typeface="+mn-cs"/>
            </a:endParaRPr>
          </a:p>
          <a:p>
            <a:pPr defTabSz="914400">
              <a:spcBef>
                <a:spcPts val="0"/>
              </a:spcBef>
              <a:buClrTx/>
              <a:defRPr/>
            </a:pPr>
            <a:r>
              <a:rPr kumimoji="0" lang="en-US" sz="1600" b="1" i="0" u="sng" strike="noStrike" kern="1200" cap="none" spc="0" normalizeH="0" baseline="0" noProof="0" dirty="0">
                <a:ln>
                  <a:noFill/>
                </a:ln>
                <a:solidFill>
                  <a:srgbClr val="EEECE1">
                    <a:lumMod val="10000"/>
                  </a:srgbClr>
                </a:solidFill>
                <a:effectLst/>
                <a:uLnTx/>
                <a:uFillTx/>
                <a:latin typeface="Arial"/>
                <a:ea typeface="+mn-ea"/>
                <a:cs typeface="+mn-cs"/>
              </a:rPr>
              <a:t>Maker</a:t>
            </a:r>
            <a:r>
              <a:rPr kumimoji="0" lang="en-US" sz="1600" b="1" i="0" u="none" strike="noStrike" kern="1200" cap="none" spc="0" normalizeH="0" baseline="0" noProof="0" dirty="0">
                <a:ln>
                  <a:noFill/>
                </a:ln>
                <a:solidFill>
                  <a:srgbClr val="EEECE1">
                    <a:lumMod val="10000"/>
                  </a:srgbClr>
                </a:solidFill>
                <a:effectLst/>
                <a:uLnTx/>
                <a:uFillTx/>
                <a:latin typeface="Arial"/>
                <a:ea typeface="+mn-ea"/>
                <a:cs typeface="+mn-cs"/>
              </a:rPr>
              <a:t>: (</a:t>
            </a:r>
            <a:r>
              <a:rPr lang="en-US" sz="1600" b="1" dirty="0">
                <a:solidFill>
                  <a:srgbClr val="EEECE1">
                    <a:lumMod val="10000"/>
                  </a:srgbClr>
                </a:solidFill>
                <a:latin typeface="Arial"/>
              </a:rPr>
              <a:t>Chair)</a:t>
            </a:r>
            <a:r>
              <a:rPr kumimoji="0" lang="en-US" sz="1600" b="1" i="0" u="none" strike="noStrike" kern="1200" cap="none" spc="0" normalizeH="0" baseline="0" noProof="0" dirty="0">
                <a:ln>
                  <a:noFill/>
                </a:ln>
                <a:solidFill>
                  <a:srgbClr val="EEECE1">
                    <a:lumMod val="10000"/>
                  </a:srgbClr>
                </a:solidFill>
                <a:effectLst/>
                <a:uLnTx/>
                <a:uFillTx/>
                <a:latin typeface="Arial"/>
                <a:ea typeface="+mn-ea"/>
                <a:cs typeface="+mn-cs"/>
              </a:rPr>
              <a:t>  </a:t>
            </a:r>
            <a:r>
              <a:rPr kumimoji="0" lang="en-US" sz="1600" b="0" i="0" u="none" strike="noStrike" kern="1200" cap="none" spc="0" normalizeH="0" baseline="0" noProof="0" dirty="0">
                <a:ln>
                  <a:noFill/>
                </a:ln>
                <a:solidFill>
                  <a:srgbClr val="EEECE1">
                    <a:lumMod val="10000"/>
                  </a:srgbClr>
                </a:solidFill>
                <a:effectLst/>
                <a:uLnTx/>
                <a:uFillTx/>
                <a:latin typeface="Arial"/>
                <a:ea typeface="+mn-ea"/>
                <a:cs typeface="+mn-cs"/>
              </a:rPr>
              <a:t>I move that the PGB approve an annual </a:t>
            </a:r>
            <a:r>
              <a:rPr lang="en-US" sz="1600" dirty="0">
                <a:solidFill>
                  <a:srgbClr val="EEECE1">
                    <a:lumMod val="10000"/>
                  </a:srgbClr>
                </a:solidFill>
                <a:latin typeface="Arial"/>
              </a:rPr>
              <a:t>$5K </a:t>
            </a:r>
            <a:r>
              <a:rPr kumimoji="0" lang="en-US" sz="1600" b="0" i="0" u="none" strike="noStrike" kern="1200" cap="none" spc="0" normalizeH="0" baseline="0" noProof="0" dirty="0">
                <a:ln>
                  <a:noFill/>
                </a:ln>
                <a:solidFill>
                  <a:srgbClr val="EEECE1">
                    <a:lumMod val="10000"/>
                  </a:srgbClr>
                </a:solidFill>
                <a:effectLst/>
                <a:uLnTx/>
                <a:uFillTx/>
                <a:latin typeface="Arial"/>
                <a:ea typeface="+mn-ea"/>
                <a:cs typeface="+mn-cs"/>
              </a:rPr>
              <a:t>Petty Cash Fund to be used at the discretion of the PGB Chair to purchase incidentals supporting the operations of NIEMOpen.</a:t>
            </a:r>
          </a:p>
          <a:p>
            <a:pPr defTabSz="914400">
              <a:spcBef>
                <a:spcPts val="0"/>
              </a:spcBef>
              <a:buClrTx/>
              <a:defRPr/>
            </a:pPr>
            <a:endParaRPr kumimoji="0" lang="en-US" sz="1600" b="0" i="0" u="none" strike="noStrike" kern="1200" cap="none" spc="0" normalizeH="0" baseline="0" noProof="0" dirty="0">
              <a:ln>
                <a:noFill/>
              </a:ln>
              <a:solidFill>
                <a:srgbClr val="EEECE1">
                  <a:lumMod val="10000"/>
                </a:srgbClr>
              </a:solidFill>
              <a:effectLst/>
              <a:uLnTx/>
              <a:uFillTx/>
              <a:latin typeface="Arial"/>
              <a:ea typeface="+mn-ea"/>
              <a:cs typeface="+mn-cs"/>
            </a:endParaRPr>
          </a:p>
        </p:txBody>
      </p:sp>
      <p:cxnSp>
        <p:nvCxnSpPr>
          <p:cNvPr id="8" name="Straight Connector 7">
            <a:extLst>
              <a:ext uri="{FF2B5EF4-FFF2-40B4-BE49-F238E27FC236}">
                <a16:creationId xmlns:a16="http://schemas.microsoft.com/office/drawing/2014/main" id="{291D2442-F680-4AF9-9E89-4D5698655E18}"/>
              </a:ext>
            </a:extLst>
          </p:cNvPr>
          <p:cNvCxnSpPr>
            <a:cxnSpLocks/>
          </p:cNvCxnSpPr>
          <p:nvPr/>
        </p:nvCxnSpPr>
        <p:spPr>
          <a:xfrm>
            <a:off x="5883007" y="1052059"/>
            <a:ext cx="84656" cy="5047952"/>
          </a:xfrm>
          <a:prstGeom prst="line">
            <a:avLst/>
          </a:prstGeom>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51B97E47-D76A-90B7-38AB-B5E99026C484}"/>
              </a:ext>
            </a:extLst>
          </p:cNvPr>
          <p:cNvGrpSpPr/>
          <p:nvPr/>
        </p:nvGrpSpPr>
        <p:grpSpPr>
          <a:xfrm>
            <a:off x="8001000" y="4419600"/>
            <a:ext cx="3197160" cy="1498198"/>
            <a:chOff x="7368753" y="1052059"/>
            <a:chExt cx="3156574" cy="1848648"/>
          </a:xfrm>
        </p:grpSpPr>
        <p:sp>
          <p:nvSpPr>
            <p:cNvPr id="6" name="TextBox 5">
              <a:extLst>
                <a:ext uri="{FF2B5EF4-FFF2-40B4-BE49-F238E27FC236}">
                  <a16:creationId xmlns:a16="http://schemas.microsoft.com/office/drawing/2014/main" id="{371C890A-65A7-46B8-049E-3D7EF459C873}"/>
                </a:ext>
              </a:extLst>
            </p:cNvPr>
            <p:cNvSpPr txBox="1"/>
            <p:nvPr/>
          </p:nvSpPr>
          <p:spPr>
            <a:xfrm>
              <a:off x="7368753" y="1052059"/>
              <a:ext cx="3156574" cy="1848648"/>
            </a:xfrm>
            <a:prstGeom prst="rect">
              <a:avLst/>
            </a:prstGeom>
            <a:solidFill>
              <a:schemeClr val="bg1">
                <a:lumMod val="95000"/>
              </a:schemeClr>
            </a:solidFill>
            <a:ln w="38100">
              <a:solidFill>
                <a:schemeClr val="tx2">
                  <a:lumMod val="75000"/>
                </a:schemeClr>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8B8B8B"/>
                </a:solidFill>
                <a:effectLst/>
                <a:uLnTx/>
                <a:uFillTx/>
                <a:latin typeface="Arial"/>
                <a:ea typeface="+mn-ea"/>
                <a:cs typeface="+mn-cs"/>
              </a:endParaRPr>
            </a:p>
          </p:txBody>
        </p:sp>
        <p:sp>
          <p:nvSpPr>
            <p:cNvPr id="9" name="TextBox 8">
              <a:extLst>
                <a:ext uri="{FF2B5EF4-FFF2-40B4-BE49-F238E27FC236}">
                  <a16:creationId xmlns:a16="http://schemas.microsoft.com/office/drawing/2014/main" id="{F2AC35E7-61D6-3C9A-4323-EA0F8031E774}"/>
                </a:ext>
              </a:extLst>
            </p:cNvPr>
            <p:cNvSpPr txBox="1"/>
            <p:nvPr/>
          </p:nvSpPr>
          <p:spPr>
            <a:xfrm flipH="1">
              <a:off x="7518857" y="1052059"/>
              <a:ext cx="1294402" cy="4557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sng" kern="1200" dirty="0">
                  <a:solidFill>
                    <a:srgbClr val="8B8B8B">
                      <a:lumMod val="50000"/>
                    </a:srgbClr>
                  </a:solidFill>
                  <a:latin typeface="Arial"/>
                  <a:ea typeface="+mn-ea"/>
                  <a:cs typeface="+mn-cs"/>
                </a:rPr>
                <a:t>Motion</a:t>
              </a:r>
              <a:endParaRPr kumimoji="0" lang="en-US" sz="1800" b="0" i="0" u="sng" strike="noStrike" kern="1200" cap="none" spc="0" normalizeH="0" baseline="0" noProof="0" dirty="0">
                <a:ln>
                  <a:noFill/>
                </a:ln>
                <a:solidFill>
                  <a:srgbClr val="8B8B8B">
                    <a:lumMod val="50000"/>
                  </a:srgbClr>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8DABB0D7-E39D-5D70-F9FC-0CAF0D518D9D}"/>
                </a:ext>
              </a:extLst>
            </p:cNvPr>
            <p:cNvSpPr/>
            <p:nvPr/>
          </p:nvSpPr>
          <p:spPr bwMode="auto">
            <a:xfrm>
              <a:off x="7633293" y="1493957"/>
              <a:ext cx="311285" cy="266340"/>
            </a:xfrm>
            <a:prstGeom prst="rect">
              <a:avLst/>
            </a:prstGeom>
            <a:noFill/>
            <a:ln w="28575">
              <a:solidFill>
                <a:srgbClr val="00B050"/>
              </a:solidFill>
            </a:ln>
            <a:effectLst>
              <a:innerShdw blurRad="371475" dir="13500000">
                <a:schemeClr val="bg1"/>
              </a:innerShdw>
            </a:effectLst>
          </p:spPr>
          <p:style>
            <a:lnRef idx="1">
              <a:schemeClr val="dk1"/>
            </a:lnRef>
            <a:fillRef idx="2">
              <a:schemeClr val="dk1"/>
            </a:fillRef>
            <a:effectRef idx="1">
              <a:schemeClr val="dk1"/>
            </a:effectRef>
            <a:fontRef idx="minor">
              <a:schemeClr val="dk1"/>
            </a:fontRef>
          </p:style>
          <p:txBody>
            <a:bodyPr tIns="91440" rtlCol="0" anchor="t" anchorCtr="0"/>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1" i="0" u="none" strike="noStrike" kern="1200" cap="none" spc="-50" normalizeH="0" baseline="0" noProof="0" dirty="0">
                <a:ln>
                  <a:solidFill>
                    <a:srgbClr val="00B050"/>
                  </a:solidFill>
                </a:ln>
                <a:noFill/>
                <a:effectLst/>
                <a:uLnTx/>
                <a:uFillTx/>
                <a:latin typeface="Arial"/>
                <a:ea typeface="+mn-ea"/>
                <a:cs typeface="Arial"/>
              </a:endParaRPr>
            </a:p>
          </p:txBody>
        </p:sp>
        <p:sp>
          <p:nvSpPr>
            <p:cNvPr id="13" name="Rectangle 12">
              <a:extLst>
                <a:ext uri="{FF2B5EF4-FFF2-40B4-BE49-F238E27FC236}">
                  <a16:creationId xmlns:a16="http://schemas.microsoft.com/office/drawing/2014/main" id="{93E045C8-45B9-1FCE-C4B7-F09308D91547}"/>
                </a:ext>
              </a:extLst>
            </p:cNvPr>
            <p:cNvSpPr/>
            <p:nvPr/>
          </p:nvSpPr>
          <p:spPr bwMode="auto">
            <a:xfrm>
              <a:off x="7633293" y="1937601"/>
              <a:ext cx="311285" cy="266340"/>
            </a:xfrm>
            <a:prstGeom prst="rect">
              <a:avLst/>
            </a:prstGeom>
            <a:noFill/>
            <a:ln w="28575">
              <a:solidFill>
                <a:schemeClr val="bg2">
                  <a:lumMod val="10000"/>
                </a:schemeClr>
              </a:solidFill>
            </a:ln>
            <a:effectLst>
              <a:innerShdw blurRad="371475" dir="13500000">
                <a:schemeClr val="bg1"/>
              </a:innerShdw>
            </a:effectLst>
          </p:spPr>
          <p:style>
            <a:lnRef idx="1">
              <a:schemeClr val="dk1"/>
            </a:lnRef>
            <a:fillRef idx="2">
              <a:schemeClr val="dk1"/>
            </a:fillRef>
            <a:effectRef idx="1">
              <a:schemeClr val="dk1"/>
            </a:effectRef>
            <a:fontRef idx="minor">
              <a:schemeClr val="dk1"/>
            </a:fontRef>
          </p:style>
          <p:txBody>
            <a:bodyPr tIns="91440" rtlCol="0" anchor="t" anchorCtr="0"/>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1" i="0" u="none" strike="noStrike" kern="1200" cap="none" spc="-50" normalizeH="0" baseline="0" noProof="0" dirty="0">
                <a:ln>
                  <a:solidFill>
                    <a:srgbClr val="00B050"/>
                  </a:solidFill>
                </a:ln>
                <a:noFill/>
                <a:effectLst/>
                <a:uLnTx/>
                <a:uFillTx/>
                <a:latin typeface="Arial"/>
                <a:ea typeface="+mn-ea"/>
                <a:cs typeface="Arial"/>
              </a:endParaRPr>
            </a:p>
          </p:txBody>
        </p:sp>
        <p:sp>
          <p:nvSpPr>
            <p:cNvPr id="14" name="Rectangle 13">
              <a:extLst>
                <a:ext uri="{FF2B5EF4-FFF2-40B4-BE49-F238E27FC236}">
                  <a16:creationId xmlns:a16="http://schemas.microsoft.com/office/drawing/2014/main" id="{3EF7F649-1F8C-ABE0-2F0E-0590077DAD53}"/>
                </a:ext>
              </a:extLst>
            </p:cNvPr>
            <p:cNvSpPr/>
            <p:nvPr/>
          </p:nvSpPr>
          <p:spPr bwMode="auto">
            <a:xfrm>
              <a:off x="7633292" y="2469669"/>
              <a:ext cx="311285" cy="266340"/>
            </a:xfrm>
            <a:prstGeom prst="rect">
              <a:avLst/>
            </a:prstGeom>
            <a:noFill/>
            <a:ln w="28575">
              <a:solidFill>
                <a:srgbClr val="FF0000"/>
              </a:solidFill>
            </a:ln>
            <a:effectLst>
              <a:innerShdw blurRad="371475" dir="13500000">
                <a:schemeClr val="bg1"/>
              </a:innerShdw>
            </a:effectLst>
          </p:spPr>
          <p:style>
            <a:lnRef idx="1">
              <a:schemeClr val="dk1"/>
            </a:lnRef>
            <a:fillRef idx="2">
              <a:schemeClr val="dk1"/>
            </a:fillRef>
            <a:effectRef idx="1">
              <a:schemeClr val="dk1"/>
            </a:effectRef>
            <a:fontRef idx="minor">
              <a:schemeClr val="dk1"/>
            </a:fontRef>
          </p:style>
          <p:txBody>
            <a:bodyPr tIns="91440" rtlCol="0" anchor="t" anchorCtr="0"/>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en-US" sz="1800" b="1" i="0" u="none" strike="noStrike" kern="1200" cap="none" spc="-50" normalizeH="0" baseline="0" noProof="0" dirty="0">
                <a:ln>
                  <a:solidFill>
                    <a:srgbClr val="00B050"/>
                  </a:solidFill>
                </a:ln>
                <a:noFill/>
                <a:effectLst/>
                <a:uLnTx/>
                <a:uFillTx/>
                <a:latin typeface="Arial"/>
                <a:ea typeface="+mn-ea"/>
                <a:cs typeface="Arial"/>
              </a:endParaRPr>
            </a:p>
          </p:txBody>
        </p:sp>
        <p:sp>
          <p:nvSpPr>
            <p:cNvPr id="15" name="TextBox 14">
              <a:extLst>
                <a:ext uri="{FF2B5EF4-FFF2-40B4-BE49-F238E27FC236}">
                  <a16:creationId xmlns:a16="http://schemas.microsoft.com/office/drawing/2014/main" id="{0CDB2D0E-A323-5CA6-F67E-C33654F22624}"/>
                </a:ext>
              </a:extLst>
            </p:cNvPr>
            <p:cNvSpPr txBox="1"/>
            <p:nvPr/>
          </p:nvSpPr>
          <p:spPr>
            <a:xfrm>
              <a:off x="8054502" y="1435311"/>
              <a:ext cx="105058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B050"/>
                  </a:solidFill>
                  <a:effectLst/>
                  <a:uLnTx/>
                  <a:uFillTx/>
                  <a:latin typeface="Arial"/>
                  <a:ea typeface="+mn-ea"/>
                  <a:cs typeface="+mn-cs"/>
                </a:rPr>
                <a:t>Approve</a:t>
              </a:r>
            </a:p>
          </p:txBody>
        </p:sp>
        <p:sp>
          <p:nvSpPr>
            <p:cNvPr id="16" name="TextBox 15">
              <a:extLst>
                <a:ext uri="{FF2B5EF4-FFF2-40B4-BE49-F238E27FC236}">
                  <a16:creationId xmlns:a16="http://schemas.microsoft.com/office/drawing/2014/main" id="{39122D93-09F7-EFA4-C4FB-B3065DD1BBBD}"/>
                </a:ext>
              </a:extLst>
            </p:cNvPr>
            <p:cNvSpPr txBox="1"/>
            <p:nvPr/>
          </p:nvSpPr>
          <p:spPr>
            <a:xfrm>
              <a:off x="8054502" y="1879388"/>
              <a:ext cx="233910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B8B8B">
                      <a:lumMod val="50000"/>
                    </a:srgbClr>
                  </a:solidFill>
                  <a:effectLst/>
                  <a:uLnTx/>
                  <a:uFillTx/>
                  <a:latin typeface="Arial"/>
                  <a:ea typeface="+mn-ea"/>
                  <a:cs typeface="+mn-cs"/>
                </a:rPr>
                <a:t>Approve w/Comment</a:t>
              </a:r>
            </a:p>
          </p:txBody>
        </p:sp>
        <p:sp>
          <p:nvSpPr>
            <p:cNvPr id="17" name="TextBox 16">
              <a:extLst>
                <a:ext uri="{FF2B5EF4-FFF2-40B4-BE49-F238E27FC236}">
                  <a16:creationId xmlns:a16="http://schemas.microsoft.com/office/drawing/2014/main" id="{2B89E0CC-F75F-5D8A-7AA5-7816F8B68EFD}"/>
                </a:ext>
              </a:extLst>
            </p:cNvPr>
            <p:cNvSpPr txBox="1"/>
            <p:nvPr/>
          </p:nvSpPr>
          <p:spPr>
            <a:xfrm>
              <a:off x="8054502" y="2437982"/>
              <a:ext cx="147405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n-ea"/>
                  <a:cs typeface="+mn-cs"/>
                </a:rPr>
                <a:t>Table/Reject</a:t>
              </a:r>
            </a:p>
          </p:txBody>
        </p:sp>
        <p:sp>
          <p:nvSpPr>
            <p:cNvPr id="18" name="TextBox 17">
              <a:extLst>
                <a:ext uri="{FF2B5EF4-FFF2-40B4-BE49-F238E27FC236}">
                  <a16:creationId xmlns:a16="http://schemas.microsoft.com/office/drawing/2014/main" id="{D1A513C3-23B7-F93D-77CC-028F52B29C77}"/>
                </a:ext>
              </a:extLst>
            </p:cNvPr>
            <p:cNvSpPr txBox="1"/>
            <p:nvPr/>
          </p:nvSpPr>
          <p:spPr>
            <a:xfrm>
              <a:off x="7608272" y="1372393"/>
              <a:ext cx="361323" cy="645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rgbClr val="8B8B8B">
                    <a:lumMod val="50000"/>
                  </a:srgbClr>
                </a:solidFill>
                <a:effectLst/>
                <a:uLnTx/>
                <a:uFillTx/>
                <a:latin typeface="Arial"/>
                <a:ea typeface="+mn-ea"/>
                <a:cs typeface="+mn-cs"/>
              </a:endParaRPr>
            </a:p>
          </p:txBody>
        </p:sp>
      </p:grpSp>
      <p:sp>
        <p:nvSpPr>
          <p:cNvPr id="7" name="TextBox 6">
            <a:extLst>
              <a:ext uri="{FF2B5EF4-FFF2-40B4-BE49-F238E27FC236}">
                <a16:creationId xmlns:a16="http://schemas.microsoft.com/office/drawing/2014/main" id="{833D1234-961C-6E96-4459-668D7CFB67BC}"/>
              </a:ext>
            </a:extLst>
          </p:cNvPr>
          <p:cNvSpPr txBox="1"/>
          <p:nvPr/>
        </p:nvSpPr>
        <p:spPr>
          <a:xfrm>
            <a:off x="7065564" y="4730005"/>
            <a:ext cx="550524" cy="46166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2400" b="1" i="0" u="none" strike="noStrike" kern="1200" cap="none" spc="0" normalizeH="0" baseline="0" noProof="0" dirty="0">
                <a:ln>
                  <a:noFill/>
                </a:ln>
                <a:solidFill>
                  <a:srgbClr val="8B8B8B">
                    <a:lumMod val="50000"/>
                  </a:srgbClr>
                </a:solidFill>
                <a:effectLst/>
                <a:uLnTx/>
                <a:uFillTx/>
                <a:latin typeface="Arial"/>
                <a:ea typeface="+mn-ea"/>
                <a:cs typeface="+mn-cs"/>
              </a:rPr>
              <a:t>?</a:t>
            </a:r>
          </a:p>
        </p:txBody>
      </p:sp>
      <p:sp>
        <p:nvSpPr>
          <p:cNvPr id="20" name="TextBox 19">
            <a:extLst>
              <a:ext uri="{FF2B5EF4-FFF2-40B4-BE49-F238E27FC236}">
                <a16:creationId xmlns:a16="http://schemas.microsoft.com/office/drawing/2014/main" id="{E3A67952-DF3B-7E0D-7763-4248D5BF4BB6}"/>
              </a:ext>
            </a:extLst>
          </p:cNvPr>
          <p:cNvSpPr txBox="1"/>
          <p:nvPr/>
        </p:nvSpPr>
        <p:spPr>
          <a:xfrm>
            <a:off x="6705241" y="956251"/>
            <a:ext cx="4877159" cy="2308324"/>
          </a:xfrm>
          <a:prstGeom prst="rect">
            <a:avLst/>
          </a:prstGeom>
          <a:noFill/>
        </p:spPr>
        <p:txBody>
          <a:bodyPr wrap="square" rtlCol="0">
            <a:spAutoFit/>
          </a:bodyPr>
          <a:lstStyle/>
          <a:p>
            <a:pPr marL="285750" indent="-285750">
              <a:buFont typeface="Arial" panose="020B0604020202020204" pitchFamily="34" charset="0"/>
              <a:buChar char="•"/>
            </a:pPr>
            <a:r>
              <a:rPr lang="en-US" dirty="0"/>
              <a:t>The Chair may expense incidental expenses at his discretion that support NIEMOpen operations.</a:t>
            </a:r>
          </a:p>
          <a:p>
            <a:pPr marL="285750" indent="-285750">
              <a:buFont typeface="Arial" panose="020B0604020202020204" pitchFamily="34" charset="0"/>
              <a:buChar char="•"/>
            </a:pPr>
            <a:r>
              <a:rPr lang="en-US" dirty="0"/>
              <a:t>Annual ceiling not to exceed $5K total.</a:t>
            </a:r>
          </a:p>
          <a:p>
            <a:pPr marL="285750" indent="-285750">
              <a:buFont typeface="Arial" panose="020B0604020202020204" pitchFamily="34" charset="0"/>
              <a:buChar char="•"/>
            </a:pPr>
            <a:r>
              <a:rPr lang="en-US" dirty="0"/>
              <a:t>Provides invoice/receipts to NIEMOpen for reimbursement.</a:t>
            </a:r>
          </a:p>
          <a:p>
            <a:pPr marL="285750" indent="-285750">
              <a:buFont typeface="Arial" panose="020B0604020202020204" pitchFamily="34" charset="0"/>
              <a:buChar char="•"/>
            </a:pPr>
            <a:r>
              <a:rPr lang="en-US" dirty="0"/>
              <a:t>Receipts required for any single expense greater than or equal to $500.00</a:t>
            </a:r>
          </a:p>
        </p:txBody>
      </p:sp>
    </p:spTree>
    <p:extLst>
      <p:ext uri="{BB962C8B-B14F-4D97-AF65-F5344CB8AC3E}">
        <p14:creationId xmlns:p14="http://schemas.microsoft.com/office/powerpoint/2010/main" val="3359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329238" y="3189131"/>
            <a:ext cx="11582400" cy="104015"/>
          </a:xfrm>
          <a:custGeom>
            <a:avLst/>
            <a:gdLst/>
            <a:ahLst/>
            <a:cxnLst/>
            <a:rect l="l" t="t" r="r" b="b"/>
            <a:pathLst>
              <a:path w="11582400" h="104139">
                <a:moveTo>
                  <a:pt x="0" y="104012"/>
                </a:moveTo>
                <a:lnTo>
                  <a:pt x="11582400" y="0"/>
                </a:lnTo>
              </a:path>
            </a:pathLst>
          </a:custGeom>
          <a:ln w="38100">
            <a:solidFill>
              <a:srgbClr val="1E1C11"/>
            </a:solidFill>
          </a:ln>
        </p:spPr>
        <p:txBody>
          <a:bodyPr wrap="square" lIns="0" tIns="0" rIns="0" bIns="0" rtlCol="0"/>
          <a:lstStyle/>
          <a:p>
            <a:endParaRPr/>
          </a:p>
        </p:txBody>
      </p:sp>
      <p:sp>
        <p:nvSpPr>
          <p:cNvPr id="9" name="object 9"/>
          <p:cNvSpPr txBox="1"/>
          <p:nvPr/>
        </p:nvSpPr>
        <p:spPr>
          <a:xfrm>
            <a:off x="617626" y="657605"/>
            <a:ext cx="1302385" cy="269240"/>
          </a:xfrm>
          <a:prstGeom prst="rect">
            <a:avLst/>
          </a:prstGeom>
        </p:spPr>
        <p:txBody>
          <a:bodyPr vert="horz" wrap="square" lIns="0" tIns="12065" rIns="0" bIns="0" rtlCol="0">
            <a:spAutoFit/>
          </a:bodyPr>
          <a:lstStyle/>
          <a:p>
            <a:pPr marL="354965" indent="-342265">
              <a:lnSpc>
                <a:spcPct val="100000"/>
              </a:lnSpc>
              <a:spcBef>
                <a:spcPts val="95"/>
              </a:spcBef>
              <a:buClr>
                <a:srgbClr val="1F487C"/>
              </a:buClr>
              <a:buFont typeface="Arial"/>
              <a:buChar char="•"/>
              <a:tabLst>
                <a:tab pos="354965" algn="l"/>
              </a:tabLst>
            </a:pPr>
            <a:r>
              <a:rPr sz="1600" b="1" spc="-10" dirty="0">
                <a:solidFill>
                  <a:srgbClr val="1E1C11"/>
                </a:solidFill>
                <a:latin typeface="Arial"/>
                <a:cs typeface="Arial"/>
              </a:rPr>
              <a:t>Sponsors</a:t>
            </a:r>
            <a:endParaRPr sz="1600">
              <a:latin typeface="Arial"/>
              <a:cs typeface="Arial"/>
            </a:endParaRPr>
          </a:p>
        </p:txBody>
      </p:sp>
      <p:sp>
        <p:nvSpPr>
          <p:cNvPr id="10" name="object 10"/>
          <p:cNvSpPr txBox="1"/>
          <p:nvPr/>
        </p:nvSpPr>
        <p:spPr>
          <a:xfrm>
            <a:off x="981419" y="923600"/>
            <a:ext cx="1224280" cy="1633781"/>
          </a:xfrm>
          <a:prstGeom prst="rect">
            <a:avLst/>
          </a:prstGeom>
        </p:spPr>
        <p:txBody>
          <a:bodyPr vert="horz" wrap="square" lIns="0" tIns="43180" rIns="0" bIns="0" rtlCol="0">
            <a:spAutoFit/>
          </a:bodyPr>
          <a:lstStyle/>
          <a:p>
            <a:pPr marL="299085" indent="-286385">
              <a:lnSpc>
                <a:spcPct val="100000"/>
              </a:lnSpc>
              <a:spcBef>
                <a:spcPts val="340"/>
              </a:spcBef>
              <a:buClr>
                <a:srgbClr val="1F487C"/>
              </a:buClr>
              <a:buFont typeface="Arial"/>
              <a:buChar char="–"/>
              <a:tabLst>
                <a:tab pos="299085" algn="l"/>
              </a:tabLst>
            </a:pPr>
            <a:r>
              <a:rPr sz="1000" b="1" dirty="0">
                <a:solidFill>
                  <a:srgbClr val="FF0000"/>
                </a:solidFill>
                <a:latin typeface="Arial"/>
                <a:cs typeface="Arial"/>
              </a:rPr>
              <a:t>JS</a:t>
            </a:r>
            <a:r>
              <a:rPr sz="1000" b="1" spc="-10" dirty="0">
                <a:solidFill>
                  <a:srgbClr val="FF0000"/>
                </a:solidFill>
                <a:latin typeface="Arial"/>
                <a:cs typeface="Arial"/>
              </a:rPr>
              <a:t> </a:t>
            </a:r>
            <a:r>
              <a:rPr sz="1000" b="1" spc="-25" dirty="0">
                <a:solidFill>
                  <a:srgbClr val="FF0000"/>
                </a:solidFill>
                <a:latin typeface="Arial"/>
                <a:cs typeface="Arial"/>
              </a:rPr>
              <a:t>J6</a:t>
            </a:r>
            <a:endParaRPr sz="1000" dirty="0">
              <a:latin typeface="Arial"/>
              <a:cs typeface="Arial"/>
            </a:endParaRPr>
          </a:p>
          <a:p>
            <a:pPr marL="299085" indent="-286385">
              <a:lnSpc>
                <a:spcPct val="100000"/>
              </a:lnSpc>
              <a:spcBef>
                <a:spcPts val="240"/>
              </a:spcBef>
              <a:buClr>
                <a:srgbClr val="1F487C"/>
              </a:buClr>
              <a:buFont typeface="Arial"/>
              <a:buChar char="–"/>
              <a:tabLst>
                <a:tab pos="299085" algn="l"/>
              </a:tabLst>
            </a:pPr>
            <a:r>
              <a:rPr sz="1000" b="1" dirty="0">
                <a:solidFill>
                  <a:srgbClr val="FF0000"/>
                </a:solidFill>
                <a:latin typeface="Arial"/>
                <a:cs typeface="Arial"/>
              </a:rPr>
              <a:t>DHS</a:t>
            </a:r>
            <a:r>
              <a:rPr sz="1000" b="1" spc="-20" dirty="0">
                <a:solidFill>
                  <a:srgbClr val="FF0000"/>
                </a:solidFill>
                <a:latin typeface="Arial"/>
                <a:cs typeface="Arial"/>
              </a:rPr>
              <a:t> </a:t>
            </a:r>
            <a:r>
              <a:rPr sz="1000" b="1" spc="-25" dirty="0">
                <a:solidFill>
                  <a:srgbClr val="FF0000"/>
                </a:solidFill>
                <a:latin typeface="Arial"/>
                <a:cs typeface="Arial"/>
              </a:rPr>
              <a:t>S&amp;T</a:t>
            </a:r>
            <a:endParaRPr sz="1000" dirty="0">
              <a:latin typeface="Arial"/>
              <a:cs typeface="Arial"/>
            </a:endParaRPr>
          </a:p>
          <a:p>
            <a:pPr marL="299085" indent="-286385">
              <a:lnSpc>
                <a:spcPct val="100000"/>
              </a:lnSpc>
              <a:spcBef>
                <a:spcPts val="240"/>
              </a:spcBef>
              <a:buClr>
                <a:srgbClr val="1F487C"/>
              </a:buClr>
              <a:buFont typeface="Arial"/>
              <a:buChar char="–"/>
              <a:tabLst>
                <a:tab pos="299085" algn="l"/>
              </a:tabLst>
            </a:pPr>
            <a:r>
              <a:rPr sz="1000" b="1" dirty="0">
                <a:solidFill>
                  <a:srgbClr val="FF0000"/>
                </a:solidFill>
                <a:latin typeface="Arial"/>
                <a:cs typeface="Arial"/>
              </a:rPr>
              <a:t>CJIS</a:t>
            </a:r>
            <a:r>
              <a:rPr sz="1000" b="1" spc="-25" dirty="0">
                <a:solidFill>
                  <a:srgbClr val="FF0000"/>
                </a:solidFill>
                <a:latin typeface="Arial"/>
                <a:cs typeface="Arial"/>
              </a:rPr>
              <a:t> </a:t>
            </a:r>
            <a:r>
              <a:rPr sz="1000" b="1" spc="-10" dirty="0">
                <a:solidFill>
                  <a:srgbClr val="FF0000"/>
                </a:solidFill>
                <a:latin typeface="Arial"/>
                <a:cs typeface="Arial"/>
              </a:rPr>
              <a:t>(FBI)</a:t>
            </a:r>
            <a:endParaRPr sz="1000" dirty="0">
              <a:latin typeface="Arial"/>
              <a:cs typeface="Arial"/>
            </a:endParaRPr>
          </a:p>
          <a:p>
            <a:pPr marL="299085" indent="-286385">
              <a:lnSpc>
                <a:spcPct val="100000"/>
              </a:lnSpc>
              <a:spcBef>
                <a:spcPts val="240"/>
              </a:spcBef>
              <a:buClr>
                <a:srgbClr val="1F487C"/>
              </a:buClr>
              <a:buChar char="–"/>
              <a:tabLst>
                <a:tab pos="299085" algn="l"/>
              </a:tabLst>
            </a:pPr>
            <a:r>
              <a:rPr sz="1000" spc="-20" dirty="0">
                <a:solidFill>
                  <a:srgbClr val="1E1C11"/>
                </a:solidFill>
                <a:latin typeface="Arial"/>
                <a:cs typeface="Arial"/>
              </a:rPr>
              <a:t>GTRI</a:t>
            </a:r>
            <a:endParaRPr sz="1000" dirty="0">
              <a:latin typeface="Arial"/>
              <a:cs typeface="Arial"/>
            </a:endParaRPr>
          </a:p>
          <a:p>
            <a:pPr marL="299085" indent="-286385">
              <a:lnSpc>
                <a:spcPct val="100000"/>
              </a:lnSpc>
              <a:spcBef>
                <a:spcPts val="240"/>
              </a:spcBef>
              <a:buClr>
                <a:srgbClr val="1F487C"/>
              </a:buClr>
              <a:buChar char="–"/>
              <a:tabLst>
                <a:tab pos="299085" algn="l"/>
              </a:tabLst>
            </a:pPr>
            <a:r>
              <a:rPr sz="1000" spc="-20" dirty="0">
                <a:solidFill>
                  <a:srgbClr val="1E1C11"/>
                </a:solidFill>
                <a:latin typeface="Arial"/>
                <a:cs typeface="Arial"/>
              </a:rPr>
              <a:t>NAJIS</a:t>
            </a:r>
            <a:endParaRPr sz="1000" dirty="0">
              <a:latin typeface="Arial"/>
              <a:cs typeface="Arial"/>
            </a:endParaRPr>
          </a:p>
          <a:p>
            <a:pPr marL="299085" indent="-286385">
              <a:lnSpc>
                <a:spcPct val="100000"/>
              </a:lnSpc>
              <a:spcBef>
                <a:spcPts val="240"/>
              </a:spcBef>
              <a:buClr>
                <a:srgbClr val="1F487C"/>
              </a:buClr>
              <a:buChar char="–"/>
              <a:tabLst>
                <a:tab pos="299085" algn="l"/>
              </a:tabLst>
            </a:pPr>
            <a:r>
              <a:rPr sz="1000" spc="-20" dirty="0">
                <a:solidFill>
                  <a:srgbClr val="1E1C11"/>
                </a:solidFill>
                <a:latin typeface="Arial"/>
                <a:cs typeface="Arial"/>
              </a:rPr>
              <a:t>IJIS</a:t>
            </a:r>
            <a:endParaRPr lang="en-US" sz="1000" dirty="0">
              <a:latin typeface="Arial"/>
              <a:cs typeface="Arial"/>
            </a:endParaRPr>
          </a:p>
          <a:p>
            <a:pPr marL="299085" indent="-286385">
              <a:lnSpc>
                <a:spcPct val="100000"/>
              </a:lnSpc>
              <a:spcBef>
                <a:spcPts val="240"/>
              </a:spcBef>
              <a:buClr>
                <a:srgbClr val="1F487C"/>
              </a:buClr>
              <a:buChar char="–"/>
              <a:tabLst>
                <a:tab pos="299085" algn="l"/>
              </a:tabLst>
            </a:pPr>
            <a:r>
              <a:rPr lang="en-US" sz="1000" spc="-25" dirty="0">
                <a:solidFill>
                  <a:srgbClr val="1E1C11"/>
                </a:solidFill>
                <a:latin typeface="Arial"/>
                <a:cs typeface="Arial"/>
              </a:rPr>
              <a:t>Senzing</a:t>
            </a:r>
          </a:p>
          <a:p>
            <a:pPr marL="299085" indent="-286385">
              <a:lnSpc>
                <a:spcPct val="100000"/>
              </a:lnSpc>
              <a:spcBef>
                <a:spcPts val="244"/>
              </a:spcBef>
              <a:buClr>
                <a:srgbClr val="1F487C"/>
              </a:buClr>
              <a:buChar char="–"/>
              <a:tabLst>
                <a:tab pos="299085" algn="l"/>
              </a:tabLst>
            </a:pPr>
            <a:r>
              <a:rPr lang="en-US" sz="1000" spc="-25" dirty="0">
                <a:solidFill>
                  <a:srgbClr val="1E1C11"/>
                </a:solidFill>
                <a:latin typeface="Arial"/>
                <a:cs typeface="Arial"/>
              </a:rPr>
              <a:t>APN</a:t>
            </a:r>
          </a:p>
          <a:p>
            <a:pPr marL="299085" indent="-286385">
              <a:lnSpc>
                <a:spcPct val="100000"/>
              </a:lnSpc>
              <a:spcBef>
                <a:spcPts val="244"/>
              </a:spcBef>
              <a:buClr>
                <a:srgbClr val="1F487C"/>
              </a:buClr>
              <a:buChar char="–"/>
              <a:tabLst>
                <a:tab pos="299085" algn="l"/>
              </a:tabLst>
            </a:pPr>
            <a:r>
              <a:rPr lang="en-US" sz="1000" dirty="0">
                <a:solidFill>
                  <a:srgbClr val="1E1C11"/>
                </a:solidFill>
                <a:latin typeface="Arial"/>
                <a:cs typeface="Arial"/>
              </a:rPr>
              <a:t>ODGA</a:t>
            </a:r>
            <a:r>
              <a:rPr lang="en-US" sz="1000" spc="-25" dirty="0">
                <a:solidFill>
                  <a:srgbClr val="1E1C11"/>
                </a:solidFill>
                <a:latin typeface="Arial"/>
                <a:cs typeface="Arial"/>
              </a:rPr>
              <a:t> </a:t>
            </a:r>
            <a:r>
              <a:rPr lang="en-US" sz="1000" spc="-10" dirty="0">
                <a:solidFill>
                  <a:srgbClr val="1E1C11"/>
                </a:solidFill>
                <a:latin typeface="Arial"/>
                <a:cs typeface="Arial"/>
              </a:rPr>
              <a:t>(Virginia</a:t>
            </a:r>
            <a:r>
              <a:rPr lang="en-US" sz="1000" spc="-25" dirty="0">
                <a:solidFill>
                  <a:srgbClr val="1E1C11"/>
                </a:solidFill>
                <a:latin typeface="Arial"/>
                <a:cs typeface="Arial"/>
              </a:rPr>
              <a:t>)</a:t>
            </a:r>
            <a:endParaRPr sz="1000" dirty="0">
              <a:latin typeface="Arial"/>
              <a:cs typeface="Arial"/>
            </a:endParaRPr>
          </a:p>
        </p:txBody>
      </p:sp>
      <p:sp>
        <p:nvSpPr>
          <p:cNvPr id="11" name="object 11"/>
          <p:cNvSpPr txBox="1">
            <a:spLocks noGrp="1"/>
          </p:cNvSpPr>
          <p:nvPr>
            <p:ph type="title"/>
          </p:nvPr>
        </p:nvSpPr>
        <p:spPr>
          <a:xfrm>
            <a:off x="652678" y="80263"/>
            <a:ext cx="6709430" cy="513715"/>
          </a:xfrm>
          <a:prstGeom prst="rect">
            <a:avLst/>
          </a:prstGeom>
        </p:spPr>
        <p:txBody>
          <a:bodyPr vert="horz" wrap="square" lIns="0" tIns="12700" rIns="0" bIns="0" rtlCol="0">
            <a:spAutoFit/>
          </a:bodyPr>
          <a:lstStyle/>
          <a:p>
            <a:pPr marL="12700">
              <a:lnSpc>
                <a:spcPct val="100000"/>
              </a:lnSpc>
              <a:spcBef>
                <a:spcPts val="100"/>
              </a:spcBef>
            </a:pPr>
            <a:r>
              <a:rPr sz="3200" dirty="0">
                <a:solidFill>
                  <a:srgbClr val="17375E"/>
                </a:solidFill>
              </a:rPr>
              <a:t>NIEMOpen</a:t>
            </a:r>
            <a:r>
              <a:rPr sz="3200" spc="-55" dirty="0">
                <a:solidFill>
                  <a:srgbClr val="17375E"/>
                </a:solidFill>
              </a:rPr>
              <a:t> </a:t>
            </a:r>
            <a:r>
              <a:rPr sz="3200" dirty="0">
                <a:solidFill>
                  <a:srgbClr val="17375E"/>
                </a:solidFill>
              </a:rPr>
              <a:t>Current</a:t>
            </a:r>
            <a:r>
              <a:rPr sz="3200" spc="-50" dirty="0">
                <a:solidFill>
                  <a:srgbClr val="17375E"/>
                </a:solidFill>
              </a:rPr>
              <a:t> </a:t>
            </a:r>
            <a:r>
              <a:rPr sz="3200" spc="-10" dirty="0">
                <a:solidFill>
                  <a:srgbClr val="17375E"/>
                </a:solidFill>
              </a:rPr>
              <a:t>S</a:t>
            </a:r>
            <a:r>
              <a:rPr lang="en-US" sz="3200" spc="-10" dirty="0">
                <a:solidFill>
                  <a:srgbClr val="17375E"/>
                </a:solidFill>
              </a:rPr>
              <a:t>ponsors</a:t>
            </a:r>
            <a:endParaRPr sz="3200" dirty="0"/>
          </a:p>
        </p:txBody>
      </p:sp>
      <p:sp>
        <p:nvSpPr>
          <p:cNvPr id="22" name="object 22"/>
          <p:cNvSpPr txBox="1"/>
          <p:nvPr/>
        </p:nvSpPr>
        <p:spPr>
          <a:xfrm>
            <a:off x="7643086" y="141608"/>
            <a:ext cx="3670300" cy="407163"/>
          </a:xfrm>
          <a:prstGeom prst="rect">
            <a:avLst/>
          </a:prstGeom>
          <a:ln w="38100">
            <a:solidFill>
              <a:srgbClr val="548ED4"/>
            </a:solidFill>
          </a:ln>
        </p:spPr>
        <p:txBody>
          <a:bodyPr vert="horz" wrap="square" lIns="0" tIns="37465" rIns="0" bIns="0" rtlCol="0">
            <a:spAutoFit/>
          </a:bodyPr>
          <a:lstStyle/>
          <a:p>
            <a:pPr marL="92075">
              <a:lnSpc>
                <a:spcPct val="100000"/>
              </a:lnSpc>
              <a:spcBef>
                <a:spcPts val="295"/>
              </a:spcBef>
            </a:pPr>
            <a:r>
              <a:rPr lang="en-US" sz="2400" b="1" spc="-75" dirty="0">
                <a:solidFill>
                  <a:srgbClr val="548ED4"/>
                </a:solidFill>
                <a:latin typeface="Arial"/>
                <a:cs typeface="Arial"/>
              </a:rPr>
              <a:t>9</a:t>
            </a:r>
            <a:r>
              <a:rPr sz="2400" b="1" spc="-75" dirty="0">
                <a:solidFill>
                  <a:srgbClr val="548ED4"/>
                </a:solidFill>
                <a:latin typeface="Arial"/>
                <a:cs typeface="Arial"/>
              </a:rPr>
              <a:t> </a:t>
            </a:r>
            <a:r>
              <a:rPr sz="2400" b="1" dirty="0">
                <a:solidFill>
                  <a:srgbClr val="548ED4"/>
                </a:solidFill>
                <a:latin typeface="Arial"/>
                <a:cs typeface="Arial"/>
              </a:rPr>
              <a:t>Sponsors,</a:t>
            </a:r>
            <a:r>
              <a:rPr sz="2400" b="1" spc="-80" dirty="0">
                <a:solidFill>
                  <a:srgbClr val="548ED4"/>
                </a:solidFill>
                <a:latin typeface="Arial"/>
                <a:cs typeface="Arial"/>
              </a:rPr>
              <a:t> </a:t>
            </a:r>
            <a:r>
              <a:rPr sz="2400" b="1" dirty="0">
                <a:solidFill>
                  <a:srgbClr val="FF0000"/>
                </a:solidFill>
                <a:latin typeface="Arial"/>
                <a:cs typeface="Arial"/>
              </a:rPr>
              <a:t>3</a:t>
            </a:r>
            <a:r>
              <a:rPr sz="2400" b="1" spc="-75" dirty="0">
                <a:solidFill>
                  <a:srgbClr val="FF0000"/>
                </a:solidFill>
                <a:latin typeface="Arial"/>
                <a:cs typeface="Arial"/>
              </a:rPr>
              <a:t> </a:t>
            </a:r>
            <a:r>
              <a:rPr sz="2400" b="1" spc="-10" dirty="0">
                <a:solidFill>
                  <a:srgbClr val="FF0000"/>
                </a:solidFill>
                <a:latin typeface="Arial"/>
                <a:cs typeface="Arial"/>
              </a:rPr>
              <a:t>Premier</a:t>
            </a:r>
            <a:endParaRPr sz="2400" dirty="0">
              <a:latin typeface="Arial"/>
              <a:cs typeface="Arial"/>
            </a:endParaRPr>
          </a:p>
        </p:txBody>
      </p:sp>
      <p:pic>
        <p:nvPicPr>
          <p:cNvPr id="24" name="object 24"/>
          <p:cNvPicPr/>
          <p:nvPr/>
        </p:nvPicPr>
        <p:blipFill>
          <a:blip r:embed="rId3" cstate="email">
            <a:extLst>
              <a:ext uri="{28A0092B-C50C-407E-A947-70E740481C1C}">
                <a14:useLocalDpi xmlns:a14="http://schemas.microsoft.com/office/drawing/2010/main"/>
              </a:ext>
            </a:extLst>
          </a:blip>
          <a:stretch>
            <a:fillRect/>
          </a:stretch>
        </p:blipFill>
        <p:spPr>
          <a:xfrm>
            <a:off x="7966184" y="1018874"/>
            <a:ext cx="896111" cy="839724"/>
          </a:xfrm>
          <a:prstGeom prst="rect">
            <a:avLst/>
          </a:prstGeom>
        </p:spPr>
      </p:pic>
      <p:pic>
        <p:nvPicPr>
          <p:cNvPr id="25" name="object 25"/>
          <p:cNvPicPr/>
          <p:nvPr/>
        </p:nvPicPr>
        <p:blipFill>
          <a:blip r:embed="rId4" cstate="email">
            <a:extLst>
              <a:ext uri="{28A0092B-C50C-407E-A947-70E740481C1C}">
                <a14:useLocalDpi xmlns:a14="http://schemas.microsoft.com/office/drawing/2010/main"/>
              </a:ext>
            </a:extLst>
          </a:blip>
          <a:stretch>
            <a:fillRect/>
          </a:stretch>
        </p:blipFill>
        <p:spPr>
          <a:xfrm>
            <a:off x="2574332" y="735460"/>
            <a:ext cx="1028600" cy="1081964"/>
          </a:xfrm>
          <a:prstGeom prst="rect">
            <a:avLst/>
          </a:prstGeom>
        </p:spPr>
      </p:pic>
      <p:pic>
        <p:nvPicPr>
          <p:cNvPr id="26" name="object 26"/>
          <p:cNvPicPr/>
          <p:nvPr/>
        </p:nvPicPr>
        <p:blipFill>
          <a:blip r:embed="rId5" cstate="email">
            <a:extLst>
              <a:ext uri="{28A0092B-C50C-407E-A947-70E740481C1C}">
                <a14:useLocalDpi xmlns:a14="http://schemas.microsoft.com/office/drawing/2010/main"/>
              </a:ext>
            </a:extLst>
          </a:blip>
          <a:stretch>
            <a:fillRect/>
          </a:stretch>
        </p:blipFill>
        <p:spPr>
          <a:xfrm>
            <a:off x="8101212" y="2241323"/>
            <a:ext cx="2173641" cy="650704"/>
          </a:xfrm>
          <a:prstGeom prst="rect">
            <a:avLst/>
          </a:prstGeom>
        </p:spPr>
      </p:pic>
      <p:pic>
        <p:nvPicPr>
          <p:cNvPr id="27" name="object 27"/>
          <p:cNvPicPr/>
          <p:nvPr/>
        </p:nvPicPr>
        <p:blipFill>
          <a:blip r:embed="rId6" cstate="email">
            <a:extLst>
              <a:ext uri="{28A0092B-C50C-407E-A947-70E740481C1C}">
                <a14:useLocalDpi xmlns:a14="http://schemas.microsoft.com/office/drawing/2010/main"/>
              </a:ext>
            </a:extLst>
          </a:blip>
          <a:stretch>
            <a:fillRect/>
          </a:stretch>
        </p:blipFill>
        <p:spPr>
          <a:xfrm>
            <a:off x="6187677" y="928958"/>
            <a:ext cx="950975" cy="876300"/>
          </a:xfrm>
          <a:prstGeom prst="rect">
            <a:avLst/>
          </a:prstGeom>
        </p:spPr>
      </p:pic>
      <p:sp>
        <p:nvSpPr>
          <p:cNvPr id="28" name="object 28"/>
          <p:cNvSpPr txBox="1"/>
          <p:nvPr/>
        </p:nvSpPr>
        <p:spPr>
          <a:xfrm>
            <a:off x="2742293" y="1847675"/>
            <a:ext cx="82486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Arial"/>
                <a:cs typeface="Arial"/>
              </a:rPr>
              <a:t>Premier</a:t>
            </a:r>
            <a:endParaRPr sz="1800">
              <a:latin typeface="Arial"/>
              <a:cs typeface="Arial"/>
            </a:endParaRPr>
          </a:p>
        </p:txBody>
      </p:sp>
      <p:sp>
        <p:nvSpPr>
          <p:cNvPr id="29" name="object 29"/>
          <p:cNvSpPr txBox="1"/>
          <p:nvPr/>
        </p:nvSpPr>
        <p:spPr>
          <a:xfrm>
            <a:off x="4404723" y="1824511"/>
            <a:ext cx="824230" cy="30035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Arial"/>
                <a:cs typeface="Arial"/>
              </a:rPr>
              <a:t>Premier</a:t>
            </a:r>
            <a:endParaRPr sz="1800">
              <a:latin typeface="Arial"/>
              <a:cs typeface="Arial"/>
            </a:endParaRPr>
          </a:p>
        </p:txBody>
      </p:sp>
      <p:sp>
        <p:nvSpPr>
          <p:cNvPr id="30" name="object 30"/>
          <p:cNvSpPr txBox="1"/>
          <p:nvPr/>
        </p:nvSpPr>
        <p:spPr>
          <a:xfrm>
            <a:off x="6325853" y="1811481"/>
            <a:ext cx="824865"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0000"/>
                </a:solidFill>
                <a:latin typeface="Arial"/>
                <a:cs typeface="Arial"/>
              </a:rPr>
              <a:t>Premier</a:t>
            </a:r>
            <a:endParaRPr sz="1800">
              <a:latin typeface="Arial"/>
              <a:cs typeface="Arial"/>
            </a:endParaRPr>
          </a:p>
        </p:txBody>
      </p:sp>
      <p:pic>
        <p:nvPicPr>
          <p:cNvPr id="34" name="object 34"/>
          <p:cNvPicPr/>
          <p:nvPr/>
        </p:nvPicPr>
        <p:blipFill>
          <a:blip r:embed="rId7" cstate="email">
            <a:extLst>
              <a:ext uri="{28A0092B-C50C-407E-A947-70E740481C1C}">
                <a14:useLocalDpi xmlns:a14="http://schemas.microsoft.com/office/drawing/2010/main"/>
              </a:ext>
            </a:extLst>
          </a:blip>
          <a:stretch>
            <a:fillRect/>
          </a:stretch>
        </p:blipFill>
        <p:spPr>
          <a:xfrm>
            <a:off x="4371028" y="2267116"/>
            <a:ext cx="1391412" cy="780288"/>
          </a:xfrm>
          <a:prstGeom prst="rect">
            <a:avLst/>
          </a:prstGeom>
        </p:spPr>
      </p:pic>
      <p:pic>
        <p:nvPicPr>
          <p:cNvPr id="37" name="object 37"/>
          <p:cNvPicPr/>
          <p:nvPr/>
        </p:nvPicPr>
        <p:blipFill>
          <a:blip r:embed="rId8" cstate="email">
            <a:extLst>
              <a:ext uri="{28A0092B-C50C-407E-A947-70E740481C1C}">
                <a14:useLocalDpi xmlns:a14="http://schemas.microsoft.com/office/drawing/2010/main"/>
              </a:ext>
            </a:extLst>
          </a:blip>
          <a:stretch>
            <a:fillRect/>
          </a:stretch>
        </p:blipFill>
        <p:spPr>
          <a:xfrm>
            <a:off x="9578051" y="929878"/>
            <a:ext cx="990600" cy="990600"/>
          </a:xfrm>
          <a:prstGeom prst="rect">
            <a:avLst/>
          </a:prstGeom>
        </p:spPr>
      </p:pic>
      <p:pic>
        <p:nvPicPr>
          <p:cNvPr id="39" name="object 39"/>
          <p:cNvPicPr/>
          <p:nvPr/>
        </p:nvPicPr>
        <p:blipFill>
          <a:blip r:embed="rId9" cstate="email">
            <a:extLst>
              <a:ext uri="{28A0092B-C50C-407E-A947-70E740481C1C}">
                <a14:useLocalDpi xmlns:a14="http://schemas.microsoft.com/office/drawing/2010/main"/>
              </a:ext>
            </a:extLst>
          </a:blip>
          <a:stretch>
            <a:fillRect/>
          </a:stretch>
        </p:blipFill>
        <p:spPr>
          <a:xfrm>
            <a:off x="3775185" y="807038"/>
            <a:ext cx="2188464" cy="926591"/>
          </a:xfrm>
          <a:prstGeom prst="rect">
            <a:avLst/>
          </a:prstGeom>
        </p:spPr>
      </p:pic>
      <p:sp>
        <p:nvSpPr>
          <p:cNvPr id="15" name="object 11">
            <a:extLst>
              <a:ext uri="{FF2B5EF4-FFF2-40B4-BE49-F238E27FC236}">
                <a16:creationId xmlns:a16="http://schemas.microsoft.com/office/drawing/2014/main" id="{062DE021-19AA-A199-BBFA-85A50614C5D8}"/>
              </a:ext>
            </a:extLst>
          </p:cNvPr>
          <p:cNvSpPr txBox="1">
            <a:spLocks/>
          </p:cNvSpPr>
          <p:nvPr/>
        </p:nvSpPr>
        <p:spPr>
          <a:xfrm>
            <a:off x="565583" y="3244602"/>
            <a:ext cx="5884666" cy="505267"/>
          </a:xfrm>
          <a:prstGeom prst="rect">
            <a:avLst/>
          </a:prstGeom>
        </p:spPr>
        <p:txBody>
          <a:bodyPr vert="horz" wrap="square" lIns="0" tIns="12700" rIns="0" bIns="0" rtlCol="0">
            <a:spAutoFit/>
          </a:bodyPr>
          <a:lstStyle>
            <a:lvl1pPr>
              <a:defRPr sz="2800" b="1" i="0">
                <a:solidFill>
                  <a:srgbClr val="004283"/>
                </a:solidFill>
                <a:latin typeface="Arial"/>
                <a:ea typeface="+mj-ea"/>
                <a:cs typeface="Arial"/>
              </a:defRPr>
            </a:lvl1pPr>
          </a:lstStyle>
          <a:p>
            <a:pPr marL="12700">
              <a:spcBef>
                <a:spcPts val="100"/>
              </a:spcBef>
            </a:pPr>
            <a:r>
              <a:rPr lang="en-US" sz="3200" spc="-10" dirty="0">
                <a:solidFill>
                  <a:srgbClr val="0070C0"/>
                </a:solidFill>
              </a:rPr>
              <a:t>Potential Sponsors </a:t>
            </a:r>
            <a:endParaRPr lang="en-US" sz="3200" dirty="0">
              <a:solidFill>
                <a:srgbClr val="0070C0"/>
              </a:solidFill>
            </a:endParaRPr>
          </a:p>
        </p:txBody>
      </p:sp>
      <p:pic>
        <p:nvPicPr>
          <p:cNvPr id="1026" name="Picture 2" descr="Smarter Entity Resolution">
            <a:extLst>
              <a:ext uri="{FF2B5EF4-FFF2-40B4-BE49-F238E27FC236}">
                <a16:creationId xmlns:a16="http://schemas.microsoft.com/office/drawing/2014/main" id="{BED9D55B-6BCC-4B9F-F1C9-AEF9DF470A6B}"/>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2653584" y="2224195"/>
            <a:ext cx="1415285" cy="8491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EB472FD6-A5AD-6DC6-1CC0-46B7014A3946}"/>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6586227" y="2216123"/>
            <a:ext cx="830786" cy="795282"/>
          </a:xfrm>
          <a:prstGeom prst="rect">
            <a:avLst/>
          </a:prstGeom>
        </p:spPr>
      </p:pic>
      <p:sp>
        <p:nvSpPr>
          <p:cNvPr id="5" name="TextBox 4">
            <a:extLst>
              <a:ext uri="{FF2B5EF4-FFF2-40B4-BE49-F238E27FC236}">
                <a16:creationId xmlns:a16="http://schemas.microsoft.com/office/drawing/2014/main" id="{57809D93-838E-A4DD-F9A9-C1C1207B10A3}"/>
              </a:ext>
            </a:extLst>
          </p:cNvPr>
          <p:cNvSpPr txBox="1"/>
          <p:nvPr/>
        </p:nvSpPr>
        <p:spPr>
          <a:xfrm>
            <a:off x="6352838" y="2961798"/>
            <a:ext cx="1681871" cy="246221"/>
          </a:xfrm>
          <a:prstGeom prst="rect">
            <a:avLst/>
          </a:prstGeom>
          <a:noFill/>
        </p:spPr>
        <p:txBody>
          <a:bodyPr wrap="none" rtlCol="0">
            <a:spAutoFit/>
          </a:bodyPr>
          <a:lstStyle/>
          <a:p>
            <a:r>
              <a:rPr lang="en-US" sz="1000" dirty="0">
                <a:solidFill>
                  <a:schemeClr val="bg2">
                    <a:lumMod val="10000"/>
                  </a:schemeClr>
                </a:solidFill>
              </a:rPr>
              <a:t>All Purpose Networks, Inc.</a:t>
            </a:r>
          </a:p>
        </p:txBody>
      </p:sp>
      <p:sp>
        <p:nvSpPr>
          <p:cNvPr id="3" name="TextBox 2">
            <a:extLst>
              <a:ext uri="{FF2B5EF4-FFF2-40B4-BE49-F238E27FC236}">
                <a16:creationId xmlns:a16="http://schemas.microsoft.com/office/drawing/2014/main" id="{363ADCDE-7641-1D71-87EA-27988BD9A215}"/>
              </a:ext>
            </a:extLst>
          </p:cNvPr>
          <p:cNvSpPr txBox="1"/>
          <p:nvPr/>
        </p:nvSpPr>
        <p:spPr>
          <a:xfrm>
            <a:off x="3274409" y="3942808"/>
            <a:ext cx="7850791" cy="2554545"/>
          </a:xfrm>
          <a:prstGeom prst="rect">
            <a:avLst/>
          </a:prstGeom>
          <a:noFill/>
        </p:spPr>
        <p:txBody>
          <a:bodyPr wrap="square" rtlCol="0">
            <a:spAutoFit/>
          </a:bodyPr>
          <a:lstStyle/>
          <a:p>
            <a:pPr marL="457200" indent="-457200">
              <a:buFont typeface="Wingdings" pitchFamily="2" charset="2"/>
              <a:buChar char="Ø"/>
            </a:pPr>
            <a:r>
              <a:rPr lang="en-US" sz="3200" dirty="0"/>
              <a:t>Federal agencies</a:t>
            </a:r>
          </a:p>
          <a:p>
            <a:pPr marL="457200" indent="-457200">
              <a:buFont typeface="Wingdings" pitchFamily="2" charset="2"/>
              <a:buChar char="Ø"/>
            </a:pPr>
            <a:r>
              <a:rPr lang="en-US" sz="3200" dirty="0"/>
              <a:t>State and local agencies</a:t>
            </a:r>
          </a:p>
          <a:p>
            <a:pPr marL="457200" indent="-457200">
              <a:buFont typeface="Wingdings" pitchFamily="2" charset="2"/>
              <a:buChar char="Ø"/>
            </a:pPr>
            <a:r>
              <a:rPr lang="en-US" sz="3200" dirty="0"/>
              <a:t>Private Sector</a:t>
            </a:r>
          </a:p>
          <a:p>
            <a:pPr marL="457200" indent="-457200">
              <a:buFont typeface="Wingdings" pitchFamily="2" charset="2"/>
              <a:buChar char="Ø"/>
            </a:pPr>
            <a:r>
              <a:rPr lang="en-US" sz="3200" dirty="0"/>
              <a:t>Non-governmental agencies</a:t>
            </a:r>
          </a:p>
          <a:p>
            <a:pPr marL="457200" indent="-457200">
              <a:buFont typeface="Wingdings" pitchFamily="2" charset="2"/>
              <a:buChar char="Ø"/>
            </a:pPr>
            <a:r>
              <a:rPr lang="en-US" sz="3200" dirty="0"/>
              <a:t>International agencies</a:t>
            </a:r>
            <a:endParaRPr lang="en-US" sz="2400" dirty="0"/>
          </a:p>
        </p:txBody>
      </p:sp>
    </p:spTree>
    <p:extLst>
      <p:ext uri="{BB962C8B-B14F-4D97-AF65-F5344CB8AC3E}">
        <p14:creationId xmlns:p14="http://schemas.microsoft.com/office/powerpoint/2010/main" val="819476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52348" rIns="0" bIns="0" rtlCol="0">
            <a:spAutoFit/>
          </a:bodyPr>
          <a:lstStyle/>
          <a:p>
            <a:pPr marL="297815">
              <a:lnSpc>
                <a:spcPct val="100000"/>
              </a:lnSpc>
              <a:spcBef>
                <a:spcPts val="100"/>
              </a:spcBef>
            </a:pPr>
            <a:r>
              <a:rPr sz="3200" dirty="0"/>
              <a:t>PGB</a:t>
            </a:r>
            <a:r>
              <a:rPr sz="3200" spc="5" dirty="0"/>
              <a:t> </a:t>
            </a:r>
            <a:r>
              <a:rPr sz="3200" dirty="0"/>
              <a:t>MEMBERS:</a:t>
            </a:r>
            <a:r>
              <a:rPr sz="3200" spc="-114" dirty="0"/>
              <a:t> </a:t>
            </a:r>
            <a:r>
              <a:rPr sz="3200" dirty="0"/>
              <a:t>AROUND-</a:t>
            </a:r>
            <a:r>
              <a:rPr sz="3200" spc="-10" dirty="0"/>
              <a:t>THE-</a:t>
            </a:r>
            <a:r>
              <a:rPr sz="3200" spc="-20" dirty="0"/>
              <a:t>HORN</a:t>
            </a:r>
            <a:endParaRPr sz="3200" dirty="0"/>
          </a:p>
        </p:txBody>
      </p:sp>
      <p:grpSp>
        <p:nvGrpSpPr>
          <p:cNvPr id="3" name="object 3"/>
          <p:cNvGrpSpPr/>
          <p:nvPr/>
        </p:nvGrpSpPr>
        <p:grpSpPr>
          <a:xfrm>
            <a:off x="1862327" y="1490472"/>
            <a:ext cx="8775700" cy="4450080"/>
            <a:chOff x="1862327" y="1490472"/>
            <a:chExt cx="8775700" cy="4450080"/>
          </a:xfrm>
        </p:grpSpPr>
        <p:pic>
          <p:nvPicPr>
            <p:cNvPr id="4" name="object 4"/>
            <p:cNvPicPr/>
            <p:nvPr/>
          </p:nvPicPr>
          <p:blipFill>
            <a:blip r:embed="rId2" cstate="email">
              <a:extLst>
                <a:ext uri="{28A0092B-C50C-407E-A947-70E740481C1C}">
                  <a14:useLocalDpi xmlns:a14="http://schemas.microsoft.com/office/drawing/2010/main"/>
                </a:ext>
              </a:extLst>
            </a:blip>
            <a:stretch>
              <a:fillRect/>
            </a:stretch>
          </p:blipFill>
          <p:spPr>
            <a:xfrm>
              <a:off x="1862327" y="1490472"/>
              <a:ext cx="4326636" cy="3587496"/>
            </a:xfrm>
            <a:prstGeom prst="rect">
              <a:avLst/>
            </a:prstGeom>
          </p:spPr>
        </p:pic>
        <p:pic>
          <p:nvPicPr>
            <p:cNvPr id="5" name="object 5"/>
            <p:cNvPicPr/>
            <p:nvPr/>
          </p:nvPicPr>
          <p:blipFill>
            <a:blip r:embed="rId3" cstate="email">
              <a:extLst>
                <a:ext uri="{28A0092B-C50C-407E-A947-70E740481C1C}">
                  <a14:useLocalDpi xmlns:a14="http://schemas.microsoft.com/office/drawing/2010/main"/>
                </a:ext>
              </a:extLst>
            </a:blip>
            <a:stretch>
              <a:fillRect/>
            </a:stretch>
          </p:blipFill>
          <p:spPr>
            <a:xfrm>
              <a:off x="6188963" y="2618232"/>
              <a:ext cx="4448555" cy="3322320"/>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7465">
              <a:lnSpc>
                <a:spcPts val="1425"/>
              </a:lnSpc>
            </a:pPr>
            <a:fld id="{81D60167-4931-47E6-BA6A-407CBD079E47}" type="slidenum">
              <a:rPr spc="-25" dirty="0"/>
              <a:t>36</a:t>
            </a:fld>
            <a:endParaRPr spc="-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91440" tIns="45720" rIns="91440" bIns="45720" rtlCol="0" anchor="t">
            <a:noAutofit/>
          </a:bodyPr>
          <a:lstStyle/>
          <a:p>
            <a:r>
              <a:rPr lang="en-US" spc="-100" dirty="0">
                <a:solidFill>
                  <a:srgbClr val="005170"/>
                </a:solidFill>
              </a:rPr>
              <a:t>PGB</a:t>
            </a:r>
            <a:r>
              <a:rPr lang="en-US" sz="3200" spc="-100" dirty="0">
                <a:solidFill>
                  <a:srgbClr val="005170"/>
                </a:solidFill>
              </a:rPr>
              <a:t> Meeting Schedule – Pending Approval</a:t>
            </a:r>
          </a:p>
        </p:txBody>
      </p:sp>
      <p:sp>
        <p:nvSpPr>
          <p:cNvPr id="3" name="Content Placeholder 2">
            <a:extLst>
              <a:ext uri="{FF2B5EF4-FFF2-40B4-BE49-F238E27FC236}">
                <a16:creationId xmlns:a16="http://schemas.microsoft.com/office/drawing/2014/main" id="{3020B39E-BB65-4005-B225-64A3C68D559D}"/>
              </a:ext>
            </a:extLst>
          </p:cNvPr>
          <p:cNvSpPr>
            <a:spLocks noGrp="1"/>
          </p:cNvSpPr>
          <p:nvPr>
            <p:ph sz="half" idx="2"/>
          </p:nvPr>
        </p:nvSpPr>
        <p:spPr>
          <a:xfrm>
            <a:off x="609600" y="1762307"/>
            <a:ext cx="5384800" cy="2658370"/>
          </a:xfrm>
          <a:ln>
            <a:solidFill>
              <a:schemeClr val="tx2">
                <a:lumMod val="60000"/>
                <a:lumOff val="40000"/>
              </a:schemeClr>
            </a:solidFill>
          </a:ln>
        </p:spPr>
        <p:txBody>
          <a:bodyPr>
            <a:normAutofit/>
          </a:bodyPr>
          <a:lstStyle/>
          <a:p>
            <a:pPr marL="0" indent="0" algn="ctr">
              <a:spcBef>
                <a:spcPts val="600"/>
              </a:spcBef>
              <a:spcAft>
                <a:spcPts val="1200"/>
              </a:spcAft>
              <a:buFont typeface="Arial"/>
              <a:buNone/>
            </a:pPr>
            <a:r>
              <a:rPr lang="en-US" sz="3000" dirty="0">
                <a:solidFill>
                  <a:schemeClr val="tx2">
                    <a:lumMod val="60000"/>
                    <a:lumOff val="40000"/>
                  </a:schemeClr>
                </a:solidFill>
              </a:rPr>
              <a:t>NEXT PGB Meeting</a:t>
            </a:r>
            <a:endParaRPr lang="en-US" sz="3100" dirty="0">
              <a:solidFill>
                <a:schemeClr val="tx2">
                  <a:lumMod val="60000"/>
                  <a:lumOff val="40000"/>
                </a:schemeClr>
              </a:solidFill>
            </a:endParaRPr>
          </a:p>
          <a:p>
            <a:pPr marL="457200" marR="0" lvl="0" indent="-398463" algn="l" defTabSz="457200" rtl="0" eaLnBrk="1" fontAlgn="auto" latinLnBrk="0" hangingPunct="1">
              <a:lnSpc>
                <a:spcPct val="100000"/>
              </a:lnSpc>
              <a:spcBef>
                <a:spcPts val="600"/>
              </a:spcBef>
              <a:spcAft>
                <a:spcPts val="1200"/>
              </a:spcAft>
              <a:buClr>
                <a:srgbClr val="1F497D"/>
              </a:buClr>
              <a:buSzTx/>
              <a:buFont typeface="Arial"/>
              <a:buChar char="•"/>
              <a:tabLst/>
              <a:defRPr/>
            </a:pPr>
            <a:r>
              <a:rPr lang="en-US" dirty="0">
                <a:solidFill>
                  <a:srgbClr val="334052"/>
                </a:solidFill>
              </a:rPr>
              <a:t>Thursday</a:t>
            </a:r>
            <a:r>
              <a:rPr lang="en-US">
                <a:solidFill>
                  <a:srgbClr val="334052"/>
                </a:solidFill>
              </a:rPr>
              <a:t>, 19 March 2026 </a:t>
            </a:r>
            <a:endParaRPr lang="en-US" dirty="0">
              <a:solidFill>
                <a:srgbClr val="334052"/>
              </a:solidFill>
            </a:endParaRPr>
          </a:p>
          <a:p>
            <a:pPr marL="457200" indent="-398463">
              <a:spcBef>
                <a:spcPts val="600"/>
              </a:spcBef>
              <a:spcAft>
                <a:spcPts val="1200"/>
              </a:spcAft>
            </a:pPr>
            <a:r>
              <a:rPr lang="en-US" dirty="0">
                <a:solidFill>
                  <a:srgbClr val="334052"/>
                </a:solidFill>
              </a:rPr>
              <a:t>Virtual Meeting 2 – 4 PM EST</a:t>
            </a:r>
          </a:p>
          <a:p>
            <a:pPr marL="857250" lvl="1" indent="-398463">
              <a:spcBef>
                <a:spcPts val="600"/>
              </a:spcBef>
              <a:spcAft>
                <a:spcPts val="1200"/>
              </a:spcAft>
            </a:pPr>
            <a:r>
              <a:rPr lang="en-US" sz="1800" dirty="0">
                <a:solidFill>
                  <a:schemeClr val="tx1">
                    <a:lumMod val="50000"/>
                  </a:schemeClr>
                </a:solidFill>
                <a:effectLst/>
                <a:latin typeface="Calibri" panose="020F0502020204030204" pitchFamily="34" charset="0"/>
                <a:ea typeface="Times New Roman" panose="02020603050405020304" pitchFamily="18" charset="0"/>
              </a:rPr>
              <a:t>Virtual: </a:t>
            </a:r>
            <a:r>
              <a:rPr lang="en-US" sz="1800" dirty="0">
                <a:solidFill>
                  <a:schemeClr val="tx1">
                    <a:lumMod val="50000"/>
                  </a:schemeClr>
                </a:solidFill>
                <a:latin typeface="Calibri" panose="020F0502020204030204" pitchFamily="34" charset="0"/>
                <a:ea typeface="Times New Roman" panose="02020603050405020304" pitchFamily="18" charset="0"/>
              </a:rPr>
              <a:t>ZOOM</a:t>
            </a:r>
            <a:endParaRPr lang="en-US" sz="1800" dirty="0">
              <a:solidFill>
                <a:schemeClr val="tx1">
                  <a:lumMod val="50000"/>
                </a:schemeClr>
              </a:solidFill>
              <a:effectLst/>
              <a:latin typeface="Calibri" panose="020F0502020204030204" pitchFamily="34" charset="0"/>
              <a:ea typeface="Times New Roman" panose="02020603050405020304" pitchFamily="18" charset="0"/>
            </a:endParaRPr>
          </a:p>
        </p:txBody>
      </p:sp>
      <p:sp>
        <p:nvSpPr>
          <p:cNvPr id="6" name="Slide Number Placeholder 3">
            <a:extLst>
              <a:ext uri="{FF2B5EF4-FFF2-40B4-BE49-F238E27FC236}">
                <a16:creationId xmlns:a16="http://schemas.microsoft.com/office/drawing/2014/main" id="{BCC7B5F5-2657-43B0-BAC6-A07603F4E46B}"/>
              </a:ext>
            </a:extLst>
          </p:cNvPr>
          <p:cNvSpPr>
            <a:spLocks noGrp="1"/>
          </p:cNvSpPr>
          <p:nvPr>
            <p:ph type="sldNum" sz="quarter" idx="4"/>
          </p:nvPr>
        </p:nvSpPr>
        <p:spPr>
          <a:xfrm>
            <a:off x="4728589" y="6371823"/>
            <a:ext cx="284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6E6030FC-FB78-5E4D-92EA-5D9433591EA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graphicFrame>
        <p:nvGraphicFramePr>
          <p:cNvPr id="5" name="Table 19">
            <a:extLst>
              <a:ext uri="{FF2B5EF4-FFF2-40B4-BE49-F238E27FC236}">
                <a16:creationId xmlns:a16="http://schemas.microsoft.com/office/drawing/2014/main" id="{5FF2BE40-1989-845C-A00A-D6C17C17E698}"/>
              </a:ext>
            </a:extLst>
          </p:cNvPr>
          <p:cNvGraphicFramePr>
            <a:graphicFrameLocks noGrp="1"/>
          </p:cNvGraphicFramePr>
          <p:nvPr>
            <p:extLst>
              <p:ext uri="{D42A27DB-BD31-4B8C-83A1-F6EECF244321}">
                <p14:modId xmlns:p14="http://schemas.microsoft.com/office/powerpoint/2010/main" val="2516641015"/>
              </p:ext>
            </p:extLst>
          </p:nvPr>
        </p:nvGraphicFramePr>
        <p:xfrm>
          <a:off x="6629400" y="2065064"/>
          <a:ext cx="5183344" cy="1828800"/>
        </p:xfrm>
        <a:graphic>
          <a:graphicData uri="http://schemas.openxmlformats.org/drawingml/2006/table">
            <a:tbl>
              <a:tblPr firstRow="1" bandRow="1">
                <a:tableStyleId>{5C22544A-7EE6-4342-B048-85BDC9FD1C3A}</a:tableStyleId>
              </a:tblPr>
              <a:tblGrid>
                <a:gridCol w="1295836">
                  <a:extLst>
                    <a:ext uri="{9D8B030D-6E8A-4147-A177-3AD203B41FA5}">
                      <a16:colId xmlns:a16="http://schemas.microsoft.com/office/drawing/2014/main" val="4128013111"/>
                    </a:ext>
                  </a:extLst>
                </a:gridCol>
                <a:gridCol w="1295836">
                  <a:extLst>
                    <a:ext uri="{9D8B030D-6E8A-4147-A177-3AD203B41FA5}">
                      <a16:colId xmlns:a16="http://schemas.microsoft.com/office/drawing/2014/main" val="1833137990"/>
                    </a:ext>
                  </a:extLst>
                </a:gridCol>
                <a:gridCol w="1295836">
                  <a:extLst>
                    <a:ext uri="{9D8B030D-6E8A-4147-A177-3AD203B41FA5}">
                      <a16:colId xmlns:a16="http://schemas.microsoft.com/office/drawing/2014/main" val="3272687838"/>
                    </a:ext>
                  </a:extLst>
                </a:gridCol>
                <a:gridCol w="1295836">
                  <a:extLst>
                    <a:ext uri="{9D8B030D-6E8A-4147-A177-3AD203B41FA5}">
                      <a16:colId xmlns:a16="http://schemas.microsoft.com/office/drawing/2014/main" val="3928461000"/>
                    </a:ext>
                  </a:extLst>
                </a:gridCol>
              </a:tblGrid>
              <a:tr h="331953">
                <a:tc gridSpan="4">
                  <a:txBody>
                    <a:bodyPr/>
                    <a:lstStyle/>
                    <a:p>
                      <a:pPr algn="ctr"/>
                      <a:r>
                        <a:rPr lang="en-US" dirty="0">
                          <a:solidFill>
                            <a:srgbClr val="FFFF00"/>
                          </a:solidFill>
                        </a:rPr>
                        <a:t>CY 2026 Meeting Dates</a:t>
                      </a:r>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4192913429"/>
                  </a:ext>
                </a:extLst>
              </a:tr>
              <a:tr h="331953">
                <a:tc>
                  <a:txBody>
                    <a:bodyPr/>
                    <a:lstStyle/>
                    <a:p>
                      <a:r>
                        <a:rPr lang="en-US" dirty="0"/>
                        <a:t>Q1</a:t>
                      </a:r>
                    </a:p>
                  </a:txBody>
                  <a:tcPr/>
                </a:tc>
                <a:tc>
                  <a:txBody>
                    <a:bodyPr/>
                    <a:lstStyle/>
                    <a:p>
                      <a:r>
                        <a:rPr lang="en-US" dirty="0"/>
                        <a:t>MAR 19</a:t>
                      </a:r>
                    </a:p>
                  </a:txBody>
                  <a:tcPr/>
                </a:tc>
                <a:tc>
                  <a:txBody>
                    <a:bodyPr/>
                    <a:lstStyle/>
                    <a:p>
                      <a:r>
                        <a:rPr lang="en-US" dirty="0"/>
                        <a:t>2 – 4 PM</a:t>
                      </a:r>
                    </a:p>
                  </a:txBody>
                  <a:tcPr/>
                </a:tc>
                <a:tc>
                  <a:txBody>
                    <a:bodyPr/>
                    <a:lstStyle/>
                    <a:p>
                      <a:r>
                        <a:rPr lang="en-US" dirty="0"/>
                        <a:t>EDT</a:t>
                      </a:r>
                    </a:p>
                  </a:txBody>
                  <a:tcPr/>
                </a:tc>
                <a:extLst>
                  <a:ext uri="{0D108BD9-81ED-4DB2-BD59-A6C34878D82A}">
                    <a16:rowId xmlns:a16="http://schemas.microsoft.com/office/drawing/2014/main" val="2939987802"/>
                  </a:ext>
                </a:extLst>
              </a:tr>
              <a:tr h="331953">
                <a:tc>
                  <a:txBody>
                    <a:bodyPr/>
                    <a:lstStyle/>
                    <a:p>
                      <a:r>
                        <a:rPr lang="en-US" dirty="0"/>
                        <a:t>Q2</a:t>
                      </a:r>
                    </a:p>
                  </a:txBody>
                  <a:tcPr/>
                </a:tc>
                <a:tc>
                  <a:txBody>
                    <a:bodyPr/>
                    <a:lstStyle/>
                    <a:p>
                      <a:r>
                        <a:rPr lang="en-US" dirty="0"/>
                        <a:t>JUN 18</a:t>
                      </a:r>
                    </a:p>
                  </a:txBody>
                  <a:tcPr/>
                </a:tc>
                <a:tc>
                  <a:txBody>
                    <a:bodyPr/>
                    <a:lstStyle/>
                    <a:p>
                      <a:r>
                        <a:rPr lang="en-US" dirty="0"/>
                        <a:t>2 – 4 PM</a:t>
                      </a:r>
                    </a:p>
                  </a:txBody>
                  <a:tcPr/>
                </a:tc>
                <a:tc>
                  <a:txBody>
                    <a:bodyPr/>
                    <a:lstStyle/>
                    <a:p>
                      <a:r>
                        <a:rPr lang="en-US" dirty="0"/>
                        <a:t>EDT</a:t>
                      </a:r>
                    </a:p>
                  </a:txBody>
                  <a:tcPr/>
                </a:tc>
                <a:extLst>
                  <a:ext uri="{0D108BD9-81ED-4DB2-BD59-A6C34878D82A}">
                    <a16:rowId xmlns:a16="http://schemas.microsoft.com/office/drawing/2014/main" val="2263946772"/>
                  </a:ext>
                </a:extLst>
              </a:tr>
              <a:tr h="331953">
                <a:tc>
                  <a:txBody>
                    <a:bodyPr/>
                    <a:lstStyle/>
                    <a:p>
                      <a:r>
                        <a:rPr lang="en-US" dirty="0"/>
                        <a:t>Q3</a:t>
                      </a:r>
                    </a:p>
                  </a:txBody>
                  <a:tcPr/>
                </a:tc>
                <a:tc>
                  <a:txBody>
                    <a:bodyPr/>
                    <a:lstStyle/>
                    <a:p>
                      <a:r>
                        <a:rPr lang="en-US" dirty="0"/>
                        <a:t>SEP 17</a:t>
                      </a:r>
                    </a:p>
                  </a:txBody>
                  <a:tcPr/>
                </a:tc>
                <a:tc>
                  <a:txBody>
                    <a:bodyPr/>
                    <a:lstStyle/>
                    <a:p>
                      <a:r>
                        <a:rPr lang="en-US" dirty="0"/>
                        <a:t>2 – 4 PM</a:t>
                      </a:r>
                    </a:p>
                  </a:txBody>
                  <a:tcPr/>
                </a:tc>
                <a:tc>
                  <a:txBody>
                    <a:bodyPr/>
                    <a:lstStyle/>
                    <a:p>
                      <a:r>
                        <a:rPr lang="en-US" dirty="0"/>
                        <a:t>EDT</a:t>
                      </a:r>
                    </a:p>
                  </a:txBody>
                  <a:tcPr/>
                </a:tc>
                <a:extLst>
                  <a:ext uri="{0D108BD9-81ED-4DB2-BD59-A6C34878D82A}">
                    <a16:rowId xmlns:a16="http://schemas.microsoft.com/office/drawing/2014/main" val="574156421"/>
                  </a:ext>
                </a:extLst>
              </a:tr>
              <a:tr h="331953">
                <a:tc>
                  <a:txBody>
                    <a:bodyPr/>
                    <a:lstStyle/>
                    <a:p>
                      <a:r>
                        <a:rPr lang="en-US" dirty="0"/>
                        <a:t>Q4</a:t>
                      </a:r>
                    </a:p>
                  </a:txBody>
                  <a:tcPr/>
                </a:tc>
                <a:tc>
                  <a:txBody>
                    <a:bodyPr/>
                    <a:lstStyle/>
                    <a:p>
                      <a:r>
                        <a:rPr lang="en-US" dirty="0"/>
                        <a:t>DEC 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 – 4 PM</a:t>
                      </a:r>
                    </a:p>
                  </a:txBody>
                  <a:tcPr/>
                </a:tc>
                <a:tc>
                  <a:txBody>
                    <a:bodyPr/>
                    <a:lstStyle/>
                    <a:p>
                      <a:r>
                        <a:rPr lang="en-US" dirty="0"/>
                        <a:t>EST</a:t>
                      </a:r>
                    </a:p>
                  </a:txBody>
                  <a:tcPr/>
                </a:tc>
                <a:extLst>
                  <a:ext uri="{0D108BD9-81ED-4DB2-BD59-A6C34878D82A}">
                    <a16:rowId xmlns:a16="http://schemas.microsoft.com/office/drawing/2014/main" val="3150144547"/>
                  </a:ext>
                </a:extLst>
              </a:tr>
            </a:tbl>
          </a:graphicData>
        </a:graphic>
      </p:graphicFrame>
    </p:spTree>
    <p:extLst>
      <p:ext uri="{BB962C8B-B14F-4D97-AF65-F5344CB8AC3E}">
        <p14:creationId xmlns:p14="http://schemas.microsoft.com/office/powerpoint/2010/main" val="12113526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92000" cy="2067421"/>
          </a:xfrm>
          <a:prstGeom prst="rect">
            <a:avLst/>
          </a:prstGeom>
        </p:spPr>
      </p:pic>
      <p:sp>
        <p:nvSpPr>
          <p:cNvPr id="3" name="Text 0"/>
          <p:cNvSpPr/>
          <p:nvPr/>
        </p:nvSpPr>
        <p:spPr>
          <a:xfrm>
            <a:off x="661492" y="2743200"/>
            <a:ext cx="5910759" cy="660103"/>
          </a:xfrm>
          <a:prstGeom prst="rect">
            <a:avLst/>
          </a:prstGeom>
          <a:noFill/>
          <a:ln/>
        </p:spPr>
        <p:txBody>
          <a:bodyPr wrap="none" lIns="0" tIns="0" rIns="0" bIns="0" rtlCol="0" anchor="t"/>
          <a:lstStyle/>
          <a:p>
            <a:pPr algn="l">
              <a:lnSpc>
                <a:spcPts val="4042"/>
              </a:lnSpc>
            </a:pPr>
            <a:r>
              <a:rPr lang="en-US" sz="4000" dirty="0">
                <a:solidFill>
                  <a:srgbClr val="201B18"/>
                </a:solidFill>
                <a:latin typeface="Platypi Medium" pitchFamily="34" charset="0"/>
                <a:ea typeface="Platypi Medium" pitchFamily="34" charset="-122"/>
                <a:cs typeface="Platypi Medium" pitchFamily="34" charset="-120"/>
              </a:rPr>
              <a:t>Real-World Success Factors</a:t>
            </a:r>
            <a:endParaRPr lang="en-US" sz="4000" dirty="0"/>
          </a:p>
        </p:txBody>
      </p:sp>
      <p:sp>
        <p:nvSpPr>
          <p:cNvPr id="5" name="Shape 2"/>
          <p:cNvSpPr/>
          <p:nvPr/>
        </p:nvSpPr>
        <p:spPr>
          <a:xfrm>
            <a:off x="661491" y="4015135"/>
            <a:ext cx="3512741" cy="2067420"/>
          </a:xfrm>
          <a:prstGeom prst="roundRect">
            <a:avLst>
              <a:gd name="adj" fmla="val 1674"/>
            </a:avLst>
          </a:prstGeom>
          <a:solidFill>
            <a:srgbClr val="F9F7F7"/>
          </a:solidFill>
          <a:ln/>
        </p:spPr>
        <p:txBody>
          <a:bodyPr/>
          <a:lstStyle/>
          <a:p>
            <a:endParaRPr lang="en-US" sz="2400"/>
          </a:p>
        </p:txBody>
      </p:sp>
      <p:sp>
        <p:nvSpPr>
          <p:cNvPr id="6" name="Text 3"/>
          <p:cNvSpPr/>
          <p:nvPr/>
        </p:nvSpPr>
        <p:spPr>
          <a:xfrm>
            <a:off x="826791" y="4291038"/>
            <a:ext cx="2304653" cy="258465"/>
          </a:xfrm>
          <a:prstGeom prst="rect">
            <a:avLst/>
          </a:prstGeom>
          <a:noFill/>
          <a:ln/>
        </p:spPr>
        <p:txBody>
          <a:bodyPr wrap="none" lIns="0" tIns="0" rIns="0" bIns="0" rtlCol="0" anchor="t"/>
          <a:lstStyle/>
          <a:p>
            <a:pPr algn="l">
              <a:lnSpc>
                <a:spcPts val="2000"/>
              </a:lnSpc>
            </a:pPr>
            <a:r>
              <a:rPr lang="en-US" sz="3200" dirty="0">
                <a:solidFill>
                  <a:srgbClr val="504C49"/>
                </a:solidFill>
                <a:latin typeface="Platypi Medium" pitchFamily="34" charset="0"/>
                <a:ea typeface="Platypi Medium" pitchFamily="34" charset="-122"/>
              </a:rPr>
              <a:t>Structure</a:t>
            </a:r>
            <a:endParaRPr lang="en-US" sz="3200" dirty="0"/>
          </a:p>
        </p:txBody>
      </p:sp>
      <p:sp>
        <p:nvSpPr>
          <p:cNvPr id="7" name="Text 4"/>
          <p:cNvSpPr/>
          <p:nvPr/>
        </p:nvSpPr>
        <p:spPr>
          <a:xfrm>
            <a:off x="826791" y="4984651"/>
            <a:ext cx="3182144" cy="793849"/>
          </a:xfrm>
          <a:prstGeom prst="rect">
            <a:avLst/>
          </a:prstGeom>
          <a:noFill/>
          <a:ln/>
        </p:spPr>
        <p:txBody>
          <a:bodyPr wrap="square" lIns="0" tIns="0" rIns="0" bIns="0" rtlCol="0" anchor="t"/>
          <a:lstStyle/>
          <a:p>
            <a:pPr algn="l">
              <a:lnSpc>
                <a:spcPts val="2083"/>
              </a:lnSpc>
            </a:pPr>
            <a:r>
              <a:rPr lang="en-US" sz="2400" dirty="0">
                <a:solidFill>
                  <a:srgbClr val="504C49"/>
                </a:solidFill>
                <a:latin typeface="Source Serif 4" pitchFamily="34" charset="0"/>
                <a:ea typeface="Source Serif 4" pitchFamily="34" charset="-122"/>
                <a:cs typeface="Source Serif 4" pitchFamily="34" charset="-120"/>
              </a:rPr>
              <a:t>Collaborative and transparent governance committees</a:t>
            </a:r>
            <a:endParaRPr lang="en-US" sz="2400" dirty="0"/>
          </a:p>
        </p:txBody>
      </p:sp>
      <p:sp>
        <p:nvSpPr>
          <p:cNvPr id="8" name="Shape 5"/>
          <p:cNvSpPr/>
          <p:nvPr/>
        </p:nvSpPr>
        <p:spPr>
          <a:xfrm>
            <a:off x="4335760" y="4015135"/>
            <a:ext cx="3512840" cy="2067420"/>
          </a:xfrm>
          <a:prstGeom prst="roundRect">
            <a:avLst>
              <a:gd name="adj" fmla="val 1674"/>
            </a:avLst>
          </a:prstGeom>
          <a:solidFill>
            <a:srgbClr val="F9F7F7"/>
          </a:solidFill>
          <a:ln/>
        </p:spPr>
        <p:txBody>
          <a:bodyPr/>
          <a:lstStyle/>
          <a:p>
            <a:endParaRPr lang="en-US" dirty="0"/>
          </a:p>
        </p:txBody>
      </p:sp>
      <p:sp>
        <p:nvSpPr>
          <p:cNvPr id="9" name="Text 6"/>
          <p:cNvSpPr/>
          <p:nvPr/>
        </p:nvSpPr>
        <p:spPr>
          <a:xfrm>
            <a:off x="4504830" y="4291038"/>
            <a:ext cx="2067421" cy="258465"/>
          </a:xfrm>
          <a:prstGeom prst="rect">
            <a:avLst/>
          </a:prstGeom>
          <a:noFill/>
          <a:ln/>
        </p:spPr>
        <p:txBody>
          <a:bodyPr wrap="none" lIns="0" tIns="0" rIns="0" bIns="0" rtlCol="0" anchor="t"/>
          <a:lstStyle/>
          <a:p>
            <a:pPr algn="l">
              <a:lnSpc>
                <a:spcPts val="2000"/>
              </a:lnSpc>
            </a:pPr>
            <a:r>
              <a:rPr lang="en-US" sz="3200" dirty="0">
                <a:solidFill>
                  <a:srgbClr val="504C49"/>
                </a:solidFill>
                <a:latin typeface="Platypi Medium" pitchFamily="34" charset="0"/>
                <a:ea typeface="Platypi Medium" pitchFamily="34" charset="-122"/>
              </a:rPr>
              <a:t>Commitment</a:t>
            </a:r>
            <a:endParaRPr lang="en-US" sz="3200" dirty="0"/>
          </a:p>
        </p:txBody>
      </p:sp>
      <p:sp>
        <p:nvSpPr>
          <p:cNvPr id="10" name="Text 7"/>
          <p:cNvSpPr/>
          <p:nvPr/>
        </p:nvSpPr>
        <p:spPr>
          <a:xfrm>
            <a:off x="4504829" y="4825406"/>
            <a:ext cx="3182243" cy="1118391"/>
          </a:xfrm>
          <a:prstGeom prst="rect">
            <a:avLst/>
          </a:prstGeom>
          <a:noFill/>
          <a:ln/>
        </p:spPr>
        <p:txBody>
          <a:bodyPr wrap="square" lIns="0" tIns="0" rIns="0" bIns="0" rtlCol="0" anchor="t"/>
          <a:lstStyle/>
          <a:p>
            <a:pPr marL="342900" indent="-342900" algn="l">
              <a:lnSpc>
                <a:spcPts val="2083"/>
              </a:lnSpc>
              <a:buFont typeface="Wingdings" pitchFamily="2" charset="2"/>
              <a:buChar char="Ø"/>
            </a:pPr>
            <a:r>
              <a:rPr lang="en-US" sz="2400" dirty="0">
                <a:solidFill>
                  <a:srgbClr val="504C49"/>
                </a:solidFill>
                <a:latin typeface="Source Serif 4" pitchFamily="34" charset="0"/>
                <a:ea typeface="Source Serif 4" pitchFamily="34" charset="-122"/>
              </a:rPr>
              <a:t>Become a sponsor</a:t>
            </a:r>
          </a:p>
          <a:p>
            <a:pPr marL="342900" indent="-342900" algn="l">
              <a:lnSpc>
                <a:spcPts val="2083"/>
              </a:lnSpc>
              <a:buFont typeface="Wingdings" pitchFamily="2" charset="2"/>
              <a:buChar char="Ø"/>
            </a:pPr>
            <a:r>
              <a:rPr lang="en-US" sz="2400" dirty="0">
                <a:solidFill>
                  <a:srgbClr val="504C49"/>
                </a:solidFill>
                <a:latin typeface="Source Serif 4" pitchFamily="34" charset="0"/>
                <a:ea typeface="Source Serif 4" pitchFamily="34" charset="-122"/>
              </a:rPr>
              <a:t>Allocate time to serve</a:t>
            </a:r>
          </a:p>
          <a:p>
            <a:pPr marL="342900" indent="-342900" algn="l">
              <a:lnSpc>
                <a:spcPts val="2083"/>
              </a:lnSpc>
              <a:buFont typeface="Wingdings" pitchFamily="2" charset="2"/>
              <a:buChar char="Ø"/>
            </a:pPr>
            <a:r>
              <a:rPr lang="en-US" sz="2400" dirty="0">
                <a:solidFill>
                  <a:srgbClr val="504C49"/>
                </a:solidFill>
                <a:latin typeface="Source Serif 4" pitchFamily="34" charset="0"/>
                <a:ea typeface="Source Serif 4" pitchFamily="34" charset="-122"/>
              </a:rPr>
              <a:t>Conform to standards</a:t>
            </a:r>
            <a:endParaRPr lang="en-US" sz="2400" dirty="0"/>
          </a:p>
        </p:txBody>
      </p:sp>
      <p:sp>
        <p:nvSpPr>
          <p:cNvPr id="11" name="Shape 8"/>
          <p:cNvSpPr/>
          <p:nvPr/>
        </p:nvSpPr>
        <p:spPr>
          <a:xfrm>
            <a:off x="8017670" y="4015135"/>
            <a:ext cx="3512741" cy="1928663"/>
          </a:xfrm>
          <a:prstGeom prst="roundRect">
            <a:avLst>
              <a:gd name="adj" fmla="val 1674"/>
            </a:avLst>
          </a:prstGeom>
          <a:solidFill>
            <a:srgbClr val="F9F7F7"/>
          </a:solidFill>
          <a:ln/>
        </p:spPr>
        <p:txBody>
          <a:bodyPr/>
          <a:lstStyle/>
          <a:p>
            <a:endParaRPr lang="en-US"/>
          </a:p>
        </p:txBody>
      </p:sp>
      <p:sp>
        <p:nvSpPr>
          <p:cNvPr id="12" name="Text 9"/>
          <p:cNvSpPr/>
          <p:nvPr/>
        </p:nvSpPr>
        <p:spPr>
          <a:xfrm>
            <a:off x="8175710" y="4291038"/>
            <a:ext cx="2067421" cy="258465"/>
          </a:xfrm>
          <a:prstGeom prst="rect">
            <a:avLst/>
          </a:prstGeom>
          <a:noFill/>
          <a:ln/>
        </p:spPr>
        <p:txBody>
          <a:bodyPr wrap="none" lIns="0" tIns="0" rIns="0" bIns="0" rtlCol="0" anchor="t"/>
          <a:lstStyle/>
          <a:p>
            <a:pPr algn="l">
              <a:lnSpc>
                <a:spcPts val="2000"/>
              </a:lnSpc>
            </a:pPr>
            <a:r>
              <a:rPr lang="en-US" sz="3200" dirty="0">
                <a:solidFill>
                  <a:srgbClr val="504C49"/>
                </a:solidFill>
                <a:latin typeface="Platypi Medium" pitchFamily="34" charset="0"/>
                <a:ea typeface="Platypi Medium" pitchFamily="34" charset="-122"/>
              </a:rPr>
              <a:t>Participation</a:t>
            </a:r>
            <a:endParaRPr lang="en-US" sz="3200" dirty="0"/>
          </a:p>
        </p:txBody>
      </p:sp>
      <p:sp>
        <p:nvSpPr>
          <p:cNvPr id="13" name="Text 10"/>
          <p:cNvSpPr/>
          <p:nvPr/>
        </p:nvSpPr>
        <p:spPr>
          <a:xfrm>
            <a:off x="8182967" y="4984651"/>
            <a:ext cx="3347443" cy="793849"/>
          </a:xfrm>
          <a:prstGeom prst="rect">
            <a:avLst/>
          </a:prstGeom>
          <a:noFill/>
          <a:ln/>
        </p:spPr>
        <p:txBody>
          <a:bodyPr wrap="square" lIns="0" tIns="0" rIns="0" bIns="0" rtlCol="0" anchor="t"/>
          <a:lstStyle/>
          <a:p>
            <a:pPr marL="342900" indent="-342900" algn="l">
              <a:lnSpc>
                <a:spcPts val="2083"/>
              </a:lnSpc>
              <a:buFont typeface="Wingdings" pitchFamily="2" charset="2"/>
              <a:buChar char="ü"/>
            </a:pPr>
            <a:r>
              <a:rPr lang="en-US" sz="2000" dirty="0">
                <a:solidFill>
                  <a:srgbClr val="504C49"/>
                </a:solidFill>
                <a:latin typeface="Source Serif 4" pitchFamily="34" charset="0"/>
                <a:ea typeface="Source Serif 4" pitchFamily="34" charset="-122"/>
              </a:rPr>
              <a:t>Join relevant committees</a:t>
            </a:r>
          </a:p>
          <a:p>
            <a:pPr marL="342900" indent="-342900" algn="l">
              <a:lnSpc>
                <a:spcPts val="2083"/>
              </a:lnSpc>
              <a:buFont typeface="Wingdings" pitchFamily="2" charset="2"/>
              <a:buChar char="ü"/>
            </a:pPr>
            <a:r>
              <a:rPr lang="en-US" sz="2000" dirty="0">
                <a:solidFill>
                  <a:srgbClr val="504C49"/>
                </a:solidFill>
                <a:latin typeface="Source Serif 4" pitchFamily="34" charset="0"/>
                <a:ea typeface="Source Serif 4" pitchFamily="34" charset="-122"/>
              </a:rPr>
              <a:t>Attend meetings</a:t>
            </a:r>
          </a:p>
          <a:p>
            <a:pPr marL="342900" indent="-342900" algn="l">
              <a:lnSpc>
                <a:spcPts val="2083"/>
              </a:lnSpc>
              <a:buFont typeface="Wingdings" pitchFamily="2" charset="2"/>
              <a:buChar char="ü"/>
            </a:pPr>
            <a:r>
              <a:rPr lang="en-US" sz="2000" dirty="0">
                <a:solidFill>
                  <a:srgbClr val="504C49"/>
                </a:solidFill>
                <a:latin typeface="Source Serif 4" pitchFamily="34" charset="0"/>
                <a:ea typeface="Source Serif 4" pitchFamily="34" charset="-122"/>
              </a:rPr>
              <a:t>Make contributions</a:t>
            </a:r>
            <a:endParaRPr lang="en-US" sz="2000" dirty="0"/>
          </a:p>
        </p:txBody>
      </p:sp>
    </p:spTree>
    <p:extLst>
      <p:ext uri="{BB962C8B-B14F-4D97-AF65-F5344CB8AC3E}">
        <p14:creationId xmlns:p14="http://schemas.microsoft.com/office/powerpoint/2010/main" val="2616899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20000" y="0"/>
            <a:ext cx="4572000" cy="6858000"/>
          </a:xfrm>
          <a:prstGeom prst="rect">
            <a:avLst/>
          </a:prstGeom>
        </p:spPr>
      </p:pic>
      <p:sp>
        <p:nvSpPr>
          <p:cNvPr id="3" name="Shape 0"/>
          <p:cNvSpPr/>
          <p:nvPr/>
        </p:nvSpPr>
        <p:spPr>
          <a:xfrm>
            <a:off x="7620000" y="0"/>
            <a:ext cx="4572000" cy="6858000"/>
          </a:xfrm>
          <a:prstGeom prst="rect">
            <a:avLst/>
          </a:prstGeom>
          <a:solidFill>
            <a:srgbClr val="DFDFE0"/>
          </a:solidFill>
          <a:ln/>
        </p:spPr>
        <p:txBody>
          <a:bodyPr/>
          <a:lstStyle/>
          <a:p>
            <a:endParaRPr lang="en-US"/>
          </a:p>
        </p:txBody>
      </p:sp>
      <p:pic>
        <p:nvPicPr>
          <p:cNvPr id="4" name="Image 1" descr="preencoded.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620000" y="0"/>
            <a:ext cx="4572000" cy="6858000"/>
          </a:xfrm>
          <a:prstGeom prst="rect">
            <a:avLst/>
          </a:prstGeom>
        </p:spPr>
      </p:pic>
      <p:sp>
        <p:nvSpPr>
          <p:cNvPr id="5" name="Text 1"/>
          <p:cNvSpPr/>
          <p:nvPr/>
        </p:nvSpPr>
        <p:spPr>
          <a:xfrm>
            <a:off x="570707" y="729158"/>
            <a:ext cx="3567311" cy="445790"/>
          </a:xfrm>
          <a:prstGeom prst="rect">
            <a:avLst/>
          </a:prstGeom>
          <a:noFill/>
          <a:ln/>
        </p:spPr>
        <p:txBody>
          <a:bodyPr wrap="none" lIns="0" tIns="0" rIns="0" bIns="0" rtlCol="0" anchor="t"/>
          <a:lstStyle/>
          <a:p>
            <a:pPr algn="l">
              <a:lnSpc>
                <a:spcPts val="3500"/>
              </a:lnSpc>
            </a:pPr>
            <a:r>
              <a:rPr lang="en-US" sz="3600" dirty="0">
                <a:solidFill>
                  <a:srgbClr val="201B18"/>
                </a:solidFill>
                <a:latin typeface="Platypi Medium" pitchFamily="34" charset="0"/>
                <a:ea typeface="Platypi Medium" pitchFamily="34" charset="-122"/>
                <a:cs typeface="Platypi Medium" pitchFamily="34" charset="-120"/>
              </a:rPr>
              <a:t>The Path Forward</a:t>
            </a:r>
            <a:endParaRPr lang="en-US" sz="3600" dirty="0"/>
          </a:p>
        </p:txBody>
      </p:sp>
      <p:sp>
        <p:nvSpPr>
          <p:cNvPr id="6" name="Text 2"/>
          <p:cNvSpPr/>
          <p:nvPr/>
        </p:nvSpPr>
        <p:spPr>
          <a:xfrm>
            <a:off x="593427" y="1750676"/>
            <a:ext cx="6264573" cy="670026"/>
          </a:xfrm>
          <a:prstGeom prst="rect">
            <a:avLst/>
          </a:prstGeom>
          <a:noFill/>
          <a:ln/>
        </p:spPr>
        <p:txBody>
          <a:bodyPr wrap="none" lIns="0" tIns="0" rIns="0" bIns="0" rtlCol="0" anchor="t"/>
          <a:lstStyle/>
          <a:p>
            <a:pPr algn="l">
              <a:lnSpc>
                <a:spcPts val="1792"/>
              </a:lnSpc>
            </a:pPr>
            <a:r>
              <a:rPr lang="en-US" sz="2400" b="1" dirty="0">
                <a:solidFill>
                  <a:srgbClr val="504C49"/>
                </a:solidFill>
                <a:latin typeface="Source Serif 4" pitchFamily="34" charset="0"/>
                <a:ea typeface="Source Serif 4" pitchFamily="34" charset="-122"/>
                <a:cs typeface="Source Serif 4" pitchFamily="34" charset="-120"/>
              </a:rPr>
              <a:t>NIEMOpen as a Collaborative Community</a:t>
            </a:r>
            <a:endParaRPr lang="en-US" sz="2400" dirty="0"/>
          </a:p>
        </p:txBody>
      </p:sp>
      <p:sp>
        <p:nvSpPr>
          <p:cNvPr id="7" name="Shape 3"/>
          <p:cNvSpPr/>
          <p:nvPr/>
        </p:nvSpPr>
        <p:spPr>
          <a:xfrm>
            <a:off x="570707" y="1388963"/>
            <a:ext cx="19050" cy="549077"/>
          </a:xfrm>
          <a:prstGeom prst="rect">
            <a:avLst/>
          </a:prstGeom>
          <a:solidFill>
            <a:srgbClr val="3E2513"/>
          </a:solidFill>
          <a:ln/>
        </p:spPr>
        <p:txBody>
          <a:bodyPr/>
          <a:lstStyle/>
          <a:p>
            <a:endParaRPr lang="en-US"/>
          </a:p>
        </p:txBody>
      </p:sp>
      <p:pic>
        <p:nvPicPr>
          <p:cNvPr id="9" name="Image 2" descr="preencoded.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0707" y="2191543"/>
            <a:ext cx="1149813" cy="1379934"/>
          </a:xfrm>
          <a:prstGeom prst="rect">
            <a:avLst/>
          </a:prstGeom>
        </p:spPr>
      </p:pic>
      <p:sp>
        <p:nvSpPr>
          <p:cNvPr id="10" name="Text 5"/>
          <p:cNvSpPr/>
          <p:nvPr/>
        </p:nvSpPr>
        <p:spPr>
          <a:xfrm>
            <a:off x="1426766" y="2857996"/>
            <a:ext cx="1783656" cy="222944"/>
          </a:xfrm>
          <a:prstGeom prst="rect">
            <a:avLst/>
          </a:prstGeom>
          <a:noFill/>
          <a:ln/>
        </p:spPr>
        <p:txBody>
          <a:bodyPr wrap="none" lIns="0" tIns="0" rIns="0" bIns="0" rtlCol="0" anchor="t"/>
          <a:lstStyle/>
          <a:p>
            <a:pPr algn="l">
              <a:lnSpc>
                <a:spcPts val="1750"/>
              </a:lnSpc>
            </a:pPr>
            <a:r>
              <a:rPr lang="en-US" sz="3200" dirty="0">
                <a:solidFill>
                  <a:srgbClr val="504C49"/>
                </a:solidFill>
                <a:latin typeface="Platypi Medium" pitchFamily="34" charset="0"/>
                <a:ea typeface="Platypi Medium" pitchFamily="34" charset="-122"/>
                <a:cs typeface="Platypi Medium" pitchFamily="34" charset="-120"/>
              </a:rPr>
              <a:t>Build Out the Community</a:t>
            </a:r>
            <a:endParaRPr lang="en-US" sz="3200" dirty="0"/>
          </a:p>
        </p:txBody>
      </p:sp>
      <p:pic>
        <p:nvPicPr>
          <p:cNvPr id="12" name="Image 3" descr="preencoded.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570707" y="3047703"/>
            <a:ext cx="1149813" cy="1379934"/>
          </a:xfrm>
          <a:prstGeom prst="rect">
            <a:avLst/>
          </a:prstGeom>
        </p:spPr>
      </p:pic>
      <p:sp>
        <p:nvSpPr>
          <p:cNvPr id="13" name="Text 7"/>
          <p:cNvSpPr/>
          <p:nvPr/>
        </p:nvSpPr>
        <p:spPr>
          <a:xfrm>
            <a:off x="1426766" y="3714156"/>
            <a:ext cx="1783656" cy="222944"/>
          </a:xfrm>
          <a:prstGeom prst="rect">
            <a:avLst/>
          </a:prstGeom>
          <a:noFill/>
          <a:ln/>
        </p:spPr>
        <p:txBody>
          <a:bodyPr wrap="none" lIns="0" tIns="0" rIns="0" bIns="0" rtlCol="0" anchor="t"/>
          <a:lstStyle/>
          <a:p>
            <a:pPr algn="l">
              <a:lnSpc>
                <a:spcPts val="1750"/>
              </a:lnSpc>
            </a:pPr>
            <a:r>
              <a:rPr lang="en-US" sz="3200" dirty="0">
                <a:solidFill>
                  <a:srgbClr val="504C49"/>
                </a:solidFill>
                <a:latin typeface="Platypi Medium" pitchFamily="34" charset="0"/>
                <a:ea typeface="Platypi Medium" pitchFamily="34" charset="-122"/>
                <a:cs typeface="Platypi Medium" pitchFamily="34" charset="-120"/>
              </a:rPr>
              <a:t>Commit Fully</a:t>
            </a:r>
            <a:endParaRPr lang="en-US" sz="3200" dirty="0"/>
          </a:p>
        </p:txBody>
      </p:sp>
      <p:pic>
        <p:nvPicPr>
          <p:cNvPr id="15" name="Image 4" descr="preencoded.png"/>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70707" y="3903861"/>
            <a:ext cx="1149813" cy="1379934"/>
          </a:xfrm>
          <a:prstGeom prst="rect">
            <a:avLst/>
          </a:prstGeom>
        </p:spPr>
      </p:pic>
      <p:sp>
        <p:nvSpPr>
          <p:cNvPr id="16" name="Text 9"/>
          <p:cNvSpPr/>
          <p:nvPr/>
        </p:nvSpPr>
        <p:spPr>
          <a:xfrm>
            <a:off x="1426766" y="4570314"/>
            <a:ext cx="1783656" cy="222944"/>
          </a:xfrm>
          <a:prstGeom prst="rect">
            <a:avLst/>
          </a:prstGeom>
          <a:noFill/>
          <a:ln/>
        </p:spPr>
        <p:txBody>
          <a:bodyPr wrap="none" lIns="0" tIns="0" rIns="0" bIns="0" rtlCol="0" anchor="t"/>
          <a:lstStyle/>
          <a:p>
            <a:pPr algn="l">
              <a:lnSpc>
                <a:spcPts val="1750"/>
              </a:lnSpc>
            </a:pPr>
            <a:r>
              <a:rPr lang="en-US" sz="3200" dirty="0">
                <a:solidFill>
                  <a:srgbClr val="504C49"/>
                </a:solidFill>
                <a:latin typeface="Platypi Medium" pitchFamily="34" charset="0"/>
                <a:ea typeface="Platypi Medium" pitchFamily="34" charset="-122"/>
                <a:cs typeface="Platypi Medium" pitchFamily="34" charset="-120"/>
              </a:rPr>
              <a:t>Grow Together</a:t>
            </a:r>
            <a:endParaRPr lang="en-US" sz="3200" dirty="0"/>
          </a:p>
        </p:txBody>
      </p:sp>
      <p:pic>
        <p:nvPicPr>
          <p:cNvPr id="24" name="Picture 23" descr="A computer screen with text&#10;&#10;AI-generated content may be incorrect.">
            <a:extLst>
              <a:ext uri="{FF2B5EF4-FFF2-40B4-BE49-F238E27FC236}">
                <a16:creationId xmlns:a16="http://schemas.microsoft.com/office/drawing/2014/main" id="{0E99934F-2794-C615-F87E-1605FF41B344}"/>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7605485" y="0"/>
            <a:ext cx="4566621" cy="6858000"/>
          </a:xfrm>
          <a:prstGeom prst="rect">
            <a:avLst/>
          </a:prstGeom>
        </p:spPr>
      </p:pic>
    </p:spTree>
    <p:extLst>
      <p:ext uri="{BB962C8B-B14F-4D97-AF65-F5344CB8AC3E}">
        <p14:creationId xmlns:p14="http://schemas.microsoft.com/office/powerpoint/2010/main" val="3120044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2">
            <a:alpha val="71000"/>
          </a:schemeClr>
        </a:solidFill>
        <a:effectLst/>
      </p:bgPr>
    </p:bg>
    <p:spTree>
      <p:nvGrpSpPr>
        <p:cNvPr id="1" name=""/>
        <p:cNvGrpSpPr/>
        <p:nvPr/>
      </p:nvGrpSpPr>
      <p:grpSpPr>
        <a:xfrm>
          <a:off x="0" y="0"/>
          <a:ext cx="0" cy="0"/>
          <a:chOff x="0" y="0"/>
          <a:chExt cx="0" cy="0"/>
        </a:xfrm>
      </p:grpSpPr>
      <p:pic>
        <p:nvPicPr>
          <p:cNvPr id="11" name="Picture 10" descr="Low angle view of clouds in blue sky">
            <a:extLst>
              <a:ext uri="{FF2B5EF4-FFF2-40B4-BE49-F238E27FC236}">
                <a16:creationId xmlns:a16="http://schemas.microsoft.com/office/drawing/2014/main" id="{573D5F4C-0A0E-96CD-5DB0-897455C78C9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9363BFE6-AEA8-34C1-C5A1-6927ED16137F}"/>
              </a:ext>
            </a:extLst>
          </p:cNvPr>
          <p:cNvSpPr txBox="1"/>
          <p:nvPr/>
        </p:nvSpPr>
        <p:spPr>
          <a:xfrm>
            <a:off x="3581400" y="1828800"/>
            <a:ext cx="4191000" cy="1015663"/>
          </a:xfrm>
          <a:prstGeom prst="rect">
            <a:avLst/>
          </a:prstGeom>
          <a:blipFill>
            <a:blip r:embed="rId3" cstate="email">
              <a:extLst>
                <a:ext uri="{28A0092B-C50C-407E-A947-70E740481C1C}">
                  <a14:useLocalDpi xmlns:a14="http://schemas.microsoft.com/office/drawing/2010/main"/>
                </a:ext>
              </a:extLst>
            </a:blip>
            <a:tile tx="0" ty="0" sx="100000" sy="100000" flip="none" algn="tl"/>
          </a:blipFill>
        </p:spPr>
        <p:txBody>
          <a:bodyPr wrap="square" rtlCol="0">
            <a:spAutoFit/>
          </a:bodyPr>
          <a:lstStyle/>
          <a:p>
            <a:r>
              <a:rPr lang="en-US" sz="6000" b="1" dirty="0">
                <a:latin typeface="Edwardian Script ITC" panose="030303020407070D0804" pitchFamily="66" charset="77"/>
              </a:rPr>
              <a:t>Joy-filled holidays</a:t>
            </a:r>
          </a:p>
        </p:txBody>
      </p:sp>
      <p:sp>
        <p:nvSpPr>
          <p:cNvPr id="3" name="TextBox 2">
            <a:extLst>
              <a:ext uri="{FF2B5EF4-FFF2-40B4-BE49-F238E27FC236}">
                <a16:creationId xmlns:a16="http://schemas.microsoft.com/office/drawing/2014/main" id="{4BE2B223-27DC-074A-2E7C-30369C0E3C86}"/>
              </a:ext>
            </a:extLst>
          </p:cNvPr>
          <p:cNvSpPr txBox="1"/>
          <p:nvPr/>
        </p:nvSpPr>
        <p:spPr>
          <a:xfrm>
            <a:off x="990600" y="533400"/>
            <a:ext cx="3733800" cy="584775"/>
          </a:xfrm>
          <a:prstGeom prst="rect">
            <a:avLst/>
          </a:prstGeom>
          <a:noFill/>
        </p:spPr>
        <p:txBody>
          <a:bodyPr wrap="square" rtlCol="0">
            <a:spAutoFit/>
          </a:bodyPr>
          <a:lstStyle/>
          <a:p>
            <a:r>
              <a:rPr lang="en-US" sz="3200" dirty="0">
                <a:solidFill>
                  <a:srgbClr val="FFFF00"/>
                </a:solidFill>
                <a:latin typeface="Bradley Hand" pitchFamily="2" charset="77"/>
              </a:rPr>
              <a:t>To Everyone---</a:t>
            </a:r>
          </a:p>
        </p:txBody>
      </p:sp>
      <p:sp>
        <p:nvSpPr>
          <p:cNvPr id="4" name="TextBox 3">
            <a:extLst>
              <a:ext uri="{FF2B5EF4-FFF2-40B4-BE49-F238E27FC236}">
                <a16:creationId xmlns:a16="http://schemas.microsoft.com/office/drawing/2014/main" id="{950EF79F-B07D-4DBE-2570-4353D501A729}"/>
              </a:ext>
            </a:extLst>
          </p:cNvPr>
          <p:cNvSpPr txBox="1"/>
          <p:nvPr/>
        </p:nvSpPr>
        <p:spPr>
          <a:xfrm>
            <a:off x="1828800" y="5247382"/>
            <a:ext cx="7315200" cy="1077218"/>
          </a:xfrm>
          <a:prstGeom prst="rect">
            <a:avLst/>
          </a:prstGeom>
          <a:noFill/>
        </p:spPr>
        <p:txBody>
          <a:bodyPr wrap="square" rtlCol="0">
            <a:spAutoFit/>
          </a:bodyPr>
          <a:lstStyle/>
          <a:p>
            <a:pPr algn="ctr"/>
            <a:r>
              <a:rPr lang="en-US" sz="3200" b="1" i="1" dirty="0">
                <a:latin typeface="Congenial Black" panose="02000503040000020004" pitchFamily="2" charset="0"/>
              </a:rPr>
              <a:t>A NewYear full of </a:t>
            </a:r>
          </a:p>
          <a:p>
            <a:pPr algn="ctr"/>
            <a:r>
              <a:rPr lang="en-US" sz="3200" b="1" i="1" dirty="0">
                <a:latin typeface="Congenial Black" panose="02000503040000020004" pitchFamily="2" charset="0"/>
              </a:rPr>
              <a:t>Peace, Justice, and Hope</a:t>
            </a:r>
          </a:p>
        </p:txBody>
      </p:sp>
      <p:sp>
        <p:nvSpPr>
          <p:cNvPr id="5" name="TextBox 4">
            <a:extLst>
              <a:ext uri="{FF2B5EF4-FFF2-40B4-BE49-F238E27FC236}">
                <a16:creationId xmlns:a16="http://schemas.microsoft.com/office/drawing/2014/main" id="{9ED8BCE9-D658-587F-B394-5DD03FAED6A9}"/>
              </a:ext>
            </a:extLst>
          </p:cNvPr>
          <p:cNvSpPr txBox="1"/>
          <p:nvPr/>
        </p:nvSpPr>
        <p:spPr>
          <a:xfrm>
            <a:off x="4724400" y="3105834"/>
            <a:ext cx="1371600" cy="646331"/>
          </a:xfrm>
          <a:prstGeom prst="rect">
            <a:avLst/>
          </a:prstGeom>
          <a:noFill/>
        </p:spPr>
        <p:txBody>
          <a:bodyPr wrap="square" rtlCol="0">
            <a:spAutoFit/>
          </a:bodyPr>
          <a:lstStyle/>
          <a:p>
            <a:pPr algn="ctr"/>
            <a:r>
              <a:rPr lang="en-US" sz="3600" dirty="0"/>
              <a:t>And</a:t>
            </a:r>
          </a:p>
        </p:txBody>
      </p:sp>
    </p:spTree>
    <p:extLst>
      <p:ext uri="{BB962C8B-B14F-4D97-AF65-F5344CB8AC3E}">
        <p14:creationId xmlns:p14="http://schemas.microsoft.com/office/powerpoint/2010/main" val="3536195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8841" rIns="0" bIns="0" rtlCol="0">
            <a:spAutoFit/>
          </a:bodyPr>
          <a:lstStyle/>
          <a:p>
            <a:pPr marL="297815">
              <a:lnSpc>
                <a:spcPct val="100000"/>
              </a:lnSpc>
              <a:spcBef>
                <a:spcPts val="95"/>
              </a:spcBef>
            </a:pPr>
            <a:r>
              <a:rPr spc="-10" dirty="0"/>
              <a:t>ADJOURN</a:t>
            </a:r>
          </a:p>
        </p:txBody>
      </p:sp>
      <p:sp>
        <p:nvSpPr>
          <p:cNvPr id="3" name="object 3"/>
          <p:cNvSpPr txBox="1"/>
          <p:nvPr/>
        </p:nvSpPr>
        <p:spPr>
          <a:xfrm>
            <a:off x="688340" y="1556765"/>
            <a:ext cx="4659630" cy="1233170"/>
          </a:xfrm>
          <a:prstGeom prst="rect">
            <a:avLst/>
          </a:prstGeom>
        </p:spPr>
        <p:txBody>
          <a:bodyPr vert="horz" wrap="square" lIns="0" tIns="12700" rIns="0" bIns="0" rtlCol="0">
            <a:spAutoFit/>
          </a:bodyPr>
          <a:lstStyle/>
          <a:p>
            <a:pPr marL="355600" marR="5080" indent="-342900">
              <a:lnSpc>
                <a:spcPct val="100000"/>
              </a:lnSpc>
              <a:spcBef>
                <a:spcPts val="100"/>
              </a:spcBef>
              <a:buClr>
                <a:srgbClr val="1F487C"/>
              </a:buClr>
              <a:buFont typeface="Arial"/>
              <a:buChar char="•"/>
              <a:tabLst>
                <a:tab pos="355600" algn="l"/>
              </a:tabLst>
            </a:pPr>
            <a:r>
              <a:rPr sz="1800" b="1" u="sng" dirty="0">
                <a:solidFill>
                  <a:srgbClr val="334052"/>
                </a:solidFill>
                <a:uFill>
                  <a:solidFill>
                    <a:srgbClr val="334052"/>
                  </a:solidFill>
                </a:uFill>
                <a:latin typeface="Arial"/>
                <a:cs typeface="Arial"/>
              </a:rPr>
              <a:t>Chair</a:t>
            </a:r>
            <a:r>
              <a:rPr sz="1800" u="none" dirty="0">
                <a:solidFill>
                  <a:srgbClr val="334052"/>
                </a:solidFill>
                <a:latin typeface="Arial"/>
                <a:cs typeface="Arial"/>
              </a:rPr>
              <a:t>:</a:t>
            </a:r>
            <a:r>
              <a:rPr sz="1800" u="none" spc="-10" dirty="0">
                <a:solidFill>
                  <a:srgbClr val="334052"/>
                </a:solidFill>
                <a:latin typeface="Arial"/>
                <a:cs typeface="Arial"/>
              </a:rPr>
              <a:t> </a:t>
            </a:r>
            <a:r>
              <a:rPr sz="1800" u="none" dirty="0">
                <a:solidFill>
                  <a:srgbClr val="334052"/>
                </a:solidFill>
                <a:latin typeface="Arial"/>
                <a:cs typeface="Arial"/>
              </a:rPr>
              <a:t>Do</a:t>
            </a:r>
            <a:r>
              <a:rPr sz="1800" u="none" spc="-20" dirty="0">
                <a:solidFill>
                  <a:srgbClr val="334052"/>
                </a:solidFill>
                <a:latin typeface="Arial"/>
                <a:cs typeface="Arial"/>
              </a:rPr>
              <a:t> </a:t>
            </a:r>
            <a:r>
              <a:rPr sz="1800" u="none" dirty="0">
                <a:solidFill>
                  <a:srgbClr val="334052"/>
                </a:solidFill>
                <a:latin typeface="Arial"/>
                <a:cs typeface="Arial"/>
              </a:rPr>
              <a:t>any</a:t>
            </a:r>
            <a:r>
              <a:rPr sz="1800" u="none" spc="-10" dirty="0">
                <a:solidFill>
                  <a:srgbClr val="334052"/>
                </a:solidFill>
                <a:latin typeface="Arial"/>
                <a:cs typeface="Arial"/>
              </a:rPr>
              <a:t> </a:t>
            </a:r>
            <a:r>
              <a:rPr sz="1800" u="none" dirty="0">
                <a:solidFill>
                  <a:srgbClr val="334052"/>
                </a:solidFill>
                <a:latin typeface="Arial"/>
                <a:cs typeface="Arial"/>
              </a:rPr>
              <a:t>of</a:t>
            </a:r>
            <a:r>
              <a:rPr sz="1800" u="none" spc="-10" dirty="0">
                <a:solidFill>
                  <a:srgbClr val="334052"/>
                </a:solidFill>
                <a:latin typeface="Arial"/>
                <a:cs typeface="Arial"/>
              </a:rPr>
              <a:t> </a:t>
            </a:r>
            <a:r>
              <a:rPr sz="1800" u="none" dirty="0">
                <a:solidFill>
                  <a:srgbClr val="334052"/>
                </a:solidFill>
                <a:latin typeface="Arial"/>
                <a:cs typeface="Arial"/>
              </a:rPr>
              <a:t>the</a:t>
            </a:r>
            <a:r>
              <a:rPr sz="1800" u="none" spc="-25" dirty="0">
                <a:solidFill>
                  <a:srgbClr val="334052"/>
                </a:solidFill>
                <a:latin typeface="Arial"/>
                <a:cs typeface="Arial"/>
              </a:rPr>
              <a:t> </a:t>
            </a:r>
            <a:r>
              <a:rPr sz="1800" u="none" dirty="0">
                <a:solidFill>
                  <a:srgbClr val="334052"/>
                </a:solidFill>
                <a:latin typeface="Arial"/>
                <a:cs typeface="Arial"/>
              </a:rPr>
              <a:t>PGB</a:t>
            </a:r>
            <a:r>
              <a:rPr sz="1800" u="none" spc="-20" dirty="0">
                <a:solidFill>
                  <a:srgbClr val="334052"/>
                </a:solidFill>
                <a:latin typeface="Arial"/>
                <a:cs typeface="Arial"/>
              </a:rPr>
              <a:t> </a:t>
            </a:r>
            <a:r>
              <a:rPr sz="1800" u="none" dirty="0">
                <a:solidFill>
                  <a:srgbClr val="334052"/>
                </a:solidFill>
                <a:latin typeface="Arial"/>
                <a:cs typeface="Arial"/>
              </a:rPr>
              <a:t>members</a:t>
            </a:r>
            <a:r>
              <a:rPr sz="1800" u="none" spc="-5" dirty="0">
                <a:solidFill>
                  <a:srgbClr val="334052"/>
                </a:solidFill>
                <a:latin typeface="Arial"/>
                <a:cs typeface="Arial"/>
              </a:rPr>
              <a:t> </a:t>
            </a:r>
            <a:r>
              <a:rPr sz="1800" u="none" dirty="0">
                <a:solidFill>
                  <a:srgbClr val="334052"/>
                </a:solidFill>
                <a:latin typeface="Arial"/>
                <a:cs typeface="Arial"/>
              </a:rPr>
              <a:t>or</a:t>
            </a:r>
            <a:r>
              <a:rPr sz="1800" u="none" spc="-10" dirty="0">
                <a:solidFill>
                  <a:srgbClr val="334052"/>
                </a:solidFill>
                <a:latin typeface="Arial"/>
                <a:cs typeface="Arial"/>
              </a:rPr>
              <a:t> </a:t>
            </a:r>
            <a:r>
              <a:rPr sz="1800" u="none" spc="-25" dirty="0">
                <a:solidFill>
                  <a:srgbClr val="334052"/>
                </a:solidFill>
                <a:latin typeface="Arial"/>
                <a:cs typeface="Arial"/>
              </a:rPr>
              <a:t>our </a:t>
            </a:r>
            <a:r>
              <a:rPr sz="1800" u="none" dirty="0">
                <a:solidFill>
                  <a:srgbClr val="334052"/>
                </a:solidFill>
                <a:latin typeface="Arial"/>
                <a:cs typeface="Arial"/>
              </a:rPr>
              <a:t>attending</a:t>
            </a:r>
            <a:r>
              <a:rPr sz="1800" u="none" spc="-20" dirty="0">
                <a:solidFill>
                  <a:srgbClr val="334052"/>
                </a:solidFill>
                <a:latin typeface="Arial"/>
                <a:cs typeface="Arial"/>
              </a:rPr>
              <a:t> </a:t>
            </a:r>
            <a:r>
              <a:rPr sz="1800" u="none" dirty="0">
                <a:solidFill>
                  <a:srgbClr val="334052"/>
                </a:solidFill>
                <a:latin typeface="Arial"/>
                <a:cs typeface="Arial"/>
              </a:rPr>
              <a:t>guests</a:t>
            </a:r>
            <a:r>
              <a:rPr sz="1800" u="none" spc="-10" dirty="0">
                <a:solidFill>
                  <a:srgbClr val="334052"/>
                </a:solidFill>
                <a:latin typeface="Arial"/>
                <a:cs typeface="Arial"/>
              </a:rPr>
              <a:t> </a:t>
            </a:r>
            <a:r>
              <a:rPr sz="1800" u="none" dirty="0">
                <a:solidFill>
                  <a:srgbClr val="334052"/>
                </a:solidFill>
                <a:latin typeface="Arial"/>
                <a:cs typeface="Arial"/>
              </a:rPr>
              <a:t>have</a:t>
            </a:r>
            <a:r>
              <a:rPr sz="1800" u="none" spc="-25" dirty="0">
                <a:solidFill>
                  <a:srgbClr val="334052"/>
                </a:solidFill>
                <a:latin typeface="Arial"/>
                <a:cs typeface="Arial"/>
              </a:rPr>
              <a:t> </a:t>
            </a:r>
            <a:r>
              <a:rPr sz="1800" u="none" dirty="0">
                <a:solidFill>
                  <a:srgbClr val="334052"/>
                </a:solidFill>
                <a:latin typeface="Arial"/>
                <a:cs typeface="Arial"/>
              </a:rPr>
              <a:t>any</a:t>
            </a:r>
            <a:r>
              <a:rPr sz="1800" u="none" spc="-5" dirty="0">
                <a:solidFill>
                  <a:srgbClr val="334052"/>
                </a:solidFill>
                <a:latin typeface="Arial"/>
                <a:cs typeface="Arial"/>
              </a:rPr>
              <a:t> </a:t>
            </a:r>
            <a:r>
              <a:rPr sz="1800" u="none" spc="-10" dirty="0">
                <a:solidFill>
                  <a:srgbClr val="334052"/>
                </a:solidFill>
                <a:latin typeface="Arial"/>
                <a:cs typeface="Arial"/>
              </a:rPr>
              <a:t>questions?</a:t>
            </a:r>
            <a:endParaRPr sz="1800" dirty="0">
              <a:latin typeface="Arial"/>
              <a:cs typeface="Arial"/>
            </a:endParaRPr>
          </a:p>
          <a:p>
            <a:pPr>
              <a:lnSpc>
                <a:spcPct val="100000"/>
              </a:lnSpc>
              <a:spcBef>
                <a:spcPts val="955"/>
              </a:spcBef>
              <a:buClr>
                <a:srgbClr val="1F487C"/>
              </a:buClr>
              <a:buFont typeface="Arial"/>
              <a:buChar char="•"/>
            </a:pPr>
            <a:endParaRPr sz="1800" dirty="0">
              <a:latin typeface="Arial"/>
              <a:cs typeface="Arial"/>
            </a:endParaRPr>
          </a:p>
          <a:p>
            <a:pPr marL="354965" indent="-342265">
              <a:lnSpc>
                <a:spcPct val="100000"/>
              </a:lnSpc>
              <a:buClr>
                <a:srgbClr val="1F487C"/>
              </a:buClr>
              <a:buFont typeface="Arial"/>
              <a:buChar char="•"/>
              <a:tabLst>
                <a:tab pos="354965" algn="l"/>
              </a:tabLst>
            </a:pPr>
            <a:r>
              <a:rPr sz="1800" b="1" u="sng" dirty="0">
                <a:solidFill>
                  <a:srgbClr val="334052"/>
                </a:solidFill>
                <a:uFill>
                  <a:solidFill>
                    <a:srgbClr val="334052"/>
                  </a:solidFill>
                </a:uFill>
                <a:latin typeface="Arial"/>
                <a:cs typeface="Arial"/>
              </a:rPr>
              <a:t>Chair:</a:t>
            </a:r>
            <a:r>
              <a:rPr sz="1800" b="1" u="sng" spc="-45" dirty="0">
                <a:solidFill>
                  <a:srgbClr val="334052"/>
                </a:solidFill>
                <a:uFill>
                  <a:solidFill>
                    <a:srgbClr val="334052"/>
                  </a:solidFill>
                </a:uFill>
                <a:latin typeface="Arial"/>
                <a:cs typeface="Arial"/>
              </a:rPr>
              <a:t> </a:t>
            </a:r>
            <a:r>
              <a:rPr sz="1800" u="none" dirty="0">
                <a:solidFill>
                  <a:srgbClr val="334052"/>
                </a:solidFill>
                <a:latin typeface="Arial"/>
                <a:cs typeface="Arial"/>
              </a:rPr>
              <a:t>Meeting</a:t>
            </a:r>
            <a:r>
              <a:rPr sz="1800" u="none" spc="-114" dirty="0">
                <a:solidFill>
                  <a:srgbClr val="334052"/>
                </a:solidFill>
                <a:latin typeface="Arial"/>
                <a:cs typeface="Arial"/>
              </a:rPr>
              <a:t> </a:t>
            </a:r>
            <a:r>
              <a:rPr sz="1800" u="none" spc="-10" dirty="0">
                <a:solidFill>
                  <a:srgbClr val="334052"/>
                </a:solidFill>
                <a:latin typeface="Arial"/>
                <a:cs typeface="Arial"/>
              </a:rPr>
              <a:t>Adjourned</a:t>
            </a:r>
            <a:endParaRPr sz="1800" dirty="0">
              <a:latin typeface="Arial"/>
              <a:cs typeface="Arial"/>
            </a:endParaRPr>
          </a:p>
        </p:txBody>
      </p:sp>
      <p:pic>
        <p:nvPicPr>
          <p:cNvPr id="4" name="object 4"/>
          <p:cNvPicPr/>
          <p:nvPr/>
        </p:nvPicPr>
        <p:blipFill>
          <a:blip r:embed="rId2" cstate="email">
            <a:extLst>
              <a:ext uri="{28A0092B-C50C-407E-A947-70E740481C1C}">
                <a14:useLocalDpi xmlns:a14="http://schemas.microsoft.com/office/drawing/2010/main"/>
              </a:ext>
            </a:extLst>
          </a:blip>
          <a:stretch>
            <a:fillRect/>
          </a:stretch>
        </p:blipFill>
        <p:spPr>
          <a:xfrm>
            <a:off x="6880859" y="3311652"/>
            <a:ext cx="4000500" cy="2667000"/>
          </a:xfrm>
          <a:prstGeom prst="rect">
            <a:avLst/>
          </a:prstGeom>
        </p:spPr>
      </p:pic>
      <p:pic>
        <p:nvPicPr>
          <p:cNvPr id="5" name="object 5"/>
          <p:cNvPicPr/>
          <p:nvPr/>
        </p:nvPicPr>
        <p:blipFill>
          <a:blip r:embed="rId3" cstate="print"/>
          <a:stretch>
            <a:fillRect/>
          </a:stretch>
        </p:blipFill>
        <p:spPr>
          <a:xfrm>
            <a:off x="7658100" y="879347"/>
            <a:ext cx="2218944" cy="2144267"/>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425"/>
              </a:lnSpc>
            </a:pPr>
            <a:fld id="{81D60167-4931-47E6-BA6A-407CBD079E47}" type="slidenum">
              <a:rPr spc="-25" dirty="0"/>
              <a:t>41</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NIEM_white">
  <a:themeElements>
    <a:clrScheme name="Custom 14">
      <a:dk1>
        <a:srgbClr val="8B8B8B"/>
      </a:dk1>
      <a:lt1>
        <a:sysClr val="window" lastClr="FFFFFF"/>
      </a:lt1>
      <a:dk2>
        <a:srgbClr val="1F497D"/>
      </a:dk2>
      <a:lt2>
        <a:srgbClr val="EEECE1"/>
      </a:lt2>
      <a:accent1>
        <a:srgbClr val="78C5EA"/>
      </a:accent1>
      <a:accent2>
        <a:srgbClr val="C0504D"/>
      </a:accent2>
      <a:accent3>
        <a:srgbClr val="9BBB59"/>
      </a:accent3>
      <a:accent4>
        <a:srgbClr val="8064A2"/>
      </a:accent4>
      <a:accent5>
        <a:srgbClr val="4BACC6"/>
      </a:accent5>
      <a:accent6>
        <a:srgbClr val="F79646"/>
      </a:accent6>
      <a:hlink>
        <a:srgbClr val="0085BB"/>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gradFill>
          <a:gsLst>
            <a:gs pos="0">
              <a:srgbClr val="9EB3B6">
                <a:alpha val="50000"/>
              </a:srgbClr>
            </a:gs>
            <a:gs pos="100000">
              <a:schemeClr val="bg1"/>
            </a:gs>
          </a:gsLst>
        </a:gradFill>
        <a:ln>
          <a:solidFill>
            <a:schemeClr val="tx1">
              <a:lumMod val="60000"/>
              <a:lumOff val="40000"/>
            </a:schemeClr>
          </a:solidFill>
        </a:ln>
        <a:effectLst>
          <a:innerShdw blurRad="371475" dir="13500000">
            <a:schemeClr val="bg1"/>
          </a:innerShdw>
        </a:effectLst>
      </a:spPr>
      <a:bodyPr tIns="91440" anchor="t" anchorCtr="0"/>
      <a:lstStyle>
        <a:defPPr algn="ctr">
          <a:lnSpc>
            <a:spcPct val="120000"/>
          </a:lnSpc>
          <a:defRPr b="1" spc="-50" dirty="0">
            <a:solidFill>
              <a:srgbClr val="1F497D"/>
            </a:solidFill>
            <a:cs typeface="Arial"/>
          </a:defRPr>
        </a:defPPr>
      </a:lstStyle>
      <a:style>
        <a:lnRef idx="1">
          <a:schemeClr val="dk1"/>
        </a:lnRef>
        <a:fillRef idx="2">
          <a:schemeClr val="dk1"/>
        </a:fillRef>
        <a:effectRef idx="1">
          <a:schemeClr val="dk1"/>
        </a:effectRef>
        <a:fontRef idx="minor">
          <a:schemeClr val="dk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02d0191-eeae-4761-b1cb-1a83e86ef445}" enabled="0" method="" siteId="{102d0191-eeae-4761-b1cb-1a83e86ef445}" removed="1"/>
</clbl:labelList>
</file>

<file path=docProps/app.xml><?xml version="1.0" encoding="utf-8"?>
<Properties xmlns="http://schemas.openxmlformats.org/officeDocument/2006/extended-properties" xmlns:vt="http://schemas.openxmlformats.org/officeDocument/2006/docPropsVTypes">
  <Template/>
  <TotalTime>8028</TotalTime>
  <Words>3360</Words>
  <Application>Microsoft Macintosh PowerPoint</Application>
  <PresentationFormat>Widescreen</PresentationFormat>
  <Paragraphs>551</Paragraphs>
  <Slides>41</Slides>
  <Notes>15</Notes>
  <HiddenSlides>2</HiddenSlides>
  <MMClips>0</MMClips>
  <ScaleCrop>false</ScaleCrop>
  <HeadingPairs>
    <vt:vector size="6" baseType="variant">
      <vt:variant>
        <vt:lpstr>Fonts Used</vt:lpstr>
      </vt:variant>
      <vt:variant>
        <vt:i4>25</vt:i4>
      </vt:variant>
      <vt:variant>
        <vt:lpstr>Theme</vt:lpstr>
      </vt:variant>
      <vt:variant>
        <vt:i4>2</vt:i4>
      </vt:variant>
      <vt:variant>
        <vt:lpstr>Slide Titles</vt:lpstr>
      </vt:variant>
      <vt:variant>
        <vt:i4>41</vt:i4>
      </vt:variant>
    </vt:vector>
  </HeadingPairs>
  <TitlesOfParts>
    <vt:vector size="68" baseType="lpstr">
      <vt:lpstr>ADLaM Display</vt:lpstr>
      <vt:lpstr>Aptos</vt:lpstr>
      <vt:lpstr>Arial</vt:lpstr>
      <vt:lpstr>Bradley Hand</vt:lpstr>
      <vt:lpstr>Calibri</vt:lpstr>
      <vt:lpstr>Comic Sans MS</vt:lpstr>
      <vt:lpstr>Congenial Black</vt:lpstr>
      <vt:lpstr>Courier New</vt:lpstr>
      <vt:lpstr>Edwardian Script ITC</vt:lpstr>
      <vt:lpstr>Eras Bold ITC</vt:lpstr>
      <vt:lpstr>Georgia</vt:lpstr>
      <vt:lpstr>Helvetica LT Std</vt:lpstr>
      <vt:lpstr>Lucida Sans</vt:lpstr>
      <vt:lpstr>Montserrat-Bold</vt:lpstr>
      <vt:lpstr>Open Sans</vt:lpstr>
      <vt:lpstr>Platypi Medium</vt:lpstr>
      <vt:lpstr>Poppins</vt:lpstr>
      <vt:lpstr>Segoe UI</vt:lpstr>
      <vt:lpstr>Source Sans Pro Web</vt:lpstr>
      <vt:lpstr>Source Serif 4</vt:lpstr>
      <vt:lpstr>Symbol</vt:lpstr>
      <vt:lpstr>Times New Roman</vt:lpstr>
      <vt:lpstr>Tw Cen MT</vt:lpstr>
      <vt:lpstr>Verdana Pro Cond Semibold</vt:lpstr>
      <vt:lpstr>Wingdings</vt:lpstr>
      <vt:lpstr>Office Theme</vt:lpstr>
      <vt:lpstr>1_NIEM_white</vt:lpstr>
      <vt:lpstr>PowerPoint Presentation</vt:lpstr>
      <vt:lpstr>VENUE</vt:lpstr>
      <vt:lpstr>SPONSOR APPOINTED PGB VOTING MEMBERS</vt:lpstr>
      <vt:lpstr>PGB EXPERT VOTING MEMBERS &amp; NON-VOTING MEMBERS</vt:lpstr>
      <vt:lpstr>OASIS STAFF</vt:lpstr>
      <vt:lpstr>ROLL CALL</vt:lpstr>
      <vt:lpstr>APPROVAL OF 28 August 2025 PGB MINUTES</vt:lpstr>
      <vt:lpstr>PROPOSED 4 DEC 2025 PGB AGENDA</vt:lpstr>
      <vt:lpstr>PROGRESS REPORT: Q4</vt:lpstr>
      <vt:lpstr>PowerPoint Presentation</vt:lpstr>
      <vt:lpstr>PowerPoint Presentation</vt:lpstr>
      <vt:lpstr>PowerPoint Presentation</vt:lpstr>
      <vt:lpstr>NTAC Update</vt:lpstr>
      <vt:lpstr>New release planning</vt:lpstr>
      <vt:lpstr>Software engineering update</vt:lpstr>
      <vt:lpstr>NBAC Update</vt:lpstr>
      <vt:lpstr>CY 2025 Q3 FINANCIALS</vt:lpstr>
      <vt:lpstr>PowerPoint Presentation</vt:lpstr>
      <vt:lpstr>BREAK</vt:lpstr>
      <vt:lpstr>PowerPoint Presentation</vt:lpstr>
      <vt:lpstr>Foundations for Effective Collaboration</vt:lpstr>
      <vt:lpstr>PowerPoint Presentation</vt:lpstr>
      <vt:lpstr>PowerPoint Presentation</vt:lpstr>
      <vt:lpstr>PowerPoint Presentation</vt:lpstr>
      <vt:lpstr>PowerPoint Presentation</vt:lpstr>
      <vt:lpstr>NIEMOpen COLLABORATIVE STRUCTURE </vt:lpstr>
      <vt:lpstr>NIEMOpen Program Objectives</vt:lpstr>
      <vt:lpstr>NIEMOpen Technical Objectives</vt:lpstr>
      <vt:lpstr>Project Management Office Functions</vt:lpstr>
      <vt:lpstr>PowerPoint Presentation</vt:lpstr>
      <vt:lpstr>PowerPoint Presentation</vt:lpstr>
      <vt:lpstr>PowerPoint Presentation</vt:lpstr>
      <vt:lpstr>PowerPoint Presentation</vt:lpstr>
      <vt:lpstr>Motion to Establish a PGB Chair Petty Cash Fund</vt:lpstr>
      <vt:lpstr>NIEMOpen Current Sponsors</vt:lpstr>
      <vt:lpstr>PGB MEMBERS: AROUND-THE-HORN</vt:lpstr>
      <vt:lpstr>PGB Meeting Schedule – Pending Approval</vt:lpstr>
      <vt:lpstr>PowerPoint Presentation</vt:lpstr>
      <vt:lpstr>PowerPoint Presentation</vt:lpstr>
      <vt:lpstr>PowerPoint Presentation</vt:lpstr>
      <vt:lpstr>ADJOURN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Paul Wormeli</cp:lastModifiedBy>
  <cp:revision>19</cp:revision>
  <dcterms:created xsi:type="dcterms:W3CDTF">2025-04-02T17:38:56Z</dcterms:created>
  <dcterms:modified xsi:type="dcterms:W3CDTF">2025-12-05T01:56:15Z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2025-01-31T00:00:00Z</vt:filetime>
  </property>
  <property fmtid="{D5CDD505-2E9C-101B-9397-08002B2CF9AE}" pid="3" name="LastSaved">
    <vt:filetime>2025-04-02T00:00:00Z</vt:filetime>
  </property>
</Properties>
</file>