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2"/>
  </p:sldMasterIdLst>
  <p:notesMasterIdLst>
    <p:notesMasterId r:id="rId43"/>
  </p:notesMasterIdLst>
  <p:sldIdLst>
    <p:sldId id="256" r:id="rId3"/>
    <p:sldId id="141170247" r:id="rId4"/>
    <p:sldId id="141170243" r:id="rId5"/>
    <p:sldId id="264" r:id="rId6"/>
    <p:sldId id="270" r:id="rId7"/>
    <p:sldId id="261" r:id="rId8"/>
    <p:sldId id="269" r:id="rId9"/>
    <p:sldId id="262" r:id="rId10"/>
    <p:sldId id="141170286" r:id="rId11"/>
    <p:sldId id="1881839141" r:id="rId12"/>
    <p:sldId id="141170253" r:id="rId13"/>
    <p:sldId id="1881839138" r:id="rId14"/>
    <p:sldId id="1881839139" r:id="rId15"/>
    <p:sldId id="1881839140" r:id="rId16"/>
    <p:sldId id="141170282" r:id="rId17"/>
    <p:sldId id="336" r:id="rId18"/>
    <p:sldId id="141170297" r:id="rId19"/>
    <p:sldId id="141170052" r:id="rId20"/>
    <p:sldId id="141170077" r:id="rId21"/>
    <p:sldId id="141170079" r:id="rId22"/>
    <p:sldId id="141170068" r:id="rId23"/>
    <p:sldId id="141170274" r:id="rId24"/>
    <p:sldId id="291" r:id="rId25"/>
    <p:sldId id="302" r:id="rId26"/>
    <p:sldId id="287" r:id="rId27"/>
    <p:sldId id="1881839143" r:id="rId28"/>
    <p:sldId id="141170259" r:id="rId29"/>
    <p:sldId id="141170265" r:id="rId30"/>
    <p:sldId id="141170290" r:id="rId31"/>
    <p:sldId id="141170289" r:id="rId32"/>
    <p:sldId id="141170264" r:id="rId33"/>
    <p:sldId id="141170292" r:id="rId34"/>
    <p:sldId id="141170293" r:id="rId35"/>
    <p:sldId id="141170294" r:id="rId36"/>
    <p:sldId id="141170295" r:id="rId37"/>
    <p:sldId id="141170238" r:id="rId38"/>
    <p:sldId id="268" r:id="rId39"/>
    <p:sldId id="141169993" r:id="rId40"/>
    <p:sldId id="263" r:id="rId41"/>
    <p:sldId id="304" r:id="rId4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7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01" autoAdjust="0"/>
    <p:restoredTop sz="96301" autoAdjust="0"/>
  </p:normalViewPr>
  <p:slideViewPr>
    <p:cSldViewPr>
      <p:cViewPr varScale="1">
        <p:scale>
          <a:sx n="127" d="100"/>
          <a:sy n="127" d="100"/>
        </p:scale>
        <p:origin x="1128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>
      <p:cViewPr varScale="1">
        <p:scale>
          <a:sx n="103" d="100"/>
          <a:sy n="103" d="100"/>
        </p:scale>
        <p:origin x="178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C84EFD-19F4-D54A-8D68-9498D380801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C12C186-DD3B-784A-8D9A-BC0731048CDA}">
      <dgm:prSet custT="1"/>
      <dgm:spPr/>
      <dgm:t>
        <a:bodyPr/>
        <a:lstStyle/>
        <a:p>
          <a:r>
            <a:rPr lang="en-US" sz="2800" b="1" dirty="0"/>
            <a:t>Use, Requirements</a:t>
          </a:r>
          <a:r>
            <a:rPr lang="en-US" sz="2800" b="1"/>
            <a:t>, Satisfaction</a:t>
          </a:r>
          <a:endParaRPr lang="en-US" sz="2800" dirty="0"/>
        </a:p>
      </dgm:t>
    </dgm:pt>
    <dgm:pt modelId="{41A09B61-67B7-394A-8056-6EA98FE9BFF0}" type="parTrans" cxnId="{788A4AC4-D4F5-4F40-B86B-DA4F651687B5}">
      <dgm:prSet/>
      <dgm:spPr/>
      <dgm:t>
        <a:bodyPr/>
        <a:lstStyle/>
        <a:p>
          <a:endParaRPr lang="en-US"/>
        </a:p>
      </dgm:t>
    </dgm:pt>
    <dgm:pt modelId="{98241C3B-B2C6-FF46-9F3A-E35C3B8A193D}" type="sibTrans" cxnId="{788A4AC4-D4F5-4F40-B86B-DA4F651687B5}">
      <dgm:prSet/>
      <dgm:spPr/>
      <dgm:t>
        <a:bodyPr/>
        <a:lstStyle/>
        <a:p>
          <a:endParaRPr lang="en-US"/>
        </a:p>
      </dgm:t>
    </dgm:pt>
    <dgm:pt modelId="{8BD40EFF-4CFA-674C-8A1D-5B20F2B12CF3}">
      <dgm:prSet custT="1"/>
      <dgm:spPr/>
      <dgm:t>
        <a:bodyPr/>
        <a:lstStyle/>
        <a:p>
          <a:r>
            <a:rPr lang="en-US" sz="2800" b="1" dirty="0"/>
            <a:t>Survey design committee</a:t>
          </a:r>
          <a:endParaRPr lang="en-US" sz="2800" dirty="0"/>
        </a:p>
      </dgm:t>
    </dgm:pt>
    <dgm:pt modelId="{48229CBF-1E98-F146-A479-B36638FB4123}" type="parTrans" cxnId="{16DB2C9B-716E-7649-BD54-F35345813E4F}">
      <dgm:prSet/>
      <dgm:spPr/>
      <dgm:t>
        <a:bodyPr/>
        <a:lstStyle/>
        <a:p>
          <a:endParaRPr lang="en-US"/>
        </a:p>
      </dgm:t>
    </dgm:pt>
    <dgm:pt modelId="{3412258E-4141-9443-8EC7-26980557A14A}" type="sibTrans" cxnId="{16DB2C9B-716E-7649-BD54-F35345813E4F}">
      <dgm:prSet/>
      <dgm:spPr/>
      <dgm:t>
        <a:bodyPr/>
        <a:lstStyle/>
        <a:p>
          <a:endParaRPr lang="en-US"/>
        </a:p>
      </dgm:t>
    </dgm:pt>
    <dgm:pt modelId="{43F59BB3-27FB-274D-BB6C-CCCCB6D56716}">
      <dgm:prSet custT="1"/>
      <dgm:spPr/>
      <dgm:t>
        <a:bodyPr/>
        <a:lstStyle/>
        <a:p>
          <a:r>
            <a:rPr lang="en-US" sz="2800" b="1" dirty="0"/>
            <a:t>Survey and analysis by IJIS </a:t>
          </a:r>
          <a:endParaRPr lang="en-US" sz="2800" dirty="0"/>
        </a:p>
      </dgm:t>
    </dgm:pt>
    <dgm:pt modelId="{9EC46216-85BF-C949-A63B-20FB6E45E200}" type="parTrans" cxnId="{6B7EFE27-535A-E74A-A3A1-19AE84AF3D70}">
      <dgm:prSet/>
      <dgm:spPr/>
      <dgm:t>
        <a:bodyPr/>
        <a:lstStyle/>
        <a:p>
          <a:endParaRPr lang="en-US"/>
        </a:p>
      </dgm:t>
    </dgm:pt>
    <dgm:pt modelId="{768A8249-D003-2043-A54E-AE99DC6E7858}" type="sibTrans" cxnId="{6B7EFE27-535A-E74A-A3A1-19AE84AF3D70}">
      <dgm:prSet/>
      <dgm:spPr/>
      <dgm:t>
        <a:bodyPr/>
        <a:lstStyle/>
        <a:p>
          <a:endParaRPr lang="en-US"/>
        </a:p>
      </dgm:t>
    </dgm:pt>
    <dgm:pt modelId="{5BC4FB70-6C48-4843-BBC2-E80B4092163F}">
      <dgm:prSet custT="1"/>
      <dgm:spPr/>
      <dgm:t>
        <a:bodyPr/>
        <a:lstStyle/>
        <a:p>
          <a:r>
            <a:rPr lang="en-US" sz="2800" b="1" dirty="0"/>
            <a:t>PGB Briefing</a:t>
          </a:r>
          <a:endParaRPr lang="en-US" sz="2800" dirty="0"/>
        </a:p>
      </dgm:t>
    </dgm:pt>
    <dgm:pt modelId="{F2F4EB0F-0407-9E49-AF6F-A58F829AA9DC}" type="parTrans" cxnId="{0F5B194C-AC81-774C-B411-181C41E6A9E3}">
      <dgm:prSet/>
      <dgm:spPr/>
      <dgm:t>
        <a:bodyPr/>
        <a:lstStyle/>
        <a:p>
          <a:endParaRPr lang="en-US"/>
        </a:p>
      </dgm:t>
    </dgm:pt>
    <dgm:pt modelId="{B7614F69-D712-7445-9912-348869134706}" type="sibTrans" cxnId="{0F5B194C-AC81-774C-B411-181C41E6A9E3}">
      <dgm:prSet/>
      <dgm:spPr/>
      <dgm:t>
        <a:bodyPr/>
        <a:lstStyle/>
        <a:p>
          <a:endParaRPr lang="en-US"/>
        </a:p>
      </dgm:t>
    </dgm:pt>
    <dgm:pt modelId="{9CC7B519-8D73-3247-9186-23332B97A224}" type="pres">
      <dgm:prSet presAssocID="{D4C84EFD-19F4-D54A-8D68-9498D380801A}" presName="linearFlow" presStyleCnt="0">
        <dgm:presLayoutVars>
          <dgm:dir/>
          <dgm:resizeHandles val="exact"/>
        </dgm:presLayoutVars>
      </dgm:prSet>
      <dgm:spPr/>
    </dgm:pt>
    <dgm:pt modelId="{D195909F-3E5F-E145-8CEA-7F67CED41CAE}" type="pres">
      <dgm:prSet presAssocID="{AC12C186-DD3B-784A-8D9A-BC0731048CDA}" presName="composite" presStyleCnt="0"/>
      <dgm:spPr/>
    </dgm:pt>
    <dgm:pt modelId="{5C6D8ABE-C5C1-8D47-B15C-3633CDE10ABD}" type="pres">
      <dgm:prSet presAssocID="{AC12C186-DD3B-784A-8D9A-BC0731048CDA}" presName="imgShp" presStyleLbl="fgImgPlace1" presStyleIdx="0" presStyleCnt="4"/>
      <dgm:spPr/>
    </dgm:pt>
    <dgm:pt modelId="{B2AA4985-4059-9F47-B720-C3B7360E2D9F}" type="pres">
      <dgm:prSet presAssocID="{AC12C186-DD3B-784A-8D9A-BC0731048CDA}" presName="txShp" presStyleLbl="node1" presStyleIdx="0" presStyleCnt="4">
        <dgm:presLayoutVars>
          <dgm:bulletEnabled val="1"/>
        </dgm:presLayoutVars>
      </dgm:prSet>
      <dgm:spPr/>
    </dgm:pt>
    <dgm:pt modelId="{1826B70F-3CFA-8E4C-8AA2-9D33867665B6}" type="pres">
      <dgm:prSet presAssocID="{98241C3B-B2C6-FF46-9F3A-E35C3B8A193D}" presName="spacing" presStyleCnt="0"/>
      <dgm:spPr/>
    </dgm:pt>
    <dgm:pt modelId="{1D89DFBC-7EB9-E144-BF44-EA4F942A6653}" type="pres">
      <dgm:prSet presAssocID="{8BD40EFF-4CFA-674C-8A1D-5B20F2B12CF3}" presName="composite" presStyleCnt="0"/>
      <dgm:spPr/>
    </dgm:pt>
    <dgm:pt modelId="{ABA0A936-5EE6-4143-BEB1-3D0F8BB5A564}" type="pres">
      <dgm:prSet presAssocID="{8BD40EFF-4CFA-674C-8A1D-5B20F2B12CF3}" presName="imgShp" presStyleLbl="fgImgPlace1" presStyleIdx="1" presStyleCnt="4"/>
      <dgm:spPr/>
    </dgm:pt>
    <dgm:pt modelId="{6765135A-857B-4C47-9C9D-AC2999B63AB3}" type="pres">
      <dgm:prSet presAssocID="{8BD40EFF-4CFA-674C-8A1D-5B20F2B12CF3}" presName="txShp" presStyleLbl="node1" presStyleIdx="1" presStyleCnt="4">
        <dgm:presLayoutVars>
          <dgm:bulletEnabled val="1"/>
        </dgm:presLayoutVars>
      </dgm:prSet>
      <dgm:spPr/>
    </dgm:pt>
    <dgm:pt modelId="{BA2D385D-FB1A-5845-9F60-7BDEA1B1615F}" type="pres">
      <dgm:prSet presAssocID="{3412258E-4141-9443-8EC7-26980557A14A}" presName="spacing" presStyleCnt="0"/>
      <dgm:spPr/>
    </dgm:pt>
    <dgm:pt modelId="{B96855FF-8942-3F4A-BA15-5FC30BF81B56}" type="pres">
      <dgm:prSet presAssocID="{43F59BB3-27FB-274D-BB6C-CCCCB6D56716}" presName="composite" presStyleCnt="0"/>
      <dgm:spPr/>
    </dgm:pt>
    <dgm:pt modelId="{4775D474-5127-174F-9252-1F7301F00578}" type="pres">
      <dgm:prSet presAssocID="{43F59BB3-27FB-274D-BB6C-CCCCB6D56716}" presName="imgShp" presStyleLbl="fgImgPlace1" presStyleIdx="2" presStyleCnt="4"/>
      <dgm:spPr/>
    </dgm:pt>
    <dgm:pt modelId="{6F4BCA31-15AE-7444-8AB0-D641B23C8F2B}" type="pres">
      <dgm:prSet presAssocID="{43F59BB3-27FB-274D-BB6C-CCCCB6D56716}" presName="txShp" presStyleLbl="node1" presStyleIdx="2" presStyleCnt="4">
        <dgm:presLayoutVars>
          <dgm:bulletEnabled val="1"/>
        </dgm:presLayoutVars>
      </dgm:prSet>
      <dgm:spPr/>
    </dgm:pt>
    <dgm:pt modelId="{6C21E542-504A-484A-B51E-384622D4EBD4}" type="pres">
      <dgm:prSet presAssocID="{768A8249-D003-2043-A54E-AE99DC6E7858}" presName="spacing" presStyleCnt="0"/>
      <dgm:spPr/>
    </dgm:pt>
    <dgm:pt modelId="{35C507FE-3370-DC41-88FC-880615ABFF5D}" type="pres">
      <dgm:prSet presAssocID="{5BC4FB70-6C48-4843-BBC2-E80B4092163F}" presName="composite" presStyleCnt="0"/>
      <dgm:spPr/>
    </dgm:pt>
    <dgm:pt modelId="{7BF7B538-A35A-244A-98F2-52CF37BB7643}" type="pres">
      <dgm:prSet presAssocID="{5BC4FB70-6C48-4843-BBC2-E80B4092163F}" presName="imgShp" presStyleLbl="fgImgPlace1" presStyleIdx="3" presStyleCnt="4"/>
      <dgm:spPr/>
    </dgm:pt>
    <dgm:pt modelId="{696170FB-475C-7F41-8B06-D81759EF588E}" type="pres">
      <dgm:prSet presAssocID="{5BC4FB70-6C48-4843-BBC2-E80B4092163F}" presName="txShp" presStyleLbl="node1" presStyleIdx="3" presStyleCnt="4">
        <dgm:presLayoutVars>
          <dgm:bulletEnabled val="1"/>
        </dgm:presLayoutVars>
      </dgm:prSet>
      <dgm:spPr/>
    </dgm:pt>
  </dgm:ptLst>
  <dgm:cxnLst>
    <dgm:cxn modelId="{6B7EFE27-535A-E74A-A3A1-19AE84AF3D70}" srcId="{D4C84EFD-19F4-D54A-8D68-9498D380801A}" destId="{43F59BB3-27FB-274D-BB6C-CCCCB6D56716}" srcOrd="2" destOrd="0" parTransId="{9EC46216-85BF-C949-A63B-20FB6E45E200}" sibTransId="{768A8249-D003-2043-A54E-AE99DC6E7858}"/>
    <dgm:cxn modelId="{C3536232-2914-0649-AB24-73F16A83F6AD}" type="presOf" srcId="{43F59BB3-27FB-274D-BB6C-CCCCB6D56716}" destId="{6F4BCA31-15AE-7444-8AB0-D641B23C8F2B}" srcOrd="0" destOrd="0" presId="urn:microsoft.com/office/officeart/2005/8/layout/vList3"/>
    <dgm:cxn modelId="{D5064446-5587-7740-B82F-CE62E5B22490}" type="presOf" srcId="{8BD40EFF-4CFA-674C-8A1D-5B20F2B12CF3}" destId="{6765135A-857B-4C47-9C9D-AC2999B63AB3}" srcOrd="0" destOrd="0" presId="urn:microsoft.com/office/officeart/2005/8/layout/vList3"/>
    <dgm:cxn modelId="{0F5B194C-AC81-774C-B411-181C41E6A9E3}" srcId="{D4C84EFD-19F4-D54A-8D68-9498D380801A}" destId="{5BC4FB70-6C48-4843-BBC2-E80B4092163F}" srcOrd="3" destOrd="0" parTransId="{F2F4EB0F-0407-9E49-AF6F-A58F829AA9DC}" sibTransId="{B7614F69-D712-7445-9912-348869134706}"/>
    <dgm:cxn modelId="{2E840A70-561B-7444-AF87-D7A6E2A1C3CB}" type="presOf" srcId="{AC12C186-DD3B-784A-8D9A-BC0731048CDA}" destId="{B2AA4985-4059-9F47-B720-C3B7360E2D9F}" srcOrd="0" destOrd="0" presId="urn:microsoft.com/office/officeart/2005/8/layout/vList3"/>
    <dgm:cxn modelId="{16DB2C9B-716E-7649-BD54-F35345813E4F}" srcId="{D4C84EFD-19F4-D54A-8D68-9498D380801A}" destId="{8BD40EFF-4CFA-674C-8A1D-5B20F2B12CF3}" srcOrd="1" destOrd="0" parTransId="{48229CBF-1E98-F146-A479-B36638FB4123}" sibTransId="{3412258E-4141-9443-8EC7-26980557A14A}"/>
    <dgm:cxn modelId="{788A4AC4-D4F5-4F40-B86B-DA4F651687B5}" srcId="{D4C84EFD-19F4-D54A-8D68-9498D380801A}" destId="{AC12C186-DD3B-784A-8D9A-BC0731048CDA}" srcOrd="0" destOrd="0" parTransId="{41A09B61-67B7-394A-8056-6EA98FE9BFF0}" sibTransId="{98241C3B-B2C6-FF46-9F3A-E35C3B8A193D}"/>
    <dgm:cxn modelId="{892AB2D1-6B56-2D49-9442-D17CBC9E0F15}" type="presOf" srcId="{5BC4FB70-6C48-4843-BBC2-E80B4092163F}" destId="{696170FB-475C-7F41-8B06-D81759EF588E}" srcOrd="0" destOrd="0" presId="urn:microsoft.com/office/officeart/2005/8/layout/vList3"/>
    <dgm:cxn modelId="{F5EC67D8-E989-534B-9842-1AACC64AAB35}" type="presOf" srcId="{D4C84EFD-19F4-D54A-8D68-9498D380801A}" destId="{9CC7B519-8D73-3247-9186-23332B97A224}" srcOrd="0" destOrd="0" presId="urn:microsoft.com/office/officeart/2005/8/layout/vList3"/>
    <dgm:cxn modelId="{D5CFF679-F285-FD4E-A044-92520CF9796E}" type="presParOf" srcId="{9CC7B519-8D73-3247-9186-23332B97A224}" destId="{D195909F-3E5F-E145-8CEA-7F67CED41CAE}" srcOrd="0" destOrd="0" presId="urn:microsoft.com/office/officeart/2005/8/layout/vList3"/>
    <dgm:cxn modelId="{7511C26F-0FAD-5645-8F05-0995BD23AD39}" type="presParOf" srcId="{D195909F-3E5F-E145-8CEA-7F67CED41CAE}" destId="{5C6D8ABE-C5C1-8D47-B15C-3633CDE10ABD}" srcOrd="0" destOrd="0" presId="urn:microsoft.com/office/officeart/2005/8/layout/vList3"/>
    <dgm:cxn modelId="{10A4A7D3-AA5C-874C-ADB7-82999E195712}" type="presParOf" srcId="{D195909F-3E5F-E145-8CEA-7F67CED41CAE}" destId="{B2AA4985-4059-9F47-B720-C3B7360E2D9F}" srcOrd="1" destOrd="0" presId="urn:microsoft.com/office/officeart/2005/8/layout/vList3"/>
    <dgm:cxn modelId="{6495F00D-7D38-4B48-BDCF-DFE0D304EF16}" type="presParOf" srcId="{9CC7B519-8D73-3247-9186-23332B97A224}" destId="{1826B70F-3CFA-8E4C-8AA2-9D33867665B6}" srcOrd="1" destOrd="0" presId="urn:microsoft.com/office/officeart/2005/8/layout/vList3"/>
    <dgm:cxn modelId="{32326884-F785-8449-8EA9-E334407C928D}" type="presParOf" srcId="{9CC7B519-8D73-3247-9186-23332B97A224}" destId="{1D89DFBC-7EB9-E144-BF44-EA4F942A6653}" srcOrd="2" destOrd="0" presId="urn:microsoft.com/office/officeart/2005/8/layout/vList3"/>
    <dgm:cxn modelId="{F52BE67A-5B6B-784A-B99B-DEA7E8D2D08D}" type="presParOf" srcId="{1D89DFBC-7EB9-E144-BF44-EA4F942A6653}" destId="{ABA0A936-5EE6-4143-BEB1-3D0F8BB5A564}" srcOrd="0" destOrd="0" presId="urn:microsoft.com/office/officeart/2005/8/layout/vList3"/>
    <dgm:cxn modelId="{D8E19166-9CC5-904F-B78C-1AF8E7CF1D16}" type="presParOf" srcId="{1D89DFBC-7EB9-E144-BF44-EA4F942A6653}" destId="{6765135A-857B-4C47-9C9D-AC2999B63AB3}" srcOrd="1" destOrd="0" presId="urn:microsoft.com/office/officeart/2005/8/layout/vList3"/>
    <dgm:cxn modelId="{E04777E9-7FBF-D944-B982-300FE3583DED}" type="presParOf" srcId="{9CC7B519-8D73-3247-9186-23332B97A224}" destId="{BA2D385D-FB1A-5845-9F60-7BDEA1B1615F}" srcOrd="3" destOrd="0" presId="urn:microsoft.com/office/officeart/2005/8/layout/vList3"/>
    <dgm:cxn modelId="{E1FF0688-60A0-A144-9996-E9685F3608CB}" type="presParOf" srcId="{9CC7B519-8D73-3247-9186-23332B97A224}" destId="{B96855FF-8942-3F4A-BA15-5FC30BF81B56}" srcOrd="4" destOrd="0" presId="urn:microsoft.com/office/officeart/2005/8/layout/vList3"/>
    <dgm:cxn modelId="{EFAE6016-F19E-8645-A9A1-DFAF490599E5}" type="presParOf" srcId="{B96855FF-8942-3F4A-BA15-5FC30BF81B56}" destId="{4775D474-5127-174F-9252-1F7301F00578}" srcOrd="0" destOrd="0" presId="urn:microsoft.com/office/officeart/2005/8/layout/vList3"/>
    <dgm:cxn modelId="{1E07DEED-D202-F44C-A921-B7CE0EC8F0B1}" type="presParOf" srcId="{B96855FF-8942-3F4A-BA15-5FC30BF81B56}" destId="{6F4BCA31-15AE-7444-8AB0-D641B23C8F2B}" srcOrd="1" destOrd="0" presId="urn:microsoft.com/office/officeart/2005/8/layout/vList3"/>
    <dgm:cxn modelId="{76377884-743C-EB45-9180-27CA15A704C1}" type="presParOf" srcId="{9CC7B519-8D73-3247-9186-23332B97A224}" destId="{6C21E542-504A-484A-B51E-384622D4EBD4}" srcOrd="5" destOrd="0" presId="urn:microsoft.com/office/officeart/2005/8/layout/vList3"/>
    <dgm:cxn modelId="{328B0134-5220-C049-AACC-5D43F228C5E3}" type="presParOf" srcId="{9CC7B519-8D73-3247-9186-23332B97A224}" destId="{35C507FE-3370-DC41-88FC-880615ABFF5D}" srcOrd="6" destOrd="0" presId="urn:microsoft.com/office/officeart/2005/8/layout/vList3"/>
    <dgm:cxn modelId="{3686C8A7-516E-EE4B-B1B8-8293D6C642C9}" type="presParOf" srcId="{35C507FE-3370-DC41-88FC-880615ABFF5D}" destId="{7BF7B538-A35A-244A-98F2-52CF37BB7643}" srcOrd="0" destOrd="0" presId="urn:microsoft.com/office/officeart/2005/8/layout/vList3"/>
    <dgm:cxn modelId="{B4DFE320-97C3-1841-8C60-D676377B71B6}" type="presParOf" srcId="{35C507FE-3370-DC41-88FC-880615ABFF5D}" destId="{696170FB-475C-7F41-8B06-D81759EF588E}" srcOrd="1" destOrd="0" presId="urn:microsoft.com/office/officeart/2005/8/layout/vList3"/>
  </dgm:cxnLst>
  <dgm:bg>
    <a:solidFill>
      <a:schemeClr val="accent2"/>
    </a:soli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AA4985-4059-9F47-B720-C3B7360E2D9F}">
      <dsp:nvSpPr>
        <dsp:cNvPr id="0" name=""/>
        <dsp:cNvSpPr/>
      </dsp:nvSpPr>
      <dsp:spPr>
        <a:xfrm rot="10800000">
          <a:off x="1882305" y="62"/>
          <a:ext cx="6680390" cy="79860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162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Use, Requirements</a:t>
          </a:r>
          <a:r>
            <a:rPr lang="en-US" sz="2800" b="1" kern="1200"/>
            <a:t>, Satisfaction</a:t>
          </a:r>
          <a:endParaRPr lang="en-US" sz="2800" kern="1200" dirty="0"/>
        </a:p>
      </dsp:txBody>
      <dsp:txXfrm rot="10800000">
        <a:off x="2081956" y="62"/>
        <a:ext cx="6480739" cy="798603"/>
      </dsp:txXfrm>
    </dsp:sp>
    <dsp:sp modelId="{5C6D8ABE-C5C1-8D47-B15C-3633CDE10ABD}">
      <dsp:nvSpPr>
        <dsp:cNvPr id="0" name=""/>
        <dsp:cNvSpPr/>
      </dsp:nvSpPr>
      <dsp:spPr>
        <a:xfrm>
          <a:off x="1483003" y="62"/>
          <a:ext cx="798603" cy="79860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65135A-857B-4C47-9C9D-AC2999B63AB3}">
      <dsp:nvSpPr>
        <dsp:cNvPr id="0" name=""/>
        <dsp:cNvSpPr/>
      </dsp:nvSpPr>
      <dsp:spPr>
        <a:xfrm rot="10800000">
          <a:off x="1882305" y="1029219"/>
          <a:ext cx="6680390" cy="79860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162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Survey design committee</a:t>
          </a:r>
          <a:endParaRPr lang="en-US" sz="2800" kern="1200" dirty="0"/>
        </a:p>
      </dsp:txBody>
      <dsp:txXfrm rot="10800000">
        <a:off x="2081956" y="1029219"/>
        <a:ext cx="6480739" cy="798603"/>
      </dsp:txXfrm>
    </dsp:sp>
    <dsp:sp modelId="{ABA0A936-5EE6-4143-BEB1-3D0F8BB5A564}">
      <dsp:nvSpPr>
        <dsp:cNvPr id="0" name=""/>
        <dsp:cNvSpPr/>
      </dsp:nvSpPr>
      <dsp:spPr>
        <a:xfrm>
          <a:off x="1483003" y="1029219"/>
          <a:ext cx="798603" cy="79860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4BCA31-15AE-7444-8AB0-D641B23C8F2B}">
      <dsp:nvSpPr>
        <dsp:cNvPr id="0" name=""/>
        <dsp:cNvSpPr/>
      </dsp:nvSpPr>
      <dsp:spPr>
        <a:xfrm rot="10800000">
          <a:off x="1882305" y="2058376"/>
          <a:ext cx="6680390" cy="79860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162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Survey and analysis by IJIS </a:t>
          </a:r>
          <a:endParaRPr lang="en-US" sz="2800" kern="1200" dirty="0"/>
        </a:p>
      </dsp:txBody>
      <dsp:txXfrm rot="10800000">
        <a:off x="2081956" y="2058376"/>
        <a:ext cx="6480739" cy="798603"/>
      </dsp:txXfrm>
    </dsp:sp>
    <dsp:sp modelId="{4775D474-5127-174F-9252-1F7301F00578}">
      <dsp:nvSpPr>
        <dsp:cNvPr id="0" name=""/>
        <dsp:cNvSpPr/>
      </dsp:nvSpPr>
      <dsp:spPr>
        <a:xfrm>
          <a:off x="1483003" y="2058376"/>
          <a:ext cx="798603" cy="79860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6170FB-475C-7F41-8B06-D81759EF588E}">
      <dsp:nvSpPr>
        <dsp:cNvPr id="0" name=""/>
        <dsp:cNvSpPr/>
      </dsp:nvSpPr>
      <dsp:spPr>
        <a:xfrm rot="10800000">
          <a:off x="1882305" y="3087533"/>
          <a:ext cx="6680390" cy="79860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162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PGB Briefing</a:t>
          </a:r>
          <a:endParaRPr lang="en-US" sz="2800" kern="1200" dirty="0"/>
        </a:p>
      </dsp:txBody>
      <dsp:txXfrm rot="10800000">
        <a:off x="2081956" y="3087533"/>
        <a:ext cx="6480739" cy="798603"/>
      </dsp:txXfrm>
    </dsp:sp>
    <dsp:sp modelId="{7BF7B538-A35A-244A-98F2-52CF37BB7643}">
      <dsp:nvSpPr>
        <dsp:cNvPr id="0" name=""/>
        <dsp:cNvSpPr/>
      </dsp:nvSpPr>
      <dsp:spPr>
        <a:xfrm>
          <a:off x="1483003" y="3087533"/>
          <a:ext cx="798603" cy="79860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429F88-46F6-4CAD-BCA0-36AF1EA8147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AD24C-63E4-43F6-B7A2-9AED7BFA5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75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84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64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69900" lvl="1" indent="0">
              <a:lnSpc>
                <a:spcPct val="100000"/>
              </a:lnSpc>
              <a:spcBef>
                <a:spcPts val="10"/>
              </a:spcBef>
              <a:buClr>
                <a:srgbClr val="1F487C"/>
              </a:buClr>
              <a:buNone/>
              <a:tabLst>
                <a:tab pos="756285" algn="l"/>
              </a:tabLst>
            </a:pPr>
            <a:r>
              <a:rPr lang="en-US" sz="1200" b="1" spc="-10" dirty="0">
                <a:solidFill>
                  <a:srgbClr val="454545"/>
                </a:solidFill>
                <a:latin typeface="Arial"/>
                <a:cs typeface="Arial"/>
              </a:rPr>
              <a:t>Voting Members</a:t>
            </a:r>
          </a:p>
          <a:p>
            <a:pPr marL="756285" lvl="1" indent="-286385">
              <a:lnSpc>
                <a:spcPct val="100000"/>
              </a:lnSpc>
              <a:spcBef>
                <a:spcPts val="10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Mr. Jim Herbert - All Purpose Networks (APN)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Ms. Christina Bapst-Stump - Department</a:t>
            </a:r>
            <a:r>
              <a:rPr lang="en-US" sz="1200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of</a:t>
            </a:r>
            <a:r>
              <a:rPr lang="en-US" sz="1200" spc="-2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Homeland</a:t>
            </a:r>
            <a:r>
              <a:rPr lang="en-US" sz="1200" spc="-3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Security</a:t>
            </a:r>
            <a:r>
              <a:rPr lang="en-US" sz="1200" spc="-3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Science</a:t>
            </a:r>
            <a:r>
              <a:rPr lang="en-US" sz="1200" spc="-5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&amp;</a:t>
            </a:r>
            <a:r>
              <a:rPr lang="en-US" sz="1200" spc="-5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spc="-20" dirty="0">
                <a:solidFill>
                  <a:srgbClr val="334052"/>
                </a:solidFill>
                <a:latin typeface="Arial"/>
                <a:cs typeface="Arial"/>
              </a:rPr>
              <a:t>Technology</a:t>
            </a:r>
            <a:r>
              <a:rPr lang="en-US" sz="1200" spc="-4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(DHS</a:t>
            </a:r>
            <a:r>
              <a:rPr lang="en-US" sz="1200" spc="-3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spc="-20" dirty="0">
                <a:solidFill>
                  <a:srgbClr val="334052"/>
                </a:solidFill>
                <a:latin typeface="Arial"/>
                <a:cs typeface="Arial"/>
              </a:rPr>
              <a:t>S&amp;T)</a:t>
            </a:r>
            <a:endParaRPr lang="en-US"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Mr. John Wandelt - Georgia</a:t>
            </a:r>
            <a:r>
              <a:rPr lang="en-US" sz="1200" spc="-7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spc="-35" dirty="0">
                <a:solidFill>
                  <a:srgbClr val="334052"/>
                </a:solidFill>
                <a:latin typeface="Arial"/>
                <a:cs typeface="Arial"/>
              </a:rPr>
              <a:t>Tech</a:t>
            </a:r>
            <a:r>
              <a:rPr lang="en-US" sz="1200" spc="-5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Research</a:t>
            </a:r>
            <a:r>
              <a:rPr lang="en-US" sz="1200" spc="-6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Institute</a:t>
            </a:r>
            <a:r>
              <a:rPr lang="en-US" sz="1200" spc="-6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334052"/>
                </a:solidFill>
                <a:latin typeface="Arial"/>
                <a:cs typeface="Arial"/>
              </a:rPr>
              <a:t>(GTRI)</a:t>
            </a:r>
            <a:endParaRPr lang="en-US"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Mr. Paul Wormeli - Integrated</a:t>
            </a:r>
            <a:r>
              <a:rPr lang="en-US" sz="12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1200" spc="-8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12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120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Institute</a:t>
            </a:r>
            <a:r>
              <a:rPr lang="en-US" sz="1200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(IJIS)</a:t>
            </a:r>
            <a:endParaRPr lang="en-US"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Mr. Payton Lamb - Commonwealth</a:t>
            </a:r>
            <a:r>
              <a:rPr lang="en-US" sz="12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12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Virginia,</a:t>
            </a:r>
            <a:r>
              <a:rPr lang="en-US" sz="1200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Office</a:t>
            </a:r>
            <a:r>
              <a:rPr lang="en-US" sz="12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12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Data</a:t>
            </a:r>
            <a:r>
              <a:rPr lang="en-US" sz="12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Governance</a:t>
            </a:r>
            <a:r>
              <a:rPr lang="en-US" sz="12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and</a:t>
            </a:r>
            <a:r>
              <a:rPr lang="en-US" sz="1200" spc="-114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Analytics (ODGA)</a:t>
            </a:r>
            <a:endParaRPr lang="en-US"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Ms. April Michell - Criminal</a:t>
            </a:r>
            <a:r>
              <a:rPr lang="en-US" sz="1200" spc="-6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1200" spc="-6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12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12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Division</a:t>
            </a:r>
            <a:r>
              <a:rPr lang="en-US" sz="1200" spc="-7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(CJISD),</a:t>
            </a:r>
            <a:r>
              <a:rPr lang="en-US" sz="12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Federal</a:t>
            </a:r>
            <a:r>
              <a:rPr lang="en-US" sz="120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Bureau</a:t>
            </a:r>
            <a:r>
              <a:rPr lang="en-US" sz="12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12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Investigation</a:t>
            </a:r>
            <a:endParaRPr lang="en-US"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Mr. Tom Welch - National</a:t>
            </a:r>
            <a:r>
              <a:rPr lang="en-US" sz="1200" spc="-10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Association</a:t>
            </a:r>
            <a:r>
              <a:rPr lang="en-US" sz="1200" spc="-8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for</a:t>
            </a:r>
            <a:r>
              <a:rPr lang="en-US" sz="1200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1200" spc="-4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1200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1200" spc="-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(NAJIS)</a:t>
            </a:r>
          </a:p>
          <a:p>
            <a:pPr marL="469900" lvl="1" indent="0" algn="l" defTabSz="914400" rtl="0" eaLnBrk="1" latinLnBrk="0" hangingPunct="1">
              <a:lnSpc>
                <a:spcPct val="100000"/>
              </a:lnSpc>
              <a:buClr>
                <a:srgbClr val="1F487C"/>
              </a:buClr>
              <a:buNone/>
              <a:tabLst>
                <a:tab pos="756285" algn="l"/>
              </a:tabLst>
            </a:pPr>
            <a:r>
              <a:rPr lang="en-US" sz="1200" b="1" spc="-10" dirty="0">
                <a:solidFill>
                  <a:srgbClr val="454545"/>
                </a:solidFill>
                <a:latin typeface="Arial"/>
                <a:cs typeface="Arial"/>
              </a:rPr>
              <a:t>Expert Voting Members</a:t>
            </a:r>
            <a:endParaRPr lang="en-US" sz="1200" b="1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NBAC TSC - Mr. Thomas Krul (National Defence Canada)</a:t>
            </a: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NTAC TSC – Mr. Jim Cabral</a:t>
            </a:r>
          </a:p>
          <a:p>
            <a:pPr marL="469900" marR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None/>
              <a:tabLst>
                <a:tab pos="756285" algn="l"/>
              </a:tabLst>
            </a:pPr>
            <a:r>
              <a:rPr lang="en-U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PGB Expert Non-Voting Members(4)</a:t>
            </a:r>
            <a:endParaRPr lang="en-US" sz="12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NBAC TSC – Mr. Kamran Atri (A4Safe),</a:t>
            </a: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NTAC TSC – Mr. Brad Bolliger (EY)</a:t>
            </a: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Dr. Scott Renner (MITRE)</a:t>
            </a: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endParaRPr lang="en-US" sz="12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endParaRPr lang="en-US" sz="1200" spc="-10" dirty="0">
              <a:solidFill>
                <a:srgbClr val="454545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325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</a:t>
            </a:r>
            <a:r>
              <a:rPr lang="en-US"/>
              <a:t>– Introduction.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64149">
              <a:defRPr/>
            </a:pPr>
            <a:fld id="{0B22E215-D3C6-D84F-8ECF-5127C8518219}" type="slidenum">
              <a:rPr lang="en-US">
                <a:solidFill>
                  <a:prstClr val="black"/>
                </a:solidFill>
                <a:latin typeface="Calibri"/>
              </a:rPr>
              <a:pPr defTabSz="464149">
                <a:defRPr/>
              </a:pPr>
              <a:t>16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628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404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5633069588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25633069588_2_0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174969" lvl="0" indent="-9876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>
              <a:solidFill>
                <a:srgbClr val="333333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4" name="Google Shape;204;g25633069588_2_0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  <a:tabLst/>
                <a:defRPr/>
              </a:pPr>
              <a:t>18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7691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A1E2E-65EF-3119-BD33-FD85F6187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645466-F2B2-D954-326C-7DA0F9E020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51F6DF-A5E3-3E03-E4A7-52F06B08D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6037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F08BE-4C96-83F0-F348-296C4F5D8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75254-5ABA-F60A-E1D0-603181C97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391310-B60A-3249-8B21-28EAFB03C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5002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Implementation strategies to date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Ukraine has not tested or integrated NATO approach but continues to rely on operator interpretation of raw data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NATO is still finalizing adoption of C-UAS standard (STANAG 4315) with partner countries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 Army is implementing the UK-DoD approach at the Corp unit level for C-UAS vendor purchases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DHS has separate implementation approach with Federal partners and States Grant money for States to implement C-UAS solutions is in 2026 and 2027 budget </a:t>
            </a:r>
          </a:p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641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22E215-D3C6-D84F-8ECF-5127C851821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641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59733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7CDE4-C259-E8C6-2331-2AD05582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53DD8E-DFE4-740C-AF42-7B00FAAABD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DA5002-E4AA-7C77-1454-11F000E8C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90093" indent="-290093">
              <a:buFont typeface="Arial" panose="020B0604020202020204" pitchFamily="34" charset="0"/>
              <a:buChar char="•"/>
            </a:pPr>
            <a:r>
              <a:rPr lang="en-US" dirty="0"/>
              <a:t>Another point to highlight</a:t>
            </a:r>
            <a:r>
              <a:rPr lang="en-US" baseline="0" dirty="0"/>
              <a:t> is that you may be using </a:t>
            </a:r>
            <a:r>
              <a:rPr lang="en-US" baseline="0" dirty="0" err="1"/>
              <a:t>NIEMOpen</a:t>
            </a:r>
            <a:r>
              <a:rPr lang="en-US" baseline="0" dirty="0"/>
              <a:t> and not even know it. </a:t>
            </a:r>
          </a:p>
          <a:p>
            <a:pPr marL="290093" indent="-290093">
              <a:buFont typeface="Arial" panose="020B0604020202020204" pitchFamily="34" charset="0"/>
              <a:buChar char="•"/>
            </a:pPr>
            <a:r>
              <a:rPr lang="en-US" baseline="0" dirty="0" err="1"/>
              <a:t>NIEMOpen</a:t>
            </a:r>
            <a:r>
              <a:rPr lang="en-US" baseline="0" dirty="0"/>
              <a:t> has been incorporated and leveraged by several other industry standards as identified on this slide. If you are currently using any of these standards, you are technically using </a:t>
            </a:r>
            <a:r>
              <a:rPr lang="en-US" baseline="0" dirty="0" err="1"/>
              <a:t>NIEMOpen</a:t>
            </a:r>
            <a:r>
              <a:rPr lang="en-US" baseline="0" dirty="0"/>
              <a:t> as well.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60694-AED4-1587-F16E-BF0DF3F040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641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22E215-D3C6-D84F-8ECF-5127C851821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641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37637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NIEMOpen</a:t>
            </a:r>
            <a:r>
              <a:rPr lang="en-US" dirty="0"/>
              <a:t> Forensics Subcommittee promotes interoperability across forensic organizations by providing the data elements needed to facilitate the exchange of crucial forensics information.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92BAD7-CFF8-4B74-8B8F-E32E94DDC62B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21266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C8C6D-0641-44C9-ED8D-24729A2FE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34E17-6F16-E91D-8E3A-A5D900E23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C79F8C-6D5C-0773-9C82-3A53A4228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NIEMOpen</a:t>
            </a:r>
            <a:r>
              <a:rPr lang="en-US" dirty="0"/>
              <a:t> Forensics Subcommittee promotes interoperability across forensic organizations by providing the data elements needed to facilitate the exchange of crucial forensics information.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52550-87CF-E4B3-C1C2-3D8F2DD738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92BAD7-CFF8-4B74-8B8F-E32E94DDC62B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3925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08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8573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42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1055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0913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4732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641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DA21B6-DD30-824E-9484-61254458B3F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641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59841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358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8340" y="326593"/>
            <a:ext cx="422592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548ED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548ED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97256" y="1352804"/>
            <a:ext cx="5099685" cy="3439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1E1C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>
            <a:lvl1pPr>
              <a:defRPr sz="2800" baseline="0">
                <a:solidFill>
                  <a:srgbClr val="00428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DD364-13F5-4F1F-B58D-A48376FBCA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200150"/>
            <a:ext cx="11079192" cy="4777956"/>
          </a:xfrm>
        </p:spPr>
        <p:txBody>
          <a:bodyPr/>
          <a:lstStyle>
            <a:lvl1pPr>
              <a:defRPr sz="2400">
                <a:solidFill>
                  <a:srgbClr val="334052"/>
                </a:solidFill>
              </a:defRPr>
            </a:lvl1pPr>
            <a:lvl2pPr>
              <a:defRPr sz="2000">
                <a:solidFill>
                  <a:srgbClr val="334052"/>
                </a:solidFill>
              </a:defRPr>
            </a:lvl2pPr>
            <a:lvl3pPr>
              <a:defRPr sz="1800">
                <a:solidFill>
                  <a:srgbClr val="334052"/>
                </a:solidFill>
              </a:defRPr>
            </a:lvl3pPr>
            <a:lvl4pPr>
              <a:defRPr sz="1600">
                <a:solidFill>
                  <a:srgbClr val="334052"/>
                </a:solidFill>
              </a:defRPr>
            </a:lvl4pPr>
            <a:lvl5pPr>
              <a:defRPr sz="1600">
                <a:solidFill>
                  <a:srgbClr val="33405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5D95E17-6E53-47C4-A1F3-99941F15D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268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40313"/>
            <a:ext cx="5384800" cy="362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40313"/>
            <a:ext cx="5384800" cy="362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83EA3-C43A-408B-8A96-2BF3503C5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767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8134" y="2895600"/>
            <a:ext cx="8195733" cy="838200"/>
          </a:xfrm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255888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10C4BB1B-EDC4-483F-B0EA-E14D2B3E2F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079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473326"/>
            <a:ext cx="10363200" cy="981075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94100"/>
            <a:ext cx="8534400" cy="495300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472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3395B0B3-2BEF-4C03-8782-98158BE48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861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>
            <a:lvl1pPr>
              <a:defRPr sz="2800" baseline="0">
                <a:solidFill>
                  <a:srgbClr val="00428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DD364-13F5-4F1F-B58D-A48376FBCA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200150"/>
            <a:ext cx="11079192" cy="4777956"/>
          </a:xfrm>
        </p:spPr>
        <p:txBody>
          <a:bodyPr/>
          <a:lstStyle>
            <a:lvl1pPr>
              <a:defRPr sz="2400">
                <a:solidFill>
                  <a:srgbClr val="334052"/>
                </a:solidFill>
              </a:defRPr>
            </a:lvl1pPr>
            <a:lvl2pPr>
              <a:defRPr sz="2000">
                <a:solidFill>
                  <a:srgbClr val="334052"/>
                </a:solidFill>
              </a:defRPr>
            </a:lvl2pPr>
            <a:lvl3pPr>
              <a:defRPr sz="1800">
                <a:solidFill>
                  <a:srgbClr val="334052"/>
                </a:solidFill>
              </a:defRPr>
            </a:lvl3pPr>
            <a:lvl4pPr>
              <a:defRPr sz="1600">
                <a:solidFill>
                  <a:srgbClr val="334052"/>
                </a:solidFill>
              </a:defRPr>
            </a:lvl4pPr>
            <a:lvl5pPr>
              <a:defRPr sz="1600">
                <a:solidFill>
                  <a:srgbClr val="33405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5D95E17-6E53-47C4-A1F3-99941F15D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79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40313"/>
            <a:ext cx="5384800" cy="362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40313"/>
            <a:ext cx="5384800" cy="362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83EA3-C43A-408B-8A96-2BF3503C5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0289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174875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966048"/>
            <a:ext cx="5386917" cy="29267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93472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12" name="Chart Placeholder 11"/>
          <p:cNvSpPr>
            <a:spLocks noGrp="1"/>
          </p:cNvSpPr>
          <p:nvPr>
            <p:ph type="chart" sz="quarter" idx="11"/>
          </p:nvPr>
        </p:nvSpPr>
        <p:spPr>
          <a:xfrm>
            <a:off x="6400800" y="2174876"/>
            <a:ext cx="5029200" cy="3717925"/>
          </a:xfrm>
        </p:spPr>
        <p:txBody>
          <a:bodyPr/>
          <a:lstStyle/>
          <a:p>
            <a:r>
              <a:rPr lang="en-US" dirty="0"/>
              <a:t>Click icon to add chart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17F37-EB3F-4912-8B16-22DE78163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536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9325339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A5D7F9B5-CC5A-4ABE-8117-CC023710B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3795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>
            <a:normAutofit/>
          </a:bodyPr>
          <a:lstStyle>
            <a:lvl1pPr algn="l">
              <a:defRPr sz="2400" b="1" cap="none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B061D5B3-FA26-4D91-B231-F26ED36933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202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2"/>
          </p:nvPr>
        </p:nvSpPr>
        <p:spPr>
          <a:xfrm>
            <a:off x="609600" y="2145652"/>
            <a:ext cx="10786533" cy="3709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B614A661-166B-4DF4-B43E-98FAF92466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4468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174875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966048"/>
            <a:ext cx="5386917" cy="29267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93472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12" name="Chart Placeholder 11"/>
          <p:cNvSpPr>
            <a:spLocks noGrp="1"/>
          </p:cNvSpPr>
          <p:nvPr>
            <p:ph type="chart" sz="quarter" idx="11"/>
          </p:nvPr>
        </p:nvSpPr>
        <p:spPr>
          <a:xfrm>
            <a:off x="6400800" y="2174876"/>
            <a:ext cx="5029200" cy="37179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18E8FD-9C4B-40B0-8F9D-B59F0334C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679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F7F7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609600" y="1492250"/>
            <a:ext cx="10972800" cy="444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4A25E52-AB28-456E-8D1B-CDBACE8EB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7546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8275"/>
            <a:ext cx="10786533" cy="811358"/>
          </a:xfrm>
          <a:prstGeom prst="rect">
            <a:avLst/>
          </a:prstGeom>
        </p:spPr>
        <p:txBody>
          <a:bodyPr lIns="0" tIns="0" rIns="0" bIns="0" anchor="t" anchorCtr="0"/>
          <a:lstStyle>
            <a:lvl1pPr algn="ctr">
              <a:lnSpc>
                <a:spcPct val="80000"/>
              </a:lnSpc>
              <a:defRPr sz="3200" b="1" i="0" spc="-80">
                <a:solidFill>
                  <a:srgbClr val="00506F"/>
                </a:solidFill>
                <a:latin typeface="Tw Cen MT"/>
                <a:cs typeface="Tw Cen M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486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urs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804" y="1143001"/>
            <a:ext cx="10972800" cy="4983163"/>
          </a:xfrm>
        </p:spPr>
        <p:txBody>
          <a:bodyPr>
            <a:noAutofit/>
          </a:bodyPr>
          <a:lstStyle>
            <a:lvl1pPr eaLnBrk="1" hangingPunct="1">
              <a:buFont typeface="Wingdings" pitchFamily="2" charset="2"/>
              <a:buChar char="§"/>
              <a:defRPr/>
            </a:lvl1pPr>
            <a:lvl2pPr eaLnBrk="1" hangingPunct="1">
              <a:defRPr/>
            </a:lvl2pPr>
            <a:lvl3pPr eaLnBrk="1" hangingPunct="1"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152400"/>
            <a:ext cx="12192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7F3B207E-3951-4EC5-8F67-4228386F0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377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11984" y="274638"/>
            <a:ext cx="10972800" cy="86836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>
              <a:lnSpc>
                <a:spcPts val="3200"/>
              </a:lnSpc>
              <a:defRPr lang="en-US" sz="28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11984" y="1275673"/>
            <a:ext cx="10972800" cy="4678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Aft>
                <a:spcPts val="600"/>
              </a:spcAft>
              <a:defRPr lang="en-US" smtClean="0"/>
            </a:lvl1pPr>
            <a:lvl2pPr>
              <a:spcAft>
                <a:spcPts val="600"/>
              </a:spcAft>
              <a:defRPr lang="en-US" smtClean="0"/>
            </a:lvl2pPr>
            <a:lvl3pPr>
              <a:spcAft>
                <a:spcPts val="600"/>
              </a:spcAft>
              <a:defRPr lang="en-US" smtClean="0"/>
            </a:lvl3pPr>
            <a:lvl4pPr marL="1027113" indent="-280988">
              <a:buClr>
                <a:schemeClr val="tx2"/>
              </a:buClr>
              <a:defRPr lang="en-US" smtClean="0"/>
            </a:lvl4pPr>
            <a:lvl5pPr marL="1319213" indent="-228600">
              <a:buClr>
                <a:schemeClr val="tx2"/>
              </a:buClr>
              <a:buSzPct val="60000"/>
              <a:buFont typeface="Wingdings" pitchFamily="2" charset="2"/>
              <a:buChar char="q"/>
              <a:tabLst/>
              <a:defRPr lang="en-US" smtClean="0"/>
            </a:lvl5pPr>
            <a:lvl6pPr marL="1608138" indent="-228600">
              <a:buClr>
                <a:schemeClr val="tx2"/>
              </a:buClr>
              <a:buFont typeface="Helvetica LT Std" pitchFamily="34" charset="0"/>
              <a:buChar char="–"/>
              <a:tabLst/>
              <a:defRPr lang="en-US" smtClean="0"/>
            </a:lvl6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584D26D8-2F78-40FF-B773-6EE7921DE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382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28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609600" y="1492250"/>
            <a:ext cx="10972800" cy="444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5DCA139-0762-4C4F-B386-FBEA85E50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8026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2"/>
          </p:nvPr>
        </p:nvSpPr>
        <p:spPr>
          <a:xfrm>
            <a:off x="609600" y="1491804"/>
            <a:ext cx="10786533" cy="43628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4428502-7FEB-4856-821A-092C455118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998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title"/>
          </p:nvPr>
        </p:nvSpPr>
        <p:spPr>
          <a:xfrm>
            <a:off x="415600" y="101428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052"/>
              </a:buClr>
              <a:buSzPts val="2800"/>
              <a:buFont typeface="Open Sans"/>
              <a:buNone/>
              <a:defRPr sz="3600" b="1">
                <a:solidFill>
                  <a:srgbClr val="004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body" idx="1"/>
          </p:nvPr>
        </p:nvSpPr>
        <p:spPr>
          <a:xfrm>
            <a:off x="415600" y="1826922"/>
            <a:ext cx="11360800" cy="4152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7412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●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lvl="1" indent="-47412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○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lvl="2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■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lvl="3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●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lvl="4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○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lvl="5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■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lvl="6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●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lvl="7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○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lvl="8" indent="-474121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rgbClr val="334052"/>
              </a:buClr>
              <a:buSzPts val="2000"/>
              <a:buFont typeface="Open Sans"/>
              <a:buChar char="■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672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8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6E9DB-266A-DC4C-81FD-63DDDAA34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2D250-A199-4795-A090-B3EABC893B4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30FE17-69E8-9440-A7AF-AC1659EDF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365760"/>
            <a:ext cx="11338560" cy="548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8D53F-9797-B141-B5E7-AB9CB133F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57714" y="6400800"/>
            <a:ext cx="6676572" cy="18288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8645891-6D11-5C16-6282-CD626231A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" y="1371600"/>
            <a:ext cx="11338560" cy="457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2pPr>
              <a:lnSpc>
                <a:spcPts val="2000"/>
              </a:lnSpc>
              <a:defRPr sz="1800"/>
            </a:lvl2pPr>
            <a:lvl4pPr marL="914400" indent="-173038">
              <a:defRPr/>
            </a:lvl4pPr>
            <a:lvl5pPr marL="1033463" indent="-123825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3832E369-52F0-D331-A851-630C3250AC9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47" y="6124084"/>
            <a:ext cx="2465408" cy="73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4326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6303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007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548ED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21374978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2098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675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998134" y="4621161"/>
            <a:ext cx="8195733" cy="8382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800" baseline="0">
                <a:solidFill>
                  <a:schemeClr val="bg1">
                    <a:lumMod val="50000"/>
                  </a:schemeClr>
                </a:solidFill>
                <a:effectLst/>
                <a:latin typeface="Arial"/>
                <a:cs typeface="Arial"/>
              </a:defRPr>
            </a:lvl1pPr>
          </a:lstStyle>
          <a:p>
            <a:r>
              <a:rPr lang="en-US" dirty="0"/>
              <a:t>Title Master</a:t>
            </a:r>
          </a:p>
        </p:txBody>
      </p:sp>
    </p:spTree>
    <p:extLst>
      <p:ext uri="{BB962C8B-B14F-4D97-AF65-F5344CB8AC3E}">
        <p14:creationId xmlns:p14="http://schemas.microsoft.com/office/powerpoint/2010/main" val="30958733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Title" userDrawn="1">
  <p:cSld name="Presentation 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088766B-3F8D-B12C-028F-6241774A51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536" t="11810" r="5941" b="12122"/>
          <a:stretch/>
        </p:blipFill>
        <p:spPr>
          <a:xfrm>
            <a:off x="0" y="1"/>
            <a:ext cx="12192000" cy="6830007"/>
          </a:xfrm>
          <a:prstGeom prst="rect">
            <a:avLst/>
          </a:prstGeom>
        </p:spPr>
      </p:pic>
      <p:sp>
        <p:nvSpPr>
          <p:cNvPr id="38" name="Google Shape;26;p20">
            <a:extLst>
              <a:ext uri="{FF2B5EF4-FFF2-40B4-BE49-F238E27FC236}">
                <a16:creationId xmlns:a16="http://schemas.microsoft.com/office/drawing/2014/main" id="{539ADF6C-BA24-4104-C92A-9649D50C73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4316267" y="7995864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545AE4A-2925-DEBE-0625-D5EE3C099A1C}"/>
              </a:ext>
            </a:extLst>
          </p:cNvPr>
          <p:cNvSpPr/>
          <p:nvPr userDrawn="1"/>
        </p:nvSpPr>
        <p:spPr>
          <a:xfrm rot="5400000">
            <a:off x="2303047" y="-2280014"/>
            <a:ext cx="6806976" cy="11413071"/>
          </a:xfrm>
          <a:prstGeom prst="rect">
            <a:avLst/>
          </a:prstGeom>
          <a:gradFill>
            <a:gsLst>
              <a:gs pos="5100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557A595-68F3-1397-079D-5F53286FCBDE}"/>
              </a:ext>
            </a:extLst>
          </p:cNvPr>
          <p:cNvSpPr/>
          <p:nvPr userDrawn="1"/>
        </p:nvSpPr>
        <p:spPr>
          <a:xfrm>
            <a:off x="-3" y="-2"/>
            <a:ext cx="12192003" cy="6806975"/>
          </a:xfrm>
          <a:prstGeom prst="rect">
            <a:avLst/>
          </a:prstGeom>
          <a:solidFill>
            <a:srgbClr val="1F497D">
              <a:alpha val="2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68542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5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24" Type="http://schemas.openxmlformats.org/officeDocument/2006/relationships/slideLayout" Target="../slideLayouts/slideLayout31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26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053" y="6155818"/>
            <a:ext cx="2405373" cy="66826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3047" y="59817"/>
            <a:ext cx="10908842" cy="9685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8951" y="1538451"/>
            <a:ext cx="5114290" cy="2539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548ED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028309" y="6416252"/>
            <a:ext cx="259841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8" r:id="rId6"/>
    <p:sldLayoutId id="214748368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88275"/>
            <a:ext cx="10972800" cy="811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99634"/>
            <a:ext cx="10972800" cy="3799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 dirty="0">
                <a:solidFill>
                  <a:srgbClr val="1F497D"/>
                </a:solidFill>
              </a:rPr>
              <a:t>(#)</a:t>
            </a: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C4367302-18AD-44F9-B43A-24490776962B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47" y="6124084"/>
            <a:ext cx="2465408" cy="73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446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9" r:id="rId18"/>
    <p:sldLayoutId id="2147483690" r:id="rId19"/>
    <p:sldLayoutId id="2147483691" r:id="rId20"/>
    <p:sldLayoutId id="2147483692" r:id="rId21"/>
    <p:sldLayoutId id="2147483694" r:id="rId22"/>
    <p:sldLayoutId id="2147483695" r:id="rId23"/>
    <p:sldLayoutId id="2147483696" r:id="rId24"/>
  </p:sldLayoutIdLst>
  <p:hf hdr="0" ftr="0" dt="0"/>
  <p:txStyles>
    <p:titleStyle>
      <a:lvl1pPr algn="l" defTabSz="457200" rtl="0" eaLnBrk="1" latinLnBrk="0" hangingPunct="1">
        <a:lnSpc>
          <a:spcPct val="80000"/>
        </a:lnSpc>
        <a:spcBef>
          <a:spcPct val="0"/>
        </a:spcBef>
        <a:buNone/>
        <a:defRPr sz="3200" b="1" kern="1200" cap="all">
          <a:solidFill>
            <a:srgbClr val="004383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•"/>
        <a:defRPr sz="32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–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•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–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»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g"/><Relationship Id="rId5" Type="http://schemas.openxmlformats.org/officeDocument/2006/relationships/image" Target="../media/image7.jpeg"/><Relationship Id="rId10" Type="http://schemas.openxmlformats.org/officeDocument/2006/relationships/image" Target="../media/image12.jpeg"/><Relationship Id="rId4" Type="http://schemas.openxmlformats.org/officeDocument/2006/relationships/image" Target="../media/image6.jpeg"/><Relationship Id="rId9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iemopen/oasis-open-project/blob/main/pgb-meeting-minutes/2026/19-mar-2026/draft%20minutes%20March%2019%202026.pdf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emopen/niem-forensic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jpeg"/><Relationship Id="rId7" Type="http://schemas.openxmlformats.org/officeDocument/2006/relationships/image" Target="../media/image4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44.png"/><Relationship Id="rId5" Type="http://schemas.openxmlformats.org/officeDocument/2006/relationships/image" Target="../media/image43.jpeg"/><Relationship Id="rId10" Type="http://schemas.openxmlformats.org/officeDocument/2006/relationships/image" Target="../media/image48.png"/><Relationship Id="rId4" Type="http://schemas.openxmlformats.org/officeDocument/2006/relationships/image" Target="../media/image42.jpeg"/><Relationship Id="rId9" Type="http://schemas.openxmlformats.org/officeDocument/2006/relationships/image" Target="../media/image4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9464" y="1777084"/>
            <a:ext cx="11893071" cy="330382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406646" y="4141977"/>
            <a:ext cx="7256145" cy="22724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869054" algn="ctr">
              <a:lnSpc>
                <a:spcPts val="5270"/>
              </a:lnSpc>
              <a:spcBef>
                <a:spcPts val="100"/>
              </a:spcBef>
              <a:tabLst>
                <a:tab pos="1372235" algn="l"/>
              </a:tabLst>
            </a:pPr>
            <a:r>
              <a:rPr sz="4400" b="1" spc="-25" dirty="0">
                <a:solidFill>
                  <a:srgbClr val="00516F"/>
                </a:solidFill>
                <a:latin typeface="Lucida Sans"/>
                <a:cs typeface="Lucida Sans"/>
              </a:rPr>
              <a:t>PGB</a:t>
            </a:r>
            <a:r>
              <a:rPr sz="4400" b="1" dirty="0">
                <a:solidFill>
                  <a:srgbClr val="00516F"/>
                </a:solidFill>
                <a:latin typeface="Lucida Sans"/>
                <a:cs typeface="Lucida Sans"/>
              </a:rPr>
              <a:t>	</a:t>
            </a:r>
            <a:r>
              <a:rPr sz="4400" b="1" spc="-210" dirty="0">
                <a:solidFill>
                  <a:srgbClr val="00516F"/>
                </a:solidFill>
                <a:latin typeface="Lucida Sans"/>
                <a:cs typeface="Lucida Sans"/>
              </a:rPr>
              <a:t>Session</a:t>
            </a:r>
            <a:endParaRPr sz="4400" dirty="0">
              <a:latin typeface="Lucida Sans"/>
              <a:cs typeface="Lucida Sans"/>
            </a:endParaRPr>
          </a:p>
          <a:p>
            <a:pPr marR="3867150" algn="ctr">
              <a:lnSpc>
                <a:spcPts val="2150"/>
              </a:lnSpc>
            </a:pPr>
            <a:r>
              <a:rPr lang="en-US" sz="2400" b="1" spc="-35" dirty="0">
                <a:solidFill>
                  <a:srgbClr val="8A8A8A"/>
                </a:solidFill>
                <a:latin typeface="Arial"/>
                <a:cs typeface="Arial"/>
              </a:rPr>
              <a:t>June 18,</a:t>
            </a:r>
            <a:r>
              <a:rPr sz="2400" b="1" spc="-20" dirty="0">
                <a:solidFill>
                  <a:srgbClr val="8A8A8A"/>
                </a:solidFill>
                <a:latin typeface="Arial"/>
                <a:cs typeface="Arial"/>
              </a:rPr>
              <a:t> 202</a:t>
            </a:r>
            <a:r>
              <a:rPr lang="en-US" sz="2400" b="1" spc="-20" dirty="0">
                <a:solidFill>
                  <a:srgbClr val="8A8A8A"/>
                </a:solidFill>
                <a:latin typeface="Arial"/>
                <a:cs typeface="Arial"/>
              </a:rPr>
              <a:t>6</a:t>
            </a:r>
          </a:p>
          <a:p>
            <a:pPr>
              <a:lnSpc>
                <a:spcPct val="100000"/>
              </a:lnSpc>
            </a:pP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800" dirty="0">
              <a:latin typeface="Arial"/>
              <a:cs typeface="Arial"/>
            </a:endParaRPr>
          </a:p>
          <a:p>
            <a:pPr marL="2939415">
              <a:lnSpc>
                <a:spcPct val="100000"/>
              </a:lnSpc>
              <a:spcBef>
                <a:spcPts val="5"/>
              </a:spcBef>
            </a:pPr>
            <a:r>
              <a:rPr lang="en-US" sz="2000" spc="-50" dirty="0">
                <a:solidFill>
                  <a:srgbClr val="00516F"/>
                </a:solidFill>
                <a:latin typeface="Arial"/>
                <a:cs typeface="Arial"/>
              </a:rPr>
              <a:t>Paul Wormeli, Chairman</a:t>
            </a:r>
          </a:p>
          <a:p>
            <a:pPr marL="293941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00516F"/>
                </a:solidFill>
                <a:latin typeface="Arial"/>
                <a:cs typeface="Arial"/>
              </a:rPr>
              <a:t>NIEMOpen</a:t>
            </a:r>
            <a:r>
              <a:rPr sz="2000" spc="-50" dirty="0">
                <a:solidFill>
                  <a:srgbClr val="00516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516F"/>
                </a:solidFill>
                <a:latin typeface="Arial"/>
                <a:cs typeface="Arial"/>
              </a:rPr>
              <a:t>Project</a:t>
            </a:r>
            <a:r>
              <a:rPr sz="2000" spc="-25" dirty="0">
                <a:solidFill>
                  <a:srgbClr val="00516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516F"/>
                </a:solidFill>
                <a:latin typeface="Arial"/>
                <a:cs typeface="Arial"/>
              </a:rPr>
              <a:t>Governing</a:t>
            </a:r>
            <a:r>
              <a:rPr sz="2000" spc="-30" dirty="0">
                <a:solidFill>
                  <a:srgbClr val="00516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516F"/>
                </a:solidFill>
                <a:latin typeface="Arial"/>
                <a:cs typeface="Arial"/>
              </a:rPr>
              <a:t>B</a:t>
            </a:r>
            <a:r>
              <a:rPr lang="en-US" sz="2000" dirty="0">
                <a:solidFill>
                  <a:srgbClr val="00516F"/>
                </a:solidFill>
                <a:latin typeface="Arial"/>
                <a:cs typeface="Arial"/>
              </a:rPr>
              <a:t>oard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59817"/>
            <a:ext cx="771461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PROPOSED</a:t>
            </a:r>
            <a:r>
              <a:rPr spc="-80" dirty="0"/>
              <a:t> </a:t>
            </a:r>
            <a:r>
              <a:rPr lang="en-US" spc="-80" dirty="0"/>
              <a:t>June 18 </a:t>
            </a:r>
            <a:r>
              <a:rPr dirty="0"/>
              <a:t>202</a:t>
            </a:r>
            <a:r>
              <a:rPr lang="en-US" dirty="0"/>
              <a:t>6</a:t>
            </a:r>
            <a:r>
              <a:rPr spc="-185" dirty="0"/>
              <a:t> </a:t>
            </a:r>
            <a:r>
              <a:rPr spc="-10" dirty="0"/>
              <a:t>AGENDA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42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661644"/>
            <a:ext cx="4969510" cy="240181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solidFill>
                  <a:srgbClr val="1E1C11"/>
                </a:solidFill>
                <a:latin typeface="Arial"/>
                <a:cs typeface="Arial"/>
              </a:rPr>
              <a:t>Call</a:t>
            </a:r>
            <a:r>
              <a:rPr sz="2300" b="1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1E1C11"/>
                </a:solidFill>
                <a:latin typeface="Arial"/>
                <a:cs typeface="Arial"/>
              </a:rPr>
              <a:t>to</a:t>
            </a:r>
            <a:r>
              <a:rPr sz="2300" b="1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1E1C11"/>
                </a:solidFill>
                <a:latin typeface="Arial"/>
                <a:cs typeface="Arial"/>
              </a:rPr>
              <a:t>Order</a:t>
            </a:r>
            <a:endParaRPr sz="2300" dirty="0">
              <a:latin typeface="Arial"/>
              <a:cs typeface="Arial"/>
            </a:endParaRPr>
          </a:p>
          <a:p>
            <a:pPr marL="184150" indent="-171450">
              <a:lnSpc>
                <a:spcPct val="100000"/>
              </a:lnSpc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1600" spc="-10" dirty="0">
                <a:solidFill>
                  <a:srgbClr val="1E1C11"/>
                </a:solidFill>
                <a:latin typeface="Arial"/>
                <a:cs typeface="Arial"/>
              </a:rPr>
              <a:t>Admin</a:t>
            </a:r>
            <a:endParaRPr sz="16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dirty="0">
                <a:solidFill>
                  <a:srgbClr val="1E1C11"/>
                </a:solidFill>
                <a:latin typeface="Arial"/>
                <a:cs typeface="Arial"/>
              </a:rPr>
              <a:t>Call to Order</a:t>
            </a:r>
            <a:endParaRPr sz="16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sz="1600" dirty="0">
                <a:solidFill>
                  <a:srgbClr val="1E1C11"/>
                </a:solidFill>
                <a:latin typeface="Arial"/>
                <a:cs typeface="Arial"/>
              </a:rPr>
              <a:t>Roll</a:t>
            </a:r>
            <a:r>
              <a:rPr sz="1600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E1C11"/>
                </a:solidFill>
                <a:latin typeface="Arial"/>
                <a:cs typeface="Arial"/>
              </a:rPr>
              <a:t>Call</a:t>
            </a:r>
            <a:r>
              <a:rPr sz="1600" spc="-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E1C11"/>
                </a:solidFill>
                <a:latin typeface="Arial"/>
                <a:cs typeface="Arial"/>
              </a:rPr>
              <a:t>&amp;</a:t>
            </a:r>
            <a:r>
              <a:rPr sz="1600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1E1C11"/>
                </a:solidFill>
                <a:latin typeface="Arial"/>
                <a:cs typeface="Arial"/>
              </a:rPr>
              <a:t>Introductions</a:t>
            </a:r>
            <a:endParaRPr sz="1600" dirty="0">
              <a:latin typeface="Arial"/>
              <a:cs typeface="Arial"/>
            </a:endParaRPr>
          </a:p>
          <a:p>
            <a:pPr marL="1155700" marR="290830" lvl="2" indent="-228600">
              <a:lnSpc>
                <a:spcPct val="80000"/>
              </a:lnSpc>
              <a:spcBef>
                <a:spcPts val="310"/>
              </a:spcBef>
              <a:buClr>
                <a:srgbClr val="1F487C"/>
              </a:buClr>
              <a:buFont typeface="Wingdings"/>
              <a:buChar char=""/>
              <a:tabLst>
                <a:tab pos="1155700" algn="l"/>
              </a:tabLst>
            </a:pPr>
            <a:r>
              <a:rPr lang="en-US" sz="1600" dirty="0">
                <a:solidFill>
                  <a:srgbClr val="1E1C11"/>
                </a:solidFill>
                <a:latin typeface="Arial"/>
                <a:cs typeface="Arial"/>
              </a:rPr>
              <a:t>Sponsor Appointed </a:t>
            </a:r>
            <a:r>
              <a:rPr sz="1600" dirty="0">
                <a:solidFill>
                  <a:srgbClr val="1E1C11"/>
                </a:solidFill>
                <a:latin typeface="Arial"/>
                <a:cs typeface="Arial"/>
              </a:rPr>
              <a:t>PGB</a:t>
            </a:r>
            <a:r>
              <a:rPr sz="1600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1E1C11"/>
                </a:solidFill>
                <a:latin typeface="Arial"/>
                <a:cs typeface="Arial"/>
              </a:rPr>
              <a:t>Voting</a:t>
            </a:r>
            <a:r>
              <a:rPr sz="1600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E1C11"/>
                </a:solidFill>
                <a:latin typeface="Arial"/>
                <a:cs typeface="Arial"/>
              </a:rPr>
              <a:t>Members</a:t>
            </a:r>
            <a:r>
              <a:rPr sz="1600" spc="-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E1C11"/>
                </a:solidFill>
                <a:latin typeface="Arial"/>
                <a:cs typeface="Arial"/>
              </a:rPr>
              <a:t>(Sponsors)</a:t>
            </a:r>
            <a:endParaRPr lang="en-US" sz="1600" spc="-5" dirty="0">
              <a:solidFill>
                <a:srgbClr val="1E1C11"/>
              </a:solidFill>
              <a:latin typeface="Arial"/>
              <a:cs typeface="Arial"/>
            </a:endParaRPr>
          </a:p>
          <a:p>
            <a:pPr marL="1155700" marR="290830" lvl="2" indent="-228600">
              <a:lnSpc>
                <a:spcPct val="80000"/>
              </a:lnSpc>
              <a:spcBef>
                <a:spcPts val="310"/>
              </a:spcBef>
              <a:buClr>
                <a:srgbClr val="1F487C"/>
              </a:buClr>
              <a:buFont typeface="Wingdings"/>
              <a:buChar char=""/>
              <a:tabLst>
                <a:tab pos="1155700" algn="l"/>
              </a:tabLst>
            </a:pPr>
            <a:r>
              <a:rPr sz="1600" dirty="0">
                <a:solidFill>
                  <a:srgbClr val="1E1C11"/>
                </a:solidFill>
                <a:latin typeface="Arial"/>
                <a:cs typeface="Arial"/>
              </a:rPr>
              <a:t>PGB</a:t>
            </a:r>
            <a:r>
              <a:rPr sz="1600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1E1C11"/>
                </a:solidFill>
                <a:latin typeface="Arial"/>
                <a:cs typeface="Arial"/>
              </a:rPr>
              <a:t>Expert Voting</a:t>
            </a:r>
            <a:r>
              <a:rPr sz="1600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E1C11"/>
                </a:solidFill>
                <a:latin typeface="Arial"/>
                <a:cs typeface="Arial"/>
              </a:rPr>
              <a:t>Members (TSCs)</a:t>
            </a:r>
            <a:r>
              <a:rPr lang="en-US" sz="1600" dirty="0">
                <a:solidFill>
                  <a:srgbClr val="1E1C11"/>
                </a:solidFill>
                <a:latin typeface="Arial"/>
                <a:cs typeface="Arial"/>
              </a:rPr>
              <a:t> &amp;</a:t>
            </a:r>
            <a:r>
              <a:rPr lang="en-US" sz="1600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1E1C11"/>
                </a:solidFill>
                <a:latin typeface="Arial"/>
                <a:cs typeface="Arial"/>
              </a:rPr>
              <a:t>Non-Voting </a:t>
            </a:r>
            <a:r>
              <a:rPr sz="1600" dirty="0">
                <a:solidFill>
                  <a:srgbClr val="1E1C11"/>
                </a:solidFill>
                <a:latin typeface="Arial"/>
                <a:cs typeface="Arial"/>
              </a:rPr>
              <a:t>Members</a:t>
            </a:r>
            <a:r>
              <a:rPr sz="1600" spc="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E1C11"/>
                </a:solidFill>
                <a:latin typeface="Arial"/>
                <a:cs typeface="Arial"/>
              </a:rPr>
              <a:t>(TSC</a:t>
            </a:r>
            <a:r>
              <a:rPr sz="1600" spc="-20" dirty="0">
                <a:solidFill>
                  <a:srgbClr val="1E1C11"/>
                </a:solidFill>
                <a:latin typeface="Arial"/>
                <a:cs typeface="Arial"/>
              </a:rPr>
              <a:t> Co-</a:t>
            </a:r>
            <a:r>
              <a:rPr sz="1600" spc="-10" dirty="0">
                <a:solidFill>
                  <a:srgbClr val="1E1C11"/>
                </a:solidFill>
                <a:latin typeface="Arial"/>
                <a:cs typeface="Arial"/>
              </a:rPr>
              <a:t>Chairs)</a:t>
            </a:r>
            <a:endParaRPr sz="1600" dirty="0">
              <a:latin typeface="Arial"/>
              <a:cs typeface="Arial"/>
            </a:endParaRP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spc="-10" dirty="0">
                <a:solidFill>
                  <a:srgbClr val="1E1C11"/>
                </a:solidFill>
                <a:latin typeface="Arial"/>
                <a:cs typeface="Arial"/>
              </a:rPr>
              <a:t>Approval of Meeting Agenda</a:t>
            </a:r>
          </a:p>
          <a:p>
            <a:pPr marL="12700">
              <a:lnSpc>
                <a:spcPct val="100000"/>
              </a:lnSpc>
              <a:buClr>
                <a:srgbClr val="1F487C"/>
              </a:buClr>
              <a:tabLst>
                <a:tab pos="354965" algn="l"/>
              </a:tabLst>
            </a:pP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0550" y="2590800"/>
            <a:ext cx="5751450" cy="2460289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endParaRPr lang="en-US" sz="2400" b="1" spc="-10" dirty="0">
              <a:solidFill>
                <a:srgbClr val="1E1C1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endParaRPr lang="en-US" sz="2400" b="1" spc="-10" dirty="0">
              <a:solidFill>
                <a:srgbClr val="1E1C1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lang="en-US" sz="2400" b="1" spc="-10" dirty="0">
                <a:solidFill>
                  <a:srgbClr val="1E1C11"/>
                </a:solidFill>
                <a:latin typeface="Arial"/>
                <a:cs typeface="Arial"/>
              </a:rPr>
              <a:t>Other Business</a:t>
            </a:r>
            <a:endParaRPr sz="2400" dirty="0">
              <a:latin typeface="Arial"/>
              <a:cs typeface="Arial"/>
            </a:endParaRPr>
          </a:p>
          <a:p>
            <a:pPr marL="413384" indent="-342900">
              <a:lnSpc>
                <a:spcPct val="100000"/>
              </a:lnSpc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lang="en-US" sz="1600" spc="-30" dirty="0">
                <a:solidFill>
                  <a:srgbClr val="1E1C11"/>
                </a:solidFill>
                <a:latin typeface="Arial"/>
                <a:cs typeface="Arial"/>
              </a:rPr>
              <a:t>Next</a:t>
            </a:r>
            <a:r>
              <a:rPr sz="1600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E1C11"/>
                </a:solidFill>
                <a:latin typeface="Arial"/>
                <a:cs typeface="Arial"/>
              </a:rPr>
              <a:t>Meeting</a:t>
            </a:r>
            <a:r>
              <a:rPr sz="1600" spc="-10" dirty="0">
                <a:solidFill>
                  <a:srgbClr val="1E1C11"/>
                </a:solidFill>
                <a:latin typeface="Arial"/>
                <a:cs typeface="Arial"/>
              </a:rPr>
              <a:t> Schedule</a:t>
            </a:r>
            <a:endParaRPr sz="1600" dirty="0">
              <a:latin typeface="Arial"/>
              <a:cs typeface="Arial"/>
            </a:endParaRPr>
          </a:p>
          <a:p>
            <a:pPr marL="413384" indent="-342900">
              <a:lnSpc>
                <a:spcPct val="100000"/>
              </a:lnSpc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sz="1600" dirty="0">
                <a:solidFill>
                  <a:srgbClr val="1E1C11"/>
                </a:solidFill>
                <a:latin typeface="Arial"/>
                <a:cs typeface="Arial"/>
              </a:rPr>
              <a:t>Other</a:t>
            </a:r>
            <a:r>
              <a:rPr sz="1600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1E1C11"/>
                </a:solidFill>
                <a:latin typeface="Arial"/>
                <a:cs typeface="Arial"/>
              </a:rPr>
              <a:t>Business/Discussion</a:t>
            </a:r>
            <a:endParaRPr lang="en-US" sz="1600" spc="-10" dirty="0">
              <a:solidFill>
                <a:srgbClr val="1E1C11"/>
              </a:solidFill>
              <a:latin typeface="Arial"/>
              <a:cs typeface="Arial"/>
            </a:endParaRPr>
          </a:p>
          <a:p>
            <a:pPr marL="413384" indent="-342900">
              <a:buClr>
                <a:srgbClr val="1F487C"/>
              </a:buClr>
              <a:buFontTx/>
              <a:buChar char="•"/>
              <a:tabLst>
                <a:tab pos="413384" algn="l"/>
              </a:tabLst>
            </a:pPr>
            <a:r>
              <a:rPr lang="en-US" sz="1600" spc="-10" dirty="0">
                <a:solidFill>
                  <a:srgbClr val="1E1C11"/>
                </a:solidFill>
                <a:latin typeface="Arial"/>
                <a:cs typeface="Arial"/>
              </a:rPr>
              <a:t>Around-the-Horn – PGB Voting Member Comments/Questions</a:t>
            </a:r>
          </a:p>
          <a:p>
            <a:pPr marL="413384" indent="-342900">
              <a:buClr>
                <a:srgbClr val="1F487C"/>
              </a:buClr>
              <a:buFontTx/>
              <a:buChar char="•"/>
              <a:tabLst>
                <a:tab pos="413384" algn="l"/>
              </a:tabLst>
            </a:pPr>
            <a:r>
              <a:rPr sz="1600" spc="-10" dirty="0">
                <a:solidFill>
                  <a:srgbClr val="1E1C11"/>
                </a:solidFill>
                <a:latin typeface="Arial"/>
                <a:cs typeface="Arial"/>
              </a:rPr>
              <a:t>Adjourn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6EB49-15F4-AA2E-86A6-AD2C3F462AB4}"/>
              </a:ext>
            </a:extLst>
          </p:cNvPr>
          <p:cNvSpPr txBox="1"/>
          <p:nvPr/>
        </p:nvSpPr>
        <p:spPr>
          <a:xfrm>
            <a:off x="688340" y="3209719"/>
            <a:ext cx="5317802" cy="2482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700">
              <a:spcBef>
                <a:spcPts val="2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400" b="1" spc="-10" dirty="0">
                <a:solidFill>
                  <a:srgbClr val="1E1C11"/>
                </a:solidFill>
                <a:latin typeface="Arial"/>
                <a:cs typeface="Arial"/>
              </a:rPr>
              <a:t>Reports</a:t>
            </a:r>
            <a:endParaRPr lang="en-US" sz="2400" spc="-10" dirty="0">
              <a:solidFill>
                <a:srgbClr val="1E1C11"/>
              </a:solidFill>
              <a:latin typeface="Arial"/>
              <a:cs typeface="Arial"/>
            </a:endParaRPr>
          </a:p>
          <a:p>
            <a:pPr marL="413384" indent="-342900">
              <a:lnSpc>
                <a:spcPct val="100000"/>
              </a:lnSpc>
              <a:spcBef>
                <a:spcPts val="235"/>
              </a:spcBef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lang="en-US" sz="1600" spc="-20" dirty="0">
                <a:solidFill>
                  <a:srgbClr val="1E1C11"/>
                </a:solidFill>
                <a:latin typeface="Arial"/>
                <a:cs typeface="Arial"/>
              </a:rPr>
              <a:t>NIEMOpen Progress—Paul Wormeli</a:t>
            </a:r>
          </a:p>
          <a:p>
            <a:pPr marL="413384" indent="-342900">
              <a:lnSpc>
                <a:spcPct val="100000"/>
              </a:lnSpc>
              <a:spcBef>
                <a:spcPts val="235"/>
              </a:spcBef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lang="en-US" sz="1600" spc="-20" dirty="0">
                <a:solidFill>
                  <a:srgbClr val="1E1C11"/>
                </a:solidFill>
                <a:latin typeface="Arial"/>
                <a:cs typeface="Arial"/>
              </a:rPr>
              <a:t>OASIS Update—Daniella </a:t>
            </a:r>
            <a:r>
              <a:rPr lang="en-US" sz="1600" spc="-20" dirty="0" err="1">
                <a:solidFill>
                  <a:srgbClr val="1E1C11"/>
                </a:solidFill>
                <a:latin typeface="Arial"/>
                <a:cs typeface="Arial"/>
              </a:rPr>
              <a:t>Traveau</a:t>
            </a:r>
            <a:endParaRPr lang="en-US" sz="1600" spc="-20" dirty="0">
              <a:solidFill>
                <a:srgbClr val="1E1C11"/>
              </a:solidFill>
              <a:latin typeface="Arial"/>
              <a:cs typeface="Arial"/>
            </a:endParaRP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spc="-10" dirty="0">
                <a:solidFill>
                  <a:srgbClr val="1E1C11"/>
                </a:solidFill>
                <a:latin typeface="Arial"/>
                <a:cs typeface="Arial"/>
              </a:rPr>
              <a:t>    OASIS Standard ISO Path    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spc="-10" dirty="0">
                <a:solidFill>
                  <a:srgbClr val="1E1C11"/>
                </a:solidFill>
                <a:latin typeface="Arial"/>
                <a:cs typeface="Arial"/>
              </a:rPr>
              <a:t>    </a:t>
            </a:r>
            <a:r>
              <a:rPr lang="en-US" sz="1600" spc="-20" dirty="0">
                <a:solidFill>
                  <a:srgbClr val="1E1C11"/>
                </a:solidFill>
                <a:latin typeface="Arial"/>
                <a:cs typeface="Arial"/>
              </a:rPr>
              <a:t>NTAC</a:t>
            </a:r>
            <a:r>
              <a:rPr lang="en-US" sz="1600" spc="-6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1E1C11"/>
                </a:solidFill>
                <a:latin typeface="Arial"/>
                <a:cs typeface="Arial"/>
              </a:rPr>
              <a:t>Update</a:t>
            </a:r>
            <a:r>
              <a:rPr lang="en-US" sz="1600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1E1C11"/>
                </a:solidFill>
                <a:latin typeface="Arial"/>
                <a:cs typeface="Arial"/>
              </a:rPr>
              <a:t>–Brad Bolliger</a:t>
            </a:r>
            <a:r>
              <a:rPr lang="en-US" sz="1600" spc="-50" dirty="0">
                <a:solidFill>
                  <a:srgbClr val="1E1C11"/>
                </a:solidFill>
                <a:latin typeface="Arial"/>
                <a:cs typeface="Arial"/>
              </a:rPr>
              <a:t>&amp; </a:t>
            </a:r>
            <a:r>
              <a:rPr lang="en-US" sz="1600" dirty="0">
                <a:solidFill>
                  <a:srgbClr val="1E1C11"/>
                </a:solidFill>
                <a:latin typeface="Arial"/>
                <a:cs typeface="Arial"/>
              </a:rPr>
              <a:t>Dr.</a:t>
            </a:r>
            <a:r>
              <a:rPr lang="en-US" sz="1600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1E1C11"/>
                </a:solidFill>
                <a:latin typeface="Arial"/>
                <a:cs typeface="Arial"/>
              </a:rPr>
              <a:t>Scott</a:t>
            </a:r>
            <a:r>
              <a:rPr lang="en-US" sz="1600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1600" spc="-10" dirty="0">
                <a:solidFill>
                  <a:srgbClr val="1E1C11"/>
                </a:solidFill>
                <a:latin typeface="Arial"/>
                <a:cs typeface="Arial"/>
              </a:rPr>
              <a:t>Renner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spc="-10" dirty="0">
                <a:solidFill>
                  <a:srgbClr val="1E1C11"/>
                </a:solidFill>
                <a:latin typeface="Arial"/>
                <a:cs typeface="Arial"/>
              </a:rPr>
              <a:t>    Toolkit status—Christina Medlin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dirty="0">
                <a:solidFill>
                  <a:srgbClr val="1E1C11"/>
                </a:solidFill>
                <a:latin typeface="Arial"/>
                <a:cs typeface="Arial"/>
              </a:rPr>
              <a:t>    NBAC</a:t>
            </a:r>
            <a:r>
              <a:rPr lang="en-US" sz="1600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1E1C11"/>
                </a:solidFill>
                <a:latin typeface="Arial"/>
                <a:cs typeface="Arial"/>
              </a:rPr>
              <a:t>Update –</a:t>
            </a:r>
            <a:r>
              <a:rPr lang="en-US" sz="1600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1E1C11"/>
                </a:solidFill>
                <a:latin typeface="Arial"/>
                <a:cs typeface="Arial"/>
              </a:rPr>
              <a:t>Thomas</a:t>
            </a:r>
            <a:r>
              <a:rPr lang="en-US" sz="1600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1600" spc="-20" dirty="0">
                <a:solidFill>
                  <a:srgbClr val="1E1C11"/>
                </a:solidFill>
                <a:latin typeface="Arial"/>
                <a:cs typeface="Arial"/>
              </a:rPr>
              <a:t>Krul &amp; Paul Wormeli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spc="-20" dirty="0">
                <a:solidFill>
                  <a:srgbClr val="1E1C11"/>
                </a:solidFill>
                <a:latin typeface="Arial"/>
                <a:cs typeface="Arial"/>
              </a:rPr>
              <a:t>            --Forensics domain update-Ryan Triplett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spc="-20" dirty="0">
                <a:solidFill>
                  <a:srgbClr val="1E1C11"/>
                </a:solidFill>
                <a:latin typeface="Arial"/>
                <a:cs typeface="Arial"/>
              </a:rPr>
              <a:t>    </a:t>
            </a:r>
            <a:r>
              <a:rPr lang="en-US" sz="1600" spc="-10" dirty="0">
                <a:solidFill>
                  <a:srgbClr val="1E1C11"/>
                </a:solidFill>
                <a:latin typeface="Arial"/>
                <a:cs typeface="Arial"/>
              </a:rPr>
              <a:t>Q1 2026 Financial Snapshot – Cathie Mayo (OASIS)</a:t>
            </a: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CF68D552-BE00-02BC-2339-0B15BF9BB9C0}"/>
              </a:ext>
            </a:extLst>
          </p:cNvPr>
          <p:cNvSpPr txBox="1"/>
          <p:nvPr/>
        </p:nvSpPr>
        <p:spPr>
          <a:xfrm>
            <a:off x="6227022" y="1016290"/>
            <a:ext cx="5751450" cy="1152239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lang="en-US" sz="2400" b="1" spc="-10" dirty="0">
                <a:solidFill>
                  <a:srgbClr val="1E1C11"/>
                </a:solidFill>
                <a:latin typeface="Arial"/>
                <a:cs typeface="Arial"/>
              </a:rPr>
              <a:t>2026 Initiatives</a:t>
            </a:r>
            <a:endParaRPr lang="en-US" sz="1600" spc="-20" dirty="0">
              <a:solidFill>
                <a:srgbClr val="1E1C11"/>
              </a:solidFill>
              <a:latin typeface="Arial"/>
              <a:cs typeface="Arial"/>
            </a:endParaRPr>
          </a:p>
          <a:p>
            <a:pPr marL="413384" indent="-342900">
              <a:lnSpc>
                <a:spcPct val="100000"/>
              </a:lnSpc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lang="en-US" sz="1600" spc="-30" dirty="0">
                <a:solidFill>
                  <a:srgbClr val="1E1C11"/>
                </a:solidFill>
                <a:latin typeface="Arial"/>
                <a:cs typeface="Arial"/>
              </a:rPr>
              <a:t>DMBOK</a:t>
            </a:r>
          </a:p>
          <a:p>
            <a:pPr marL="413384" indent="-342900">
              <a:lnSpc>
                <a:spcPct val="100000"/>
              </a:lnSpc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lang="en-US" sz="1600" spc="-30" dirty="0">
                <a:solidFill>
                  <a:srgbClr val="1E1C11"/>
                </a:solidFill>
                <a:latin typeface="Arial"/>
                <a:cs typeface="Arial"/>
              </a:rPr>
              <a:t>Community Survey</a:t>
            </a:r>
          </a:p>
          <a:p>
            <a:pPr marL="413384" indent="-342900">
              <a:lnSpc>
                <a:spcPct val="100000"/>
              </a:lnSpc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lang="en-US" sz="1600" spc="-30" dirty="0">
                <a:solidFill>
                  <a:srgbClr val="1E1C11"/>
                </a:solidFill>
                <a:latin typeface="Arial"/>
                <a:cs typeface="Arial"/>
              </a:rPr>
              <a:t>Sponsor/Volunteer Recruitment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604" y="-255425"/>
            <a:ext cx="10569753" cy="1251367"/>
          </a:xfrm>
          <a:prstGeom prst="rect">
            <a:avLst/>
          </a:prstGeom>
        </p:spPr>
        <p:txBody>
          <a:bodyPr vert="horz" wrap="square" lIns="0" tIns="263905" rIns="0" bIns="0" rtlCol="0">
            <a:spAutoFit/>
          </a:bodyPr>
          <a:lstStyle/>
          <a:p>
            <a:pPr marL="2202815" algn="ctr">
              <a:lnSpc>
                <a:spcPct val="100000"/>
              </a:lnSpc>
              <a:spcBef>
                <a:spcPts val="100"/>
              </a:spcBef>
            </a:pPr>
            <a:r>
              <a:rPr lang="en-US" spc="-130" dirty="0">
                <a:solidFill>
                  <a:srgbClr val="454545"/>
                </a:solidFill>
              </a:rPr>
              <a:t>SPONSOR</a:t>
            </a:r>
            <a:r>
              <a:rPr sz="3200" spc="-130" dirty="0">
                <a:solidFill>
                  <a:srgbClr val="454545"/>
                </a:solidFill>
              </a:rPr>
              <a:t> </a:t>
            </a:r>
            <a:r>
              <a:rPr sz="3200" dirty="0">
                <a:solidFill>
                  <a:srgbClr val="454545"/>
                </a:solidFill>
              </a:rPr>
              <a:t>APPOINTED</a:t>
            </a:r>
            <a:r>
              <a:rPr lang="en-US" sz="3200" dirty="0">
                <a:solidFill>
                  <a:srgbClr val="454545"/>
                </a:solidFill>
              </a:rPr>
              <a:t> PGB</a:t>
            </a:r>
            <a:r>
              <a:rPr sz="3200" spc="-25" dirty="0">
                <a:solidFill>
                  <a:srgbClr val="454545"/>
                </a:solidFill>
              </a:rPr>
              <a:t> </a:t>
            </a:r>
            <a:r>
              <a:rPr sz="3200" dirty="0">
                <a:solidFill>
                  <a:srgbClr val="454545"/>
                </a:solidFill>
              </a:rPr>
              <a:t>VOTING</a:t>
            </a:r>
            <a:r>
              <a:rPr sz="3200" spc="-25" dirty="0">
                <a:solidFill>
                  <a:srgbClr val="454545"/>
                </a:solidFill>
              </a:rPr>
              <a:t> </a:t>
            </a:r>
            <a:r>
              <a:rPr sz="3200" spc="-10" dirty="0">
                <a:solidFill>
                  <a:srgbClr val="454545"/>
                </a:solidFill>
              </a:rPr>
              <a:t>MEMBERS</a:t>
            </a:r>
            <a:endParaRPr sz="3200" dirty="0"/>
          </a:p>
        </p:txBody>
      </p:sp>
      <p:sp>
        <p:nvSpPr>
          <p:cNvPr id="4" name="object 4"/>
          <p:cNvSpPr txBox="1"/>
          <p:nvPr/>
        </p:nvSpPr>
        <p:spPr>
          <a:xfrm>
            <a:off x="4023657" y="2644545"/>
            <a:ext cx="1565402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4769" indent="-3175" algn="l">
              <a:lnSpc>
                <a:spcPct val="100000"/>
              </a:lnSpc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sz="9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Christina Bapst-Stump</a:t>
            </a:r>
            <a:endParaRPr sz="900" dirty="0">
              <a:latin typeface="Arial"/>
              <a:cs typeface="Arial"/>
            </a:endParaRPr>
          </a:p>
          <a:p>
            <a:pPr marL="12700" marR="342265">
              <a:lnSpc>
                <a:spcPct val="100000"/>
              </a:lnSpc>
            </a:pP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Science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Technology Directorate,</a:t>
            </a:r>
            <a:endParaRPr sz="9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US</a:t>
            </a:r>
            <a:r>
              <a:rPr sz="900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Department</a:t>
            </a:r>
            <a:r>
              <a:rPr sz="900" spc="-4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of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Homeland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Security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8600" y="1191971"/>
            <a:ext cx="1232915" cy="119176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955310" y="4975762"/>
            <a:ext cx="1541145" cy="784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/>
            <a:r>
              <a:rPr sz="1000" b="1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Ms.</a:t>
            </a:r>
            <a:r>
              <a:rPr sz="1000" b="1" spc="-5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April</a:t>
            </a:r>
            <a:r>
              <a:rPr sz="1000" b="1" spc="1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Mitchell</a:t>
            </a:r>
            <a:r>
              <a:rPr sz="1000" b="1" spc="5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FBI</a:t>
            </a:r>
            <a:r>
              <a:rPr sz="1000" spc="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It </a:t>
            </a:r>
            <a:r>
              <a:rPr sz="1000" spc="-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Specialist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and</a:t>
            </a:r>
            <a:r>
              <a:rPr sz="1000" spc="-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Technical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Lead of</a:t>
            </a:r>
            <a:r>
              <a:rPr sz="1000" spc="-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Data</a:t>
            </a:r>
            <a:r>
              <a:rPr sz="1000" spc="-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Standards</a:t>
            </a:r>
            <a:r>
              <a:rPr sz="1000" spc="-1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in</a:t>
            </a:r>
            <a:r>
              <a:rPr sz="1000" spc="-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the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Criminal</a:t>
            </a:r>
            <a:r>
              <a:rPr sz="1000" spc="-4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Justice</a:t>
            </a:r>
            <a:r>
              <a:rPr sz="1000" spc="-2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Information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Services</a:t>
            </a:r>
            <a:r>
              <a:rPr sz="1000" spc="-3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(CJIS)</a:t>
            </a:r>
            <a:r>
              <a:rPr sz="1000" spc="-4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Division</a:t>
            </a:r>
            <a:endParaRPr sz="1000" dirty="0">
              <a:solidFill>
                <a:schemeClr val="bg2">
                  <a:lumMod val="1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7415" y="3703096"/>
            <a:ext cx="929639" cy="124206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3826" y="3736624"/>
            <a:ext cx="928116" cy="1208532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4213826" y="5064719"/>
            <a:ext cx="1047750" cy="10013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10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Tom</a:t>
            </a:r>
            <a:r>
              <a:rPr sz="10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454545"/>
                </a:solidFill>
                <a:latin typeface="Arial"/>
                <a:cs typeface="Arial"/>
              </a:rPr>
              <a:t>Welch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Director</a:t>
            </a:r>
            <a:r>
              <a:rPr sz="900" spc="-5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of </a:t>
            </a:r>
            <a:r>
              <a:rPr sz="900" spc="-1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Information Technology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OHIO</a:t>
            </a:r>
            <a:r>
              <a:rPr sz="900" spc="-2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HIDTA</a:t>
            </a:r>
            <a:r>
              <a:rPr sz="900" spc="-1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–</a:t>
            </a:r>
            <a:endParaRPr sz="900" dirty="0">
              <a:solidFill>
                <a:schemeClr val="bg2">
                  <a:lumMod val="10000"/>
                </a:schemeClr>
              </a:solidFill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Including</a:t>
            </a:r>
            <a:r>
              <a:rPr sz="900" spc="-5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Northern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KY</a:t>
            </a:r>
            <a:r>
              <a:rPr sz="900" spc="-1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&amp;</a:t>
            </a:r>
            <a:r>
              <a:rPr sz="900" spc="-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Western</a:t>
            </a:r>
            <a:r>
              <a:rPr sz="900" spc="-1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PA</a:t>
            </a:r>
            <a:endParaRPr sz="900" dirty="0">
              <a:solidFill>
                <a:schemeClr val="bg2">
                  <a:lumMod val="10000"/>
                </a:schemeClr>
              </a:solidFill>
              <a:latin typeface="Arial"/>
              <a:cs typeface="Arial"/>
            </a:endParaRPr>
          </a:p>
        </p:txBody>
      </p:sp>
      <p:pic>
        <p:nvPicPr>
          <p:cNvPr id="6" name="object 15">
            <a:extLst>
              <a:ext uri="{FF2B5EF4-FFF2-40B4-BE49-F238E27FC236}">
                <a16:creationId xmlns:a16="http://schemas.microsoft.com/office/drawing/2014/main" id="{AF500335-9E1D-FCC2-2668-BAA216647DC5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66800" y="1191971"/>
            <a:ext cx="1301113" cy="1208532"/>
          </a:xfrm>
          <a:prstGeom prst="rect">
            <a:avLst/>
          </a:prstGeom>
        </p:spPr>
      </p:pic>
      <p:sp>
        <p:nvSpPr>
          <p:cNvPr id="7" name="object 16">
            <a:extLst>
              <a:ext uri="{FF2B5EF4-FFF2-40B4-BE49-F238E27FC236}">
                <a16:creationId xmlns:a16="http://schemas.microsoft.com/office/drawing/2014/main" id="{8B4E20BF-29CD-EF46-FF85-A08A21843E18}"/>
              </a:ext>
            </a:extLst>
          </p:cNvPr>
          <p:cNvSpPr txBox="1"/>
          <p:nvPr/>
        </p:nvSpPr>
        <p:spPr>
          <a:xfrm>
            <a:off x="1088817" y="2609382"/>
            <a:ext cx="1314602" cy="605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9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Paul</a:t>
            </a:r>
            <a:r>
              <a:rPr sz="9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Wormeli</a:t>
            </a:r>
            <a:endParaRPr lang="en-US" sz="900" b="1" spc="-10" dirty="0">
              <a:solidFill>
                <a:srgbClr val="454545"/>
              </a:solidFill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900" spc="-10" dirty="0">
                <a:solidFill>
                  <a:srgbClr val="454545"/>
                </a:solidFill>
                <a:latin typeface="Arial"/>
                <a:cs typeface="Arial"/>
              </a:rPr>
              <a:t> IJIS Institute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Chair,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NIEM</a:t>
            </a:r>
            <a:r>
              <a:rPr lang="en-US" sz="900" spc="-20" dirty="0">
                <a:solidFill>
                  <a:srgbClr val="454545"/>
                </a:solidFill>
                <a:latin typeface="Arial"/>
                <a:cs typeface="Arial"/>
              </a:rPr>
              <a:t>Open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endParaRPr lang="en-US" sz="900" spc="-10" dirty="0">
              <a:solidFill>
                <a:srgbClr val="454545"/>
              </a:solidFill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900" spc="-10" dirty="0">
                <a:solidFill>
                  <a:srgbClr val="454545"/>
                </a:solidFill>
                <a:latin typeface="Arial"/>
                <a:cs typeface="Arial"/>
              </a:rPr>
              <a:t>Project Governing Board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59230E3-2515-31F5-A2D7-A505A274F5A6}"/>
              </a:ext>
            </a:extLst>
          </p:cNvPr>
          <p:cNvSpPr txBox="1"/>
          <p:nvPr/>
        </p:nvSpPr>
        <p:spPr>
          <a:xfrm>
            <a:off x="6768440" y="2595362"/>
            <a:ext cx="1100455" cy="7816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7780">
              <a:lnSpc>
                <a:spcPct val="100000"/>
              </a:lnSpc>
              <a:spcBef>
                <a:spcPts val="95"/>
              </a:spcBef>
            </a:pPr>
            <a:r>
              <a:rPr lang="en-US" sz="1000" b="1" dirty="0">
                <a:solidFill>
                  <a:srgbClr val="454545"/>
                </a:solidFill>
                <a:latin typeface="Arial"/>
                <a:cs typeface="Arial"/>
              </a:rPr>
              <a:t>Mark Dotson </a:t>
            </a:r>
            <a:r>
              <a:rPr lang="en-US" sz="1000" dirty="0">
                <a:solidFill>
                  <a:srgbClr val="454545"/>
                </a:solidFill>
                <a:latin typeface="Arial"/>
                <a:cs typeface="Arial"/>
              </a:rPr>
              <a:t>Senior</a:t>
            </a:r>
            <a:r>
              <a:rPr sz="1000" spc="-6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54545"/>
                </a:solidFill>
                <a:latin typeface="Arial"/>
                <a:cs typeface="Arial"/>
              </a:rPr>
              <a:t>Research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Scientist,</a:t>
            </a:r>
            <a:r>
              <a:rPr sz="100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54545"/>
                </a:solidFill>
                <a:latin typeface="Arial"/>
                <a:cs typeface="Arial"/>
              </a:rPr>
              <a:t>Georgia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Tech</a:t>
            </a:r>
            <a:r>
              <a:rPr sz="10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54545"/>
                </a:solidFill>
                <a:latin typeface="Arial"/>
                <a:cs typeface="Arial"/>
              </a:rPr>
              <a:t>Research Institute</a:t>
            </a:r>
            <a:endParaRPr sz="1000" dirty="0">
              <a:latin typeface="Arial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335CA3-095B-2C88-CFFA-14C05D150A8D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43192" y="3703096"/>
            <a:ext cx="1251367" cy="1251367"/>
          </a:xfrm>
          <a:prstGeom prst="rect">
            <a:avLst/>
          </a:prstGeom>
        </p:spPr>
      </p:pic>
      <p:sp>
        <p:nvSpPr>
          <p:cNvPr id="5" name="object 22">
            <a:extLst>
              <a:ext uri="{FF2B5EF4-FFF2-40B4-BE49-F238E27FC236}">
                <a16:creationId xmlns:a16="http://schemas.microsoft.com/office/drawing/2014/main" id="{43044432-EE3D-DBCA-03A3-176F316B6126}"/>
              </a:ext>
            </a:extLst>
          </p:cNvPr>
          <p:cNvSpPr txBox="1"/>
          <p:nvPr/>
        </p:nvSpPr>
        <p:spPr>
          <a:xfrm>
            <a:off x="9543192" y="5096827"/>
            <a:ext cx="1517903" cy="6533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10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000" b="1" spc="-20" dirty="0">
                <a:solidFill>
                  <a:srgbClr val="454545"/>
                </a:solidFill>
                <a:latin typeface="Arial"/>
                <a:cs typeface="Arial"/>
              </a:rPr>
              <a:t>Jeff Butcher</a:t>
            </a:r>
          </a:p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lang="en-US" sz="1000" dirty="0">
                <a:solidFill>
                  <a:srgbClr val="545454"/>
                </a:solidFill>
                <a:latin typeface="Georgia" panose="02040502050405020303" pitchFamily="18" charset="0"/>
              </a:rPr>
              <a:t>Chief Software Architect,</a:t>
            </a:r>
          </a:p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lang="en-US" sz="1000" i="0" dirty="0">
                <a:solidFill>
                  <a:srgbClr val="545454"/>
                </a:solidFill>
                <a:effectLst/>
                <a:latin typeface="Georgia" panose="02040502050405020303" pitchFamily="18" charset="0"/>
              </a:rPr>
              <a:t>Senzing, Inc.</a:t>
            </a:r>
          </a:p>
        </p:txBody>
      </p:sp>
      <p:sp>
        <p:nvSpPr>
          <p:cNvPr id="12" name="object 22">
            <a:extLst>
              <a:ext uri="{FF2B5EF4-FFF2-40B4-BE49-F238E27FC236}">
                <a16:creationId xmlns:a16="http://schemas.microsoft.com/office/drawing/2014/main" id="{7923A729-97D7-A90A-EADB-48C69C329BD8}"/>
              </a:ext>
            </a:extLst>
          </p:cNvPr>
          <p:cNvSpPr txBox="1"/>
          <p:nvPr/>
        </p:nvSpPr>
        <p:spPr>
          <a:xfrm>
            <a:off x="9380619" y="2480562"/>
            <a:ext cx="1517903" cy="6533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rtl="0" fontAlgn="base"/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10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000" b="1" spc="-20" dirty="0">
                <a:solidFill>
                  <a:srgbClr val="454545"/>
                </a:solidFill>
                <a:latin typeface="Arial"/>
                <a:cs typeface="Arial"/>
              </a:rPr>
              <a:t>Yogesh Chawla</a:t>
            </a:r>
            <a:endParaRPr lang="en-US" sz="1000" b="1" dirty="0"/>
          </a:p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lang="en-US" sz="1000" dirty="0">
                <a:solidFill>
                  <a:srgbClr val="545454"/>
                </a:solidFill>
                <a:latin typeface="Georgia" panose="02040502050405020303" pitchFamily="18" charset="0"/>
              </a:rPr>
              <a:t>Director, Software and Data Engineering</a:t>
            </a:r>
          </a:p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lang="en-US" sz="1000" i="0" dirty="0">
                <a:solidFill>
                  <a:srgbClr val="545454"/>
                </a:solidFill>
                <a:effectLst/>
                <a:latin typeface="Georgia" panose="02040502050405020303" pitchFamily="18" charset="0"/>
              </a:rPr>
              <a:t>SEARCH</a:t>
            </a:r>
          </a:p>
        </p:txBody>
      </p:sp>
      <p:pic>
        <p:nvPicPr>
          <p:cNvPr id="17" name="Picture 16" descr="jose1 1">
            <a:extLst>
              <a:ext uri="{FF2B5EF4-FFF2-40B4-BE49-F238E27FC236}">
                <a16:creationId xmlns:a16="http://schemas.microsoft.com/office/drawing/2014/main" id="{0DB10D92-6316-1ED5-0D40-999E115A2880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71708" y="3943784"/>
            <a:ext cx="1394420" cy="1174248"/>
          </a:xfrm>
          <a:prstGeom prst="rect">
            <a:avLst/>
          </a:prstGeom>
        </p:spPr>
      </p:pic>
      <p:sp>
        <p:nvSpPr>
          <p:cNvPr id="18" name="object 22">
            <a:extLst>
              <a:ext uri="{FF2B5EF4-FFF2-40B4-BE49-F238E27FC236}">
                <a16:creationId xmlns:a16="http://schemas.microsoft.com/office/drawing/2014/main" id="{8958757D-63BA-F839-7DC6-D3ACC24DC46E}"/>
              </a:ext>
            </a:extLst>
          </p:cNvPr>
          <p:cNvSpPr txBox="1"/>
          <p:nvPr/>
        </p:nvSpPr>
        <p:spPr>
          <a:xfrm>
            <a:off x="6908636" y="5200975"/>
            <a:ext cx="1517903" cy="4994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rtl="0" fontAlgn="base"/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10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000" b="1" spc="-20" dirty="0">
                <a:solidFill>
                  <a:srgbClr val="454545"/>
                </a:solidFill>
                <a:latin typeface="Arial"/>
                <a:cs typeface="Arial"/>
              </a:rPr>
              <a:t>Jose Plehn</a:t>
            </a:r>
            <a:endParaRPr lang="en-US" sz="1000" b="1" dirty="0"/>
          </a:p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lang="en-US" sz="1000" dirty="0">
                <a:solidFill>
                  <a:srgbClr val="545454"/>
                </a:solidFill>
                <a:latin typeface="Georgia" panose="02040502050405020303" pitchFamily="18" charset="0"/>
              </a:rPr>
              <a:t>CEO and Founder</a:t>
            </a:r>
          </a:p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lang="en-US" sz="1000" dirty="0" err="1">
                <a:solidFill>
                  <a:srgbClr val="545454"/>
                </a:solidFill>
                <a:latin typeface="Georgia" panose="02040502050405020303" pitchFamily="18" charset="0"/>
              </a:rPr>
              <a:t>BrightQuery</a:t>
            </a:r>
            <a:endParaRPr lang="en-US" sz="1000" i="0" dirty="0">
              <a:solidFill>
                <a:srgbClr val="545454"/>
              </a:solidFill>
              <a:effectLst/>
              <a:latin typeface="Georgia" panose="02040502050405020303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893556F-4337-BA37-78B7-B2953A924889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49601" y="1104471"/>
            <a:ext cx="1313404" cy="13134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B1033C-0C6F-5048-2B55-663F0BCB0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9459" y="1211305"/>
            <a:ext cx="1301113" cy="13011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2160" y="311022"/>
            <a:ext cx="691388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744" marR="5080" indent="-99568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454545"/>
                </a:solidFill>
              </a:rPr>
              <a:t>PGB</a:t>
            </a:r>
            <a:r>
              <a:rPr sz="3200" spc="-15" dirty="0">
                <a:solidFill>
                  <a:srgbClr val="454545"/>
                </a:solidFill>
              </a:rPr>
              <a:t> </a:t>
            </a:r>
            <a:r>
              <a:rPr sz="3200" dirty="0">
                <a:solidFill>
                  <a:srgbClr val="454545"/>
                </a:solidFill>
              </a:rPr>
              <a:t>EXPERT</a:t>
            </a:r>
            <a:r>
              <a:rPr sz="3200" spc="-5" dirty="0">
                <a:solidFill>
                  <a:srgbClr val="454545"/>
                </a:solidFill>
              </a:rPr>
              <a:t> </a:t>
            </a:r>
            <a:r>
              <a:rPr sz="3200" dirty="0">
                <a:solidFill>
                  <a:srgbClr val="454545"/>
                </a:solidFill>
              </a:rPr>
              <a:t>VOTING</a:t>
            </a:r>
            <a:r>
              <a:rPr sz="3200" spc="-30" dirty="0">
                <a:solidFill>
                  <a:srgbClr val="454545"/>
                </a:solidFill>
              </a:rPr>
              <a:t> </a:t>
            </a:r>
            <a:r>
              <a:rPr sz="3200" dirty="0">
                <a:solidFill>
                  <a:srgbClr val="454545"/>
                </a:solidFill>
              </a:rPr>
              <a:t>MEMBERS</a:t>
            </a:r>
            <a:r>
              <a:rPr sz="3200" spc="-15" dirty="0">
                <a:solidFill>
                  <a:srgbClr val="454545"/>
                </a:solidFill>
              </a:rPr>
              <a:t> </a:t>
            </a:r>
            <a:r>
              <a:rPr sz="3200" spc="-50" dirty="0">
                <a:solidFill>
                  <a:srgbClr val="454545"/>
                </a:solidFill>
              </a:rPr>
              <a:t>&amp; </a:t>
            </a:r>
            <a:r>
              <a:rPr sz="3200" dirty="0">
                <a:solidFill>
                  <a:srgbClr val="454545"/>
                </a:solidFill>
              </a:rPr>
              <a:t>NON-VOTING</a:t>
            </a:r>
            <a:r>
              <a:rPr sz="3200" spc="-65" dirty="0">
                <a:solidFill>
                  <a:srgbClr val="454545"/>
                </a:solidFill>
              </a:rPr>
              <a:t> </a:t>
            </a:r>
            <a:r>
              <a:rPr sz="3200" spc="-10" dirty="0">
                <a:solidFill>
                  <a:srgbClr val="454545"/>
                </a:solidFill>
              </a:rPr>
              <a:t>MEMBERS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1314958" y="2456815"/>
            <a:ext cx="3670300" cy="544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PGB EXPERT</a:t>
            </a:r>
            <a:r>
              <a:rPr sz="1800" b="1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VOTING</a:t>
            </a:r>
            <a:r>
              <a:rPr sz="1800" b="1" spc="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54545"/>
                </a:solidFill>
                <a:latin typeface="Arial"/>
                <a:cs typeface="Arial"/>
              </a:rPr>
              <a:t>MEMBERS</a:t>
            </a:r>
            <a:endParaRPr sz="1800" dirty="0">
              <a:latin typeface="Arial"/>
              <a:cs typeface="Arial"/>
            </a:endParaRPr>
          </a:p>
          <a:p>
            <a:pPr marL="35560" algn="ctr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solidFill>
                  <a:srgbClr val="454545"/>
                </a:solidFill>
                <a:latin typeface="Arial"/>
                <a:cs typeface="Arial"/>
              </a:rPr>
              <a:t>Technical</a:t>
            </a:r>
            <a:r>
              <a:rPr sz="1600" b="1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54545"/>
                </a:solidFill>
                <a:latin typeface="Arial"/>
                <a:cs typeface="Arial"/>
              </a:rPr>
              <a:t>Steering</a:t>
            </a:r>
            <a:r>
              <a:rPr sz="1600" b="1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54545"/>
                </a:solidFill>
                <a:latin typeface="Arial"/>
                <a:cs typeface="Arial"/>
              </a:rPr>
              <a:t>Committees</a:t>
            </a:r>
            <a:endParaRPr sz="16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38965" y="3163823"/>
            <a:ext cx="1011936" cy="10241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60501" y="3034282"/>
            <a:ext cx="1147572" cy="119024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422022" y="4388866"/>
            <a:ext cx="880744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9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Kamran</a:t>
            </a:r>
            <a:r>
              <a:rPr sz="9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454545"/>
                </a:solidFill>
                <a:latin typeface="Arial"/>
                <a:cs typeface="Arial"/>
              </a:rPr>
              <a:t>Atri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Co-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Chair,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NIEM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Business Architecture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Committee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TSC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59651" y="2456815"/>
            <a:ext cx="4253865" cy="544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PGB</a:t>
            </a:r>
            <a:r>
              <a:rPr sz="1800" b="1" spc="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EXPERT </a:t>
            </a:r>
            <a:r>
              <a:rPr sz="1800" b="1" spc="-10" dirty="0">
                <a:solidFill>
                  <a:srgbClr val="454545"/>
                </a:solidFill>
                <a:latin typeface="Arial"/>
                <a:cs typeface="Arial"/>
              </a:rPr>
              <a:t>NON-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VOTING</a:t>
            </a:r>
            <a:r>
              <a:rPr sz="1800" b="1" spc="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54545"/>
                </a:solidFill>
                <a:latin typeface="Arial"/>
                <a:cs typeface="Arial"/>
              </a:rPr>
              <a:t>MEMBERS</a:t>
            </a:r>
            <a:endParaRPr sz="1800" dirty="0">
              <a:latin typeface="Arial"/>
              <a:cs typeface="Arial"/>
            </a:endParaRPr>
          </a:p>
          <a:p>
            <a:pPr marL="43180" algn="ctr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solidFill>
                  <a:srgbClr val="454545"/>
                </a:solidFill>
                <a:latin typeface="Arial"/>
                <a:cs typeface="Arial"/>
              </a:rPr>
              <a:t>Technical</a:t>
            </a:r>
            <a:r>
              <a:rPr sz="1600" b="1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54545"/>
                </a:solidFill>
                <a:latin typeface="Arial"/>
                <a:cs typeface="Arial"/>
              </a:rPr>
              <a:t>Steering</a:t>
            </a:r>
            <a:r>
              <a:rPr sz="1600" b="1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54545"/>
                </a:solidFill>
                <a:latin typeface="Arial"/>
                <a:cs typeface="Arial"/>
              </a:rPr>
              <a:t>Committees</a:t>
            </a:r>
            <a:endParaRPr sz="16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1808" y="3201923"/>
            <a:ext cx="1104900" cy="102260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504950" y="4520945"/>
            <a:ext cx="92773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9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Thomas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454545"/>
                </a:solidFill>
                <a:latin typeface="Arial"/>
                <a:cs typeface="Arial"/>
              </a:rPr>
              <a:t>Krul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Co-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Chair,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NIEM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Business Architecture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Committee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TSC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47577" y="4503147"/>
            <a:ext cx="947419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9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Brad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 Bolliger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Co-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Chair,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NIEM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Technical Architecture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Committee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TSC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9863" y="3207366"/>
            <a:ext cx="816863" cy="108965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0082802" y="4380737"/>
            <a:ext cx="92773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Dr.</a:t>
            </a:r>
            <a:r>
              <a:rPr sz="9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Scott</a:t>
            </a:r>
            <a:r>
              <a:rPr sz="9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Renner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Co-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Chair,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NIEM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Technical Architecture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Committee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TSC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EF01DAEF-9B21-3375-DAC6-CB1D65C8F1CA}"/>
              </a:ext>
            </a:extLst>
          </p:cNvPr>
          <p:cNvSpPr txBox="1"/>
          <p:nvPr/>
        </p:nvSpPr>
        <p:spPr>
          <a:xfrm>
            <a:off x="3298500" y="4548159"/>
            <a:ext cx="92773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9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900" b="1" spc="-25" dirty="0">
                <a:solidFill>
                  <a:srgbClr val="454545"/>
                </a:solidFill>
                <a:latin typeface="Arial"/>
                <a:cs typeface="Arial"/>
              </a:rPr>
              <a:t>Jim Cabral - 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900" dirty="0">
                <a:solidFill>
                  <a:srgbClr val="454545"/>
                </a:solidFill>
                <a:latin typeface="Arial"/>
                <a:cs typeface="Arial"/>
              </a:rPr>
              <a:t>NTAC TSC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2050" name="Picture 2" descr="Jim Cabral - Justice, Legal and Public Safety Technology ...">
            <a:extLst>
              <a:ext uri="{FF2B5EF4-FFF2-40B4-BE49-F238E27FC236}">
                <a16:creationId xmlns:a16="http://schemas.microsoft.com/office/drawing/2014/main" id="{E6DDC19A-9E54-2C86-E222-94A266041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26308" y="3179825"/>
            <a:ext cx="1194071" cy="1122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242696"/>
            <a:ext cx="26835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17375E"/>
                </a:solidFill>
              </a:rPr>
              <a:t>OASIS</a:t>
            </a:r>
            <a:r>
              <a:rPr sz="3200" spc="-15" dirty="0">
                <a:solidFill>
                  <a:srgbClr val="17375E"/>
                </a:solidFill>
              </a:rPr>
              <a:t> </a:t>
            </a:r>
            <a:r>
              <a:rPr sz="3200" spc="-40" dirty="0">
                <a:solidFill>
                  <a:srgbClr val="17375E"/>
                </a:solidFill>
              </a:rPr>
              <a:t>STAFF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6235249" y="4511805"/>
            <a:ext cx="3592829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227965">
              <a:lnSpc>
                <a:spcPts val="1939"/>
              </a:lnSpc>
              <a:spcBef>
                <a:spcPts val="345"/>
              </a:spcBef>
              <a:buFont typeface="Arial"/>
              <a:buChar char="•"/>
              <a:tabLst>
                <a:tab pos="240665" algn="l"/>
              </a:tabLst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Cathie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Mayo</a:t>
            </a:r>
            <a:r>
              <a:rPr sz="1800" b="1" spc="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r>
              <a:rPr sz="1800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OASIS</a:t>
            </a:r>
            <a:r>
              <a:rPr sz="180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Chief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Financial</a:t>
            </a:r>
            <a:r>
              <a:rPr sz="18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Officer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2534" y="3674366"/>
            <a:ext cx="1639824" cy="170078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59547" y="2020266"/>
            <a:ext cx="2884805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 rtl="0">
              <a:lnSpc>
                <a:spcPts val="2055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b="1" dirty="0"/>
              <a:t>Andrew Updegrove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2055"/>
              </a:lnSpc>
            </a:pP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OASIS</a:t>
            </a:r>
            <a:r>
              <a:rPr sz="18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pc="-35" dirty="0">
                <a:solidFill>
                  <a:srgbClr val="454545"/>
                </a:solidFill>
                <a:latin typeface="Arial"/>
                <a:cs typeface="Arial"/>
              </a:rPr>
              <a:t>Outside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 Counsel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42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6194475" y="1911913"/>
            <a:ext cx="3324860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227965">
              <a:lnSpc>
                <a:spcPts val="1939"/>
              </a:lnSpc>
              <a:spcBef>
                <a:spcPts val="345"/>
              </a:spcBef>
              <a:buFont typeface="Arial"/>
              <a:buChar char="•"/>
              <a:tabLst>
                <a:tab pos="240665" algn="l"/>
              </a:tabLst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sz="18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Holly</a:t>
            </a:r>
            <a:r>
              <a:rPr sz="1800" b="1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Peterson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r>
              <a:rPr sz="18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454545"/>
                </a:solidFill>
                <a:latin typeface="Arial"/>
                <a:cs typeface="Arial"/>
              </a:rPr>
              <a:t>OASIS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Business</a:t>
            </a:r>
            <a:r>
              <a:rPr sz="18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Development</a:t>
            </a:r>
            <a:r>
              <a:rPr sz="180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Manager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06108" y="1560575"/>
            <a:ext cx="1623059" cy="16230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BC59A0-B4AF-635A-1AF2-12ECC015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61013" y="1560575"/>
            <a:ext cx="1623059" cy="16230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841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95"/>
              </a:spcBef>
            </a:pPr>
            <a:r>
              <a:rPr dirty="0"/>
              <a:t>ROLL</a:t>
            </a:r>
            <a:r>
              <a:rPr spc="-130" dirty="0"/>
              <a:t> </a:t>
            </a:r>
            <a:r>
              <a:rPr spc="-20" dirty="0"/>
              <a:t>CALL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838200"/>
            <a:ext cx="9753600" cy="52546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lang="en-US" sz="1900" b="1" dirty="0">
                <a:solidFill>
                  <a:srgbClr val="334052"/>
                </a:solidFill>
                <a:latin typeface="Arial"/>
                <a:cs typeface="Arial"/>
              </a:rPr>
              <a:t>PGB</a:t>
            </a:r>
            <a:r>
              <a:rPr lang="en-US" sz="1900" b="1" spc="-85" dirty="0">
                <a:solidFill>
                  <a:srgbClr val="334052"/>
                </a:solidFill>
                <a:latin typeface="Arial"/>
                <a:cs typeface="Arial"/>
              </a:rPr>
              <a:t> Sponsor 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Voting</a:t>
            </a:r>
            <a:r>
              <a:rPr lang="en-US" sz="1900" b="1" spc="-7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Members (8):</a:t>
            </a:r>
            <a:endParaRPr lang="en-US" sz="19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2000" dirty="0">
                <a:solidFill>
                  <a:srgbClr val="454545"/>
                </a:solidFill>
                <a:latin typeface="Arial"/>
                <a:cs typeface="Arial"/>
              </a:rPr>
              <a:t>Criminal</a:t>
            </a:r>
            <a:r>
              <a:rPr lang="en-US" sz="2000" spc="-65" dirty="0">
                <a:solidFill>
                  <a:srgbClr val="454545"/>
                </a:solidFill>
                <a:latin typeface="Arial"/>
                <a:cs typeface="Arial"/>
              </a:rPr>
              <a:t> J</a:t>
            </a:r>
            <a:r>
              <a:rPr lang="en-US" sz="2000" dirty="0">
                <a:solidFill>
                  <a:srgbClr val="454545"/>
                </a:solidFill>
                <a:latin typeface="Arial"/>
                <a:cs typeface="Arial"/>
              </a:rPr>
              <a:t>ustice</a:t>
            </a:r>
            <a:r>
              <a:rPr lang="en-US" sz="2000" spc="-6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20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20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454545"/>
                </a:solidFill>
                <a:latin typeface="Arial"/>
                <a:cs typeface="Arial"/>
              </a:rPr>
              <a:t>Division</a:t>
            </a:r>
            <a:r>
              <a:rPr lang="en-US" sz="2000" spc="-7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454545"/>
                </a:solidFill>
                <a:latin typeface="Arial"/>
                <a:cs typeface="Arial"/>
              </a:rPr>
              <a:t>(CJISD),</a:t>
            </a:r>
            <a:r>
              <a:rPr lang="en-US" sz="20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454545"/>
                </a:solidFill>
                <a:latin typeface="Arial"/>
                <a:cs typeface="Arial"/>
              </a:rPr>
              <a:t>Federal</a:t>
            </a:r>
            <a:r>
              <a:rPr lang="en-US" sz="200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454545"/>
                </a:solidFill>
                <a:latin typeface="Arial"/>
                <a:cs typeface="Arial"/>
              </a:rPr>
              <a:t>Bureau</a:t>
            </a:r>
            <a:r>
              <a:rPr lang="en-US" sz="20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20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2000" spc="-10" dirty="0">
                <a:solidFill>
                  <a:srgbClr val="454545"/>
                </a:solidFill>
                <a:latin typeface="Arial"/>
                <a:cs typeface="Arial"/>
              </a:rPr>
              <a:t>Investigation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2000" dirty="0">
                <a:solidFill>
                  <a:srgbClr val="334052"/>
                </a:solidFill>
                <a:latin typeface="Arial"/>
                <a:cs typeface="Arial"/>
              </a:rPr>
              <a:t>Department</a:t>
            </a:r>
            <a:r>
              <a:rPr lang="en-US" sz="2000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334052"/>
                </a:solidFill>
                <a:latin typeface="Arial"/>
                <a:cs typeface="Arial"/>
              </a:rPr>
              <a:t>of</a:t>
            </a:r>
            <a:r>
              <a:rPr lang="en-US" sz="2000" spc="-2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334052"/>
                </a:solidFill>
                <a:latin typeface="Arial"/>
                <a:cs typeface="Arial"/>
              </a:rPr>
              <a:t>Homeland</a:t>
            </a:r>
            <a:r>
              <a:rPr lang="en-US" sz="2000" spc="-3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334052"/>
                </a:solidFill>
                <a:latin typeface="Arial"/>
                <a:cs typeface="Arial"/>
              </a:rPr>
              <a:t>Security</a:t>
            </a:r>
            <a:r>
              <a:rPr lang="en-US" sz="2000" spc="-3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334052"/>
                </a:solidFill>
                <a:latin typeface="Arial"/>
                <a:cs typeface="Arial"/>
              </a:rPr>
              <a:t>Science</a:t>
            </a:r>
            <a:r>
              <a:rPr lang="en-US" sz="2000" spc="-5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334052"/>
                </a:solidFill>
                <a:latin typeface="Arial"/>
                <a:cs typeface="Arial"/>
              </a:rPr>
              <a:t>&amp;</a:t>
            </a:r>
            <a:r>
              <a:rPr lang="en-US" sz="2000" spc="-5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2000" spc="-20" dirty="0">
                <a:solidFill>
                  <a:srgbClr val="334052"/>
                </a:solidFill>
                <a:latin typeface="Arial"/>
                <a:cs typeface="Arial"/>
              </a:rPr>
              <a:t>Technology</a:t>
            </a:r>
            <a:r>
              <a:rPr lang="en-US" sz="2000" spc="-4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334052"/>
                </a:solidFill>
                <a:latin typeface="Arial"/>
                <a:cs typeface="Arial"/>
              </a:rPr>
              <a:t>(DHS</a:t>
            </a:r>
            <a:r>
              <a:rPr lang="en-US" sz="2000" spc="-3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2000" spc="-20" dirty="0">
                <a:solidFill>
                  <a:srgbClr val="334052"/>
                </a:solidFill>
                <a:latin typeface="Arial"/>
                <a:cs typeface="Arial"/>
              </a:rPr>
              <a:t>S&amp;T)</a:t>
            </a:r>
            <a:endParaRPr lang="en-US" sz="2000" dirty="0">
              <a:highlight>
                <a:srgbClr val="FFFF00"/>
              </a:highlight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2000" dirty="0">
                <a:solidFill>
                  <a:srgbClr val="334052"/>
                </a:solidFill>
                <a:latin typeface="Arial"/>
                <a:cs typeface="Arial"/>
              </a:rPr>
              <a:t>Georgia</a:t>
            </a:r>
            <a:r>
              <a:rPr lang="en-US" sz="2000" spc="-7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2000" spc="-35" dirty="0">
                <a:solidFill>
                  <a:srgbClr val="334052"/>
                </a:solidFill>
                <a:latin typeface="Arial"/>
                <a:cs typeface="Arial"/>
              </a:rPr>
              <a:t>Tech</a:t>
            </a:r>
            <a:r>
              <a:rPr lang="en-US" sz="2000" spc="-5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334052"/>
                </a:solidFill>
                <a:latin typeface="Arial"/>
                <a:cs typeface="Arial"/>
              </a:rPr>
              <a:t>Research</a:t>
            </a:r>
            <a:r>
              <a:rPr lang="en-US" sz="2000" spc="-6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334052"/>
                </a:solidFill>
                <a:latin typeface="Arial"/>
                <a:cs typeface="Arial"/>
              </a:rPr>
              <a:t>Institute</a:t>
            </a:r>
            <a:r>
              <a:rPr lang="en-US" sz="2000" spc="-6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2000" spc="-10" dirty="0">
                <a:solidFill>
                  <a:srgbClr val="334052"/>
                </a:solidFill>
                <a:latin typeface="Arial"/>
                <a:cs typeface="Arial"/>
              </a:rPr>
              <a:t>(GTRI)</a:t>
            </a:r>
            <a:endParaRPr lang="en-US" sz="20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2000" dirty="0">
                <a:solidFill>
                  <a:srgbClr val="454545"/>
                </a:solidFill>
                <a:latin typeface="Arial"/>
                <a:cs typeface="Arial"/>
              </a:rPr>
              <a:t>IJIS Institute</a:t>
            </a:r>
            <a:r>
              <a:rPr lang="en-US" sz="2000" spc="-60" dirty="0">
                <a:solidFill>
                  <a:srgbClr val="454545"/>
                </a:solidFill>
                <a:latin typeface="Arial"/>
                <a:cs typeface="Arial"/>
              </a:rPr>
              <a:t> (IJIS)</a:t>
            </a:r>
            <a:endParaRPr lang="en-US" sz="20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2000" spc="-10" dirty="0">
                <a:solidFill>
                  <a:srgbClr val="454545"/>
                </a:solidFill>
                <a:latin typeface="Arial"/>
                <a:cs typeface="Arial"/>
              </a:rPr>
              <a:t>National</a:t>
            </a:r>
            <a:r>
              <a:rPr lang="en-US" sz="2000" spc="-10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454545"/>
                </a:solidFill>
                <a:latin typeface="Arial"/>
                <a:cs typeface="Arial"/>
              </a:rPr>
              <a:t>Association</a:t>
            </a:r>
            <a:r>
              <a:rPr lang="en-US" sz="2000" spc="-8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454545"/>
                </a:solidFill>
                <a:latin typeface="Arial"/>
                <a:cs typeface="Arial"/>
              </a:rPr>
              <a:t>for</a:t>
            </a:r>
            <a:r>
              <a:rPr lang="en-US" sz="2000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2000" spc="-4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2000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2000" spc="-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2000" spc="-10" dirty="0">
                <a:solidFill>
                  <a:srgbClr val="454545"/>
                </a:solidFill>
                <a:latin typeface="Arial"/>
                <a:cs typeface="Arial"/>
              </a:rPr>
              <a:t>(NAJIS)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2000" spc="-10" dirty="0">
                <a:solidFill>
                  <a:srgbClr val="454545"/>
                </a:solidFill>
                <a:latin typeface="Arial"/>
                <a:cs typeface="Arial"/>
              </a:rPr>
              <a:t>Senzing, Inc.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2000" dirty="0"/>
              <a:t>SEARCH | The National Consortium for Justice Information and Statistics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2000" spc="-10" dirty="0">
                <a:solidFill>
                  <a:srgbClr val="454545"/>
                </a:solidFill>
                <a:latin typeface="Arial"/>
                <a:cs typeface="Arial"/>
              </a:rPr>
              <a:t>Bright Query</a:t>
            </a:r>
          </a:p>
          <a:p>
            <a:pPr lvl="1">
              <a:lnSpc>
                <a:spcPct val="100000"/>
              </a:lnSpc>
              <a:spcBef>
                <a:spcPts val="70"/>
              </a:spcBef>
              <a:buClr>
                <a:srgbClr val="1F487C"/>
              </a:buClr>
              <a:buFont typeface="Arial"/>
              <a:buChar char="–"/>
            </a:pPr>
            <a:endParaRPr lang="en-US" sz="16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lang="en-US" sz="1900" b="1" dirty="0">
                <a:solidFill>
                  <a:srgbClr val="334052"/>
                </a:solidFill>
                <a:latin typeface="Arial"/>
                <a:cs typeface="Arial"/>
              </a:rPr>
              <a:t>PGB</a:t>
            </a:r>
            <a:r>
              <a:rPr lang="en-US" sz="1900" b="1" spc="-7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dirty="0">
                <a:solidFill>
                  <a:srgbClr val="334052"/>
                </a:solidFill>
                <a:latin typeface="Arial"/>
                <a:cs typeface="Arial"/>
              </a:rPr>
              <a:t>Expert</a:t>
            </a:r>
            <a:r>
              <a:rPr lang="en-US" sz="1900" b="1" spc="-5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Voting</a:t>
            </a:r>
            <a:r>
              <a:rPr lang="en-US" sz="1900" b="1" spc="-6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Members (2)</a:t>
            </a:r>
            <a:endParaRPr lang="en-US" sz="19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0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NBAC</a:t>
            </a:r>
            <a:r>
              <a:rPr lang="en-US" sz="1600" spc="-4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spc="-25" dirty="0">
                <a:solidFill>
                  <a:srgbClr val="334052"/>
                </a:solidFill>
                <a:latin typeface="Arial"/>
                <a:cs typeface="Arial"/>
              </a:rPr>
              <a:t>TSC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spc="-20" dirty="0">
                <a:solidFill>
                  <a:srgbClr val="334052"/>
                </a:solidFill>
                <a:latin typeface="Arial"/>
                <a:cs typeface="Arial"/>
              </a:rPr>
              <a:t>NTAC</a:t>
            </a:r>
            <a:r>
              <a:rPr lang="en-US" sz="1600" spc="-7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spc="-25" dirty="0">
                <a:solidFill>
                  <a:srgbClr val="334052"/>
                </a:solidFill>
                <a:latin typeface="Arial"/>
                <a:cs typeface="Arial"/>
              </a:rPr>
              <a:t>TSC</a:t>
            </a:r>
            <a:endParaRPr lang="en-US" sz="16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65"/>
              </a:spcBef>
              <a:buClr>
                <a:srgbClr val="1F487C"/>
              </a:buClr>
              <a:buFont typeface="Arial"/>
              <a:buChar char="–"/>
            </a:pPr>
            <a:endParaRPr lang="en-US" sz="16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lang="en-US" sz="1900" b="1" dirty="0">
                <a:solidFill>
                  <a:srgbClr val="334052"/>
                </a:solidFill>
                <a:latin typeface="Arial"/>
                <a:cs typeface="Arial"/>
              </a:rPr>
              <a:t>PGB</a:t>
            </a:r>
            <a:r>
              <a:rPr lang="en-US" sz="1900" b="1" spc="-7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dirty="0">
                <a:solidFill>
                  <a:srgbClr val="334052"/>
                </a:solidFill>
                <a:latin typeface="Arial"/>
                <a:cs typeface="Arial"/>
              </a:rPr>
              <a:t>Expert</a:t>
            </a:r>
            <a:r>
              <a:rPr lang="en-US" sz="1900" b="1" spc="-4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spc="-25" dirty="0">
                <a:solidFill>
                  <a:srgbClr val="334052"/>
                </a:solidFill>
                <a:latin typeface="Arial"/>
                <a:cs typeface="Arial"/>
              </a:rPr>
              <a:t>NON-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Voting</a:t>
            </a:r>
            <a:r>
              <a:rPr lang="en-US" sz="1900" b="1" spc="-5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Members (3)</a:t>
            </a:r>
            <a:b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</a:br>
            <a:endParaRPr lang="en-US" sz="1900" b="1" spc="-10" dirty="0">
              <a:solidFill>
                <a:srgbClr val="334052"/>
              </a:solidFill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Quorum: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3047" y="59817"/>
            <a:ext cx="10908842" cy="759899"/>
          </a:xfrm>
          <a:prstGeom prst="rect">
            <a:avLst/>
          </a:prstGeom>
        </p:spPr>
        <p:txBody>
          <a:bodyPr vert="horz" wrap="square" lIns="0" tIns="26487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5"/>
              </a:spcBef>
            </a:pPr>
            <a:r>
              <a:rPr sz="3200" spc="-20" dirty="0">
                <a:solidFill>
                  <a:srgbClr val="004383"/>
                </a:solidFill>
              </a:rPr>
              <a:t>APPROVAL</a:t>
            </a:r>
            <a:r>
              <a:rPr sz="3200" spc="-95" dirty="0">
                <a:solidFill>
                  <a:srgbClr val="004383"/>
                </a:solidFill>
              </a:rPr>
              <a:t> </a:t>
            </a:r>
            <a:r>
              <a:rPr sz="3200" dirty="0">
                <a:solidFill>
                  <a:srgbClr val="004383"/>
                </a:solidFill>
              </a:rPr>
              <a:t>OF</a:t>
            </a:r>
            <a:r>
              <a:rPr sz="3200" spc="-50" dirty="0">
                <a:solidFill>
                  <a:srgbClr val="004383"/>
                </a:solidFill>
              </a:rPr>
              <a:t> </a:t>
            </a:r>
            <a:r>
              <a:rPr lang="en-US" sz="3200" spc="-50" dirty="0">
                <a:solidFill>
                  <a:srgbClr val="004383"/>
                </a:solidFill>
              </a:rPr>
              <a:t>March 19,</a:t>
            </a:r>
            <a:r>
              <a:rPr lang="en-US" sz="3200" dirty="0">
                <a:solidFill>
                  <a:srgbClr val="004383"/>
                </a:solidFill>
              </a:rPr>
              <a:t>20</a:t>
            </a:r>
            <a:r>
              <a:rPr sz="3200" dirty="0">
                <a:solidFill>
                  <a:srgbClr val="004383"/>
                </a:solidFill>
              </a:rPr>
              <a:t>2</a:t>
            </a:r>
            <a:r>
              <a:rPr lang="en-US" sz="3200" dirty="0">
                <a:solidFill>
                  <a:srgbClr val="004383"/>
                </a:solidFill>
              </a:rPr>
              <a:t>6</a:t>
            </a:r>
            <a:r>
              <a:rPr sz="3200" spc="-50" dirty="0">
                <a:solidFill>
                  <a:srgbClr val="004383"/>
                </a:solidFill>
              </a:rPr>
              <a:t> </a:t>
            </a:r>
            <a:r>
              <a:rPr sz="3200" dirty="0">
                <a:solidFill>
                  <a:srgbClr val="004383"/>
                </a:solidFill>
              </a:rPr>
              <a:t>PGB</a:t>
            </a:r>
            <a:r>
              <a:rPr sz="3200" spc="-15" dirty="0">
                <a:solidFill>
                  <a:srgbClr val="004383"/>
                </a:solidFill>
              </a:rPr>
              <a:t> </a:t>
            </a:r>
            <a:r>
              <a:rPr sz="3200" spc="-10" dirty="0">
                <a:solidFill>
                  <a:srgbClr val="004383"/>
                </a:solidFill>
              </a:rPr>
              <a:t>MINUTES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845007" y="1228471"/>
            <a:ext cx="10508793" cy="10098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299085" algn="l"/>
              </a:tabLst>
            </a:pPr>
            <a:r>
              <a:rPr sz="1600" b="1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Chair:</a:t>
            </a:r>
            <a:r>
              <a:rPr sz="1600" b="1" u="sng" spc="-15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</a:t>
            </a:r>
            <a:r>
              <a:rPr sz="1600" u="none" spc="-1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Draft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of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NIEMOpen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1600" u="none" spc="-25" dirty="0">
                <a:solidFill>
                  <a:srgbClr val="1E1C11"/>
                </a:solidFill>
                <a:latin typeface="Arial"/>
                <a:cs typeface="Arial"/>
              </a:rPr>
              <a:t>March 19, 2026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PGB</a:t>
            </a:r>
            <a:r>
              <a:rPr sz="1600" u="none" spc="40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meeting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minutes</a:t>
            </a:r>
            <a:r>
              <a:rPr lang="en-US" sz="1600" u="none" spc="-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was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provided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to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PGB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Voting</a:t>
            </a:r>
            <a:r>
              <a:rPr lang="en-US" sz="1600" u="none" spc="-10" dirty="0">
                <a:solidFill>
                  <a:srgbClr val="1E1C11"/>
                </a:solidFill>
                <a:latin typeface="Arial"/>
                <a:cs typeface="Arial"/>
              </a:rPr>
              <a:t>/Expert Voting </a:t>
            </a:r>
            <a:r>
              <a:rPr sz="1600" u="none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Members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as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</a:t>
            </a:r>
            <a:r>
              <a:rPr sz="1600" u="none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readahead: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Please</a:t>
            </a:r>
            <a:r>
              <a:rPr sz="1600" u="none" spc="-6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let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me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know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now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if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you</a:t>
            </a:r>
            <a:r>
              <a:rPr sz="1600" u="none" spc="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found</a:t>
            </a:r>
            <a:r>
              <a:rPr sz="1600" u="none" spc="-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any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errors</a:t>
            </a:r>
            <a:r>
              <a:rPr lang="en-US" sz="1600" dirty="0">
                <a:solidFill>
                  <a:srgbClr val="1E1C11"/>
                </a:solidFill>
                <a:latin typeface="Arial"/>
                <a:cs typeface="Arial"/>
              </a:rPr>
              <a:t>:</a:t>
            </a:r>
          </a:p>
          <a:p>
            <a:pPr marL="299085" marR="5080" indent="-28702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299085" algn="l"/>
              </a:tabLst>
            </a:pPr>
            <a:r>
              <a:rPr lang="en-US" sz="1600" u="none" dirty="0">
                <a:solidFill>
                  <a:srgbClr val="1E1C11"/>
                </a:solidFill>
                <a:latin typeface="Arial"/>
                <a:cs typeface="Arial"/>
                <a:hlinkClick r:id="rId2"/>
              </a:rPr>
              <a:t>https://github.com/niemopen/oasis-open-project/blob/main/pgb-meeting-minutes/2026/19-mar-2026/draft%20minutes%20March%2019%202026.pdf</a:t>
            </a:r>
            <a:r>
              <a:rPr lang="en-US" sz="1600" u="none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endParaRPr lang="en-US" sz="1600" u="none" dirty="0">
              <a:solidFill>
                <a:srgbClr val="1E1C11"/>
              </a:solidFill>
              <a:highlight>
                <a:srgbClr val="FFFF00"/>
              </a:highlight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42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F6F27A-A791-FCF0-E57D-A84B1CAA7A5A}"/>
              </a:ext>
            </a:extLst>
          </p:cNvPr>
          <p:cNvSpPr txBox="1"/>
          <p:nvPr/>
        </p:nvSpPr>
        <p:spPr>
          <a:xfrm>
            <a:off x="1219200" y="3657600"/>
            <a:ext cx="9406889" cy="461665"/>
          </a:xfrm>
          <a:prstGeom prst="rect">
            <a:avLst/>
          </a:prstGeom>
          <a:noFill/>
          <a:ln w="38100">
            <a:solidFill>
              <a:schemeClr val="tx2">
                <a:alpha val="5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Motion 1: The March 19, 2026 minutes are approved as read</a:t>
            </a:r>
          </a:p>
        </p:txBody>
      </p:sp>
    </p:spTree>
    <p:extLst>
      <p:ext uri="{BB962C8B-B14F-4D97-AF65-F5344CB8AC3E}">
        <p14:creationId xmlns:p14="http://schemas.microsoft.com/office/powerpoint/2010/main" val="3552345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1984" y="352593"/>
            <a:ext cx="10972800" cy="712451"/>
          </a:xfrm>
          <a:prstGeom prst="rect">
            <a:avLst/>
          </a:prstGeom>
        </p:spPr>
        <p:txBody>
          <a:bodyPr vert="horz" wrap="square" lIns="0" tIns="278841" rIns="0" bIns="0" rtlCol="0">
            <a:spAutoFit/>
          </a:bodyPr>
          <a:lstStyle/>
          <a:p>
            <a:pPr marL="297815" algn="l">
              <a:lnSpc>
                <a:spcPct val="100000"/>
              </a:lnSpc>
              <a:spcBef>
                <a:spcPts val="95"/>
              </a:spcBef>
            </a:pPr>
            <a:r>
              <a:rPr lang="en-US" spc="-10" dirty="0"/>
              <a:t>PROGRESS REPORT: Q2</a:t>
            </a:r>
            <a:endParaRPr spc="-1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6C977F-E4BB-D5EE-2F18-735ABD7AA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965" indent="-342265">
              <a:lnSpc>
                <a:spcPct val="100000"/>
              </a:lnSpc>
              <a:spcBef>
                <a:spcPts val="380"/>
              </a:spcBef>
              <a:buClr>
                <a:srgbClr val="1F487C"/>
              </a:buClr>
              <a:buChar char="•"/>
              <a:tabLst>
                <a:tab pos="354965" algn="l"/>
              </a:tabLst>
            </a:pPr>
            <a:endParaRPr lang="en-US" sz="2200" dirty="0">
              <a:solidFill>
                <a:srgbClr val="334052"/>
              </a:solidFill>
              <a:latin typeface="Arial"/>
              <a:cs typeface="Arial"/>
            </a:endParaRPr>
          </a:p>
          <a:p>
            <a:pPr marL="355600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800" dirty="0">
                <a:solidFill>
                  <a:srgbClr val="334052"/>
                </a:solidFill>
                <a:latin typeface="Arial"/>
                <a:cs typeface="Arial"/>
              </a:rPr>
              <a:t>V.6.0 Submittal to ISO</a:t>
            </a:r>
          </a:p>
          <a:p>
            <a:pPr marL="755650" lvl="1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400" b="1" dirty="0">
                <a:solidFill>
                  <a:srgbClr val="334052"/>
                </a:solidFill>
                <a:latin typeface="Eras Bold ITC" panose="020B0907030504020204" pitchFamily="34" charset="77"/>
                <a:cs typeface="Arial"/>
              </a:rPr>
              <a:t>NDR 6.0 and NDR are proposed for ISO standing</a:t>
            </a:r>
            <a:endParaRPr lang="en-US" sz="2200" dirty="0">
              <a:solidFill>
                <a:srgbClr val="334052"/>
              </a:solidFill>
              <a:latin typeface="Arial"/>
              <a:cs typeface="Arial"/>
            </a:endParaRPr>
          </a:p>
          <a:p>
            <a:pPr marL="355600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20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2800" dirty="0">
                <a:solidFill>
                  <a:srgbClr val="334052"/>
                </a:solidFill>
                <a:latin typeface="Arial"/>
                <a:cs typeface="Arial"/>
              </a:rPr>
              <a:t>Successful Forensics beginning</a:t>
            </a:r>
          </a:p>
          <a:p>
            <a:pPr marL="355600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800" dirty="0">
                <a:solidFill>
                  <a:srgbClr val="334052"/>
                </a:solidFill>
                <a:latin typeface="Arial"/>
                <a:cs typeface="Arial"/>
              </a:rPr>
              <a:t>Advances in API 2.0, NIEM Toolbox</a:t>
            </a:r>
          </a:p>
          <a:p>
            <a:pPr marL="355600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800" dirty="0">
                <a:solidFill>
                  <a:srgbClr val="334052"/>
                </a:solidFill>
                <a:latin typeface="Arial"/>
                <a:cs typeface="Arial"/>
              </a:rPr>
              <a:t>Implementing PGB Decisions</a:t>
            </a:r>
          </a:p>
          <a:p>
            <a:pPr marL="355600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800" dirty="0">
                <a:solidFill>
                  <a:srgbClr val="334052"/>
                </a:solidFill>
                <a:latin typeface="Arial"/>
                <a:cs typeface="Arial"/>
              </a:rPr>
              <a:t>BFO/NIEM Collaboration</a:t>
            </a:r>
          </a:p>
          <a:p>
            <a:pPr marL="355600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800" dirty="0">
                <a:solidFill>
                  <a:srgbClr val="334052"/>
                </a:solidFill>
                <a:latin typeface="Arial"/>
                <a:cs typeface="Arial"/>
              </a:rPr>
              <a:t>NIST Biometric standard revised</a:t>
            </a:r>
          </a:p>
          <a:p>
            <a:pPr marL="12700" indent="0">
              <a:lnSpc>
                <a:spcPct val="100000"/>
              </a:lnSpc>
              <a:spcBef>
                <a:spcPts val="380"/>
              </a:spcBef>
              <a:buClr>
                <a:srgbClr val="1F487C"/>
              </a:buClr>
              <a:buNone/>
              <a:tabLst>
                <a:tab pos="354965" algn="l"/>
              </a:tabLst>
            </a:pPr>
            <a:endParaRPr lang="en-US" sz="2200" dirty="0">
              <a:solidFill>
                <a:srgbClr val="334052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4221082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589D1-0EF4-08A2-AA66-639B897E1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management—IJIS statement of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0F9CB-9C74-F29D-3C6C-C68F44896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0" y="1418230"/>
            <a:ext cx="6172200" cy="46783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800" dirty="0">
                <a:solidFill>
                  <a:srgbClr val="002060"/>
                </a:solidFill>
                <a:latin typeface="Arial Black" panose="020B0604020202020204" pitchFamily="34" charset="0"/>
              </a:rPr>
              <a:t>Scope of Work – Deliverables </a:t>
            </a:r>
          </a:p>
          <a:p>
            <a:pPr marL="0" indent="0">
              <a:buNone/>
            </a:pPr>
            <a:r>
              <a:rPr lang="en-US" sz="3800" dirty="0">
                <a:solidFill>
                  <a:srgbClr val="002060"/>
                </a:solidFill>
                <a:latin typeface="Arial Black" panose="020B0604020202020204" pitchFamily="34" charset="0"/>
              </a:rPr>
              <a:t>1. PGB Meeting Support</a:t>
            </a:r>
          </a:p>
          <a:p>
            <a:pPr marL="0" indent="0">
              <a:buNone/>
            </a:pPr>
            <a:r>
              <a:rPr lang="en-US" sz="3800" dirty="0">
                <a:solidFill>
                  <a:srgbClr val="002060"/>
                </a:solidFill>
                <a:latin typeface="Arial Black" panose="020B0604020202020204" pitchFamily="34" charset="0"/>
              </a:rPr>
              <a:t>2. Inquiry Triage Management</a:t>
            </a:r>
          </a:p>
          <a:p>
            <a:pPr marL="0" indent="0">
              <a:buNone/>
            </a:pPr>
            <a:r>
              <a:rPr lang="en-US" sz="3800" dirty="0">
                <a:solidFill>
                  <a:srgbClr val="002060"/>
                </a:solidFill>
                <a:latin typeface="Arial Black" panose="020B0604020202020204" pitchFamily="34" charset="0"/>
              </a:rPr>
              <a:t>3. AI‑Based Help Desk Design</a:t>
            </a:r>
          </a:p>
          <a:p>
            <a:pPr marL="0" indent="0">
              <a:buNone/>
            </a:pPr>
            <a:r>
              <a:rPr lang="en-US" sz="3800" dirty="0">
                <a:solidFill>
                  <a:srgbClr val="002060"/>
                </a:solidFill>
                <a:latin typeface="Arial Black" panose="020B0604020202020204" pitchFamily="34" charset="0"/>
              </a:rPr>
              <a:t>4. Social Media Management</a:t>
            </a:r>
          </a:p>
          <a:p>
            <a:pPr marL="0" indent="0">
              <a:buNone/>
            </a:pPr>
            <a:r>
              <a:rPr lang="en-US" sz="3800" dirty="0">
                <a:solidFill>
                  <a:srgbClr val="002060"/>
                </a:solidFill>
                <a:latin typeface="Arial Black" panose="020B0604020202020204" pitchFamily="34" charset="0"/>
              </a:rPr>
              <a:t>5. Website Content Updates</a:t>
            </a:r>
          </a:p>
          <a:p>
            <a:pPr marL="0" indent="0">
              <a:buNone/>
            </a:pPr>
            <a:r>
              <a:rPr lang="en-US" sz="3800" dirty="0">
                <a:solidFill>
                  <a:srgbClr val="002060"/>
                </a:solidFill>
                <a:latin typeface="Arial Black" panose="020B0604020202020204" pitchFamily="34" charset="0"/>
              </a:rPr>
              <a:t>6. Technical Contract Oversight</a:t>
            </a:r>
          </a:p>
          <a:p>
            <a:pPr marL="0" indent="0">
              <a:buNone/>
            </a:pPr>
            <a:r>
              <a:rPr lang="en-US" sz="3800" dirty="0">
                <a:solidFill>
                  <a:srgbClr val="002060"/>
                </a:solidFill>
                <a:latin typeface="Arial Black" panose="020B0604020202020204" pitchFamily="34" charset="0"/>
              </a:rPr>
              <a:t>7. Volunteer Recruitment Support</a:t>
            </a:r>
          </a:p>
          <a:p>
            <a:pPr marL="0" indent="0">
              <a:buNone/>
            </a:pPr>
            <a:r>
              <a:rPr lang="en-US" sz="3800" dirty="0">
                <a:solidFill>
                  <a:srgbClr val="002060"/>
                </a:solidFill>
                <a:latin typeface="Arial Black" panose="020B0604020202020204" pitchFamily="34" charset="0"/>
              </a:rPr>
              <a:t>8. Strategic Plan Updates</a:t>
            </a:r>
          </a:p>
          <a:p>
            <a:pPr marL="0" indent="0">
              <a:buNone/>
            </a:pPr>
            <a:r>
              <a:rPr lang="en-US" sz="3800" dirty="0">
                <a:solidFill>
                  <a:srgbClr val="002060"/>
                </a:solidFill>
                <a:latin typeface="Arial Black" panose="020B0604020202020204" pitchFamily="34" charset="0"/>
              </a:rPr>
              <a:t>Costs</a:t>
            </a:r>
          </a:p>
          <a:p>
            <a:pPr marL="0" indent="0">
              <a:buNone/>
            </a:pPr>
            <a:r>
              <a:rPr lang="en-US" sz="3800" dirty="0">
                <a:solidFill>
                  <a:srgbClr val="002060"/>
                </a:solidFill>
                <a:latin typeface="Arial Black" panose="020B0604020202020204" pitchFamily="34" charset="0"/>
              </a:rPr>
              <a:t>- Total Work Order cost is limited to $40,000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84579-9E5F-6442-DA3E-A773FC754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E6030FC-FB78-5E4D-92EA-5D9433591EA9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43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B52F3-EB37-832F-E1DE-D582C805C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OASIS Update</a:t>
            </a:r>
          </a:p>
        </p:txBody>
      </p:sp>
      <p:pic>
        <p:nvPicPr>
          <p:cNvPr id="5" name="Content Placeholder 4" descr="DYT Headshot.jpg">
            <a:extLst>
              <a:ext uri="{FF2B5EF4-FFF2-40B4-BE49-F238E27FC236}">
                <a16:creationId xmlns:a16="http://schemas.microsoft.com/office/drawing/2014/main" id="{A07DE948-0C58-C3AC-CCA9-8B6B26D0F9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5463" y="1219200"/>
            <a:ext cx="2531052" cy="28194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82DEC-1E74-10B1-4180-803A326D89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E6030FC-FB78-5E4D-92EA-5D9433591EA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AC532-1B38-2C05-F895-3487B2E8A7F4}"/>
              </a:ext>
            </a:extLst>
          </p:cNvPr>
          <p:cNvSpPr txBox="1"/>
          <p:nvPr/>
        </p:nvSpPr>
        <p:spPr>
          <a:xfrm>
            <a:off x="4500131" y="4343400"/>
            <a:ext cx="31917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Daniella </a:t>
            </a:r>
            <a:r>
              <a:rPr lang="en-US" sz="2000" b="1" dirty="0" err="1"/>
              <a:t>Traveau</a:t>
            </a:r>
            <a:endParaRPr lang="en-US" sz="2000" b="1" dirty="0"/>
          </a:p>
          <a:p>
            <a:pPr algn="ctr"/>
            <a:r>
              <a:rPr lang="en-US" sz="2000" b="1" dirty="0"/>
              <a:t>President, OASIS</a:t>
            </a:r>
          </a:p>
        </p:txBody>
      </p:sp>
    </p:spTree>
    <p:extLst>
      <p:ext uri="{BB962C8B-B14F-4D97-AF65-F5344CB8AC3E}">
        <p14:creationId xmlns:p14="http://schemas.microsoft.com/office/powerpoint/2010/main" val="210002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8CE97-8FCA-AFA2-55BB-3B1722506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6E306C5-4FC7-9FAE-560F-DC642CAA7A8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6750F3-AB51-AC8F-B6BD-C2147E839296}"/>
              </a:ext>
            </a:extLst>
          </p:cNvPr>
          <p:cNvSpPr txBox="1"/>
          <p:nvPr/>
        </p:nvSpPr>
        <p:spPr>
          <a:xfrm>
            <a:off x="533400" y="391180"/>
            <a:ext cx="670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40" dirty="0">
                <a:solidFill>
                  <a:srgbClr val="004383"/>
                </a:solidFill>
                <a:latin typeface="Arial"/>
                <a:cs typeface="Arial"/>
              </a:rPr>
              <a:t>ISO Path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3AC4BA-E594-FEB8-8C97-2B1F769BAD97}"/>
              </a:ext>
            </a:extLst>
          </p:cNvPr>
          <p:cNvSpPr txBox="1"/>
          <p:nvPr/>
        </p:nvSpPr>
        <p:spPr>
          <a:xfrm>
            <a:off x="1981200" y="1676400"/>
            <a:ext cx="92202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1. 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Approval as an OASIS Standard </a:t>
            </a:r>
            <a:r>
              <a:rPr lang="en-US" sz="2800" b="1" i="1" dirty="0">
                <a:solidFill>
                  <a:srgbClr val="6AA84F"/>
                </a:solidFill>
                <a:effectLst/>
                <a:latin typeface="Arial" panose="020B0604020202020204" pitchFamily="34" charset="0"/>
              </a:rPr>
              <a:t>(Completed)</a:t>
            </a:r>
            <a:endParaRPr lang="en-US" sz="2800" b="1" i="0" dirty="0">
              <a:solidFill>
                <a:srgbClr val="000000"/>
              </a:solidFill>
              <a:effectLst/>
            </a:endParaRPr>
          </a:p>
          <a:p>
            <a:pPr algn="l" rtl="0"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2. Request to Submit to ISO/IEC JTC 1 </a:t>
            </a:r>
            <a:r>
              <a:rPr lang="en-US" sz="2800" b="1" i="0" dirty="0"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(Completed)</a:t>
            </a:r>
            <a:endParaRPr lang="en-US" sz="2800" b="1" i="0" dirty="0">
              <a:solidFill>
                <a:srgbClr val="00B050"/>
              </a:solidFill>
              <a:effectLst/>
            </a:endParaRPr>
          </a:p>
          <a:p>
            <a:pPr algn="l" rtl="0"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3. Preparation of Submission Package and Explanatory Report</a:t>
            </a:r>
            <a:endParaRPr lang="en-US" sz="2800" b="1" i="0" dirty="0">
              <a:solidFill>
                <a:srgbClr val="000000"/>
              </a:solidFill>
              <a:effectLst/>
            </a:endParaRPr>
          </a:p>
          <a:p>
            <a:pPr algn="l" rtl="0"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4. Submission and JTC 1 Review Process</a:t>
            </a:r>
            <a:endParaRPr lang="en-US" sz="2800" b="1" i="0" dirty="0">
              <a:solidFill>
                <a:srgbClr val="000000"/>
              </a:solidFill>
              <a:effectLst/>
            </a:endParaRPr>
          </a:p>
          <a:p>
            <a:pPr algn="l" rtl="0"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5. Handling of Comments and Final Approval</a:t>
            </a:r>
            <a:endParaRPr lang="en-US" sz="2800" b="1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58824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1FF1D-950F-ACA6-88A9-D45AC5D40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A4F481-14C7-6B62-74A9-5D1F885DF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63ED-5365-0347-943C-46237B9951C9}" type="slidenum">
              <a:rPr lang="en-US" smtClean="0"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6A436E-1D69-4051-16E9-0FF407EDB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NTAC Update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3F136-719E-FB58-1EF1-9486FFB1C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43000"/>
            <a:ext cx="11338560" cy="4572000"/>
          </a:xfrm>
        </p:spPr>
        <p:txBody>
          <a:bodyPr/>
          <a:lstStyle/>
          <a:p>
            <a:r>
              <a:rPr lang="en-US" sz="2400" b="1" dirty="0">
                <a:solidFill>
                  <a:schemeClr val="tx2">
                    <a:lumMod val="50000"/>
                  </a:schemeClr>
                </a:solidFill>
              </a:rPr>
              <a:t>ONTOLOGIES: </a:t>
            </a:r>
            <a:r>
              <a:rPr lang="en-US" sz="2400" b="1" i="1" dirty="0">
                <a:solidFill>
                  <a:schemeClr val="tx2">
                    <a:lumMod val="50000"/>
                  </a:schemeClr>
                </a:solidFill>
              </a:rPr>
              <a:t>NTAC is exploring BFO/CCO–NIEM value and use cases</a:t>
            </a:r>
          </a:p>
          <a:p>
            <a:pPr lvl="1"/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The goal is to highlight the business value of using BFO and CCO in conjunction with NIEM</a:t>
            </a:r>
          </a:p>
          <a:p>
            <a:pPr lvl="1"/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Outputs include demonstrating potential use cases and opportunities, e.g.: </a:t>
            </a:r>
          </a:p>
          <a:p>
            <a:pPr lvl="2"/>
            <a:r>
              <a:rPr lang="en-US" sz="1800" i="1" dirty="0">
                <a:solidFill>
                  <a:schemeClr val="tx2">
                    <a:lumMod val="50000"/>
                  </a:schemeClr>
                </a:solidFill>
              </a:rPr>
              <a:t>Inter-agency </a:t>
            </a:r>
            <a:r>
              <a:rPr lang="en-US" sz="1800" dirty="0">
                <a:solidFill>
                  <a:schemeClr val="tx2">
                    <a:lumMod val="50000"/>
                  </a:schemeClr>
                </a:solidFill>
              </a:rPr>
              <a:t>(e.g. between DHS and DOD), or </a:t>
            </a:r>
            <a:r>
              <a:rPr lang="en-US" sz="1800" i="1" dirty="0">
                <a:solidFill>
                  <a:schemeClr val="tx2">
                    <a:lumMod val="50000"/>
                  </a:schemeClr>
                </a:solidFill>
              </a:rPr>
              <a:t>cross-domain</a:t>
            </a:r>
            <a:r>
              <a:rPr lang="en-US" sz="1800" dirty="0">
                <a:solidFill>
                  <a:schemeClr val="tx2">
                    <a:lumMod val="50000"/>
                  </a:schemeClr>
                </a:solidFill>
              </a:rPr>
              <a:t> (e.g. Justice and Health) </a:t>
            </a:r>
            <a:r>
              <a:rPr lang="en-US" sz="1800" i="1" dirty="0">
                <a:solidFill>
                  <a:schemeClr val="tx2">
                    <a:lumMod val="50000"/>
                  </a:schemeClr>
                </a:solidFill>
              </a:rPr>
              <a:t>collaboration</a:t>
            </a:r>
            <a:endParaRPr lang="en-US" sz="1800" dirty="0">
              <a:solidFill>
                <a:schemeClr val="tx2">
                  <a:lumMod val="50000"/>
                </a:schemeClr>
              </a:solidFill>
            </a:endParaRPr>
          </a:p>
          <a:p>
            <a:pPr lvl="2"/>
            <a:r>
              <a:rPr lang="en-US" sz="1800" dirty="0">
                <a:solidFill>
                  <a:schemeClr val="tx2">
                    <a:lumMod val="50000"/>
                  </a:schemeClr>
                </a:solidFill>
              </a:rPr>
              <a:t>Ontologies for inference in NIEM-enabled environments, </a:t>
            </a:r>
          </a:p>
          <a:p>
            <a:pPr lvl="2"/>
            <a:r>
              <a:rPr lang="en-US" sz="1800" dirty="0">
                <a:solidFill>
                  <a:schemeClr val="tx2">
                    <a:lumMod val="50000"/>
                  </a:schemeClr>
                </a:solidFill>
              </a:rPr>
              <a:t>and potential NIEM domain expansion, if domain ontologies provide new insight or opportunity. </a:t>
            </a:r>
          </a:p>
          <a:p>
            <a:r>
              <a:rPr lang="en-US" sz="2400" b="1" dirty="0">
                <a:solidFill>
                  <a:schemeClr val="tx2">
                    <a:lumMod val="50000"/>
                  </a:schemeClr>
                </a:solidFill>
              </a:rPr>
              <a:t>TOOLING: </a:t>
            </a:r>
            <a:r>
              <a:rPr lang="en-US" sz="2400" b="1" i="1" dirty="0">
                <a:solidFill>
                  <a:schemeClr val="tx2">
                    <a:lumMod val="50000"/>
                  </a:schemeClr>
                </a:solidFill>
              </a:rPr>
              <a:t>NTAC Tooling Tiger Team discussion and recommendations</a:t>
            </a:r>
          </a:p>
          <a:p>
            <a:pPr lvl="1"/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Tooling Tiger Team has recommended expanded support for new developer tools (e.g., MCP server, broader support for Semantics, CMF SQL outputs, and various other tool improvements)</a:t>
            </a:r>
          </a:p>
          <a:p>
            <a:pPr lvl="1"/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We discussed the importance of 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user workflow(s)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mapping templates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, and accommodating 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new user personae 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- especially those who expect AI or ontologies to help them use NIEM more easily</a:t>
            </a:r>
          </a:p>
          <a:p>
            <a:pPr lvl="1"/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Pending: 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dependent upon successful completion of the API 2.0 and revised Training and Workflows</a:t>
            </a:r>
          </a:p>
          <a:p>
            <a:r>
              <a:rPr lang="en-US" sz="2400" b="1" dirty="0">
                <a:solidFill>
                  <a:schemeClr val="tx2">
                    <a:lumMod val="50000"/>
                  </a:schemeClr>
                </a:solidFill>
              </a:rPr>
              <a:t>USER SURVEY: </a:t>
            </a:r>
            <a:r>
              <a:rPr lang="en-US" sz="2400" b="1" i="1" dirty="0">
                <a:solidFill>
                  <a:schemeClr val="tx2">
                    <a:lumMod val="50000"/>
                  </a:schemeClr>
                </a:solidFill>
              </a:rPr>
              <a:t>IJIS survey of NIEM practitioners currently in development </a:t>
            </a:r>
          </a:p>
        </p:txBody>
      </p:sp>
    </p:spTree>
    <p:extLst>
      <p:ext uri="{BB962C8B-B14F-4D97-AF65-F5344CB8AC3E}">
        <p14:creationId xmlns:p14="http://schemas.microsoft.com/office/powerpoint/2010/main" val="3122234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0951E-8EEA-6539-4EAD-ED483086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85ACAB-CEDD-709B-2DD9-D604C00D3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en-US" dirty="0" err="1"/>
              <a:t>NIEMOpen</a:t>
            </a:r>
            <a:r>
              <a:rPr lang="en-US" dirty="0"/>
              <a:t> Tools </a:t>
            </a:r>
            <a:br>
              <a:rPr lang="en-US" dirty="0"/>
            </a:br>
            <a:r>
              <a:rPr lang="en-US" i="1" dirty="0"/>
              <a:t>Recommendations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8F8ED6E-3232-2B6A-415B-F24961AFAF0F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7239000" y="157956"/>
            <a:ext cx="5260975" cy="6542088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F65941-4DDE-69F7-3ECF-E02A0F2F1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Standardized mapping templates</a:t>
            </a:r>
          </a:p>
          <a:p>
            <a:pPr lvl="1"/>
            <a:r>
              <a:rPr lang="en-US" sz="1900" dirty="0">
                <a:solidFill>
                  <a:schemeClr val="tx2">
                    <a:lumMod val="50000"/>
                  </a:schemeClr>
                </a:solidFill>
              </a:rPr>
              <a:t>Message specifications</a:t>
            </a:r>
          </a:p>
          <a:p>
            <a:pPr lvl="1"/>
            <a:r>
              <a:rPr lang="en-US" sz="1900" dirty="0">
                <a:solidFill>
                  <a:schemeClr val="tx2">
                    <a:lumMod val="50000"/>
                  </a:schemeClr>
                </a:solidFill>
              </a:rPr>
              <a:t>Releases/domain updates, and other aspects of NBAC support</a:t>
            </a:r>
          </a:p>
          <a:p>
            <a:r>
              <a:rPr lang="en-US" b="1" dirty="0" err="1">
                <a:solidFill>
                  <a:schemeClr val="tx2">
                    <a:lumMod val="50000"/>
                  </a:schemeClr>
                </a:solidFill>
              </a:rPr>
              <a:t>CMFTool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 enhancements</a:t>
            </a:r>
          </a:p>
          <a:p>
            <a:pPr lvl="1"/>
            <a:r>
              <a:rPr lang="en-US" sz="1900" dirty="0">
                <a:solidFill>
                  <a:schemeClr val="tx2">
                    <a:lumMod val="50000"/>
                  </a:schemeClr>
                </a:solidFill>
              </a:rPr>
              <a:t>Document how to use </a:t>
            </a:r>
            <a:r>
              <a:rPr lang="en-US" sz="1900" i="1" dirty="0">
                <a:solidFill>
                  <a:schemeClr val="tx2">
                    <a:lumMod val="50000"/>
                  </a:schemeClr>
                </a:solidFill>
              </a:rPr>
              <a:t>(In progress)</a:t>
            </a:r>
          </a:p>
          <a:p>
            <a:pPr lvl="1"/>
            <a:r>
              <a:rPr lang="en-US" sz="1900" dirty="0">
                <a:solidFill>
                  <a:schemeClr val="tx2">
                    <a:lumMod val="50000"/>
                  </a:schemeClr>
                </a:solidFill>
              </a:rPr>
              <a:t>Test XML/JSON/RDF interoperability </a:t>
            </a:r>
            <a:r>
              <a:rPr lang="en-US" sz="1900" i="1" dirty="0">
                <a:solidFill>
                  <a:schemeClr val="tx2">
                    <a:lumMod val="50000"/>
                  </a:schemeClr>
                </a:solidFill>
              </a:rPr>
              <a:t>(In progress)</a:t>
            </a:r>
          </a:p>
          <a:p>
            <a:pPr lvl="1"/>
            <a:r>
              <a:rPr lang="en-US" sz="1900" dirty="0">
                <a:solidFill>
                  <a:schemeClr val="tx2">
                    <a:lumMod val="50000"/>
                  </a:schemeClr>
                </a:solidFill>
              </a:rPr>
              <a:t>Import message mappings </a:t>
            </a:r>
            <a:r>
              <a:rPr lang="en-US" sz="1900" i="1" dirty="0">
                <a:solidFill>
                  <a:schemeClr val="tx2">
                    <a:lumMod val="50000"/>
                  </a:schemeClr>
                </a:solidFill>
              </a:rPr>
              <a:t>(Planned)</a:t>
            </a:r>
          </a:p>
          <a:p>
            <a:pPr lvl="1"/>
            <a:r>
              <a:rPr lang="en-US" sz="1900" dirty="0">
                <a:solidFill>
                  <a:schemeClr val="tx2">
                    <a:lumMod val="50000"/>
                  </a:schemeClr>
                </a:solidFill>
              </a:rPr>
              <a:t>Export ANSI SQL, </a:t>
            </a:r>
            <a:r>
              <a:rPr lang="en-US" sz="1900" dirty="0" err="1">
                <a:solidFill>
                  <a:schemeClr val="tx2">
                    <a:lumMod val="50000"/>
                  </a:schemeClr>
                </a:solidFill>
              </a:rPr>
              <a:t>OpenAPI</a:t>
            </a:r>
            <a:r>
              <a:rPr lang="en-US" sz="1900" dirty="0">
                <a:solidFill>
                  <a:schemeClr val="tx2">
                    <a:lumMod val="50000"/>
                  </a:schemeClr>
                </a:solidFill>
              </a:rPr>
              <a:t> and release worksheet </a:t>
            </a:r>
            <a:r>
              <a:rPr lang="en-US" sz="1900" i="1" dirty="0">
                <a:solidFill>
                  <a:schemeClr val="tx2">
                    <a:lumMod val="50000"/>
                  </a:schemeClr>
                </a:solidFill>
              </a:rPr>
              <a:t>(TBD)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API 2.0/</a:t>
            </a:r>
            <a:r>
              <a:rPr lang="en-US" b="1" dirty="0" err="1">
                <a:solidFill>
                  <a:schemeClr val="tx2">
                    <a:lumMod val="50000"/>
                  </a:schemeClr>
                </a:solidFill>
              </a:rPr>
              <a:t>NIEMToolbox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 enhancements</a:t>
            </a:r>
          </a:p>
          <a:p>
            <a:pPr lvl="1"/>
            <a:r>
              <a:rPr lang="en-US" sz="1900" dirty="0">
                <a:solidFill>
                  <a:schemeClr val="tx2">
                    <a:lumMod val="50000"/>
                  </a:schemeClr>
                </a:solidFill>
              </a:rPr>
              <a:t>Save mappings in Search UI</a:t>
            </a:r>
          </a:p>
          <a:p>
            <a:pPr lvl="1"/>
            <a:r>
              <a:rPr lang="en-US" sz="1900" dirty="0">
                <a:solidFill>
                  <a:schemeClr val="tx2">
                    <a:lumMod val="50000"/>
                  </a:schemeClr>
                </a:solidFill>
              </a:rPr>
              <a:t>Expose a Model Context Protocol (MCP) API </a:t>
            </a:r>
          </a:p>
          <a:p>
            <a:pPr lvl="2"/>
            <a:r>
              <a:rPr lang="en-US" sz="1900" dirty="0">
                <a:solidFill>
                  <a:schemeClr val="tx2">
                    <a:lumMod val="50000"/>
                  </a:schemeClr>
                </a:solidFill>
              </a:rPr>
              <a:t>(to enable third party AI tools)</a:t>
            </a:r>
          </a:p>
          <a:p>
            <a:pPr lvl="1"/>
            <a:r>
              <a:rPr lang="en-US" sz="1900" dirty="0">
                <a:solidFill>
                  <a:schemeClr val="tx2">
                    <a:lumMod val="50000"/>
                  </a:schemeClr>
                </a:solidFill>
              </a:rPr>
              <a:t>Validate Model Conformance of a CMF</a:t>
            </a:r>
          </a:p>
        </p:txBody>
      </p:sp>
    </p:spTree>
    <p:extLst>
      <p:ext uri="{BB962C8B-B14F-4D97-AF65-F5344CB8AC3E}">
        <p14:creationId xmlns:p14="http://schemas.microsoft.com/office/powerpoint/2010/main" val="4110007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2961C-CABE-E277-FCC1-9FEF007B4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D25DA3-ADF5-2841-7E1A-9349246C6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63ED-5365-0347-943C-46237B9951C9}" type="slidenum">
              <a:rPr lang="en-US" smtClean="0"/>
              <a:t>14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3E29AE-936D-4CC7-E987-54F31B41C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Other NTAC initiatives on behalf of the PGB</a:t>
            </a:r>
            <a:endParaRPr lang="en-US" sz="2400" b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46A510-AEEE-1697-6569-A8FD3E62D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" y="1219200"/>
            <a:ext cx="11338560" cy="4572000"/>
          </a:xfrm>
        </p:spPr>
        <p:txBody>
          <a:bodyPr/>
          <a:lstStyle/>
          <a:p>
            <a:r>
              <a:rPr lang="en-US" sz="2400" b="1" dirty="0">
                <a:solidFill>
                  <a:schemeClr val="tx2">
                    <a:lumMod val="50000"/>
                  </a:schemeClr>
                </a:solidFill>
              </a:rPr>
              <a:t>DAMA-DMBOK 3.0 workshops</a:t>
            </a:r>
          </a:p>
          <a:p>
            <a:pPr lvl="1"/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DAMA is planning an expansion of DMBOK, and we hope this will include mention of NIEM</a:t>
            </a:r>
          </a:p>
          <a:p>
            <a:pPr lvl="1"/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NTAC co-chair planned to attend May/June workshops</a:t>
            </a:r>
          </a:p>
          <a:p>
            <a:r>
              <a:rPr lang="en-US" sz="2400" b="1" dirty="0">
                <a:solidFill>
                  <a:schemeClr val="tx2">
                    <a:lumMod val="50000"/>
                  </a:schemeClr>
                </a:solidFill>
              </a:rPr>
              <a:t>NTAC preliminary conversations</a:t>
            </a:r>
          </a:p>
          <a:p>
            <a:pPr lvl="1"/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Anticipating NTAC support of the ISO certification process, hoping to discuss in June 2026</a:t>
            </a:r>
          </a:p>
          <a:p>
            <a:pPr lvl="1"/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Discussing website updates, including but not limited to SSGT, expanded Success Stories, and a streamlined communication of NIEM’s value to Government and Commercial users</a:t>
            </a:r>
          </a:p>
          <a:p>
            <a:r>
              <a:rPr lang="en-US" sz="2400" b="1" kern="100" dirty="0">
                <a:solidFill>
                  <a:schemeClr val="tx2">
                    <a:lumMod val="50000"/>
                  </a:schemeClr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Collaboration and Integration with Other Models</a:t>
            </a:r>
          </a:p>
          <a:p>
            <a:pPr marL="490950" lvl="1" indent="-285750"/>
            <a:r>
              <a:rPr lang="en-US" kern="100" dirty="0">
                <a:solidFill>
                  <a:schemeClr val="tx2">
                    <a:lumMod val="50000"/>
                  </a:schemeClr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Need for NIEM to work alongside other semantic reference models (e.g., BFO/CCO, HL7, CFACT)</a:t>
            </a:r>
          </a:p>
          <a:p>
            <a:pPr marL="490950" lvl="1" indent="-285750"/>
            <a:r>
              <a:rPr lang="en-US" kern="100" dirty="0">
                <a:solidFill>
                  <a:schemeClr val="tx2">
                    <a:lumMod val="50000"/>
                  </a:schemeClr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Emphasis on building partnerships rather than competition with other models (i.e. “Mapping vs Modeling”)</a:t>
            </a:r>
          </a:p>
          <a:p>
            <a:pPr marL="248063" indent="-285750"/>
            <a:r>
              <a:rPr lang="en-US" sz="2400" b="1" kern="100" dirty="0">
                <a:solidFill>
                  <a:schemeClr val="tx2">
                    <a:lumMod val="50000"/>
                  </a:schemeClr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International Collaboration and Standards:</a:t>
            </a:r>
          </a:p>
          <a:p>
            <a:pPr marL="404812" lvl="1" indent="-171450"/>
            <a:r>
              <a:rPr lang="en-US" kern="100" dirty="0">
                <a:solidFill>
                  <a:schemeClr val="tx2">
                    <a:lumMod val="50000"/>
                  </a:schemeClr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Engagement with international bodies (e.g., NATO) to promote NIEM and its standards</a:t>
            </a:r>
          </a:p>
          <a:p>
            <a:pPr marL="404812" lvl="1" indent="-171450"/>
            <a:r>
              <a:rPr lang="en-US" kern="100" dirty="0">
                <a:solidFill>
                  <a:schemeClr val="tx2">
                    <a:lumMod val="50000"/>
                  </a:schemeClr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Interest in leveraging NIEM for global data management frameworks (DAMA, DPROD, DCAT, or data provenance standards)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255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52564-01CB-9A51-F440-C2B6EFB45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589" y="393216"/>
            <a:ext cx="10972800" cy="811358"/>
          </a:xfrm>
        </p:spPr>
        <p:txBody>
          <a:bodyPr/>
          <a:lstStyle/>
          <a:p>
            <a:r>
              <a:rPr lang="en-US" dirty="0"/>
              <a:t>Software engineering update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B9361-1904-A0A2-8FDA-3A8A2A56D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E6030FC-FB78-5E4D-92EA-5D9433591EA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EE4D477-E421-4ED6-1C79-DCA3076432E6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440385" y="1784866"/>
            <a:ext cx="11370615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solidFill>
                  <a:srgbClr val="212121"/>
                </a:solidFill>
                <a:latin typeface="Calibri" panose="020F0502020204030204" pitchFamily="34" charset="0"/>
              </a:rPr>
              <a:t>Added subset support (search and saving) to the NIEM Toolbox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Drafted </a:t>
            </a:r>
            <a:r>
              <a:rPr lang="en-US" altLang="en-US" sz="3200" dirty="0" err="1">
                <a:solidFill>
                  <a:srgbClr val="212121"/>
                </a:solidFill>
                <a:latin typeface="Calibri" panose="020F0502020204030204" pitchFamily="34" charset="0"/>
              </a:rPr>
              <a:t>w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antlist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 3.0 for the JSON format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The API has been updated to use the latest versions of CMF 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   and the CMF </a:t>
            </a:r>
            <a:r>
              <a:rPr lang="en-US" altLang="en-US" sz="3200" dirty="0">
                <a:solidFill>
                  <a:srgbClr val="212121"/>
                </a:solidFill>
                <a:latin typeface="Calibri" panose="020F0502020204030204" pitchFamily="34" charset="0"/>
              </a:rPr>
              <a:t>tool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NIEM Toolbox has been updated to use the new API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solidFill>
                  <a:srgbClr val="212121"/>
                </a:solidFill>
                <a:latin typeface="Calibri" panose="020F0502020204030204" pitchFamily="34" charset="0"/>
              </a:rPr>
              <a:t>Updated and improved directory handling in </a:t>
            </a:r>
            <a:r>
              <a:rPr lang="en-US" altLang="en-US" sz="3200" dirty="0" err="1">
                <a:solidFill>
                  <a:srgbClr val="212121"/>
                </a:solidFill>
                <a:latin typeface="Calibri" panose="020F0502020204030204" pitchFamily="34" charset="0"/>
              </a:rPr>
              <a:t>github</a:t>
            </a:r>
            <a:r>
              <a:rPr lang="en-US" altLang="en-US" sz="3200" dirty="0">
                <a:solidFill>
                  <a:srgbClr val="212121"/>
                </a:solidFill>
                <a:latin typeface="Calibri" panose="020F0502020204030204" pitchFamily="34" charset="0"/>
              </a:rPr>
              <a:t> and website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768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43000" y="1905000"/>
            <a:ext cx="8933895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457200">
              <a:defRPr/>
            </a:pPr>
            <a:r>
              <a:rPr kumimoji="0" lang="en-US" sz="4400" b="1" i="0" u="none" strike="noStrike" kern="1200" cap="none" spc="0" normalizeH="0" noProof="0" dirty="0">
                <a:ln>
                  <a:noFill/>
                </a:ln>
                <a:solidFill>
                  <a:srgbClr val="005170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NBAC update</a:t>
            </a:r>
          </a:p>
          <a:p>
            <a:pPr lvl="0" algn="ctr" defTabSz="457200">
              <a:defRPr/>
            </a:pPr>
            <a:r>
              <a:rPr lang="en-US" sz="4400" b="1" dirty="0">
                <a:solidFill>
                  <a:srgbClr val="005170"/>
                </a:solidFill>
                <a:latin typeface="Bahnschrift" panose="020B0502040204020203" pitchFamily="34" charset="0"/>
              </a:rPr>
              <a:t>June 18</a:t>
            </a:r>
            <a:r>
              <a:rPr lang="en-US" sz="4400" b="1" baseline="0" dirty="0">
                <a:solidFill>
                  <a:srgbClr val="005170"/>
                </a:solidFill>
                <a:latin typeface="Bahnschrift" panose="020B0502040204020203" pitchFamily="34" charset="0"/>
              </a:rPr>
              <a:t>, 2026</a:t>
            </a:r>
            <a:endParaRPr kumimoji="0" lang="en-US" sz="28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DE24B3-F692-A5C3-64FD-7892B777CB99}"/>
              </a:ext>
            </a:extLst>
          </p:cNvPr>
          <p:cNvSpPr txBox="1"/>
          <p:nvPr/>
        </p:nvSpPr>
        <p:spPr>
          <a:xfrm>
            <a:off x="1143000" y="4648200"/>
            <a:ext cx="9867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Co-Chairs:</a:t>
            </a:r>
          </a:p>
          <a:p>
            <a:r>
              <a:rPr lang="en-US" sz="2000" b="1" dirty="0"/>
              <a:t>Kamran Atri                                    Thomas Krul                                  Paul Wormeli</a:t>
            </a:r>
          </a:p>
        </p:txBody>
      </p:sp>
    </p:spTree>
    <p:extLst>
      <p:ext uri="{BB962C8B-B14F-4D97-AF65-F5344CB8AC3E}">
        <p14:creationId xmlns:p14="http://schemas.microsoft.com/office/powerpoint/2010/main" val="1566194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49D6F8-42BF-9D37-38E3-58ED87A538DC}"/>
              </a:ext>
            </a:extLst>
          </p:cNvPr>
          <p:cNvSpPr txBox="1"/>
          <p:nvPr/>
        </p:nvSpPr>
        <p:spPr>
          <a:xfrm>
            <a:off x="76200" y="1143000"/>
            <a:ext cx="685800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0000"/>
                </a:solidFill>
                <a:latin typeface="+mj-lt"/>
              </a:rPr>
              <a:t>NIEMOpen is:</a:t>
            </a:r>
          </a:p>
          <a:p>
            <a:endParaRPr lang="en-US" dirty="0">
              <a:solidFill>
                <a:srgbClr val="000000"/>
              </a:solidFill>
              <a:latin typeface="+mj-lt"/>
            </a:endParaRPr>
          </a:p>
          <a:p>
            <a:pPr algn="ctr"/>
            <a:r>
              <a:rPr lang="en-US" sz="3600" dirty="0">
                <a:solidFill>
                  <a:srgbClr val="000000"/>
                </a:solidFill>
              </a:rPr>
              <a:t>An open source framework </a:t>
            </a:r>
          </a:p>
          <a:p>
            <a:pPr algn="ctr"/>
            <a:r>
              <a:rPr lang="en-US" sz="3600" dirty="0">
                <a:solidFill>
                  <a:srgbClr val="000000"/>
                </a:solidFill>
              </a:rPr>
              <a:t>for building a consensus on </a:t>
            </a:r>
          </a:p>
          <a:p>
            <a:pPr algn="ctr"/>
            <a:r>
              <a:rPr lang="en-US" sz="3600" dirty="0">
                <a:solidFill>
                  <a:srgbClr val="000000"/>
                </a:solidFill>
              </a:rPr>
              <a:t>data standards that facilitate </a:t>
            </a:r>
          </a:p>
          <a:p>
            <a:pPr algn="ctr"/>
            <a:r>
              <a:rPr lang="en-US" sz="3600" dirty="0">
                <a:solidFill>
                  <a:srgbClr val="000000"/>
                </a:solidFill>
              </a:rPr>
              <a:t>information sharing </a:t>
            </a:r>
          </a:p>
          <a:p>
            <a:pPr algn="ctr"/>
            <a:r>
              <a:rPr lang="en-US" sz="3600" dirty="0">
                <a:solidFill>
                  <a:srgbClr val="000000"/>
                </a:solidFill>
              </a:rPr>
              <a:t>across domains </a:t>
            </a:r>
          </a:p>
          <a:p>
            <a:pPr algn="ctr"/>
            <a:r>
              <a:rPr lang="en-US" sz="3600" b="1" dirty="0">
                <a:solidFill>
                  <a:srgbClr val="000000"/>
                </a:solidFill>
              </a:rPr>
              <a:t>and internationally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561ACF-89D5-832C-175D-AC70DBBCBD9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55739" y="0"/>
            <a:ext cx="51400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011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593DF7-2CF5-21DA-AE79-C11FED353750}"/>
              </a:ext>
            </a:extLst>
          </p:cNvPr>
          <p:cNvSpPr txBox="1"/>
          <p:nvPr/>
        </p:nvSpPr>
        <p:spPr>
          <a:xfrm>
            <a:off x="908351" y="1590149"/>
            <a:ext cx="9387116" cy="2390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5333" b="1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Forensics Sub-Committee</a:t>
            </a:r>
          </a:p>
          <a:p>
            <a:pPr defTabSz="1219170">
              <a:buClr>
                <a:srgbClr val="000000"/>
              </a:buClr>
            </a:pPr>
            <a:r>
              <a:rPr lang="en-US" sz="5333" b="1" kern="0" dirty="0">
                <a:solidFill>
                  <a:srgbClr val="20B1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  <a:sym typeface="Arial"/>
              </a:rPr>
              <a:t>Status Update</a:t>
            </a:r>
          </a:p>
          <a:p>
            <a:pPr defTabSz="1219170">
              <a:buClr>
                <a:srgbClr val="000000"/>
              </a:buClr>
            </a:pPr>
            <a:r>
              <a:rPr lang="en-US" sz="4267" b="1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05.22.2026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E45547-D2C3-0AC7-5732-8292A045A947}"/>
              </a:ext>
            </a:extLst>
          </p:cNvPr>
          <p:cNvSpPr/>
          <p:nvPr/>
        </p:nvSpPr>
        <p:spPr>
          <a:xfrm>
            <a:off x="-7781" y="4906943"/>
            <a:ext cx="12228576" cy="10460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5" name="Google Shape;206;g25633069588_2_0">
            <a:extLst>
              <a:ext uri="{FF2B5EF4-FFF2-40B4-BE49-F238E27FC236}">
                <a16:creationId xmlns:a16="http://schemas.microsoft.com/office/drawing/2014/main" id="{A705BC62-0FCB-7C24-8811-49950AEA9C50}"/>
              </a:ext>
            </a:extLst>
          </p:cNvPr>
          <p:cNvSpPr txBox="1">
            <a:spLocks/>
          </p:cNvSpPr>
          <p:nvPr/>
        </p:nvSpPr>
        <p:spPr>
          <a:xfrm>
            <a:off x="5454127" y="137953"/>
            <a:ext cx="2021171" cy="18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219170"/>
            <a:r>
              <a:rPr lang="en-US" sz="1867" b="1" kern="0" dirty="0">
                <a:solidFill>
                  <a:srgbClr val="FFF176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UNCLASSIFIED</a:t>
            </a:r>
            <a:endParaRPr lang="en-US" sz="1867" kern="0" dirty="0">
              <a:solidFill>
                <a:srgbClr val="FFF176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4D20848-BB49-CCBC-54D4-404888C65C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/>
            <a:fld id="{00000000-1234-1234-1234-123412341234}" type="slidenum">
              <a:rPr lang="en-US" kern="0">
                <a:solidFill>
                  <a:srgbClr val="202729"/>
                </a:solidFill>
              </a:rPr>
              <a:pPr defTabSz="1219170"/>
              <a:t>18</a:t>
            </a:fld>
            <a:endParaRPr lang="en-US" kern="0">
              <a:solidFill>
                <a:srgbClr val="202729"/>
              </a:solidFill>
            </a:endParaRPr>
          </a:p>
        </p:txBody>
      </p:sp>
      <p:sp>
        <p:nvSpPr>
          <p:cNvPr id="16" name="Google Shape;206;g25633069588_2_0">
            <a:extLst>
              <a:ext uri="{FF2B5EF4-FFF2-40B4-BE49-F238E27FC236}">
                <a16:creationId xmlns:a16="http://schemas.microsoft.com/office/drawing/2014/main" id="{57F6B7CB-683B-35D3-2DC8-F8F2004CFA95}"/>
              </a:ext>
            </a:extLst>
          </p:cNvPr>
          <p:cNvSpPr txBox="1">
            <a:spLocks/>
          </p:cNvSpPr>
          <p:nvPr/>
        </p:nvSpPr>
        <p:spPr>
          <a:xfrm>
            <a:off x="5454127" y="6526377"/>
            <a:ext cx="2021171" cy="18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219170"/>
            <a:r>
              <a:rPr lang="en-US" sz="1867" b="1" kern="0" dirty="0">
                <a:solidFill>
                  <a:srgbClr val="FFF176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UNCLASSIFIED</a:t>
            </a:r>
            <a:endParaRPr lang="en-US" sz="1867" kern="0" dirty="0">
              <a:solidFill>
                <a:srgbClr val="FFF176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60C3DC-5F68-8F38-8A80-566451AFA0A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25697" y="4914767"/>
            <a:ext cx="1046020" cy="10289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34A4FC-6633-3F56-7B80-668947F42D7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1267" y="4926091"/>
            <a:ext cx="1011936" cy="10119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B670D4-A711-35A7-AFA1-BD894412815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1574" y="4926092"/>
            <a:ext cx="1052433" cy="10524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4AEA3B-7EAE-93E4-BF5A-48091E6E9B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190" y="5086547"/>
            <a:ext cx="2451065" cy="7315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12DC55-E66B-B800-8326-FD75CF9B5BF0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68976" y="4926091"/>
            <a:ext cx="1355795" cy="10119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AC7EEE-C7B9-3D9E-0204-2CF68F4B83C7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2299" y="4926599"/>
            <a:ext cx="994300" cy="102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05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9F9BE-F9EB-6BB0-E24A-B527AB82A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EE41A6-41C0-B276-0904-F6D02D517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7869"/>
            <a:ext cx="10972800" cy="697627"/>
          </a:xfrm>
        </p:spPr>
        <p:txBody>
          <a:bodyPr anchor="ctr">
            <a:norm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History &amp; Progress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D3C3A7-2C29-A826-0B8C-4E254327158D}"/>
              </a:ext>
            </a:extLst>
          </p:cNvPr>
          <p:cNvSpPr/>
          <p:nvPr/>
        </p:nvSpPr>
        <p:spPr>
          <a:xfrm>
            <a:off x="0" y="1"/>
            <a:ext cx="453656" cy="1199632"/>
          </a:xfrm>
          <a:prstGeom prst="rect">
            <a:avLst/>
          </a:prstGeom>
          <a:solidFill>
            <a:srgbClr val="20B2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FEEE489-BA9A-FFE7-3827-E775DC7BA221}"/>
              </a:ext>
            </a:extLst>
          </p:cNvPr>
          <p:cNvSpPr txBox="1">
            <a:spLocks/>
          </p:cNvSpPr>
          <p:nvPr/>
        </p:nvSpPr>
        <p:spPr>
          <a:xfrm>
            <a:off x="1190874" y="1186790"/>
            <a:ext cx="9400927" cy="4909075"/>
          </a:xfrm>
          <a:prstGeom prst="rect">
            <a:avLst/>
          </a:prstGeom>
        </p:spPr>
        <p:txBody>
          <a:bodyPr vert="horz" lIns="0" tIns="0" rIns="0" bIns="0" spcCol="2743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40" rtl="0" eaLnBrk="1" fontAlgn="auto" latinLnBrk="0" hangingPunct="1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1867" b="1" dirty="0">
                <a:solidFill>
                  <a:srgbClr val="002060"/>
                </a:solidFill>
                <a:latin typeface="Arial"/>
              </a:rPr>
              <a:t>COMPLETED ACTIVITIES</a:t>
            </a: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82880" marR="0" lvl="0" indent="-182880" algn="l" defTabSz="1219140" rtl="0" eaLnBrk="1" fontAlgn="auto" latinLnBrk="0" hangingPunct="1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rgbClr val="221F2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Forensics Domain formally established in Spring 2025</a:t>
            </a:r>
          </a:p>
          <a:p>
            <a:pPr marL="182880" marR="0" lvl="0" indent="-182880" algn="l" defTabSz="1219140" rtl="0" eaLnBrk="1" fontAlgn="auto" latinLnBrk="0" hangingPunct="1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rgbClr val="221F2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Subcommittee Kick-Off Town Hall held in December 2025</a:t>
            </a:r>
          </a:p>
          <a:p>
            <a:pPr marL="182880" marR="0" lvl="0" indent="-182880" algn="l" defTabSz="1219140" rtl="0" eaLnBrk="1" fontAlgn="auto" latinLnBrk="0" hangingPunct="1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221F20"/>
                </a:solidFill>
                <a:latin typeface="Arial"/>
              </a:rPr>
              <a:t>Publication of an article in Journal of Forensics Research and a </a:t>
            </a:r>
            <a:r>
              <a:rPr lang="en-US" dirty="0" err="1">
                <a:solidFill>
                  <a:srgbClr val="221F20"/>
                </a:solidFill>
                <a:latin typeface="Arial"/>
              </a:rPr>
              <a:t>NIEMOpen</a:t>
            </a:r>
            <a:r>
              <a:rPr lang="en-US" dirty="0">
                <a:solidFill>
                  <a:srgbClr val="221F20"/>
                </a:solidFill>
                <a:latin typeface="Arial"/>
              </a:rPr>
              <a:t> press release</a:t>
            </a: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srgbClr val="221F2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defTabSz="121914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21F20"/>
                </a:solidFill>
              </a:rPr>
              <a:t>Forensics Subcommittee GitHub page for collaboration: </a:t>
            </a:r>
            <a:r>
              <a:rPr lang="en-US" dirty="0">
                <a:solidFill>
                  <a:srgbClr val="221F20"/>
                </a:solidFill>
                <a:hlinkClick r:id="rId3"/>
              </a:rPr>
              <a:t>https://github.com/niemopen/niem-forensics</a:t>
            </a:r>
            <a:endParaRPr lang="en-US" dirty="0">
              <a:solidFill>
                <a:srgbClr val="221F20"/>
              </a:solidFill>
            </a:endParaRPr>
          </a:p>
          <a:p>
            <a:pPr defTabSz="1219140"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21F20"/>
                </a:solidFill>
              </a:rPr>
              <a:t>Forensic attributes lists, rosters, and meeting documentation posted to GitHub</a:t>
            </a:r>
            <a:endParaRPr kumimoji="0" lang="en-US" sz="1867" i="0" u="none" strike="noStrike" kern="1200" cap="none" spc="0" normalizeH="0" baseline="0" noProof="0" dirty="0">
              <a:ln>
                <a:noFill/>
              </a:ln>
              <a:solidFill>
                <a:srgbClr val="221F2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1219140" rtl="0" eaLnBrk="1" fontAlgn="auto" latinLnBrk="0" hangingPunct="1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1867" b="1" dirty="0">
                <a:solidFill>
                  <a:srgbClr val="002060"/>
                </a:solidFill>
                <a:latin typeface="Arial"/>
              </a:rPr>
              <a:t>CURRENT ACTIVITIES</a:t>
            </a: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lvl="0" defTabSz="1219140"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srgbClr val="221F20"/>
                </a:solidFill>
              </a:rPr>
              <a:t>Tiger Teams</a:t>
            </a:r>
          </a:p>
          <a:p>
            <a:pPr lvl="1" defTabSz="1219140"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21F20"/>
                </a:solidFill>
              </a:rPr>
              <a:t>Subcommittee leadership is conducting meetings with forensic organizations and subject matter experts to identify leads</a:t>
            </a:r>
          </a:p>
          <a:p>
            <a:pPr lvl="1" defTabSz="1219140"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21F20"/>
                </a:solidFill>
              </a:rPr>
              <a:t>Tentative lead identified for Chemistry tiger team – awaiting confirmation</a:t>
            </a:r>
          </a:p>
          <a:p>
            <a:pPr defTabSz="1219140"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srgbClr val="221F20"/>
                </a:solidFill>
              </a:rPr>
              <a:t>Subcommittee Documentation</a:t>
            </a:r>
          </a:p>
          <a:p>
            <a:pPr lvl="1" defTabSz="1219140"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21F20"/>
                </a:solidFill>
              </a:rPr>
              <a:t>Draft SOP/Guidance document for tiger team leads under review</a:t>
            </a:r>
          </a:p>
          <a:p>
            <a:pPr lvl="1" defTabSz="1219140"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21F20"/>
                </a:solidFill>
              </a:rPr>
              <a:t>GitHub page is being updated as new subcommittee documents are developed</a:t>
            </a:r>
          </a:p>
          <a:p>
            <a:pPr marL="0" marR="0" lvl="0" indent="0" algn="l" defTabSz="1219140" rtl="0" eaLnBrk="1" fontAlgn="auto" latinLnBrk="0" hangingPunct="1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133" b="0" i="0" u="none" strike="noStrike" kern="1200" cap="none" spc="0" normalizeH="0" baseline="0" noProof="0" dirty="0">
              <a:ln>
                <a:noFill/>
              </a:ln>
              <a:solidFill>
                <a:srgbClr val="221F2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F3929FA-8791-EB4D-1D93-54ECEB0D898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fld id="{00000000-1234-1234-1234-123412341234}" type="slidenum">
              <a:rPr lang="en" smtClean="0"/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  <a:tabLst/>
                <a:defRPr/>
              </a:pPr>
              <a:t>19</a:t>
            </a:fld>
            <a:endParaRPr kumimoji="0" lang="en" sz="1333" b="0" i="0" u="none" strike="noStrike" kern="1200" cap="none" spc="0" normalizeH="0" baseline="0" noProof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Proxima Nova"/>
              <a:sym typeface="Proxima Nova"/>
            </a:endParaRPr>
          </a:p>
        </p:txBody>
      </p:sp>
      <p:sp>
        <p:nvSpPr>
          <p:cNvPr id="13" name="Google Shape;206;g25633069588_2_0">
            <a:extLst>
              <a:ext uri="{FF2B5EF4-FFF2-40B4-BE49-F238E27FC236}">
                <a16:creationId xmlns:a16="http://schemas.microsoft.com/office/drawing/2014/main" id="{598C7BE6-F483-CF1F-A9AF-57C4FEA4D577}"/>
              </a:ext>
            </a:extLst>
          </p:cNvPr>
          <p:cNvSpPr txBox="1">
            <a:spLocks/>
          </p:cNvSpPr>
          <p:nvPr/>
        </p:nvSpPr>
        <p:spPr>
          <a:xfrm>
            <a:off x="5175564" y="6599655"/>
            <a:ext cx="2021171" cy="1889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50" b="0" i="0" u="none" strike="noStrike" cap="none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UNCLASSIFIED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4064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5AEF8-839B-D4FB-2B26-4D947AFF4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745A27-B2D7-1597-155B-55ABA4F76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7869"/>
            <a:ext cx="10972800" cy="697627"/>
          </a:xfrm>
        </p:spPr>
        <p:txBody>
          <a:bodyPr anchor="ctr">
            <a:norm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next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720B88-0357-AF0D-EEBE-18E1E4F56A6F}"/>
              </a:ext>
            </a:extLst>
          </p:cNvPr>
          <p:cNvSpPr/>
          <p:nvPr/>
        </p:nvSpPr>
        <p:spPr>
          <a:xfrm>
            <a:off x="0" y="1"/>
            <a:ext cx="453656" cy="1199632"/>
          </a:xfrm>
          <a:prstGeom prst="rect">
            <a:avLst/>
          </a:prstGeom>
          <a:solidFill>
            <a:srgbClr val="20B2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0C7D94F-6934-FC91-9A4C-7675C253AA56}"/>
              </a:ext>
            </a:extLst>
          </p:cNvPr>
          <p:cNvSpPr txBox="1">
            <a:spLocks/>
          </p:cNvSpPr>
          <p:nvPr/>
        </p:nvSpPr>
        <p:spPr>
          <a:xfrm>
            <a:off x="1190874" y="1084823"/>
            <a:ext cx="9400927" cy="4909075"/>
          </a:xfrm>
          <a:prstGeom prst="rect">
            <a:avLst/>
          </a:prstGeom>
        </p:spPr>
        <p:txBody>
          <a:bodyPr vert="horz" lIns="0" tIns="0" rIns="0" bIns="0" spcCol="2743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219140">
              <a:buNone/>
              <a:defRPr/>
            </a:pPr>
            <a:r>
              <a:rPr lang="en-US" sz="1867" b="1" dirty="0">
                <a:solidFill>
                  <a:srgbClr val="002060"/>
                </a:solidFill>
              </a:rPr>
              <a:t>TIGER TEAM DEVELOPMENT</a:t>
            </a: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221F2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defTabSz="1219140"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srgbClr val="221F20"/>
                </a:solidFill>
                <a:latin typeface="Arial"/>
              </a:rPr>
              <a:t>Timeframe: </a:t>
            </a:r>
            <a:r>
              <a:rPr lang="en-US" dirty="0">
                <a:solidFill>
                  <a:srgbClr val="221F20"/>
                </a:solidFill>
                <a:latin typeface="Arial"/>
              </a:rPr>
              <a:t>Ongoing</a:t>
            </a:r>
          </a:p>
          <a:p>
            <a:pPr defTabSz="1219140"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srgbClr val="221F20"/>
                </a:solidFill>
                <a:latin typeface="Arial"/>
              </a:rPr>
              <a:t>Process:</a:t>
            </a:r>
          </a:p>
          <a:p>
            <a:pPr marL="640080" lvl="1" indent="-457200" defTabSz="1219140">
              <a:spcBef>
                <a:spcPts val="1000"/>
              </a:spcBef>
              <a:buFont typeface="+mj-lt"/>
              <a:buAutoNum type="arabicPeriod"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rgbClr val="221F2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Leadership </a:t>
            </a:r>
            <a:r>
              <a:rPr lang="en-US" dirty="0">
                <a:solidFill>
                  <a:srgbClr val="221F20"/>
                </a:solidFill>
                <a:latin typeface="Arial"/>
              </a:rPr>
              <a:t>will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rgbClr val="221F2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meet with tiger team leads as they are identified</a:t>
            </a:r>
          </a:p>
          <a:p>
            <a:pPr marL="640080" lvl="1" indent="-457200" defTabSz="1219140">
              <a:spcBef>
                <a:spcPts val="1000"/>
              </a:spcBef>
              <a:spcAft>
                <a:spcPts val="1000"/>
              </a:spcAft>
              <a:buFont typeface="+mj-lt"/>
              <a:buAutoNum type="arabicPeriod"/>
              <a:defRPr/>
            </a:pPr>
            <a:r>
              <a:rPr lang="en-US" dirty="0">
                <a:solidFill>
                  <a:srgbClr val="221F20"/>
                </a:solidFill>
                <a:latin typeface="Arial"/>
              </a:rPr>
              <a:t>Leads will work with their tiger team to begin attribute refinement and development</a:t>
            </a:r>
            <a:endParaRPr lang="en-US" sz="1800" dirty="0">
              <a:solidFill>
                <a:srgbClr val="221F20"/>
              </a:solidFill>
              <a:latin typeface="Arial"/>
            </a:endParaRPr>
          </a:p>
          <a:p>
            <a:pPr marL="0" indent="0" defTabSz="1219140">
              <a:buNone/>
              <a:defRPr/>
            </a:pPr>
            <a:r>
              <a:rPr lang="en-US" sz="1867" b="1" dirty="0">
                <a:solidFill>
                  <a:srgbClr val="002060"/>
                </a:solidFill>
              </a:rPr>
              <a:t>GENERAL SUBCOMMITTEE MEETING</a:t>
            </a: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221F2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defTabSz="1219140"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21F2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Timeframe: </a:t>
            </a:r>
            <a:r>
              <a:rPr lang="en-US" dirty="0">
                <a:solidFill>
                  <a:srgbClr val="221F20"/>
                </a:solidFill>
                <a:latin typeface="Arial"/>
              </a:rPr>
              <a:t>Fall 2026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221F2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defTabSz="1219140"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21F2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Topics:</a:t>
            </a:r>
          </a:p>
          <a:p>
            <a:pPr marL="640080" lvl="1" indent="-457200" defTabSz="1219140">
              <a:buFont typeface="+mj-lt"/>
              <a:buAutoNum type="arabicPeriod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21F2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Introduction of tiger team leads</a:t>
            </a:r>
          </a:p>
          <a:p>
            <a:pPr marL="640080" lvl="1" indent="-457200" defTabSz="1219140">
              <a:buFont typeface="+mj-lt"/>
              <a:buAutoNum type="arabicPeriod"/>
              <a:defRPr/>
            </a:pPr>
            <a:r>
              <a:rPr lang="en-US" dirty="0">
                <a:solidFill>
                  <a:srgbClr val="221F20"/>
                </a:solidFill>
                <a:latin typeface="Arial"/>
              </a:rPr>
              <a:t>Status updates on tiger teams and attribute development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221F2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640080" lvl="1" indent="-457200" defTabSz="1219140">
              <a:buFont typeface="+mj-lt"/>
              <a:buAutoNum type="arabicPeriod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21F2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Overview of GitHub page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744A11A-1E92-56DB-8D12-F7BDC4A8756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kern="1200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fld id="{00000000-1234-1234-1234-123412341234}" type="slidenum">
              <a:rPr lang="en" smtClean="0"/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  <a:tabLst/>
                <a:defRPr/>
              </a:pPr>
              <a:t>20</a:t>
            </a:fld>
            <a:endParaRPr kumimoji="0" lang="en" sz="1333" b="0" i="0" u="none" strike="noStrike" kern="1200" cap="none" spc="0" normalizeH="0" baseline="0" noProof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Proxima Nova"/>
              <a:sym typeface="Proxima Nova"/>
            </a:endParaRPr>
          </a:p>
        </p:txBody>
      </p:sp>
      <p:sp>
        <p:nvSpPr>
          <p:cNvPr id="13" name="Google Shape;206;g25633069588_2_0">
            <a:extLst>
              <a:ext uri="{FF2B5EF4-FFF2-40B4-BE49-F238E27FC236}">
                <a16:creationId xmlns:a16="http://schemas.microsoft.com/office/drawing/2014/main" id="{3F36275A-050D-3A48-417C-DAF83DD6C978}"/>
              </a:ext>
            </a:extLst>
          </p:cNvPr>
          <p:cNvSpPr txBox="1">
            <a:spLocks/>
          </p:cNvSpPr>
          <p:nvPr/>
        </p:nvSpPr>
        <p:spPr>
          <a:xfrm>
            <a:off x="5175564" y="6599655"/>
            <a:ext cx="2021171" cy="1889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50" b="0" i="0" u="none" strike="noStrike" cap="none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UNCLASSIFIED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1BDF83-DDC2-F639-5F09-595EEF90BB8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7962" y="4857160"/>
            <a:ext cx="7446750" cy="136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375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EC440ACB-EA51-6139-08DC-83A1C3DA613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0" cy="0"/>
          </a:xfr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2F2F552B-1952-B44E-8CAB-5705F0ACD2E2}" type="slidenum">
              <a:rPr lang="uk-UA" sz="800" cap="all" smtClean="0">
                <a:solidFill>
                  <a:srgbClr val="0B2338"/>
                </a:solidFill>
                <a:latin typeface="Arial"/>
              </a:rPr>
              <a:pPr algn="r">
                <a:defRPr/>
              </a:pPr>
              <a:t>21</a:t>
            </a:fld>
            <a:endParaRPr lang="uk-UA" sz="800" cap="all" dirty="0">
              <a:solidFill>
                <a:srgbClr val="0B2338"/>
              </a:solidFill>
              <a:latin typeface="Arial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F593DE50-CDF6-18E8-E7BA-B283DE1E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6905"/>
            <a:ext cx="11277600" cy="693337"/>
          </a:xfrm>
        </p:spPr>
        <p:txBody>
          <a:bodyPr>
            <a:normAutofit/>
          </a:bodyPr>
          <a:lstStyle/>
          <a:p>
            <a:r>
              <a:rPr lang="en-US" sz="2400" dirty="0"/>
              <a:t>Update on Counter-UAS information standards</a:t>
            </a:r>
            <a:endParaRPr lang="en-US" sz="2400" dirty="0">
              <a:solidFill>
                <a:srgbClr val="004282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B713D21-43FF-F220-017B-14663D32B0FE}"/>
              </a:ext>
            </a:extLst>
          </p:cNvPr>
          <p:cNvSpPr txBox="1">
            <a:spLocks/>
          </p:cNvSpPr>
          <p:nvPr/>
        </p:nvSpPr>
        <p:spPr>
          <a:xfrm>
            <a:off x="457200" y="795484"/>
            <a:ext cx="11277600" cy="5431698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3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2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2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»"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The emerging data standard for Counter‑UAS (C‑UAS) activities is being driven primarily by a U.S.–U.K. initiative to create a unified, interoperable data format for detection, tracking, and engagement of unmanned aerial threats. </a:t>
            </a:r>
            <a:r>
              <a:rPr lang="en-US" sz="1400" b="1" dirty="0"/>
              <a:t>Purpose of the Standard:</a:t>
            </a:r>
            <a:endParaRPr lang="en-US" sz="1400" dirty="0"/>
          </a:p>
          <a:p>
            <a:pPr lvl="0"/>
            <a:r>
              <a:rPr lang="en-US" sz="1400" dirty="0"/>
              <a:t>Create </a:t>
            </a:r>
            <a:r>
              <a:rPr lang="en-US" sz="1400" u="sng" dirty="0"/>
              <a:t>common data formats </a:t>
            </a:r>
            <a:r>
              <a:rPr lang="en-US" sz="1400" dirty="0"/>
              <a:t>for C‑UAS sensors, effectors, and command‑and‑control systems to transmit their findings</a:t>
            </a:r>
          </a:p>
          <a:p>
            <a:pPr lvl="0"/>
            <a:r>
              <a:rPr lang="en-US" sz="1400" dirty="0"/>
              <a:t>Improve </a:t>
            </a:r>
            <a:r>
              <a:rPr lang="en-US" sz="1400" u="sng" dirty="0"/>
              <a:t>sensor fusion</a:t>
            </a:r>
            <a:r>
              <a:rPr lang="en-US" sz="1400" dirty="0"/>
              <a:t>, allowing multiple radars, RF detectors, EO/IR cameras, and effectors to share a unified picture </a:t>
            </a:r>
          </a:p>
          <a:p>
            <a:pPr lvl="0"/>
            <a:r>
              <a:rPr lang="en-US" sz="1400" dirty="0"/>
              <a:t>Enable </a:t>
            </a:r>
            <a:r>
              <a:rPr lang="en-US" sz="1400" u="sng" dirty="0"/>
              <a:t>interoperability</a:t>
            </a:r>
            <a:r>
              <a:rPr lang="en-US" sz="1400" dirty="0"/>
              <a:t> between U.S. and U.K. systems, with potential expansion to NATO partners. </a:t>
            </a:r>
          </a:p>
          <a:p>
            <a:pPr lvl="0"/>
            <a:r>
              <a:rPr lang="en-US" sz="1400" u="sng" dirty="0"/>
              <a:t>Reduce and enhance </a:t>
            </a:r>
            <a:r>
              <a:rPr lang="en-US" sz="1400" dirty="0"/>
              <a:t>the C2 operator workload for interpreting and engaging UAS threat contacts</a:t>
            </a:r>
          </a:p>
          <a:p>
            <a:pPr marL="0" indent="0">
              <a:buNone/>
            </a:pPr>
            <a:r>
              <a:rPr lang="en-US" sz="1400" b="1" dirty="0"/>
              <a:t>What Counter UAS data and information sharing standards have been developed so far?</a:t>
            </a:r>
          </a:p>
          <a:p>
            <a:pPr lvl="0"/>
            <a:r>
              <a:rPr lang="en-US" sz="1400" dirty="0"/>
              <a:t>NATO is in the process of adopting the UK-Developed SAPIENT </a:t>
            </a:r>
            <a:r>
              <a:rPr lang="en-US" sz="1400" b="1" dirty="0"/>
              <a:t>(</a:t>
            </a:r>
            <a:r>
              <a:rPr lang="en-US" sz="1400" dirty="0"/>
              <a:t>Sensing for Asset Protection with Integrated Electronic Networked Technology) approach </a:t>
            </a:r>
          </a:p>
          <a:p>
            <a:pPr lvl="1"/>
            <a:r>
              <a:rPr lang="en-US" sz="1400" dirty="0"/>
              <a:t>SAPIENT Plug and Play approach is to enhance vendor products in order to process raw data and transmit standardized information exchange messages between components </a:t>
            </a:r>
          </a:p>
          <a:p>
            <a:pPr lvl="1"/>
            <a:r>
              <a:rPr lang="en-US" sz="1400" dirty="0"/>
              <a:t>Utilize AI for processing and interpreting raw data for detecting, identifying and confirming UAS contacts </a:t>
            </a:r>
          </a:p>
          <a:p>
            <a:pPr lvl="1"/>
            <a:r>
              <a:rPr lang="en-US" sz="1400" dirty="0"/>
              <a:t>Demonstrated and tested Counter UAS systems that integrated SAPIENT plug-and-play software engine</a:t>
            </a:r>
          </a:p>
          <a:p>
            <a:pPr lvl="1"/>
            <a:r>
              <a:rPr lang="en-US" sz="1400" dirty="0"/>
              <a:t>UK MOD has developed an Interface Control Document (ICD) for SAPIENT integration</a:t>
            </a:r>
          </a:p>
          <a:p>
            <a:pPr lvl="0"/>
            <a:r>
              <a:rPr lang="en-US" sz="1400" dirty="0"/>
              <a:t>DOD and DHS have decided to adopt the NATO approach to maintain uniformity and key alignments with other countries implementing Counter UAS strategy. This includes:</a:t>
            </a:r>
          </a:p>
          <a:p>
            <a:pPr lvl="1"/>
            <a:r>
              <a:rPr lang="en-US" sz="1400" dirty="0"/>
              <a:t>Open Architecture and interoperability</a:t>
            </a:r>
          </a:p>
          <a:p>
            <a:pPr lvl="1"/>
            <a:r>
              <a:rPr lang="en-US" sz="1400" dirty="0"/>
              <a:t>AI and autonomous functionality</a:t>
            </a:r>
          </a:p>
          <a:p>
            <a:pPr lvl="1"/>
            <a:r>
              <a:rPr lang="en-US" sz="1400" dirty="0"/>
              <a:t>Operational efficiency</a:t>
            </a:r>
          </a:p>
          <a:p>
            <a:pPr lvl="1"/>
            <a:r>
              <a:rPr lang="en-US" sz="1400" dirty="0"/>
              <a:t>Plug-and-Play Implementation strategy with hardware vendors (NATO and US Army)</a:t>
            </a:r>
          </a:p>
        </p:txBody>
      </p:sp>
    </p:spTree>
    <p:extLst>
      <p:ext uri="{BB962C8B-B14F-4D97-AF65-F5344CB8AC3E}">
        <p14:creationId xmlns:p14="http://schemas.microsoft.com/office/powerpoint/2010/main" val="7651993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70329-8625-A4A1-C5DF-378356DFB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DFA864C-F795-CBED-C9EE-9F955AEFDA8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0" cy="0"/>
          </a:xfr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2F2F552B-1952-B44E-8CAB-5705F0ACD2E2}" type="slidenum">
              <a:rPr lang="uk-UA" sz="800" cap="all" smtClean="0">
                <a:solidFill>
                  <a:srgbClr val="0B2338"/>
                </a:solidFill>
                <a:latin typeface="Arial"/>
              </a:rPr>
              <a:pPr algn="r">
                <a:defRPr/>
              </a:pPr>
              <a:t>22</a:t>
            </a:fld>
            <a:endParaRPr lang="uk-UA" sz="800" cap="all" dirty="0">
              <a:solidFill>
                <a:srgbClr val="0B2338"/>
              </a:solidFill>
              <a:latin typeface="Arial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B5E6DAF5-F461-ED9E-2D5A-E6CF10AE9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6905"/>
            <a:ext cx="11277600" cy="693337"/>
          </a:xfrm>
        </p:spPr>
        <p:txBody>
          <a:bodyPr/>
          <a:lstStyle/>
          <a:p>
            <a:r>
              <a:rPr lang="en-US" dirty="0">
                <a:solidFill>
                  <a:srgbClr val="004282"/>
                </a:solidFill>
              </a:rPr>
              <a:t>Potential financial integrity domain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F46ADE50-DA18-821C-8F38-A80442188A34}"/>
              </a:ext>
            </a:extLst>
          </p:cNvPr>
          <p:cNvSpPr txBox="1">
            <a:spLocks/>
          </p:cNvSpPr>
          <p:nvPr/>
        </p:nvSpPr>
        <p:spPr>
          <a:xfrm>
            <a:off x="457200" y="1246909"/>
            <a:ext cx="11277600" cy="5001491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3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2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2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»"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000000"/>
                </a:solidFill>
              </a:rPr>
              <a:t>Support for information exchanges to counter fraud, waste and abuse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000000"/>
                </a:solidFill>
              </a:rPr>
              <a:t>Scope could include contracts, grant management, beneficial ownership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000000"/>
                </a:solidFill>
              </a:rPr>
              <a:t>Reuse of community-agreed data models, with local extensions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000000"/>
                </a:solidFill>
              </a:rPr>
              <a:t>A technology-neutral data modeling language compatible with ontology formalisms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000000"/>
                </a:solidFill>
              </a:rPr>
              <a:t>Knowledge graph representation of exchanged data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000000"/>
                </a:solidFill>
              </a:rPr>
              <a:t>Automated conversion between supported serializations (XML to JSON, etc.)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000000"/>
                </a:solidFill>
              </a:rPr>
              <a:t>Machine validation of message specifications for NIEM conformance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000000"/>
                </a:solidFill>
              </a:rPr>
              <a:t>Machine validation of exchanged data for message specification conformance</a:t>
            </a:r>
          </a:p>
        </p:txBody>
      </p:sp>
    </p:spTree>
    <p:extLst>
      <p:ext uri="{BB962C8B-B14F-4D97-AF65-F5344CB8AC3E}">
        <p14:creationId xmlns:p14="http://schemas.microsoft.com/office/powerpoint/2010/main" val="38656414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673D6-DDD8-75B0-73D0-00DBA06A1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Situation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A0B84-AA7E-92F6-3798-98848F86E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1787"/>
            <a:ext cx="5922936" cy="4171627"/>
          </a:xfrm>
        </p:spPr>
        <p:txBody>
          <a:bodyPr>
            <a:normAutofit/>
          </a:bodyPr>
          <a:lstStyle/>
          <a:p>
            <a:r>
              <a:rPr lang="en-US" sz="2400" dirty="0"/>
              <a:t>Domain engagement in Business Architecture meetings is low</a:t>
            </a:r>
          </a:p>
          <a:p>
            <a:pPr lvl="1"/>
            <a:r>
              <a:rPr lang="en-CA" dirty="0"/>
              <a:t>While attendance is typically acceptable, not all are represented</a:t>
            </a:r>
          </a:p>
          <a:p>
            <a:pPr lvl="1"/>
            <a:r>
              <a:rPr lang="en-CA" b="1" i="1" dirty="0"/>
              <a:t>Not enough engagement</a:t>
            </a:r>
            <a:r>
              <a:rPr lang="en-CA" dirty="0"/>
              <a:t>: questions, insight, ideas</a:t>
            </a:r>
          </a:p>
          <a:p>
            <a:r>
              <a:rPr lang="en-CA" sz="2400" dirty="0"/>
              <a:t>Some Domains are dormant</a:t>
            </a:r>
          </a:p>
          <a:p>
            <a:pPr lvl="1"/>
            <a:r>
              <a:rPr lang="en-CA" dirty="0"/>
              <a:t>Original SMEs have achieved their goal (“maturity model”)</a:t>
            </a:r>
          </a:p>
          <a:p>
            <a:pPr lvl="1"/>
            <a:r>
              <a:rPr lang="en-CA" dirty="0"/>
              <a:t>Domain Leads have moved on</a:t>
            </a:r>
          </a:p>
          <a:p>
            <a:r>
              <a:rPr lang="en-CA" sz="2400" dirty="0"/>
              <a:t>New domains need engagement</a:t>
            </a:r>
          </a:p>
          <a:p>
            <a:pPr lvl="1"/>
            <a:r>
              <a:rPr lang="en-CA" dirty="0"/>
              <a:t>Are we reaching the widest audience?</a:t>
            </a:r>
          </a:p>
          <a:p>
            <a:pPr lvl="1"/>
            <a:r>
              <a:rPr lang="en-CA" dirty="0"/>
              <a:t>Are we depending on too little people to do too much?</a:t>
            </a:r>
          </a:p>
          <a:p>
            <a:pPr lvl="1"/>
            <a:endParaRPr lang="en-CA" dirty="0"/>
          </a:p>
          <a:p>
            <a:r>
              <a:rPr lang="en-CA" sz="2400" dirty="0"/>
              <a:t>The more engagement, the better</a:t>
            </a:r>
          </a:p>
        </p:txBody>
      </p:sp>
      <p:pic>
        <p:nvPicPr>
          <p:cNvPr id="6" name="Picture 5" descr="A circular blue and white circular object with white text&#10;&#10;AI-generated content may be incorrect.">
            <a:extLst>
              <a:ext uri="{FF2B5EF4-FFF2-40B4-BE49-F238E27FC236}">
                <a16:creationId xmlns:a16="http://schemas.microsoft.com/office/drawing/2014/main" id="{C22BCD8C-1172-A7DD-DCAF-ABE2EDEBA6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7615" y="1241787"/>
            <a:ext cx="4372968" cy="400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3030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F3660-AFD8-2E16-A395-91ACCED84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5C0BB-C938-49C5-8E1B-31B55024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1" dirty="0"/>
              <a:t>Proposal:</a:t>
            </a:r>
            <a:br>
              <a:rPr lang="en-CA" b="1" dirty="0"/>
            </a:br>
            <a:r>
              <a:rPr lang="en-US" sz="3100" dirty="0"/>
              <a:t>Domain-specific </a:t>
            </a:r>
            <a:r>
              <a:rPr lang="en-US" sz="3100" b="1" dirty="0"/>
              <a:t>NIEM</a:t>
            </a:r>
            <a:r>
              <a:rPr lang="en-US" sz="3100" dirty="0"/>
              <a:t>OPEN Business Architecture meetings</a:t>
            </a:r>
            <a:br>
              <a:rPr lang="en-US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18055-5ED0-3778-751C-63FAB078A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401"/>
            <a:ext cx="10515600" cy="4648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1. A Domain is selected months in advance</a:t>
            </a:r>
          </a:p>
          <a:p>
            <a:pPr marL="0" indent="0">
              <a:buNone/>
            </a:pPr>
            <a:r>
              <a:rPr lang="en-US" sz="2400" b="1" dirty="0"/>
              <a:t>2. Reach-out</a:t>
            </a:r>
          </a:p>
          <a:p>
            <a:r>
              <a:rPr lang="en-US" sz="2400" dirty="0"/>
              <a:t>All members are asked to spread word-of-mouth to SMEs or stakeholders Kevin Bacon-style</a:t>
            </a:r>
          </a:p>
          <a:p>
            <a:r>
              <a:rPr lang="en-US" sz="2400" b="1" dirty="0"/>
              <a:t>NIEM</a:t>
            </a:r>
            <a:r>
              <a:rPr lang="en-US" sz="2400" dirty="0"/>
              <a:t>OPEN and Leads will search for and contact SMEs or stakeholders</a:t>
            </a:r>
          </a:p>
          <a:p>
            <a:pPr lvl="1"/>
            <a:r>
              <a:rPr lang="en-US" dirty="0"/>
              <a:t>Government Directories</a:t>
            </a:r>
          </a:p>
          <a:p>
            <a:pPr lvl="1"/>
            <a:r>
              <a:rPr lang="en-US" dirty="0" err="1"/>
              <a:t>LinkedIN</a:t>
            </a:r>
            <a:endParaRPr lang="en-US" dirty="0"/>
          </a:p>
          <a:p>
            <a:pPr lvl="1"/>
            <a:r>
              <a:rPr lang="en-US" dirty="0"/>
              <a:t>Google</a:t>
            </a:r>
          </a:p>
          <a:p>
            <a:r>
              <a:rPr lang="en-US" sz="2400" dirty="0"/>
              <a:t>We will include private sector, all branches of national and international</a:t>
            </a:r>
          </a:p>
          <a:p>
            <a:pPr marL="0" indent="0">
              <a:buNone/>
            </a:pPr>
            <a:r>
              <a:rPr lang="en-CA" sz="2400" b="1" dirty="0"/>
              <a:t>3. Meeting is held</a:t>
            </a:r>
          </a:p>
          <a:p>
            <a:r>
              <a:rPr lang="en-CA" sz="2400" dirty="0"/>
              <a:t>Intro, short order of </a:t>
            </a:r>
            <a:r>
              <a:rPr lang="en-CA" sz="2400" b="1" dirty="0"/>
              <a:t>NIEM</a:t>
            </a:r>
            <a:r>
              <a:rPr lang="en-CA" sz="2400" dirty="0"/>
              <a:t>OPEN business, then focused solely on the specific Domain</a:t>
            </a:r>
          </a:p>
        </p:txBody>
      </p:sp>
    </p:spTree>
    <p:extLst>
      <p:ext uri="{BB962C8B-B14F-4D97-AF65-F5344CB8AC3E}">
        <p14:creationId xmlns:p14="http://schemas.microsoft.com/office/powerpoint/2010/main" val="30093087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CY</a:t>
            </a:r>
            <a:r>
              <a:rPr spc="-105" dirty="0"/>
              <a:t> </a:t>
            </a:r>
            <a:r>
              <a:rPr dirty="0"/>
              <a:t>202</a:t>
            </a:r>
            <a:r>
              <a:rPr lang="en-US" dirty="0"/>
              <a:t>5</a:t>
            </a:r>
            <a:r>
              <a:rPr spc="-30" dirty="0"/>
              <a:t> </a:t>
            </a:r>
            <a:r>
              <a:rPr dirty="0"/>
              <a:t>Q</a:t>
            </a:r>
            <a:r>
              <a:rPr lang="en-US" dirty="0"/>
              <a:t>3</a:t>
            </a:r>
            <a:r>
              <a:rPr spc="-45" dirty="0"/>
              <a:t> </a:t>
            </a:r>
            <a:r>
              <a:rPr spc="-10" dirty="0"/>
              <a:t>FINANCIALS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758" y="1937765"/>
            <a:ext cx="3364229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45"/>
              </a:spcBef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Cathie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Mayo</a:t>
            </a:r>
            <a:r>
              <a:rPr sz="1800" b="1" spc="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r>
              <a:rPr sz="1800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OASIS</a:t>
            </a:r>
            <a:r>
              <a:rPr sz="180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Chief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Financial</a:t>
            </a:r>
            <a:r>
              <a:rPr sz="18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Officer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1459" y="1711451"/>
            <a:ext cx="1668780" cy="17358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BBC8DB-4FBF-9F84-4537-F1DFD08A8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E6030FC-FB78-5E4D-92EA-5D9433591EA9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2DBADF22-1752-BC4B-2882-79EE36E17634}"/>
              </a:ext>
            </a:extLst>
          </p:cNvPr>
          <p:cNvSpPr txBox="1">
            <a:spLocks/>
          </p:cNvSpPr>
          <p:nvPr/>
        </p:nvSpPr>
        <p:spPr>
          <a:xfrm>
            <a:off x="688340" y="326593"/>
            <a:ext cx="422592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sz="2400" b="1" dirty="0"/>
              <a:t>CY/FY</a:t>
            </a:r>
            <a:r>
              <a:rPr lang="en-US" sz="2400" b="1" spc="-105" dirty="0"/>
              <a:t> </a:t>
            </a:r>
            <a:r>
              <a:rPr lang="en-US" sz="2400" b="1" dirty="0"/>
              <a:t>2026</a:t>
            </a:r>
            <a:r>
              <a:rPr lang="en-US" sz="2400" b="1" spc="-30" dirty="0"/>
              <a:t> </a:t>
            </a:r>
            <a:r>
              <a:rPr lang="en-US" sz="2400" b="1" dirty="0"/>
              <a:t>Q2</a:t>
            </a:r>
            <a:r>
              <a:rPr lang="en-US" sz="2400" b="1" spc="-45" dirty="0"/>
              <a:t> </a:t>
            </a:r>
            <a:r>
              <a:rPr lang="en-US" sz="2400" b="1" spc="-10" dirty="0"/>
              <a:t>FINANCIALS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8404481-394B-532E-261E-90DB9F67B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8725" y="1119257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</a:b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952AA63-A800-5FA8-27D5-0B84275D83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156954"/>
              </p:ext>
            </p:extLst>
          </p:nvPr>
        </p:nvGraphicFramePr>
        <p:xfrm>
          <a:off x="2032000" y="2222938"/>
          <a:ext cx="8128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2457817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874633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FY 2025 Balance 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$159,519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300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FY 2026 Funding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6003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FY Total funds Available YTD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179,518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228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Expenditures 2026 YTD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28,702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564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Current Obligations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72,432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083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Ending Balance 2026-Q2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150,816</a:t>
                      </a:r>
                      <a:endParaRPr lang="en-US" sz="2400" b="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83549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CC929D7-B0EF-F5E1-488D-4963C2323982}"/>
              </a:ext>
            </a:extLst>
          </p:cNvPr>
          <p:cNvSpPr txBox="1"/>
          <p:nvPr/>
        </p:nvSpPr>
        <p:spPr>
          <a:xfrm>
            <a:off x="2019590" y="1642477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Summary:</a:t>
            </a:r>
          </a:p>
        </p:txBody>
      </p:sp>
    </p:spTree>
    <p:extLst>
      <p:ext uri="{BB962C8B-B14F-4D97-AF65-F5344CB8AC3E}">
        <p14:creationId xmlns:p14="http://schemas.microsoft.com/office/powerpoint/2010/main" val="32582907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9464" y="1777084"/>
            <a:ext cx="11893071" cy="330382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114800" y="4114800"/>
            <a:ext cx="12128754" cy="15337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869054" algn="l">
              <a:lnSpc>
                <a:spcPts val="5270"/>
              </a:lnSpc>
              <a:spcBef>
                <a:spcPts val="100"/>
              </a:spcBef>
              <a:tabLst>
                <a:tab pos="1372235" algn="l"/>
              </a:tabLst>
            </a:pPr>
            <a:r>
              <a:rPr lang="en-US" sz="4400" b="1" spc="-25" dirty="0">
                <a:solidFill>
                  <a:srgbClr val="00516F"/>
                </a:solidFill>
                <a:latin typeface="Lucida Sans"/>
                <a:cs typeface="Lucida Sans"/>
              </a:rPr>
              <a:t>2026 Initiatives</a:t>
            </a:r>
            <a:endParaRPr sz="4400" dirty="0">
              <a:latin typeface="Lucida Sans"/>
              <a:cs typeface="Lucida Sans"/>
            </a:endParaRPr>
          </a:p>
          <a:p>
            <a:pPr marR="3867150" algn="ctr">
              <a:lnSpc>
                <a:spcPts val="2150"/>
              </a:lnSpc>
            </a:pPr>
            <a:endParaRPr lang="en-US" sz="2800" b="1" spc="-35" dirty="0">
              <a:solidFill>
                <a:srgbClr val="8A8A8A"/>
              </a:solidFill>
              <a:latin typeface="Arial"/>
              <a:cs typeface="Arial"/>
            </a:endParaRPr>
          </a:p>
          <a:p>
            <a:pPr marR="3867150" algn="just">
              <a:lnSpc>
                <a:spcPts val="2150"/>
              </a:lnSpc>
            </a:pPr>
            <a:r>
              <a:rPr lang="en-US" sz="2800" b="1" spc="-35" dirty="0">
                <a:solidFill>
                  <a:srgbClr val="8A8A8A"/>
                </a:solidFill>
                <a:latin typeface="Arial"/>
                <a:cs typeface="Arial"/>
              </a:rPr>
              <a:t>June 18, 2026</a:t>
            </a:r>
            <a:endParaRPr sz="2800" dirty="0">
              <a:latin typeface="Arial"/>
              <a:cs typeface="Arial"/>
            </a:endParaRPr>
          </a:p>
          <a:p>
            <a:pPr marL="2939415">
              <a:lnSpc>
                <a:spcPct val="100000"/>
              </a:lnSpc>
              <a:spcBef>
                <a:spcPts val="5"/>
              </a:spcBef>
            </a:pP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45417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35D2-A54C-B713-3013-794A0F045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579" y="893590"/>
            <a:ext cx="10908842" cy="553998"/>
          </a:xfrm>
        </p:spPr>
        <p:txBody>
          <a:bodyPr>
            <a:normAutofit/>
          </a:bodyPr>
          <a:lstStyle/>
          <a:p>
            <a:r>
              <a:rPr lang="en-US" sz="3600" dirty="0"/>
              <a:t>Initiatives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6B2A6-619A-36AB-D5B2-1F69E0A76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0400" y="2057400"/>
            <a:ext cx="7264400" cy="3447098"/>
          </a:xfrm>
        </p:spPr>
        <p:txBody>
          <a:bodyPr>
            <a:normAutofit/>
          </a:bodyPr>
          <a:lstStyle/>
          <a:p>
            <a:pPr marL="457200" indent="-457200">
              <a:buFont typeface="Wingdings" pitchFamily="2" charset="2"/>
              <a:buChar char="ü"/>
            </a:pPr>
            <a:endParaRPr lang="en-US" b="1" dirty="0"/>
          </a:p>
          <a:p>
            <a:pPr marL="457200" indent="-457200">
              <a:buFont typeface="Wingdings" pitchFamily="2" charset="2"/>
              <a:buChar char="ü"/>
            </a:pPr>
            <a:r>
              <a:rPr lang="en-US" b="1" dirty="0"/>
              <a:t>DMBOK 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b="1" dirty="0"/>
              <a:t>Community Survey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b="1" dirty="0"/>
              <a:t>Sponsor/Volunteer Recruitment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573816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1750" y="0"/>
            <a:ext cx="12255500" cy="6858000"/>
            <a:chOff x="-47625" y="0"/>
            <a:chExt cx="1838325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8287998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529237" y="4023315"/>
              <a:ext cx="1059180" cy="0"/>
            </a:xfrm>
            <a:custGeom>
              <a:avLst/>
              <a:gdLst/>
              <a:ahLst/>
              <a:cxnLst/>
              <a:rect l="l" t="t" r="r" b="b"/>
              <a:pathLst>
                <a:path w="1059179">
                  <a:moveTo>
                    <a:pt x="1059088" y="0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578800" y="3947115"/>
              <a:ext cx="152399" cy="1523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1937277"/>
              <a:ext cx="5529580" cy="4172585"/>
            </a:xfrm>
            <a:custGeom>
              <a:avLst/>
              <a:gdLst/>
              <a:ahLst/>
              <a:cxnLst/>
              <a:rect l="l" t="t" r="r" b="b"/>
              <a:pathLst>
                <a:path w="5529580" h="4172585">
                  <a:moveTo>
                    <a:pt x="5405440" y="4172075"/>
                  </a:moveTo>
                  <a:lnTo>
                    <a:pt x="0" y="4172075"/>
                  </a:lnTo>
                  <a:lnTo>
                    <a:pt x="0" y="0"/>
                  </a:lnTo>
                  <a:lnTo>
                    <a:pt x="5405440" y="0"/>
                  </a:lnTo>
                  <a:lnTo>
                    <a:pt x="5452825" y="9425"/>
                  </a:lnTo>
                  <a:lnTo>
                    <a:pt x="5492997" y="36267"/>
                  </a:lnTo>
                  <a:lnTo>
                    <a:pt x="5519839" y="76439"/>
                  </a:lnTo>
                  <a:lnTo>
                    <a:pt x="5529265" y="123824"/>
                  </a:lnTo>
                  <a:lnTo>
                    <a:pt x="5529265" y="4048250"/>
                  </a:lnTo>
                  <a:lnTo>
                    <a:pt x="5519839" y="4095636"/>
                  </a:lnTo>
                  <a:lnTo>
                    <a:pt x="5492997" y="4135808"/>
                  </a:lnTo>
                  <a:lnTo>
                    <a:pt x="5452825" y="4162649"/>
                  </a:lnTo>
                  <a:lnTo>
                    <a:pt x="5405440" y="4172075"/>
                  </a:lnTo>
                  <a:close/>
                </a:path>
              </a:pathLst>
            </a:custGeom>
            <a:solidFill>
              <a:srgbClr val="000000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1937277"/>
              <a:ext cx="5529580" cy="4171950"/>
            </a:xfrm>
            <a:custGeom>
              <a:avLst/>
              <a:gdLst/>
              <a:ahLst/>
              <a:cxnLst/>
              <a:rect l="l" t="t" r="r" b="b"/>
              <a:pathLst>
                <a:path w="5529580" h="4171950">
                  <a:moveTo>
                    <a:pt x="0" y="0"/>
                  </a:moveTo>
                  <a:lnTo>
                    <a:pt x="5405295" y="0"/>
                  </a:lnTo>
                  <a:lnTo>
                    <a:pt x="5452680" y="9425"/>
                  </a:lnTo>
                  <a:lnTo>
                    <a:pt x="5492850" y="36266"/>
                  </a:lnTo>
                  <a:lnTo>
                    <a:pt x="5519692" y="76436"/>
                  </a:lnTo>
                  <a:lnTo>
                    <a:pt x="5529117" y="123821"/>
                  </a:lnTo>
                  <a:lnTo>
                    <a:pt x="5529117" y="4048128"/>
                  </a:lnTo>
                  <a:lnTo>
                    <a:pt x="5526716" y="4072397"/>
                  </a:lnTo>
                  <a:lnTo>
                    <a:pt x="5508314" y="4116824"/>
                  </a:lnTo>
                  <a:lnTo>
                    <a:pt x="5473992" y="4151146"/>
                  </a:lnTo>
                  <a:lnTo>
                    <a:pt x="5429565" y="4169548"/>
                  </a:lnTo>
                  <a:lnTo>
                    <a:pt x="5405296" y="4171949"/>
                  </a:lnTo>
                  <a:lnTo>
                    <a:pt x="0" y="4171949"/>
                  </a:lnTo>
                </a:path>
              </a:pathLst>
            </a:custGeom>
            <a:ln w="95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63255" y="4261572"/>
              <a:ext cx="5525135" cy="4996815"/>
            </a:xfrm>
            <a:custGeom>
              <a:avLst/>
              <a:gdLst/>
              <a:ahLst/>
              <a:cxnLst/>
              <a:rect l="l" t="t" r="r" b="b"/>
              <a:pathLst>
                <a:path w="5525134" h="4996815">
                  <a:moveTo>
                    <a:pt x="115111" y="0"/>
                  </a:moveTo>
                  <a:lnTo>
                    <a:pt x="5524743" y="0"/>
                  </a:lnTo>
                  <a:lnTo>
                    <a:pt x="5524743" y="4996592"/>
                  </a:lnTo>
                  <a:lnTo>
                    <a:pt x="115111" y="4996592"/>
                  </a:lnTo>
                  <a:lnTo>
                    <a:pt x="90841" y="4994191"/>
                  </a:lnTo>
                  <a:lnTo>
                    <a:pt x="46412" y="4975788"/>
                  </a:lnTo>
                  <a:lnTo>
                    <a:pt x="12090" y="4941465"/>
                  </a:lnTo>
                  <a:lnTo>
                    <a:pt x="0" y="4917811"/>
                  </a:lnTo>
                  <a:lnTo>
                    <a:pt x="0" y="78780"/>
                  </a:lnTo>
                  <a:lnTo>
                    <a:pt x="27553" y="36267"/>
                  </a:lnTo>
                  <a:lnTo>
                    <a:pt x="67725" y="9425"/>
                  </a:lnTo>
                  <a:lnTo>
                    <a:pt x="115111" y="0"/>
                  </a:lnTo>
                  <a:close/>
                </a:path>
              </a:pathLst>
            </a:custGeom>
            <a:solidFill>
              <a:srgbClr val="000000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54679" y="4261707"/>
              <a:ext cx="5533390" cy="4996815"/>
            </a:xfrm>
            <a:custGeom>
              <a:avLst/>
              <a:gdLst/>
              <a:ahLst/>
              <a:cxnLst/>
              <a:rect l="l" t="t" r="r" b="b"/>
              <a:pathLst>
                <a:path w="5533390" h="4996815">
                  <a:moveTo>
                    <a:pt x="5533318" y="4996457"/>
                  </a:moveTo>
                  <a:lnTo>
                    <a:pt x="123822" y="4996457"/>
                  </a:lnTo>
                  <a:lnTo>
                    <a:pt x="76437" y="4987032"/>
                  </a:lnTo>
                  <a:lnTo>
                    <a:pt x="36266" y="4960190"/>
                  </a:lnTo>
                  <a:lnTo>
                    <a:pt x="9425" y="4920020"/>
                  </a:lnTo>
                  <a:lnTo>
                    <a:pt x="0" y="4872635"/>
                  </a:lnTo>
                  <a:lnTo>
                    <a:pt x="0" y="123821"/>
                  </a:lnTo>
                  <a:lnTo>
                    <a:pt x="9425" y="76437"/>
                  </a:lnTo>
                  <a:lnTo>
                    <a:pt x="36266" y="36266"/>
                  </a:lnTo>
                  <a:lnTo>
                    <a:pt x="76437" y="9425"/>
                  </a:lnTo>
                  <a:lnTo>
                    <a:pt x="123822" y="0"/>
                  </a:lnTo>
                  <a:lnTo>
                    <a:pt x="5533318" y="0"/>
                  </a:lnTo>
                </a:path>
              </a:pathLst>
            </a:custGeom>
            <a:ln w="95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164682" y="4705288"/>
              <a:ext cx="1641475" cy="0"/>
            </a:xfrm>
            <a:custGeom>
              <a:avLst/>
              <a:gdLst/>
              <a:ahLst/>
              <a:cxnLst/>
              <a:rect l="l" t="t" r="r" b="b"/>
              <a:pathLst>
                <a:path w="1641475">
                  <a:moveTo>
                    <a:pt x="0" y="0"/>
                  </a:moveTo>
                  <a:lnTo>
                    <a:pt x="1641132" y="0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021807" y="4629088"/>
              <a:ext cx="152399" cy="1523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297585" y="3650806"/>
              <a:ext cx="4581524" cy="40766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9066" y="4686238"/>
              <a:ext cx="5120580" cy="2846189"/>
            </a:xfrm>
            <a:prstGeom prst="rect">
              <a:avLst/>
            </a:prstGeom>
          </p:spPr>
        </p:pic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4097550" y="276057"/>
            <a:ext cx="4411133" cy="694335"/>
          </a:xfrm>
          <a:prstGeom prst="rect">
            <a:avLst/>
          </a:prstGeom>
        </p:spPr>
        <p:txBody>
          <a:bodyPr vert="horz" wrap="square" lIns="0" tIns="11853" rIns="0" bIns="0" rtlCol="0" anchor="t">
            <a:spAutoFit/>
          </a:bodyPr>
          <a:lstStyle/>
          <a:p>
            <a:pPr marL="25401">
              <a:lnSpc>
                <a:spcPct val="100000"/>
              </a:lnSpc>
              <a:spcBef>
                <a:spcPts val="93"/>
              </a:spcBef>
            </a:pPr>
            <a:r>
              <a:rPr sz="4434" spc="50" dirty="0"/>
              <a:t>DAMA-</a:t>
            </a:r>
            <a:r>
              <a:rPr sz="4434" spc="60" dirty="0"/>
              <a:t>DMBOK</a:t>
            </a:r>
            <a:r>
              <a:rPr sz="4000" spc="90" baseline="39583" dirty="0"/>
              <a:t>®</a:t>
            </a:r>
            <a:endParaRPr sz="4000" baseline="39583"/>
          </a:p>
        </p:txBody>
      </p:sp>
      <p:sp>
        <p:nvSpPr>
          <p:cNvPr id="15" name="object 15"/>
          <p:cNvSpPr txBox="1"/>
          <p:nvPr/>
        </p:nvSpPr>
        <p:spPr>
          <a:xfrm>
            <a:off x="4155481" y="897460"/>
            <a:ext cx="4097020" cy="234317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sz="1467" b="1" spc="-7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467" b="1" spc="-3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67" b="1" dirty="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r>
              <a:rPr sz="1467" b="1" spc="-3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67" b="1" dirty="0">
                <a:solidFill>
                  <a:srgbClr val="FFFFFF"/>
                </a:solidFill>
                <a:latin typeface="Arial"/>
                <a:cs typeface="Arial"/>
              </a:rPr>
              <a:t>BODY</a:t>
            </a:r>
            <a:r>
              <a:rPr sz="1467" b="1" spc="-3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67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467" b="1" spc="-3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67" b="1" spc="-7" dirty="0">
                <a:solidFill>
                  <a:srgbClr val="FFFFFF"/>
                </a:solidFill>
                <a:latin typeface="Arial"/>
                <a:cs typeface="Arial"/>
              </a:rPr>
              <a:t>KNOWLEDGE</a:t>
            </a:r>
            <a:endParaRPr sz="1467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6864" y="1526032"/>
            <a:ext cx="1751583" cy="81889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014975" y="1560438"/>
            <a:ext cx="1436793" cy="707886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207444" marR="3387" indent="-199400">
              <a:lnSpc>
                <a:spcPts val="2600"/>
              </a:lnSpc>
              <a:spcBef>
                <a:spcPts val="320"/>
              </a:spcBef>
            </a:pPr>
            <a:r>
              <a:rPr sz="2333" b="1" spc="-87" dirty="0">
                <a:solidFill>
                  <a:srgbClr val="FFFFFF"/>
                </a:solidFill>
                <a:latin typeface="Arial"/>
                <a:cs typeface="Arial"/>
              </a:rPr>
              <a:t>PHYSICAL </a:t>
            </a:r>
            <a:r>
              <a:rPr sz="2333" b="1" spc="-13" dirty="0">
                <a:solidFill>
                  <a:srgbClr val="FFFFFF"/>
                </a:solidFill>
                <a:latin typeface="Arial"/>
                <a:cs typeface="Arial"/>
              </a:rPr>
              <a:t>BOOK</a:t>
            </a:r>
            <a:endParaRPr sz="2333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56752" y="5220208"/>
            <a:ext cx="3594607" cy="81889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8654382" y="5254265"/>
            <a:ext cx="3389207" cy="707886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8467" marR="3387" indent="353078">
              <a:lnSpc>
                <a:spcPts val="2600"/>
              </a:lnSpc>
              <a:spcBef>
                <a:spcPts val="320"/>
              </a:spcBef>
            </a:pPr>
            <a:r>
              <a:rPr sz="2333" b="1" spc="-13" dirty="0">
                <a:solidFill>
                  <a:srgbClr val="FFFFFF"/>
                </a:solidFill>
                <a:latin typeface="Arial"/>
                <a:cs typeface="Arial"/>
              </a:rPr>
              <a:t>DIGITAL</a:t>
            </a:r>
            <a:r>
              <a:rPr sz="2333" b="1" spc="-1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33" b="1" spc="-7" dirty="0">
                <a:solidFill>
                  <a:srgbClr val="FFFFFF"/>
                </a:solidFill>
                <a:latin typeface="Arial"/>
                <a:cs typeface="Arial"/>
              </a:rPr>
              <a:t>CONTENT </a:t>
            </a:r>
            <a:r>
              <a:rPr sz="2333" b="1" dirty="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r>
              <a:rPr sz="2333" b="1" spc="-7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33" b="1" spc="-110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endParaRPr sz="2333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819" y="2382587"/>
            <a:ext cx="1676399" cy="209309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AE595B-E6D1-8C9B-EC61-4134E05F7C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E6030FC-FB78-5E4D-92EA-5D9433591EA9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09428154-3D56-6419-44B8-BDC7774B2D5E}"/>
              </a:ext>
            </a:extLst>
          </p:cNvPr>
          <p:cNvSpPr txBox="1">
            <a:spLocks/>
          </p:cNvSpPr>
          <p:nvPr/>
        </p:nvSpPr>
        <p:spPr>
          <a:xfrm>
            <a:off x="1495742" y="1676400"/>
            <a:ext cx="9200515" cy="3068789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3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2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2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»"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5080">
              <a:lnSpc>
                <a:spcPts val="6300"/>
              </a:lnSpc>
              <a:spcBef>
                <a:spcPts val="910"/>
              </a:spcBef>
            </a:pPr>
            <a:r>
              <a:rPr lang="en-US" spc="-195" dirty="0">
                <a:solidFill>
                  <a:srgbClr val="002060"/>
                </a:solidFill>
              </a:rPr>
              <a:t>DAMA-</a:t>
            </a:r>
            <a:r>
              <a:rPr lang="en-US" spc="-170" dirty="0">
                <a:solidFill>
                  <a:srgbClr val="002060"/>
                </a:solidFill>
              </a:rPr>
              <a:t>DMBOK®</a:t>
            </a:r>
            <a:r>
              <a:rPr lang="en-US" spc="-210" dirty="0">
                <a:solidFill>
                  <a:srgbClr val="002060"/>
                </a:solidFill>
              </a:rPr>
              <a:t> </a:t>
            </a:r>
            <a:r>
              <a:rPr lang="en-US" spc="-25" dirty="0">
                <a:solidFill>
                  <a:srgbClr val="002060"/>
                </a:solidFill>
              </a:rPr>
              <a:t>3.</a:t>
            </a:r>
            <a:r>
              <a:rPr lang="en-US" spc="-25" dirty="0">
                <a:solidFill>
                  <a:srgbClr val="FFFFFF"/>
                </a:solidFill>
              </a:rPr>
              <a:t>0</a:t>
            </a:r>
            <a:endParaRPr lang="en-US" spc="-114" dirty="0">
              <a:solidFill>
                <a:srgbClr val="002060"/>
              </a:solidFill>
            </a:endParaRPr>
          </a:p>
          <a:p>
            <a:pPr marL="12700">
              <a:spcBef>
                <a:spcPts val="1320"/>
              </a:spcBef>
              <a:tabLst>
                <a:tab pos="1108710" algn="l"/>
                <a:tab pos="2824480" algn="l"/>
              </a:tabLst>
            </a:pPr>
            <a:r>
              <a:rPr lang="en-US" sz="2400" spc="160" dirty="0">
                <a:solidFill>
                  <a:schemeClr val="accent2"/>
                </a:solidFill>
              </a:rPr>
              <a:t>In Print</a:t>
            </a:r>
          </a:p>
          <a:p>
            <a:pPr marL="12700">
              <a:spcBef>
                <a:spcPts val="1320"/>
              </a:spcBef>
              <a:tabLst>
                <a:tab pos="1108710" algn="l"/>
                <a:tab pos="2824480" algn="l"/>
              </a:tabLst>
            </a:pPr>
            <a:r>
              <a:rPr lang="en-US" sz="2400" spc="160" dirty="0">
                <a:solidFill>
                  <a:schemeClr val="accent2"/>
                </a:solidFill>
              </a:rPr>
              <a:t>On-line</a:t>
            </a:r>
          </a:p>
          <a:p>
            <a:pPr marL="12700">
              <a:spcBef>
                <a:spcPts val="1320"/>
              </a:spcBef>
              <a:tabLst>
                <a:tab pos="1108710" algn="l"/>
                <a:tab pos="2824480" algn="l"/>
              </a:tabLst>
            </a:pPr>
            <a:r>
              <a:rPr lang="en-US" sz="2400" spc="160" dirty="0">
                <a:solidFill>
                  <a:schemeClr val="accent2"/>
                </a:solidFill>
              </a:rPr>
              <a:t>Training</a:t>
            </a:r>
          </a:p>
          <a:p>
            <a:pPr marL="12700">
              <a:spcBef>
                <a:spcPts val="1320"/>
              </a:spcBef>
              <a:tabLst>
                <a:tab pos="1108710" algn="l"/>
                <a:tab pos="2824480" algn="l"/>
              </a:tabLst>
            </a:pPr>
            <a:r>
              <a:rPr lang="en-US" sz="2400" spc="160" dirty="0">
                <a:solidFill>
                  <a:schemeClr val="accent2"/>
                </a:solidFill>
              </a:rPr>
              <a:t>Certification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35762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5E607C-87A8-7D35-6728-0A30C02174DC}"/>
              </a:ext>
            </a:extLst>
          </p:cNvPr>
          <p:cNvSpPr txBox="1"/>
          <p:nvPr/>
        </p:nvSpPr>
        <p:spPr>
          <a:xfrm>
            <a:off x="990600" y="647700"/>
            <a:ext cx="9906000" cy="5562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46DE22-8B27-2F12-B6BD-5F1BCE2A0D3A}"/>
              </a:ext>
            </a:extLst>
          </p:cNvPr>
          <p:cNvSpPr txBox="1"/>
          <p:nvPr/>
        </p:nvSpPr>
        <p:spPr>
          <a:xfrm>
            <a:off x="1295400" y="647700"/>
            <a:ext cx="960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NIEMOpen Community Survey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284AD2B-7263-6164-98D5-3C14BA4F01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2299115"/>
              </p:ext>
            </p:extLst>
          </p:nvPr>
        </p:nvGraphicFramePr>
        <p:xfrm>
          <a:off x="1143000" y="1676400"/>
          <a:ext cx="10045700" cy="388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7051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C6D8ABE-C5C1-8D47-B15C-3633CDE10A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2AA4985-4059-9F47-B720-C3B7360E2D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BA0A936-5EE6-4143-BEB1-3D0F8BB5A5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765135A-857B-4C47-9C9D-AC2999B63A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775D474-5127-174F-9252-1F7301F005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F4BCA31-15AE-7444-8AB0-D641B23C8F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BF7B538-A35A-244A-98F2-52CF37BB76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96170FB-475C-7F41-8B06-D81759EF58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6720" cy="6858000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26720" y="3108960"/>
            <a:ext cx="11765280" cy="48768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2480" y="670560"/>
            <a:ext cx="975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467" spc="400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PRESENTATION  </a:t>
            </a:r>
            <a:r>
              <a:rPr lang="en-US" sz="1467" spc="40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2026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792480" y="1280160"/>
            <a:ext cx="103632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5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Sustainable Future</a:t>
            </a:r>
            <a:endParaRPr lang="en-US" sz="5067" dirty="0"/>
          </a:p>
        </p:txBody>
      </p:sp>
      <p:sp>
        <p:nvSpPr>
          <p:cNvPr id="6" name="Text 4"/>
          <p:cNvSpPr/>
          <p:nvPr/>
        </p:nvSpPr>
        <p:spPr>
          <a:xfrm>
            <a:off x="792480" y="2255520"/>
            <a:ext cx="97536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2667" i="1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Campaign to Recruit Sponsors &amp; Volunteers for NiEMOpen</a:t>
            </a:r>
            <a:endParaRPr lang="en-US" sz="2667" dirty="0"/>
          </a:p>
        </p:txBody>
      </p:sp>
      <p:sp>
        <p:nvSpPr>
          <p:cNvPr id="7" name="Shape 5"/>
          <p:cNvSpPr/>
          <p:nvPr/>
        </p:nvSpPr>
        <p:spPr>
          <a:xfrm>
            <a:off x="792480" y="4511040"/>
            <a:ext cx="3413760" cy="13411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8784" y="4632960"/>
            <a:ext cx="3121152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Need</a:t>
            </a:r>
            <a:endParaRPr lang="en-US" sz="1867" dirty="0"/>
          </a:p>
        </p:txBody>
      </p:sp>
      <p:sp>
        <p:nvSpPr>
          <p:cNvPr id="9" name="Text 7"/>
          <p:cNvSpPr/>
          <p:nvPr/>
        </p:nvSpPr>
        <p:spPr>
          <a:xfrm>
            <a:off x="938784" y="5096256"/>
            <a:ext cx="3121152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user base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sustained support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93920" y="4511040"/>
            <a:ext cx="3413760" cy="13411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0224" y="4632960"/>
            <a:ext cx="3121152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Power</a:t>
            </a:r>
            <a:endParaRPr lang="en-US" sz="1867" dirty="0"/>
          </a:p>
        </p:txBody>
      </p:sp>
      <p:sp>
        <p:nvSpPr>
          <p:cNvPr id="12" name="Text 10"/>
          <p:cNvSpPr/>
          <p:nvPr/>
        </p:nvSpPr>
        <p:spPr>
          <a:xfrm>
            <a:off x="4840224" y="5096256"/>
            <a:ext cx="3121152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 &amp; sponsors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open-source success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95360" y="4511040"/>
            <a:ext cx="3413760" cy="13411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741664" y="4632960"/>
            <a:ext cx="3121152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Plan</a:t>
            </a:r>
            <a:endParaRPr lang="en-US" sz="1867" dirty="0"/>
          </a:p>
        </p:txBody>
      </p:sp>
      <p:sp>
        <p:nvSpPr>
          <p:cNvPr id="15" name="Text 13"/>
          <p:cNvSpPr/>
          <p:nvPr/>
        </p:nvSpPr>
        <p:spPr>
          <a:xfrm>
            <a:off x="8741664" y="5096256"/>
            <a:ext cx="3121152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campaign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clear milestones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60480" y="6339840"/>
            <a:ext cx="4876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8899AA"/>
                </a:solidFill>
              </a:rPr>
              <a:t>1</a:t>
            </a:r>
            <a:endParaRPr lang="en-US" sz="1333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6E10E4-5354-895A-80F9-005B6E5EF3EE}"/>
              </a:ext>
            </a:extLst>
          </p:cNvPr>
          <p:cNvSpPr txBox="1"/>
          <p:nvPr/>
        </p:nvSpPr>
        <p:spPr>
          <a:xfrm>
            <a:off x="4678557" y="8722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0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73152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19456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3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This Campaign</a:t>
            </a:r>
            <a:endParaRPr lang="en-US" sz="3733" dirty="0"/>
          </a:p>
        </p:txBody>
      </p:sp>
      <p:sp>
        <p:nvSpPr>
          <p:cNvPr id="5" name="Text 3"/>
          <p:cNvSpPr/>
          <p:nvPr/>
        </p:nvSpPr>
        <p:spPr>
          <a:xfrm>
            <a:off x="573024" y="182880"/>
            <a:ext cx="1036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spc="400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ACTION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5425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97536" cy="2011680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5216" y="1767840"/>
            <a:ext cx="60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dirty="0">
                <a:solidFill>
                  <a:srgbClr val="000000"/>
                </a:solidFill>
              </a:rPr>
              <a:t>⚠</a:t>
            </a:r>
            <a:endParaRPr lang="en-US" sz="2667" dirty="0"/>
          </a:p>
        </p:txBody>
      </p:sp>
      <p:sp>
        <p:nvSpPr>
          <p:cNvPr id="9" name="Text 7"/>
          <p:cNvSpPr/>
          <p:nvPr/>
        </p:nvSpPr>
        <p:spPr>
          <a:xfrm>
            <a:off x="1219200" y="1767840"/>
            <a:ext cx="4389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Constraints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585216" y="2316480"/>
            <a:ext cx="49987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NiEMOpen relies on a limited pool of volunteers and lacks dedicated funding, creating bottlenecks in development, testing, and release cycles.</a:t>
            </a:r>
            <a:endParaRPr lang="en-US" sz="1533" dirty="0"/>
          </a:p>
        </p:txBody>
      </p:sp>
      <p:sp>
        <p:nvSpPr>
          <p:cNvPr id="11" name="Shape 9"/>
          <p:cNvSpPr/>
          <p:nvPr/>
        </p:nvSpPr>
        <p:spPr>
          <a:xfrm>
            <a:off x="6400800" y="1645920"/>
            <a:ext cx="5425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0" y="1645920"/>
            <a:ext cx="97536" cy="2011680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20256" y="1767840"/>
            <a:ext cx="60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dirty="0">
                <a:solidFill>
                  <a:srgbClr val="000000"/>
                </a:solidFill>
              </a:rPr>
              <a:t>📈</a:t>
            </a:r>
            <a:endParaRPr lang="en-US" sz="2667" dirty="0"/>
          </a:p>
        </p:txBody>
      </p:sp>
      <p:sp>
        <p:nvSpPr>
          <p:cNvPr id="14" name="Text 12"/>
          <p:cNvSpPr/>
          <p:nvPr/>
        </p:nvSpPr>
        <p:spPr>
          <a:xfrm>
            <a:off x="7254240" y="1767840"/>
            <a:ext cx="4389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Accelerating Demand</a:t>
            </a:r>
            <a:endParaRPr lang="en-US" sz="1867" dirty="0"/>
          </a:p>
        </p:txBody>
      </p:sp>
      <p:sp>
        <p:nvSpPr>
          <p:cNvPr id="15" name="Text 13"/>
          <p:cNvSpPr/>
          <p:nvPr/>
        </p:nvSpPr>
        <p:spPr>
          <a:xfrm>
            <a:off x="6620256" y="2316480"/>
            <a:ext cx="49987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of NiEMOpen is growing across government agencies and industry. Without matching resource growth, quality and responsiveness will decline.</a:t>
            </a:r>
            <a:endParaRPr lang="en-US" sz="1533" dirty="0"/>
          </a:p>
        </p:txBody>
      </p:sp>
      <p:sp>
        <p:nvSpPr>
          <p:cNvPr id="16" name="Shape 14"/>
          <p:cNvSpPr/>
          <p:nvPr/>
        </p:nvSpPr>
        <p:spPr>
          <a:xfrm>
            <a:off x="365760" y="3901440"/>
            <a:ext cx="5425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901440"/>
            <a:ext cx="97536" cy="2011680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5216" y="4023360"/>
            <a:ext cx="60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dirty="0">
                <a:solidFill>
                  <a:srgbClr val="000000"/>
                </a:solidFill>
              </a:rPr>
              <a:t>🏛</a:t>
            </a:r>
            <a:endParaRPr lang="en-US" sz="2667" dirty="0"/>
          </a:p>
        </p:txBody>
      </p:sp>
      <p:sp>
        <p:nvSpPr>
          <p:cNvPr id="19" name="Text 17"/>
          <p:cNvSpPr/>
          <p:nvPr/>
        </p:nvSpPr>
        <p:spPr>
          <a:xfrm>
            <a:off x="1219200" y="4023360"/>
            <a:ext cx="4389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Governance</a:t>
            </a:r>
            <a:endParaRPr lang="en-US" sz="1867" dirty="0"/>
          </a:p>
        </p:txBody>
      </p:sp>
      <p:sp>
        <p:nvSpPr>
          <p:cNvPr id="20" name="Text 18"/>
          <p:cNvSpPr/>
          <p:nvPr/>
        </p:nvSpPr>
        <p:spPr>
          <a:xfrm>
            <a:off x="585216" y="4572000"/>
            <a:ext cx="49987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sponsor relationships ensure continuity of leadership and resources beyond individual volunteers, providing institutional stability.</a:t>
            </a:r>
            <a:endParaRPr lang="en-US" sz="1533" dirty="0"/>
          </a:p>
        </p:txBody>
      </p:sp>
      <p:sp>
        <p:nvSpPr>
          <p:cNvPr id="21" name="Shape 19"/>
          <p:cNvSpPr/>
          <p:nvPr/>
        </p:nvSpPr>
        <p:spPr>
          <a:xfrm>
            <a:off x="6400800" y="3901440"/>
            <a:ext cx="5425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0800" y="3901440"/>
            <a:ext cx="97536" cy="2011680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20256" y="4023360"/>
            <a:ext cx="60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dirty="0">
                <a:solidFill>
                  <a:srgbClr val="000000"/>
                </a:solidFill>
              </a:rPr>
              <a:t>🤝</a:t>
            </a:r>
            <a:endParaRPr lang="en-US" sz="2667" dirty="0"/>
          </a:p>
        </p:txBody>
      </p:sp>
      <p:sp>
        <p:nvSpPr>
          <p:cNvPr id="24" name="Text 22"/>
          <p:cNvSpPr/>
          <p:nvPr/>
        </p:nvSpPr>
        <p:spPr>
          <a:xfrm>
            <a:off x="7254240" y="4023360"/>
            <a:ext cx="4389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Expectations</a:t>
            </a:r>
            <a:endParaRPr lang="en-US" sz="1867" dirty="0"/>
          </a:p>
        </p:txBody>
      </p:sp>
      <p:sp>
        <p:nvSpPr>
          <p:cNvPr id="25" name="Text 23"/>
          <p:cNvSpPr/>
          <p:nvPr/>
        </p:nvSpPr>
        <p:spPr>
          <a:xfrm>
            <a:off x="6620256" y="4572000"/>
            <a:ext cx="49987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and users expect a roadmap with predictable delivery. A funded, volunteer-rich program signals commitment and professionalism.</a:t>
            </a:r>
            <a:endParaRPr lang="en-US" sz="1533" dirty="0"/>
          </a:p>
        </p:txBody>
      </p:sp>
      <p:sp>
        <p:nvSpPr>
          <p:cNvPr id="26" name="Text 24"/>
          <p:cNvSpPr/>
          <p:nvPr/>
        </p:nvSpPr>
        <p:spPr>
          <a:xfrm>
            <a:off x="11460480" y="6461760"/>
            <a:ext cx="4876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8899AA"/>
                </a:solidFill>
              </a:rPr>
              <a:t>2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7429629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73152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19456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3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Components</a:t>
            </a:r>
            <a:endParaRPr lang="en-US" sz="3733" dirty="0"/>
          </a:p>
        </p:txBody>
      </p:sp>
      <p:sp>
        <p:nvSpPr>
          <p:cNvPr id="5" name="Text 3"/>
          <p:cNvSpPr/>
          <p:nvPr/>
        </p:nvSpPr>
        <p:spPr>
          <a:xfrm>
            <a:off x="573024" y="182880"/>
            <a:ext cx="1036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spc="400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STRUCTURE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60576"/>
            <a:ext cx="5364480" cy="493776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560576"/>
            <a:ext cx="5364480" cy="585216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" y="1584960"/>
            <a:ext cx="5059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SPONSOR TRACK</a:t>
            </a:r>
            <a:endParaRPr lang="en-US" sz="1867" dirty="0"/>
          </a:p>
        </p:txBody>
      </p:sp>
      <p:sp>
        <p:nvSpPr>
          <p:cNvPr id="9" name="Text 7"/>
          <p:cNvSpPr/>
          <p:nvPr/>
        </p:nvSpPr>
        <p:spPr>
          <a:xfrm>
            <a:off x="585216" y="2316480"/>
            <a:ext cx="4998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Tier Structure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5216" y="2657856"/>
            <a:ext cx="499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Bronze / Silver / Gold tiers with clear benefits, recognition, and contribution levels.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" y="3267456"/>
            <a:ext cx="4998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Prospect Outreach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5216" y="3608832"/>
            <a:ext cx="499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engage government agencies, standards bodies, and technology vendors aligned with NIEM.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5216" y="4218432"/>
            <a:ext cx="4998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Value Proposition Kits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5216" y="4559808"/>
            <a:ext cx="499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tailored materials articulating ROI for each sponsor category.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5216" y="5169408"/>
            <a:ext cx="4998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Stewardship &amp; Reporting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" y="5510784"/>
            <a:ext cx="499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quarterly sponsor briefings and transparent fund-usage reporting.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61760" y="1560576"/>
            <a:ext cx="5364480" cy="493776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61760" y="1560576"/>
            <a:ext cx="5364480" cy="585216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08064" y="1584960"/>
            <a:ext cx="5059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VOLUNTEER TRACK</a:t>
            </a:r>
            <a:endParaRPr lang="en-US" sz="1867" dirty="0"/>
          </a:p>
        </p:txBody>
      </p:sp>
      <p:sp>
        <p:nvSpPr>
          <p:cNvPr id="20" name="Text 18"/>
          <p:cNvSpPr/>
          <p:nvPr/>
        </p:nvSpPr>
        <p:spPr>
          <a:xfrm>
            <a:off x="6608064" y="2316480"/>
            <a:ext cx="4998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Role Definition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08064" y="2657856"/>
            <a:ext cx="499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required volunteer roles — developers, reviewers, educators, governance leads — with time commitments.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6608064" y="3267456"/>
            <a:ext cx="4998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Recruitment Channels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08064" y="3608832"/>
            <a:ext cx="499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universities, professional associations, and existing NIEM stakeholders for outreach.</a:t>
            </a:r>
            <a:endParaRPr lang="en-US" sz="1467" dirty="0"/>
          </a:p>
        </p:txBody>
      </p:sp>
      <p:sp>
        <p:nvSpPr>
          <p:cNvPr id="24" name="Text 22"/>
          <p:cNvSpPr/>
          <p:nvPr/>
        </p:nvSpPr>
        <p:spPr>
          <a:xfrm>
            <a:off x="6608064" y="4218432"/>
            <a:ext cx="4998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Onboarding Program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08064" y="4559808"/>
            <a:ext cx="499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structured onboarding documentation, mentorship pairings, and contribution toolkits.</a:t>
            </a:r>
            <a:endParaRPr lang="en-US" sz="1467" dirty="0"/>
          </a:p>
        </p:txBody>
      </p:sp>
      <p:sp>
        <p:nvSpPr>
          <p:cNvPr id="26" name="Text 24"/>
          <p:cNvSpPr/>
          <p:nvPr/>
        </p:nvSpPr>
        <p:spPr>
          <a:xfrm>
            <a:off x="6608064" y="5169408"/>
            <a:ext cx="4998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Recognition &amp; Retention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08064" y="5510784"/>
            <a:ext cx="499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contributor badges, annual recognition events, and career-development incentives.</a:t>
            </a:r>
            <a:endParaRPr lang="en-US" sz="1467" dirty="0"/>
          </a:p>
        </p:txBody>
      </p:sp>
      <p:sp>
        <p:nvSpPr>
          <p:cNvPr id="28" name="Text 26"/>
          <p:cNvSpPr/>
          <p:nvPr/>
        </p:nvSpPr>
        <p:spPr>
          <a:xfrm>
            <a:off x="11460480" y="6461760"/>
            <a:ext cx="4876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8899AA"/>
                </a:solidFill>
              </a:rPr>
              <a:t>3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11275553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41120"/>
            <a:ext cx="12192000" cy="73152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19456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3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Timeline</a:t>
            </a:r>
            <a:endParaRPr lang="en-US" sz="3733" dirty="0"/>
          </a:p>
        </p:txBody>
      </p:sp>
      <p:sp>
        <p:nvSpPr>
          <p:cNvPr id="5" name="Text 3"/>
          <p:cNvSpPr/>
          <p:nvPr/>
        </p:nvSpPr>
        <p:spPr>
          <a:xfrm>
            <a:off x="573024" y="182880"/>
            <a:ext cx="1036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spc="400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EXECUTION PLAN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9600" y="2828544"/>
            <a:ext cx="10948416" cy="73152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706880" y="2682240"/>
            <a:ext cx="365760" cy="365760"/>
          </a:xfrm>
          <a:prstGeom prst="ellipse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24000" y="2133600"/>
            <a:ext cx="731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133" dirty="0"/>
          </a:p>
        </p:txBody>
      </p:sp>
      <p:sp>
        <p:nvSpPr>
          <p:cNvPr id="9" name="Text 7"/>
          <p:cNvSpPr/>
          <p:nvPr/>
        </p:nvSpPr>
        <p:spPr>
          <a:xfrm>
            <a:off x="1219200" y="3230880"/>
            <a:ext cx="1463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681984"/>
            <a:ext cx="225552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approval</a:t>
            </a:r>
            <a:endParaRPr lang="en-US" sz="1400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team formed</a:t>
            </a:r>
            <a:endParaRPr lang="en-US" sz="1400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&amp; materials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11040" y="2682240"/>
            <a:ext cx="365760" cy="365760"/>
          </a:xfrm>
          <a:prstGeom prst="ellipse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28160" y="2133600"/>
            <a:ext cx="731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C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133" dirty="0"/>
          </a:p>
        </p:txBody>
      </p:sp>
      <p:sp>
        <p:nvSpPr>
          <p:cNvPr id="13" name="Text 11"/>
          <p:cNvSpPr/>
          <p:nvPr/>
        </p:nvSpPr>
        <p:spPr>
          <a:xfrm>
            <a:off x="4023360" y="3230880"/>
            <a:ext cx="1463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18560" y="3681984"/>
            <a:ext cx="225552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outreach begins</a:t>
            </a:r>
            <a:endParaRPr lang="en-US" sz="1400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recruitment</a:t>
            </a:r>
            <a:endParaRPr lang="en-US" sz="1400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&amp; portal live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0" y="2682240"/>
            <a:ext cx="365760" cy="36576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0" y="2133600"/>
            <a:ext cx="731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133" dirty="0"/>
          </a:p>
        </p:txBody>
      </p:sp>
      <p:sp>
        <p:nvSpPr>
          <p:cNvPr id="17" name="Text 15"/>
          <p:cNvSpPr/>
          <p:nvPr/>
        </p:nvSpPr>
        <p:spPr>
          <a:xfrm>
            <a:off x="6827520" y="3230880"/>
            <a:ext cx="1463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22720" y="3681984"/>
            <a:ext cx="225552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sponsors confirmed</a:t>
            </a:r>
            <a:endParaRPr lang="en-US" sz="1400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cohort #1</a:t>
            </a:r>
            <a:endParaRPr lang="en-US" sz="1400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119360" y="2682240"/>
            <a:ext cx="365760" cy="36576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936480" y="2133600"/>
            <a:ext cx="731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2133" dirty="0"/>
          </a:p>
        </p:txBody>
      </p:sp>
      <p:sp>
        <p:nvSpPr>
          <p:cNvPr id="21" name="Text 19"/>
          <p:cNvSpPr/>
          <p:nvPr/>
        </p:nvSpPr>
        <p:spPr>
          <a:xfrm>
            <a:off x="9631680" y="3230880"/>
            <a:ext cx="1463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26880" y="3681984"/>
            <a:ext cx="225552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review</a:t>
            </a:r>
            <a:endParaRPr lang="en-US" sz="1400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outreach</a:t>
            </a:r>
            <a:endParaRPr lang="en-US" sz="1400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for Year 2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4924" y="5181600"/>
            <a:ext cx="146304" cy="1097280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460480" y="6461760"/>
            <a:ext cx="4876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8899AA"/>
                </a:solidFill>
              </a:rPr>
              <a:t>4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23204363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329238" y="3189131"/>
            <a:ext cx="11582400" cy="104015"/>
          </a:xfrm>
          <a:custGeom>
            <a:avLst/>
            <a:gdLst/>
            <a:ahLst/>
            <a:cxnLst/>
            <a:rect l="l" t="t" r="r" b="b"/>
            <a:pathLst>
              <a:path w="11582400" h="104139">
                <a:moveTo>
                  <a:pt x="0" y="104012"/>
                </a:moveTo>
                <a:lnTo>
                  <a:pt x="11582400" y="0"/>
                </a:lnTo>
              </a:path>
            </a:pathLst>
          </a:custGeom>
          <a:ln w="38100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17626" y="657605"/>
            <a:ext cx="13023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sz="1600" b="1" spc="-10" dirty="0">
                <a:solidFill>
                  <a:srgbClr val="1E1C11"/>
                </a:solidFill>
                <a:latin typeface="Arial"/>
                <a:cs typeface="Arial"/>
              </a:rPr>
              <a:t>Sponsors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1419" y="923600"/>
            <a:ext cx="1224280" cy="145424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340"/>
              </a:spcBef>
              <a:buClr>
                <a:srgbClr val="1F487C"/>
              </a:buClr>
              <a:buFont typeface="Arial"/>
              <a:buChar char="–"/>
              <a:tabLst>
                <a:tab pos="299085" algn="l"/>
              </a:tabLst>
            </a:pPr>
            <a:r>
              <a:rPr lang="en-US" sz="1000" b="1" dirty="0">
                <a:solidFill>
                  <a:srgbClr val="002060"/>
                </a:solidFill>
                <a:latin typeface="Arial"/>
                <a:cs typeface="Arial"/>
              </a:rPr>
              <a:t>Bright Query</a:t>
            </a:r>
            <a:endParaRPr sz="1000" dirty="0">
              <a:solidFill>
                <a:srgbClr val="002060"/>
              </a:solidFill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Font typeface="Arial"/>
              <a:buChar char="–"/>
              <a:tabLst>
                <a:tab pos="299085" algn="l"/>
              </a:tabLst>
            </a:pP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DHS</a:t>
            </a:r>
            <a:r>
              <a:rPr sz="10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F0000"/>
                </a:solidFill>
                <a:latin typeface="Arial"/>
                <a:cs typeface="Arial"/>
              </a:rPr>
              <a:t>S&amp;T</a:t>
            </a:r>
            <a:endParaRPr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Font typeface="Arial"/>
              <a:buChar char="–"/>
              <a:tabLst>
                <a:tab pos="299085" algn="l"/>
              </a:tabLst>
            </a:pP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CJIS</a:t>
            </a:r>
            <a:r>
              <a:rPr sz="10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(FBI)</a:t>
            </a:r>
            <a:endParaRPr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sz="1000" spc="-20" dirty="0">
                <a:solidFill>
                  <a:srgbClr val="1E1C11"/>
                </a:solidFill>
                <a:latin typeface="Arial"/>
                <a:cs typeface="Arial"/>
              </a:rPr>
              <a:t>GTRI</a:t>
            </a:r>
            <a:endParaRPr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sz="1000" spc="-20" dirty="0">
                <a:solidFill>
                  <a:srgbClr val="1E1C11"/>
                </a:solidFill>
                <a:latin typeface="Arial"/>
                <a:cs typeface="Arial"/>
              </a:rPr>
              <a:t>NAJIS</a:t>
            </a:r>
            <a:endParaRPr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sz="1000" spc="-20" dirty="0">
                <a:solidFill>
                  <a:srgbClr val="1E1C11"/>
                </a:solidFill>
                <a:latin typeface="Arial"/>
                <a:cs typeface="Arial"/>
              </a:rPr>
              <a:t>IJIS</a:t>
            </a:r>
            <a:endParaRPr lang="en-US"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lang="en-US" sz="1000" spc="-25" dirty="0">
                <a:solidFill>
                  <a:srgbClr val="1E1C11"/>
                </a:solidFill>
                <a:latin typeface="Arial"/>
                <a:cs typeface="Arial"/>
              </a:rPr>
              <a:t>Senzing</a:t>
            </a: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lang="en-US" sz="1000" spc="-25" dirty="0">
                <a:solidFill>
                  <a:srgbClr val="1E1C11"/>
                </a:solidFill>
                <a:latin typeface="Arial"/>
                <a:cs typeface="Arial"/>
              </a:rPr>
              <a:t>SEARCH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52678" y="80263"/>
            <a:ext cx="67094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17375E"/>
                </a:solidFill>
              </a:rPr>
              <a:t>NIEMOpen</a:t>
            </a:r>
            <a:r>
              <a:rPr sz="3200" spc="-55" dirty="0">
                <a:solidFill>
                  <a:srgbClr val="17375E"/>
                </a:solidFill>
              </a:rPr>
              <a:t> </a:t>
            </a:r>
            <a:r>
              <a:rPr sz="3200" dirty="0">
                <a:solidFill>
                  <a:srgbClr val="17375E"/>
                </a:solidFill>
              </a:rPr>
              <a:t>Current</a:t>
            </a:r>
            <a:r>
              <a:rPr sz="3200" spc="-50" dirty="0">
                <a:solidFill>
                  <a:srgbClr val="17375E"/>
                </a:solidFill>
              </a:rPr>
              <a:t> </a:t>
            </a:r>
            <a:r>
              <a:rPr sz="3200" spc="-10" dirty="0">
                <a:solidFill>
                  <a:srgbClr val="17375E"/>
                </a:solidFill>
              </a:rPr>
              <a:t>S</a:t>
            </a:r>
            <a:r>
              <a:rPr lang="en-US" sz="3200" spc="-10" dirty="0">
                <a:solidFill>
                  <a:srgbClr val="17375E"/>
                </a:solidFill>
              </a:rPr>
              <a:t>ponsors</a:t>
            </a:r>
            <a:endParaRPr sz="3200" dirty="0"/>
          </a:p>
        </p:txBody>
      </p:sp>
      <p:sp>
        <p:nvSpPr>
          <p:cNvPr id="22" name="object 22"/>
          <p:cNvSpPr txBox="1"/>
          <p:nvPr/>
        </p:nvSpPr>
        <p:spPr>
          <a:xfrm>
            <a:off x="7643086" y="141608"/>
            <a:ext cx="3670300" cy="407163"/>
          </a:xfrm>
          <a:prstGeom prst="rect">
            <a:avLst/>
          </a:prstGeom>
          <a:ln w="38100">
            <a:solidFill>
              <a:srgbClr val="548ED4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lang="en-US" sz="2400" b="1" spc="-75" dirty="0">
                <a:solidFill>
                  <a:srgbClr val="548ED4"/>
                </a:solidFill>
                <a:latin typeface="Arial"/>
                <a:cs typeface="Arial"/>
              </a:rPr>
              <a:t>8</a:t>
            </a:r>
            <a:r>
              <a:rPr sz="2400" b="1" spc="-75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548ED4"/>
                </a:solidFill>
                <a:latin typeface="Arial"/>
                <a:cs typeface="Arial"/>
              </a:rPr>
              <a:t>Sponsors,</a:t>
            </a:r>
            <a:r>
              <a:rPr sz="2400" b="1" spc="-80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lang="en-US" sz="2400" b="1" spc="-80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r>
              <a:rPr sz="2400" b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Premier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50249" y="974461"/>
            <a:ext cx="896111" cy="83972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9724" y="941988"/>
            <a:ext cx="950975" cy="87630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4404723" y="1824511"/>
            <a:ext cx="8242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Premier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07900" y="1824511"/>
            <a:ext cx="824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Premier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34" name="object 34"/>
          <p:cNvPicPr/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1028" y="2267116"/>
            <a:ext cx="1391412" cy="780288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35286" y="1934471"/>
            <a:ext cx="990600" cy="990600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5185" y="807038"/>
            <a:ext cx="2188464" cy="926591"/>
          </a:xfrm>
          <a:prstGeom prst="rect">
            <a:avLst/>
          </a:prstGeom>
        </p:spPr>
      </p:pic>
      <p:sp>
        <p:nvSpPr>
          <p:cNvPr id="15" name="object 11">
            <a:extLst>
              <a:ext uri="{FF2B5EF4-FFF2-40B4-BE49-F238E27FC236}">
                <a16:creationId xmlns:a16="http://schemas.microsoft.com/office/drawing/2014/main" id="{062DE021-19AA-A199-BBFA-85A50614C5D8}"/>
              </a:ext>
            </a:extLst>
          </p:cNvPr>
          <p:cNvSpPr txBox="1">
            <a:spLocks/>
          </p:cNvSpPr>
          <p:nvPr/>
        </p:nvSpPr>
        <p:spPr>
          <a:xfrm>
            <a:off x="565583" y="3244602"/>
            <a:ext cx="588466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800" b="1" i="0">
                <a:solidFill>
                  <a:srgbClr val="004283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200" spc="-10" dirty="0">
                <a:solidFill>
                  <a:srgbClr val="0070C0"/>
                </a:solidFill>
              </a:rPr>
              <a:t>Potential Sponsors </a:t>
            </a:r>
            <a:endParaRPr lang="en-US" sz="3200" dirty="0">
              <a:solidFill>
                <a:srgbClr val="0070C0"/>
              </a:solidFill>
            </a:endParaRPr>
          </a:p>
        </p:txBody>
      </p:sp>
      <p:pic>
        <p:nvPicPr>
          <p:cNvPr id="1026" name="Picture 2" descr="Smarter Entity Resolution">
            <a:extLst>
              <a:ext uri="{FF2B5EF4-FFF2-40B4-BE49-F238E27FC236}">
                <a16:creationId xmlns:a16="http://schemas.microsoft.com/office/drawing/2014/main" id="{BED9D55B-6BCC-4B9F-F1C9-AEF9DF470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53584" y="2224195"/>
            <a:ext cx="1415285" cy="849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3ADCDE-7641-1D71-87EA-27988BD9A215}"/>
              </a:ext>
            </a:extLst>
          </p:cNvPr>
          <p:cNvSpPr txBox="1"/>
          <p:nvPr/>
        </p:nvSpPr>
        <p:spPr>
          <a:xfrm>
            <a:off x="3274409" y="3942808"/>
            <a:ext cx="785079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3200" dirty="0"/>
              <a:t>Federal agencies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3200" dirty="0"/>
              <a:t>State and local agencies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3200" dirty="0"/>
              <a:t>Private Sector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3200" dirty="0"/>
              <a:t>Non-governmental agencies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3200" dirty="0"/>
              <a:t>International agencies</a:t>
            </a:r>
            <a:endParaRPr lang="en-US" sz="2400" dirty="0"/>
          </a:p>
        </p:txBody>
      </p:sp>
      <p:pic>
        <p:nvPicPr>
          <p:cNvPr id="4" name="Picture 3" descr="SEARCH-logo (1)">
            <a:extLst>
              <a:ext uri="{FF2B5EF4-FFF2-40B4-BE49-F238E27FC236}">
                <a16:creationId xmlns:a16="http://schemas.microsoft.com/office/drawing/2014/main" id="{ED6DF692-1FDF-A6F9-495C-C4D895C2A63B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3086" y="1178423"/>
            <a:ext cx="2184400" cy="431800"/>
          </a:xfrm>
          <a:prstGeom prst="rect">
            <a:avLst/>
          </a:prstGeom>
        </p:spPr>
      </p:pic>
      <p:pic>
        <p:nvPicPr>
          <p:cNvPr id="2" name="Picture 1" descr="BrightQuery">
            <a:extLst>
              <a:ext uri="{FF2B5EF4-FFF2-40B4-BE49-F238E27FC236}">
                <a16:creationId xmlns:a16="http://schemas.microsoft.com/office/drawing/2014/main" id="{17D3A654-79FF-CB4E-91C8-F6200743C153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3630" y="2263066"/>
            <a:ext cx="2359503" cy="60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4768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2348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PGB</a:t>
            </a:r>
            <a:r>
              <a:rPr sz="3200" spc="5" dirty="0"/>
              <a:t> </a:t>
            </a:r>
            <a:r>
              <a:rPr sz="3200" dirty="0"/>
              <a:t>MEMBERS:</a:t>
            </a:r>
            <a:r>
              <a:rPr sz="3200" spc="-114" dirty="0"/>
              <a:t> </a:t>
            </a:r>
            <a:r>
              <a:rPr sz="3200" dirty="0"/>
              <a:t>AROUND-</a:t>
            </a:r>
            <a:r>
              <a:rPr sz="3200" spc="-10" dirty="0"/>
              <a:t>THE-</a:t>
            </a:r>
            <a:r>
              <a:rPr sz="3200" spc="-20" dirty="0"/>
              <a:t>HORN</a:t>
            </a:r>
            <a:endParaRPr sz="3200" dirty="0"/>
          </a:p>
        </p:txBody>
      </p:sp>
      <p:grpSp>
        <p:nvGrpSpPr>
          <p:cNvPr id="3" name="object 3"/>
          <p:cNvGrpSpPr/>
          <p:nvPr/>
        </p:nvGrpSpPr>
        <p:grpSpPr>
          <a:xfrm>
            <a:off x="1862327" y="1490472"/>
            <a:ext cx="8775700" cy="4450080"/>
            <a:chOff x="1862327" y="1490472"/>
            <a:chExt cx="8775700" cy="4450080"/>
          </a:xfrm>
        </p:grpSpPr>
        <p:pic>
          <p:nvPicPr>
            <p:cNvPr id="4" name="object 4"/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62327" y="1490472"/>
              <a:ext cx="4326636" cy="35874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88963" y="2618232"/>
              <a:ext cx="4448555" cy="33223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425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pc="-100" dirty="0">
                <a:solidFill>
                  <a:srgbClr val="005170"/>
                </a:solidFill>
              </a:rPr>
              <a:t>PGB</a:t>
            </a:r>
            <a:r>
              <a:rPr lang="en-US" sz="3200" spc="-100" dirty="0">
                <a:solidFill>
                  <a:srgbClr val="005170"/>
                </a:solidFill>
              </a:rPr>
              <a:t> Meeting Schedule 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0B39E-BB65-4005-B225-64A3C68D5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762307"/>
            <a:ext cx="5384800" cy="2658370"/>
          </a:xfr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marL="0" indent="0" algn="ctr">
              <a:spcBef>
                <a:spcPts val="600"/>
              </a:spcBef>
              <a:spcAft>
                <a:spcPts val="1200"/>
              </a:spcAft>
              <a:buFont typeface="Arial"/>
              <a:buNone/>
            </a:pPr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NEXT PGB Meeting</a:t>
            </a:r>
            <a:endParaRPr lang="en-US" sz="31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58737" marR="0" lvl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rgbClr val="1F497D"/>
              </a:buClr>
              <a:buSzTx/>
              <a:tabLst/>
              <a:defRPr/>
            </a:pPr>
            <a:r>
              <a:rPr lang="en-US" dirty="0">
                <a:solidFill>
                  <a:srgbClr val="334052"/>
                </a:solidFill>
              </a:rPr>
              <a:t>Thursday, September 17, 2026 </a:t>
            </a:r>
          </a:p>
          <a:p>
            <a:pPr marL="457200" indent="-398463">
              <a:spcBef>
                <a:spcPts val="600"/>
              </a:spcBef>
              <a:spcAft>
                <a:spcPts val="1200"/>
              </a:spcAft>
            </a:pPr>
            <a:r>
              <a:rPr lang="en-US" dirty="0">
                <a:solidFill>
                  <a:srgbClr val="334052"/>
                </a:solidFill>
              </a:rPr>
              <a:t>Virtual Meeting 2 – 4 PM EST</a:t>
            </a:r>
          </a:p>
          <a:p>
            <a:pPr marL="857250" lvl="1" indent="-398463">
              <a:spcBef>
                <a:spcPts val="600"/>
              </a:spcBef>
              <a:spcAft>
                <a:spcPts val="1200"/>
              </a:spcAft>
            </a:pPr>
            <a:r>
              <a:rPr lang="en-US" sz="1800" dirty="0">
                <a:solidFill>
                  <a:schemeClr val="tx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Virtual: 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ZOOM</a:t>
            </a:r>
            <a:endParaRPr lang="en-US" sz="1800" dirty="0">
              <a:solidFill>
                <a:schemeClr val="tx1">
                  <a:lumMod val="50000"/>
                </a:schemeClr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CC7B5F5-2657-43B0-BAC6-A07603F4E4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6030FC-FB78-5E4D-92EA-5D9433591E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5" name="Table 19">
            <a:extLst>
              <a:ext uri="{FF2B5EF4-FFF2-40B4-BE49-F238E27FC236}">
                <a16:creationId xmlns:a16="http://schemas.microsoft.com/office/drawing/2014/main" id="{5FF2BE40-1989-845C-A00A-D6C17C17E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641015"/>
              </p:ext>
            </p:extLst>
          </p:nvPr>
        </p:nvGraphicFramePr>
        <p:xfrm>
          <a:off x="6629400" y="2065064"/>
          <a:ext cx="518334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836">
                  <a:extLst>
                    <a:ext uri="{9D8B030D-6E8A-4147-A177-3AD203B41FA5}">
                      <a16:colId xmlns:a16="http://schemas.microsoft.com/office/drawing/2014/main" val="4128013111"/>
                    </a:ext>
                  </a:extLst>
                </a:gridCol>
                <a:gridCol w="1295836">
                  <a:extLst>
                    <a:ext uri="{9D8B030D-6E8A-4147-A177-3AD203B41FA5}">
                      <a16:colId xmlns:a16="http://schemas.microsoft.com/office/drawing/2014/main" val="1833137990"/>
                    </a:ext>
                  </a:extLst>
                </a:gridCol>
                <a:gridCol w="1295836">
                  <a:extLst>
                    <a:ext uri="{9D8B030D-6E8A-4147-A177-3AD203B41FA5}">
                      <a16:colId xmlns:a16="http://schemas.microsoft.com/office/drawing/2014/main" val="3272687838"/>
                    </a:ext>
                  </a:extLst>
                </a:gridCol>
                <a:gridCol w="1295836">
                  <a:extLst>
                    <a:ext uri="{9D8B030D-6E8A-4147-A177-3AD203B41FA5}">
                      <a16:colId xmlns:a16="http://schemas.microsoft.com/office/drawing/2014/main" val="3928461000"/>
                    </a:ext>
                  </a:extLst>
                </a:gridCol>
              </a:tblGrid>
              <a:tr h="331953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CY 2026 Meeting Dates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913429"/>
                  </a:ext>
                </a:extLst>
              </a:tr>
              <a:tr h="331953"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 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– 4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987802"/>
                  </a:ext>
                </a:extLst>
              </a:tr>
              <a:tr h="331953">
                <a:tc>
                  <a:txBody>
                    <a:bodyPr/>
                    <a:lstStyle/>
                    <a:p>
                      <a:r>
                        <a:rPr lang="en-US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JUN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– 4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946772"/>
                  </a:ext>
                </a:extLst>
              </a:tr>
              <a:tr h="331953">
                <a:tc>
                  <a:txBody>
                    <a:bodyPr/>
                    <a:lstStyle/>
                    <a:p>
                      <a:r>
                        <a:rPr lang="en-US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SEP 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– 4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156421"/>
                  </a:ext>
                </a:extLst>
              </a:tr>
              <a:tr h="331953">
                <a:tc>
                  <a:txBody>
                    <a:bodyPr/>
                    <a:lstStyle/>
                    <a:p>
                      <a:r>
                        <a:rPr lang="en-US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 – 4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144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13526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20674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92" y="2743200"/>
            <a:ext cx="5910759" cy="66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042"/>
              </a:lnSpc>
            </a:pPr>
            <a:r>
              <a:rPr lang="en-US" sz="4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Real-World Success Factors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61491" y="4015135"/>
            <a:ext cx="3512741" cy="2067420"/>
          </a:xfrm>
          <a:prstGeom prst="roundRect">
            <a:avLst>
              <a:gd name="adj" fmla="val 1674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3"/>
          <p:cNvSpPr/>
          <p:nvPr/>
        </p:nvSpPr>
        <p:spPr>
          <a:xfrm>
            <a:off x="826791" y="4291038"/>
            <a:ext cx="2304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000"/>
              </a:lnSpc>
            </a:pPr>
            <a:r>
              <a:rPr lang="en-US" sz="3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</a:rPr>
              <a:t>Structure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30601" y="4817786"/>
            <a:ext cx="367422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083"/>
              </a:lnSpc>
            </a:pPr>
            <a:r>
              <a:rPr lang="en-US" sz="2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Collaborative and transparent governance committees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335760" y="4015135"/>
            <a:ext cx="3512840" cy="2067420"/>
          </a:xfrm>
          <a:prstGeom prst="roundRect">
            <a:avLst>
              <a:gd name="adj" fmla="val 1674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504830" y="4291038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000"/>
              </a:lnSpc>
            </a:pPr>
            <a:r>
              <a:rPr lang="en-US" sz="3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</a:rPr>
              <a:t>Commitment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504829" y="4825406"/>
            <a:ext cx="3182243" cy="111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83"/>
              </a:lnSpc>
              <a:buFont typeface="Wingdings" pitchFamily="2" charset="2"/>
              <a:buChar char="Ø"/>
            </a:pPr>
            <a:r>
              <a:rPr lang="en-US" sz="2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</a:rPr>
              <a:t>Become a sponsor</a:t>
            </a:r>
          </a:p>
          <a:p>
            <a:pPr marL="342900" indent="-342900" algn="l">
              <a:lnSpc>
                <a:spcPts val="2083"/>
              </a:lnSpc>
              <a:buFont typeface="Wingdings" pitchFamily="2" charset="2"/>
              <a:buChar char="Ø"/>
            </a:pPr>
            <a:r>
              <a:rPr lang="en-US" sz="2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</a:rPr>
              <a:t>Allocate time to serve</a:t>
            </a:r>
          </a:p>
          <a:p>
            <a:pPr marL="342900" indent="-342900" algn="l">
              <a:lnSpc>
                <a:spcPts val="2083"/>
              </a:lnSpc>
              <a:buFont typeface="Wingdings" pitchFamily="2" charset="2"/>
              <a:buChar char="Ø"/>
            </a:pPr>
            <a:r>
              <a:rPr lang="en-US" sz="2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</a:rPr>
              <a:t>Conform to standards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8017670" y="4015135"/>
            <a:ext cx="3512741" cy="1928663"/>
          </a:xfrm>
          <a:prstGeom prst="roundRect">
            <a:avLst>
              <a:gd name="adj" fmla="val 1674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175710" y="4291038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000"/>
              </a:lnSpc>
            </a:pPr>
            <a:r>
              <a:rPr lang="en-US" sz="3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</a:rPr>
              <a:t>Participation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8182968" y="4825406"/>
            <a:ext cx="400903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83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</a:rPr>
              <a:t>Join relevant committees</a:t>
            </a:r>
          </a:p>
          <a:p>
            <a:pPr marL="342900" indent="-342900" algn="l">
              <a:lnSpc>
                <a:spcPts val="2083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</a:rPr>
              <a:t>Attend meetings</a:t>
            </a:r>
          </a:p>
          <a:p>
            <a:pPr marL="342900" indent="-342900" algn="l">
              <a:lnSpc>
                <a:spcPts val="2083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</a:rPr>
              <a:t>Make contributions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168992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7218" y="3452191"/>
            <a:ext cx="4000500" cy="2667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61915" y="969826"/>
            <a:ext cx="2218944" cy="214426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NIEM_white">
  <a:themeElements>
    <a:clrScheme name="Custom 14">
      <a:dk1>
        <a:srgbClr val="8B8B8B"/>
      </a:dk1>
      <a:lt1>
        <a:sysClr val="window" lastClr="FFFFFF"/>
      </a:lt1>
      <a:dk2>
        <a:srgbClr val="1F497D"/>
      </a:dk2>
      <a:lt2>
        <a:srgbClr val="EEECE1"/>
      </a:lt2>
      <a:accent1>
        <a:srgbClr val="78C5EA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85BB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gsLst>
            <a:gs pos="0">
              <a:srgbClr val="9EB3B6">
                <a:alpha val="50000"/>
              </a:srgbClr>
            </a:gs>
            <a:gs pos="100000">
              <a:schemeClr val="bg1"/>
            </a:gs>
          </a:gsLst>
        </a:gradFill>
        <a:ln>
          <a:solidFill>
            <a:schemeClr val="tx1">
              <a:lumMod val="60000"/>
              <a:lumOff val="40000"/>
            </a:schemeClr>
          </a:solidFill>
        </a:ln>
        <a:effectLst>
          <a:innerShdw blurRad="371475" dir="13500000">
            <a:schemeClr val="bg1"/>
          </a:innerShdw>
        </a:effectLst>
      </a:spPr>
      <a:bodyPr tIns="91440" anchor="t" anchorCtr="0"/>
      <a:lstStyle>
        <a:defPPr algn="ctr">
          <a:lnSpc>
            <a:spcPct val="120000"/>
          </a:lnSpc>
          <a:defRPr b="1" spc="-50" dirty="0">
            <a:solidFill>
              <a:srgbClr val="1F497D"/>
            </a:solidFill>
            <a:cs typeface="Arial"/>
          </a:defRPr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02d0191-eeae-4761-b1cb-1a83e86ef445}" enabled="0" method="" siteId="{102d0191-eeae-4761-b1cb-1a83e86ef44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20877</TotalTime>
  <Words>2926</Words>
  <Application>Microsoft Macintosh PowerPoint</Application>
  <PresentationFormat>Widescreen</PresentationFormat>
  <Paragraphs>494</Paragraphs>
  <Slides>40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60" baseType="lpstr">
      <vt:lpstr>ADLaM Display</vt:lpstr>
      <vt:lpstr>Aptos</vt:lpstr>
      <vt:lpstr>Arial</vt:lpstr>
      <vt:lpstr>Arial Black</vt:lpstr>
      <vt:lpstr>Bahnschrift</vt:lpstr>
      <vt:lpstr>Calibri</vt:lpstr>
      <vt:lpstr>Eras Bold ITC</vt:lpstr>
      <vt:lpstr>Georgia</vt:lpstr>
      <vt:lpstr>Helvetica LT Std</vt:lpstr>
      <vt:lpstr>Lucida Sans</vt:lpstr>
      <vt:lpstr>Open Sans</vt:lpstr>
      <vt:lpstr>Platypi Medium</vt:lpstr>
      <vt:lpstr>Proxima Nova</vt:lpstr>
      <vt:lpstr>Source Serif 4</vt:lpstr>
      <vt:lpstr>Times</vt:lpstr>
      <vt:lpstr>Times New Roman</vt:lpstr>
      <vt:lpstr>Tw Cen MT</vt:lpstr>
      <vt:lpstr>Wingdings</vt:lpstr>
      <vt:lpstr>Office Theme</vt:lpstr>
      <vt:lpstr>1_NIEM_white</vt:lpstr>
      <vt:lpstr>PowerPoint Presentation</vt:lpstr>
      <vt:lpstr>PROPOSED June 18 2026 AGENDA</vt:lpstr>
      <vt:lpstr>SPONSOR APPOINTED PGB VOTING MEMBERS</vt:lpstr>
      <vt:lpstr>PGB EXPERT VOTING MEMBERS &amp; NON-VOTING MEMBERS</vt:lpstr>
      <vt:lpstr>OASIS STAFF</vt:lpstr>
      <vt:lpstr>ROLL CALL</vt:lpstr>
      <vt:lpstr>APPROVAL OF March 19,2026 PGB MINUTES</vt:lpstr>
      <vt:lpstr>PROGRESS REPORT: Q2</vt:lpstr>
      <vt:lpstr>Project management—IJIS statement of work</vt:lpstr>
      <vt:lpstr>OASIS Update</vt:lpstr>
      <vt:lpstr>PowerPoint Presentation</vt:lpstr>
      <vt:lpstr>NTAC Update</vt:lpstr>
      <vt:lpstr>NIEMOpen Tools  Recommendations</vt:lpstr>
      <vt:lpstr>Other NTAC initiatives on behalf of the PGB</vt:lpstr>
      <vt:lpstr>Software engineering update</vt:lpstr>
      <vt:lpstr>PowerPoint Presentation</vt:lpstr>
      <vt:lpstr>PowerPoint Presentation</vt:lpstr>
      <vt:lpstr>PowerPoint Presentation</vt:lpstr>
      <vt:lpstr>History &amp; Progress</vt:lpstr>
      <vt:lpstr>next steps</vt:lpstr>
      <vt:lpstr>Update on Counter-UAS information standards</vt:lpstr>
      <vt:lpstr>Potential financial integrity domain</vt:lpstr>
      <vt:lpstr>Situation</vt:lpstr>
      <vt:lpstr>Proposal: Domain-specific NIEMOPEN Business Architecture meetings </vt:lpstr>
      <vt:lpstr>CY 2025 Q3 FINANCIALS</vt:lpstr>
      <vt:lpstr>PowerPoint Presentation</vt:lpstr>
      <vt:lpstr>PowerPoint Presentation</vt:lpstr>
      <vt:lpstr>Initiatives</vt:lpstr>
      <vt:lpstr>DAMA-DMBOK®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NIEMOpen Current Sponsors</vt:lpstr>
      <vt:lpstr>PGB MEMBERS: AROUND-THE-HORN</vt:lpstr>
      <vt:lpstr>PGB Meeting Schedule 2026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Paul Wormeli</cp:lastModifiedBy>
  <cp:revision>43</cp:revision>
  <cp:lastPrinted>2026-03-10T00:45:38Z</cp:lastPrinted>
  <dcterms:created xsi:type="dcterms:W3CDTF">2025-04-02T17:38:56Z</dcterms:created>
  <dcterms:modified xsi:type="dcterms:W3CDTF">2026-06-18T19:52:36Z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2025-01-31T00:00:00Z</vt:filetime>
  </property>
  <property fmtid="{D5CDD505-2E9C-101B-9397-08002B2CF9AE}" pid="3" name="LastSaved">
    <vt:filetime>2025-04-02T00:00:00Z</vt:filetime>
  </property>
</Properties>
</file>