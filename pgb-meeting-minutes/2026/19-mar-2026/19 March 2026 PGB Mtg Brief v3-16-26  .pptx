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45"/>
  </p:notesMasterIdLst>
  <p:sldIdLst>
    <p:sldId id="256" r:id="rId3"/>
    <p:sldId id="258" r:id="rId4"/>
    <p:sldId id="141170243" r:id="rId5"/>
    <p:sldId id="264" r:id="rId6"/>
    <p:sldId id="270" r:id="rId7"/>
    <p:sldId id="261" r:id="rId8"/>
    <p:sldId id="269" r:id="rId9"/>
    <p:sldId id="141170247" r:id="rId10"/>
    <p:sldId id="262" r:id="rId11"/>
    <p:sldId id="141170286" r:id="rId12"/>
    <p:sldId id="141170253" r:id="rId13"/>
    <p:sldId id="141170278" r:id="rId14"/>
    <p:sldId id="141170296" r:id="rId15"/>
    <p:sldId id="259" r:id="rId16"/>
    <p:sldId id="257" r:id="rId17"/>
    <p:sldId id="260" r:id="rId18"/>
    <p:sldId id="141170287" r:id="rId19"/>
    <p:sldId id="141170288" r:id="rId20"/>
    <p:sldId id="141170279" r:id="rId21"/>
    <p:sldId id="141170282" r:id="rId22"/>
    <p:sldId id="141170281" r:id="rId23"/>
    <p:sldId id="287" r:id="rId24"/>
    <p:sldId id="290" r:id="rId25"/>
    <p:sldId id="293" r:id="rId26"/>
    <p:sldId id="141170259" r:id="rId27"/>
    <p:sldId id="141170265" r:id="rId28"/>
    <p:sldId id="141170256" r:id="rId29"/>
    <p:sldId id="141170273" r:id="rId30"/>
    <p:sldId id="141170291" r:id="rId31"/>
    <p:sldId id="141170290" r:id="rId32"/>
    <p:sldId id="141170289" r:id="rId33"/>
    <p:sldId id="141170264" r:id="rId34"/>
    <p:sldId id="141170292" r:id="rId35"/>
    <p:sldId id="141170293" r:id="rId36"/>
    <p:sldId id="141170294" r:id="rId37"/>
    <p:sldId id="141170295" r:id="rId38"/>
    <p:sldId id="141170238" r:id="rId39"/>
    <p:sldId id="268" r:id="rId40"/>
    <p:sldId id="141169993" r:id="rId41"/>
    <p:sldId id="263" r:id="rId42"/>
    <p:sldId id="141170277" r:id="rId43"/>
    <p:sldId id="304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56D79-417A-4FCC-AA24-9EDCB2F1397C}" v="1" dt="2026-03-16T19:15:51.7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01" autoAdjust="0"/>
    <p:restoredTop sz="92459" autoAdjust="0"/>
  </p:normalViewPr>
  <p:slideViewPr>
    <p:cSldViewPr>
      <p:cViewPr varScale="1">
        <p:scale>
          <a:sx n="94" d="100"/>
          <a:sy n="94" d="100"/>
        </p:scale>
        <p:origin x="840" y="2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84EFD-19F4-D54A-8D68-9498D380801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12C186-DD3B-784A-8D9A-BC0731048CDA}">
      <dgm:prSet custT="1"/>
      <dgm:spPr/>
      <dgm:t>
        <a:bodyPr/>
        <a:lstStyle/>
        <a:p>
          <a:r>
            <a:rPr lang="en-US" sz="2800" b="1" dirty="0"/>
            <a:t>Use, Requirements</a:t>
          </a:r>
          <a:r>
            <a:rPr lang="en-US" sz="2800" b="1"/>
            <a:t>, Satisfaction</a:t>
          </a:r>
          <a:endParaRPr lang="en-US" sz="2800" dirty="0"/>
        </a:p>
      </dgm:t>
    </dgm:pt>
    <dgm:pt modelId="{41A09B61-67B7-394A-8056-6EA98FE9BFF0}" type="parTrans" cxnId="{788A4AC4-D4F5-4F40-B86B-DA4F651687B5}">
      <dgm:prSet/>
      <dgm:spPr/>
      <dgm:t>
        <a:bodyPr/>
        <a:lstStyle/>
        <a:p>
          <a:endParaRPr lang="en-US"/>
        </a:p>
      </dgm:t>
    </dgm:pt>
    <dgm:pt modelId="{98241C3B-B2C6-FF46-9F3A-E35C3B8A193D}" type="sibTrans" cxnId="{788A4AC4-D4F5-4F40-B86B-DA4F651687B5}">
      <dgm:prSet/>
      <dgm:spPr/>
      <dgm:t>
        <a:bodyPr/>
        <a:lstStyle/>
        <a:p>
          <a:endParaRPr lang="en-US"/>
        </a:p>
      </dgm:t>
    </dgm:pt>
    <dgm:pt modelId="{8BD40EFF-4CFA-674C-8A1D-5B20F2B12CF3}">
      <dgm:prSet custT="1"/>
      <dgm:spPr/>
      <dgm:t>
        <a:bodyPr/>
        <a:lstStyle/>
        <a:p>
          <a:r>
            <a:rPr lang="en-US" sz="2800" b="1" dirty="0"/>
            <a:t>Survey design committee</a:t>
          </a:r>
          <a:endParaRPr lang="en-US" sz="2800" dirty="0"/>
        </a:p>
      </dgm:t>
    </dgm:pt>
    <dgm:pt modelId="{48229CBF-1E98-F146-A479-B36638FB4123}" type="parTrans" cxnId="{16DB2C9B-716E-7649-BD54-F35345813E4F}">
      <dgm:prSet/>
      <dgm:spPr/>
      <dgm:t>
        <a:bodyPr/>
        <a:lstStyle/>
        <a:p>
          <a:endParaRPr lang="en-US"/>
        </a:p>
      </dgm:t>
    </dgm:pt>
    <dgm:pt modelId="{3412258E-4141-9443-8EC7-26980557A14A}" type="sibTrans" cxnId="{16DB2C9B-716E-7649-BD54-F35345813E4F}">
      <dgm:prSet/>
      <dgm:spPr/>
      <dgm:t>
        <a:bodyPr/>
        <a:lstStyle/>
        <a:p>
          <a:endParaRPr lang="en-US"/>
        </a:p>
      </dgm:t>
    </dgm:pt>
    <dgm:pt modelId="{43F59BB3-27FB-274D-BB6C-CCCCB6D56716}">
      <dgm:prSet custT="1"/>
      <dgm:spPr/>
      <dgm:t>
        <a:bodyPr/>
        <a:lstStyle/>
        <a:p>
          <a:r>
            <a:rPr lang="en-US" sz="2800" b="1" dirty="0"/>
            <a:t>Survey and analysis by IJIS </a:t>
          </a:r>
          <a:endParaRPr lang="en-US" sz="2800" dirty="0"/>
        </a:p>
      </dgm:t>
    </dgm:pt>
    <dgm:pt modelId="{9EC46216-85BF-C949-A63B-20FB6E45E200}" type="parTrans" cxnId="{6B7EFE27-535A-E74A-A3A1-19AE84AF3D70}">
      <dgm:prSet/>
      <dgm:spPr/>
      <dgm:t>
        <a:bodyPr/>
        <a:lstStyle/>
        <a:p>
          <a:endParaRPr lang="en-US"/>
        </a:p>
      </dgm:t>
    </dgm:pt>
    <dgm:pt modelId="{768A8249-D003-2043-A54E-AE99DC6E7858}" type="sibTrans" cxnId="{6B7EFE27-535A-E74A-A3A1-19AE84AF3D70}">
      <dgm:prSet/>
      <dgm:spPr/>
      <dgm:t>
        <a:bodyPr/>
        <a:lstStyle/>
        <a:p>
          <a:endParaRPr lang="en-US"/>
        </a:p>
      </dgm:t>
    </dgm:pt>
    <dgm:pt modelId="{5BC4FB70-6C48-4843-BBC2-E80B4092163F}">
      <dgm:prSet custT="1"/>
      <dgm:spPr/>
      <dgm:t>
        <a:bodyPr/>
        <a:lstStyle/>
        <a:p>
          <a:r>
            <a:rPr lang="en-US" sz="2800" b="1" dirty="0"/>
            <a:t>PGB Briefing</a:t>
          </a:r>
          <a:endParaRPr lang="en-US" sz="2800" dirty="0"/>
        </a:p>
      </dgm:t>
    </dgm:pt>
    <dgm:pt modelId="{F2F4EB0F-0407-9E49-AF6F-A58F829AA9DC}" type="parTrans" cxnId="{0F5B194C-AC81-774C-B411-181C41E6A9E3}">
      <dgm:prSet/>
      <dgm:spPr/>
      <dgm:t>
        <a:bodyPr/>
        <a:lstStyle/>
        <a:p>
          <a:endParaRPr lang="en-US"/>
        </a:p>
      </dgm:t>
    </dgm:pt>
    <dgm:pt modelId="{B7614F69-D712-7445-9912-348869134706}" type="sibTrans" cxnId="{0F5B194C-AC81-774C-B411-181C41E6A9E3}">
      <dgm:prSet/>
      <dgm:spPr/>
      <dgm:t>
        <a:bodyPr/>
        <a:lstStyle/>
        <a:p>
          <a:endParaRPr lang="en-US"/>
        </a:p>
      </dgm:t>
    </dgm:pt>
    <dgm:pt modelId="{9CC7B519-8D73-3247-9186-23332B97A224}" type="pres">
      <dgm:prSet presAssocID="{D4C84EFD-19F4-D54A-8D68-9498D380801A}" presName="linearFlow" presStyleCnt="0">
        <dgm:presLayoutVars>
          <dgm:dir/>
          <dgm:resizeHandles val="exact"/>
        </dgm:presLayoutVars>
      </dgm:prSet>
      <dgm:spPr/>
    </dgm:pt>
    <dgm:pt modelId="{D195909F-3E5F-E145-8CEA-7F67CED41CAE}" type="pres">
      <dgm:prSet presAssocID="{AC12C186-DD3B-784A-8D9A-BC0731048CDA}" presName="composite" presStyleCnt="0"/>
      <dgm:spPr/>
    </dgm:pt>
    <dgm:pt modelId="{5C6D8ABE-C5C1-8D47-B15C-3633CDE10ABD}" type="pres">
      <dgm:prSet presAssocID="{AC12C186-DD3B-784A-8D9A-BC0731048CDA}" presName="imgShp" presStyleLbl="fgImgPlace1" presStyleIdx="0" presStyleCnt="4"/>
      <dgm:spPr/>
    </dgm:pt>
    <dgm:pt modelId="{B2AA4985-4059-9F47-B720-C3B7360E2D9F}" type="pres">
      <dgm:prSet presAssocID="{AC12C186-DD3B-784A-8D9A-BC0731048CDA}" presName="txShp" presStyleLbl="node1" presStyleIdx="0" presStyleCnt="4">
        <dgm:presLayoutVars>
          <dgm:bulletEnabled val="1"/>
        </dgm:presLayoutVars>
      </dgm:prSet>
      <dgm:spPr/>
    </dgm:pt>
    <dgm:pt modelId="{1826B70F-3CFA-8E4C-8AA2-9D33867665B6}" type="pres">
      <dgm:prSet presAssocID="{98241C3B-B2C6-FF46-9F3A-E35C3B8A193D}" presName="spacing" presStyleCnt="0"/>
      <dgm:spPr/>
    </dgm:pt>
    <dgm:pt modelId="{1D89DFBC-7EB9-E144-BF44-EA4F942A6653}" type="pres">
      <dgm:prSet presAssocID="{8BD40EFF-4CFA-674C-8A1D-5B20F2B12CF3}" presName="composite" presStyleCnt="0"/>
      <dgm:spPr/>
    </dgm:pt>
    <dgm:pt modelId="{ABA0A936-5EE6-4143-BEB1-3D0F8BB5A564}" type="pres">
      <dgm:prSet presAssocID="{8BD40EFF-4CFA-674C-8A1D-5B20F2B12CF3}" presName="imgShp" presStyleLbl="fgImgPlace1" presStyleIdx="1" presStyleCnt="4"/>
      <dgm:spPr/>
    </dgm:pt>
    <dgm:pt modelId="{6765135A-857B-4C47-9C9D-AC2999B63AB3}" type="pres">
      <dgm:prSet presAssocID="{8BD40EFF-4CFA-674C-8A1D-5B20F2B12CF3}" presName="txShp" presStyleLbl="node1" presStyleIdx="1" presStyleCnt="4">
        <dgm:presLayoutVars>
          <dgm:bulletEnabled val="1"/>
        </dgm:presLayoutVars>
      </dgm:prSet>
      <dgm:spPr/>
    </dgm:pt>
    <dgm:pt modelId="{BA2D385D-FB1A-5845-9F60-7BDEA1B1615F}" type="pres">
      <dgm:prSet presAssocID="{3412258E-4141-9443-8EC7-26980557A14A}" presName="spacing" presStyleCnt="0"/>
      <dgm:spPr/>
    </dgm:pt>
    <dgm:pt modelId="{B96855FF-8942-3F4A-BA15-5FC30BF81B56}" type="pres">
      <dgm:prSet presAssocID="{43F59BB3-27FB-274D-BB6C-CCCCB6D56716}" presName="composite" presStyleCnt="0"/>
      <dgm:spPr/>
    </dgm:pt>
    <dgm:pt modelId="{4775D474-5127-174F-9252-1F7301F00578}" type="pres">
      <dgm:prSet presAssocID="{43F59BB3-27FB-274D-BB6C-CCCCB6D56716}" presName="imgShp" presStyleLbl="fgImgPlace1" presStyleIdx="2" presStyleCnt="4"/>
      <dgm:spPr/>
    </dgm:pt>
    <dgm:pt modelId="{6F4BCA31-15AE-7444-8AB0-D641B23C8F2B}" type="pres">
      <dgm:prSet presAssocID="{43F59BB3-27FB-274D-BB6C-CCCCB6D56716}" presName="txShp" presStyleLbl="node1" presStyleIdx="2" presStyleCnt="4">
        <dgm:presLayoutVars>
          <dgm:bulletEnabled val="1"/>
        </dgm:presLayoutVars>
      </dgm:prSet>
      <dgm:spPr/>
    </dgm:pt>
    <dgm:pt modelId="{6C21E542-504A-484A-B51E-384622D4EBD4}" type="pres">
      <dgm:prSet presAssocID="{768A8249-D003-2043-A54E-AE99DC6E7858}" presName="spacing" presStyleCnt="0"/>
      <dgm:spPr/>
    </dgm:pt>
    <dgm:pt modelId="{35C507FE-3370-DC41-88FC-880615ABFF5D}" type="pres">
      <dgm:prSet presAssocID="{5BC4FB70-6C48-4843-BBC2-E80B4092163F}" presName="composite" presStyleCnt="0"/>
      <dgm:spPr/>
    </dgm:pt>
    <dgm:pt modelId="{7BF7B538-A35A-244A-98F2-52CF37BB7643}" type="pres">
      <dgm:prSet presAssocID="{5BC4FB70-6C48-4843-BBC2-E80B4092163F}" presName="imgShp" presStyleLbl="fgImgPlace1" presStyleIdx="3" presStyleCnt="4"/>
      <dgm:spPr/>
    </dgm:pt>
    <dgm:pt modelId="{696170FB-475C-7F41-8B06-D81759EF588E}" type="pres">
      <dgm:prSet presAssocID="{5BC4FB70-6C48-4843-BBC2-E80B4092163F}" presName="txShp" presStyleLbl="node1" presStyleIdx="3" presStyleCnt="4">
        <dgm:presLayoutVars>
          <dgm:bulletEnabled val="1"/>
        </dgm:presLayoutVars>
      </dgm:prSet>
      <dgm:spPr/>
    </dgm:pt>
  </dgm:ptLst>
  <dgm:cxnLst>
    <dgm:cxn modelId="{6B7EFE27-535A-E74A-A3A1-19AE84AF3D70}" srcId="{D4C84EFD-19F4-D54A-8D68-9498D380801A}" destId="{43F59BB3-27FB-274D-BB6C-CCCCB6D56716}" srcOrd="2" destOrd="0" parTransId="{9EC46216-85BF-C949-A63B-20FB6E45E200}" sibTransId="{768A8249-D003-2043-A54E-AE99DC6E7858}"/>
    <dgm:cxn modelId="{C3536232-2914-0649-AB24-73F16A83F6AD}" type="presOf" srcId="{43F59BB3-27FB-274D-BB6C-CCCCB6D56716}" destId="{6F4BCA31-15AE-7444-8AB0-D641B23C8F2B}" srcOrd="0" destOrd="0" presId="urn:microsoft.com/office/officeart/2005/8/layout/vList3"/>
    <dgm:cxn modelId="{D5064446-5587-7740-B82F-CE62E5B22490}" type="presOf" srcId="{8BD40EFF-4CFA-674C-8A1D-5B20F2B12CF3}" destId="{6765135A-857B-4C47-9C9D-AC2999B63AB3}" srcOrd="0" destOrd="0" presId="urn:microsoft.com/office/officeart/2005/8/layout/vList3"/>
    <dgm:cxn modelId="{0F5B194C-AC81-774C-B411-181C41E6A9E3}" srcId="{D4C84EFD-19F4-D54A-8D68-9498D380801A}" destId="{5BC4FB70-6C48-4843-BBC2-E80B4092163F}" srcOrd="3" destOrd="0" parTransId="{F2F4EB0F-0407-9E49-AF6F-A58F829AA9DC}" sibTransId="{B7614F69-D712-7445-9912-348869134706}"/>
    <dgm:cxn modelId="{2E840A70-561B-7444-AF87-D7A6E2A1C3CB}" type="presOf" srcId="{AC12C186-DD3B-784A-8D9A-BC0731048CDA}" destId="{B2AA4985-4059-9F47-B720-C3B7360E2D9F}" srcOrd="0" destOrd="0" presId="urn:microsoft.com/office/officeart/2005/8/layout/vList3"/>
    <dgm:cxn modelId="{16DB2C9B-716E-7649-BD54-F35345813E4F}" srcId="{D4C84EFD-19F4-D54A-8D68-9498D380801A}" destId="{8BD40EFF-4CFA-674C-8A1D-5B20F2B12CF3}" srcOrd="1" destOrd="0" parTransId="{48229CBF-1E98-F146-A479-B36638FB4123}" sibTransId="{3412258E-4141-9443-8EC7-26980557A14A}"/>
    <dgm:cxn modelId="{788A4AC4-D4F5-4F40-B86B-DA4F651687B5}" srcId="{D4C84EFD-19F4-D54A-8D68-9498D380801A}" destId="{AC12C186-DD3B-784A-8D9A-BC0731048CDA}" srcOrd="0" destOrd="0" parTransId="{41A09B61-67B7-394A-8056-6EA98FE9BFF0}" sibTransId="{98241C3B-B2C6-FF46-9F3A-E35C3B8A193D}"/>
    <dgm:cxn modelId="{892AB2D1-6B56-2D49-9442-D17CBC9E0F15}" type="presOf" srcId="{5BC4FB70-6C48-4843-BBC2-E80B4092163F}" destId="{696170FB-475C-7F41-8B06-D81759EF588E}" srcOrd="0" destOrd="0" presId="urn:microsoft.com/office/officeart/2005/8/layout/vList3"/>
    <dgm:cxn modelId="{F5EC67D8-E989-534B-9842-1AACC64AAB35}" type="presOf" srcId="{D4C84EFD-19F4-D54A-8D68-9498D380801A}" destId="{9CC7B519-8D73-3247-9186-23332B97A224}" srcOrd="0" destOrd="0" presId="urn:microsoft.com/office/officeart/2005/8/layout/vList3"/>
    <dgm:cxn modelId="{D5CFF679-F285-FD4E-A044-92520CF9796E}" type="presParOf" srcId="{9CC7B519-8D73-3247-9186-23332B97A224}" destId="{D195909F-3E5F-E145-8CEA-7F67CED41CAE}" srcOrd="0" destOrd="0" presId="urn:microsoft.com/office/officeart/2005/8/layout/vList3"/>
    <dgm:cxn modelId="{7511C26F-0FAD-5645-8F05-0995BD23AD39}" type="presParOf" srcId="{D195909F-3E5F-E145-8CEA-7F67CED41CAE}" destId="{5C6D8ABE-C5C1-8D47-B15C-3633CDE10ABD}" srcOrd="0" destOrd="0" presId="urn:microsoft.com/office/officeart/2005/8/layout/vList3"/>
    <dgm:cxn modelId="{10A4A7D3-AA5C-874C-ADB7-82999E195712}" type="presParOf" srcId="{D195909F-3E5F-E145-8CEA-7F67CED41CAE}" destId="{B2AA4985-4059-9F47-B720-C3B7360E2D9F}" srcOrd="1" destOrd="0" presId="urn:microsoft.com/office/officeart/2005/8/layout/vList3"/>
    <dgm:cxn modelId="{6495F00D-7D38-4B48-BDCF-DFE0D304EF16}" type="presParOf" srcId="{9CC7B519-8D73-3247-9186-23332B97A224}" destId="{1826B70F-3CFA-8E4C-8AA2-9D33867665B6}" srcOrd="1" destOrd="0" presId="urn:microsoft.com/office/officeart/2005/8/layout/vList3"/>
    <dgm:cxn modelId="{32326884-F785-8449-8EA9-E334407C928D}" type="presParOf" srcId="{9CC7B519-8D73-3247-9186-23332B97A224}" destId="{1D89DFBC-7EB9-E144-BF44-EA4F942A6653}" srcOrd="2" destOrd="0" presId="urn:microsoft.com/office/officeart/2005/8/layout/vList3"/>
    <dgm:cxn modelId="{F52BE67A-5B6B-784A-B99B-DEA7E8D2D08D}" type="presParOf" srcId="{1D89DFBC-7EB9-E144-BF44-EA4F942A6653}" destId="{ABA0A936-5EE6-4143-BEB1-3D0F8BB5A564}" srcOrd="0" destOrd="0" presId="urn:microsoft.com/office/officeart/2005/8/layout/vList3"/>
    <dgm:cxn modelId="{D8E19166-9CC5-904F-B78C-1AF8E7CF1D16}" type="presParOf" srcId="{1D89DFBC-7EB9-E144-BF44-EA4F942A6653}" destId="{6765135A-857B-4C47-9C9D-AC2999B63AB3}" srcOrd="1" destOrd="0" presId="urn:microsoft.com/office/officeart/2005/8/layout/vList3"/>
    <dgm:cxn modelId="{E04777E9-7FBF-D944-B982-300FE3583DED}" type="presParOf" srcId="{9CC7B519-8D73-3247-9186-23332B97A224}" destId="{BA2D385D-FB1A-5845-9F60-7BDEA1B1615F}" srcOrd="3" destOrd="0" presId="urn:microsoft.com/office/officeart/2005/8/layout/vList3"/>
    <dgm:cxn modelId="{E1FF0688-60A0-A144-9996-E9685F3608CB}" type="presParOf" srcId="{9CC7B519-8D73-3247-9186-23332B97A224}" destId="{B96855FF-8942-3F4A-BA15-5FC30BF81B56}" srcOrd="4" destOrd="0" presId="urn:microsoft.com/office/officeart/2005/8/layout/vList3"/>
    <dgm:cxn modelId="{EFAE6016-F19E-8645-A9A1-DFAF490599E5}" type="presParOf" srcId="{B96855FF-8942-3F4A-BA15-5FC30BF81B56}" destId="{4775D474-5127-174F-9252-1F7301F00578}" srcOrd="0" destOrd="0" presId="urn:microsoft.com/office/officeart/2005/8/layout/vList3"/>
    <dgm:cxn modelId="{1E07DEED-D202-F44C-A921-B7CE0EC8F0B1}" type="presParOf" srcId="{B96855FF-8942-3F4A-BA15-5FC30BF81B56}" destId="{6F4BCA31-15AE-7444-8AB0-D641B23C8F2B}" srcOrd="1" destOrd="0" presId="urn:microsoft.com/office/officeart/2005/8/layout/vList3"/>
    <dgm:cxn modelId="{76377884-743C-EB45-9180-27CA15A704C1}" type="presParOf" srcId="{9CC7B519-8D73-3247-9186-23332B97A224}" destId="{6C21E542-504A-484A-B51E-384622D4EBD4}" srcOrd="5" destOrd="0" presId="urn:microsoft.com/office/officeart/2005/8/layout/vList3"/>
    <dgm:cxn modelId="{328B0134-5220-C049-AACC-5D43F228C5E3}" type="presParOf" srcId="{9CC7B519-8D73-3247-9186-23332B97A224}" destId="{35C507FE-3370-DC41-88FC-880615ABFF5D}" srcOrd="6" destOrd="0" presId="urn:microsoft.com/office/officeart/2005/8/layout/vList3"/>
    <dgm:cxn modelId="{3686C8A7-516E-EE4B-B1B8-8293D6C642C9}" type="presParOf" srcId="{35C507FE-3370-DC41-88FC-880615ABFF5D}" destId="{7BF7B538-A35A-244A-98F2-52CF37BB7643}" srcOrd="0" destOrd="0" presId="urn:microsoft.com/office/officeart/2005/8/layout/vList3"/>
    <dgm:cxn modelId="{B4DFE320-97C3-1841-8C60-D676377B71B6}" type="presParOf" srcId="{35C507FE-3370-DC41-88FC-880615ABFF5D}" destId="{696170FB-475C-7F41-8B06-D81759EF588E}" srcOrd="1" destOrd="0" presId="urn:microsoft.com/office/officeart/2005/8/layout/vList3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A4985-4059-9F47-B720-C3B7360E2D9F}">
      <dsp:nvSpPr>
        <dsp:cNvPr id="0" name=""/>
        <dsp:cNvSpPr/>
      </dsp:nvSpPr>
      <dsp:spPr>
        <a:xfrm rot="10800000">
          <a:off x="1882305" y="62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Use, Requirements</a:t>
          </a:r>
          <a:r>
            <a:rPr lang="en-US" sz="2800" b="1" kern="1200"/>
            <a:t>, Satisfaction</a:t>
          </a:r>
          <a:endParaRPr lang="en-US" sz="2800" kern="1200" dirty="0"/>
        </a:p>
      </dsp:txBody>
      <dsp:txXfrm rot="10800000">
        <a:off x="2081956" y="62"/>
        <a:ext cx="6480739" cy="798603"/>
      </dsp:txXfrm>
    </dsp:sp>
    <dsp:sp modelId="{5C6D8ABE-C5C1-8D47-B15C-3633CDE10ABD}">
      <dsp:nvSpPr>
        <dsp:cNvPr id="0" name=""/>
        <dsp:cNvSpPr/>
      </dsp:nvSpPr>
      <dsp:spPr>
        <a:xfrm>
          <a:off x="1483003" y="62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5135A-857B-4C47-9C9D-AC2999B63AB3}">
      <dsp:nvSpPr>
        <dsp:cNvPr id="0" name=""/>
        <dsp:cNvSpPr/>
      </dsp:nvSpPr>
      <dsp:spPr>
        <a:xfrm rot="10800000">
          <a:off x="1882305" y="1029219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Survey design committee</a:t>
          </a:r>
          <a:endParaRPr lang="en-US" sz="2800" kern="1200" dirty="0"/>
        </a:p>
      </dsp:txBody>
      <dsp:txXfrm rot="10800000">
        <a:off x="2081956" y="1029219"/>
        <a:ext cx="6480739" cy="798603"/>
      </dsp:txXfrm>
    </dsp:sp>
    <dsp:sp modelId="{ABA0A936-5EE6-4143-BEB1-3D0F8BB5A564}">
      <dsp:nvSpPr>
        <dsp:cNvPr id="0" name=""/>
        <dsp:cNvSpPr/>
      </dsp:nvSpPr>
      <dsp:spPr>
        <a:xfrm>
          <a:off x="1483003" y="1029219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4BCA31-15AE-7444-8AB0-D641B23C8F2B}">
      <dsp:nvSpPr>
        <dsp:cNvPr id="0" name=""/>
        <dsp:cNvSpPr/>
      </dsp:nvSpPr>
      <dsp:spPr>
        <a:xfrm rot="10800000">
          <a:off x="1882305" y="2058376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Survey and analysis by IJIS </a:t>
          </a:r>
          <a:endParaRPr lang="en-US" sz="2800" kern="1200" dirty="0"/>
        </a:p>
      </dsp:txBody>
      <dsp:txXfrm rot="10800000">
        <a:off x="2081956" y="2058376"/>
        <a:ext cx="6480739" cy="798603"/>
      </dsp:txXfrm>
    </dsp:sp>
    <dsp:sp modelId="{4775D474-5127-174F-9252-1F7301F00578}">
      <dsp:nvSpPr>
        <dsp:cNvPr id="0" name=""/>
        <dsp:cNvSpPr/>
      </dsp:nvSpPr>
      <dsp:spPr>
        <a:xfrm>
          <a:off x="1483003" y="2058376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170FB-475C-7F41-8B06-D81759EF588E}">
      <dsp:nvSpPr>
        <dsp:cNvPr id="0" name=""/>
        <dsp:cNvSpPr/>
      </dsp:nvSpPr>
      <dsp:spPr>
        <a:xfrm rot="10800000">
          <a:off x="1882305" y="3087533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PGB Briefing</a:t>
          </a:r>
          <a:endParaRPr lang="en-US" sz="2800" kern="1200" dirty="0"/>
        </a:p>
      </dsp:txBody>
      <dsp:txXfrm rot="10800000">
        <a:off x="2081956" y="3087533"/>
        <a:ext cx="6480739" cy="798603"/>
      </dsp:txXfrm>
    </dsp:sp>
    <dsp:sp modelId="{7BF7B538-A35A-244A-98F2-52CF37BB7643}">
      <dsp:nvSpPr>
        <dsp:cNvPr id="0" name=""/>
        <dsp:cNvSpPr/>
      </dsp:nvSpPr>
      <dsp:spPr>
        <a:xfrm>
          <a:off x="1483003" y="3087533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2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0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57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05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1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3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58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0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303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0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137497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8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492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8016452879?pwd=a3hNN0dieVJPR1pZY2QwbHVXbFJTUT09&amp;omn=8590818089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emopen/oasis-open-project/tree/main/pgb-meeting-minutes" TargetMode="External"/><Relationship Id="rId4" Type="http://schemas.openxmlformats.org/officeDocument/2006/relationships/hyperlink" Target="https://us06web.zoom.us/meetings/85908180890/invitations?signature=v7ueE3VX0wciFxK86TDOvU4-uHxhSlMjSZeynaKxCXo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5/4-dec-25/DRAFT%20NIEMOpen%20PGB%20Minutes%20December%204%2C%202025.doc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10" Type="http://schemas.openxmlformats.org/officeDocument/2006/relationships/image" Target="../media/image41.png"/><Relationship Id="rId4" Type="http://schemas.openxmlformats.org/officeDocument/2006/relationships/image" Target="../media/image35.jpeg"/><Relationship Id="rId9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272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2400" b="1" spc="-35" dirty="0">
                <a:solidFill>
                  <a:srgbClr val="8A8A8A"/>
                </a:solidFill>
                <a:latin typeface="Arial"/>
                <a:cs typeface="Arial"/>
              </a:rPr>
              <a:t>19 March</a:t>
            </a:r>
            <a:r>
              <a:rPr sz="2400" b="1" spc="-20" dirty="0">
                <a:solidFill>
                  <a:srgbClr val="8A8A8A"/>
                </a:solidFill>
                <a:latin typeface="Arial"/>
                <a:cs typeface="Arial"/>
              </a:rPr>
              <a:t> 2025</a:t>
            </a:r>
            <a:endParaRPr lang="en-US" sz="2400" b="1" spc="-20" dirty="0">
              <a:solidFill>
                <a:srgbClr val="8A8A8A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lang="en-US" sz="2000" spc="-50" dirty="0">
                <a:solidFill>
                  <a:srgbClr val="00516F"/>
                </a:solidFill>
                <a:latin typeface="Arial"/>
                <a:cs typeface="Arial"/>
              </a:rPr>
              <a:t>Paul Wormeli, Chairman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20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20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20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B</a:t>
            </a:r>
            <a:r>
              <a:rPr lang="en-US" sz="2000" dirty="0">
                <a:solidFill>
                  <a:srgbClr val="00516F"/>
                </a:solidFill>
                <a:latin typeface="Arial"/>
                <a:cs typeface="Arial"/>
              </a:rPr>
              <a:t>oard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1353"/>
            <a:ext cx="137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00516F"/>
                </a:solidFill>
              </a:rPr>
              <a:t>VENUE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09600" y="899160"/>
            <a:ext cx="5384800" cy="3627120"/>
          </a:xfrm>
          <a:custGeom>
            <a:avLst/>
            <a:gdLst/>
            <a:ahLst/>
            <a:cxnLst/>
            <a:rect l="l" t="t" r="r" b="b"/>
            <a:pathLst>
              <a:path w="5384800" h="3627120">
                <a:moveTo>
                  <a:pt x="0" y="3627120"/>
                </a:moveTo>
                <a:lnTo>
                  <a:pt x="5384292" y="3627120"/>
                </a:lnTo>
                <a:lnTo>
                  <a:pt x="5384292" y="0"/>
                </a:lnTo>
                <a:lnTo>
                  <a:pt x="0" y="0"/>
                </a:lnTo>
                <a:lnTo>
                  <a:pt x="0" y="3627120"/>
                </a:lnTo>
                <a:close/>
              </a:path>
            </a:pathLst>
          </a:custGeom>
          <a:ln w="9525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951" y="674960"/>
            <a:ext cx="4816475" cy="2047355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269240" algn="ctr">
              <a:lnSpc>
                <a:spcPct val="100000"/>
              </a:lnSpc>
              <a:spcBef>
                <a:spcPts val="2045"/>
              </a:spcBef>
            </a:pPr>
            <a:r>
              <a:rPr sz="30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sz="3000" spc="-6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3000" dirty="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Char char="•"/>
              <a:tabLst>
                <a:tab pos="342265" algn="l"/>
              </a:tabLst>
            </a:pPr>
            <a:r>
              <a:rPr lang="en-US" sz="2800" spc="-50" dirty="0">
                <a:solidFill>
                  <a:srgbClr val="334052"/>
                </a:solidFill>
                <a:latin typeface="Arial"/>
                <a:cs typeface="Arial"/>
              </a:rPr>
              <a:t>19 March 2026</a:t>
            </a:r>
            <a:endParaRPr sz="2800" dirty="0">
              <a:latin typeface="Arial"/>
              <a:cs typeface="Arial"/>
            </a:endParaRPr>
          </a:p>
          <a:p>
            <a:pPr marL="399415" indent="-399415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Char char="•"/>
              <a:tabLst>
                <a:tab pos="399415" algn="l"/>
              </a:tabLst>
            </a:pP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28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4052"/>
                </a:solidFill>
                <a:latin typeface="Arial"/>
                <a:cs typeface="Arial"/>
              </a:rPr>
              <a:t>2-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4</a:t>
            </a:r>
            <a:r>
              <a:rPr sz="2800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PM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4052"/>
                </a:solidFill>
                <a:latin typeface="Arial"/>
                <a:cs typeface="Arial"/>
              </a:rPr>
              <a:t>EST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 rot="10800000" flipV="1">
            <a:off x="6400800" y="754051"/>
            <a:ext cx="5651826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75" dirty="0">
                <a:solidFill>
                  <a:srgbClr val="548ED4"/>
                </a:solidFill>
                <a:latin typeface="Arial"/>
                <a:cs typeface="Arial"/>
              </a:rPr>
              <a:t>19 March 2026</a:t>
            </a:r>
            <a:endParaRPr lang="en-US" sz="2800" spc="-2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lang="en-US" sz="2800" dirty="0">
                <a:solidFill>
                  <a:srgbClr val="548ED4"/>
                </a:solidFill>
                <a:latin typeface="Arial"/>
                <a:cs typeface="Arial"/>
              </a:rPr>
              <a:t> Zoom</a:t>
            </a: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2800" dirty="0">
              <a:latin typeface="Arial"/>
              <a:cs typeface="Arial"/>
            </a:endParaRPr>
          </a:p>
          <a:p>
            <a:pPr marL="140970" algn="ctr">
              <a:lnSpc>
                <a:spcPct val="100000"/>
              </a:lnSpc>
              <a:spcBef>
                <a:spcPts val="5"/>
              </a:spcBef>
            </a:pPr>
            <a:endParaRPr lang="en-US" sz="1600" b="1" spc="-1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Join Zoom Meeting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  <a:hlinkClick r:id="rId3" tooltip="https://us06web.zoom.us/j/8016452879?pwd=a3hNN0dieVJPR1pZY2QwbHVXbFJTUT09&amp;omn=85908180890"/>
              </a:rPr>
              <a:t>https://us06web.zoom.us/j/8016452879?pwd=a3hNN0dieVJPR1pZY2QwbHVXbFJTUT09&amp;omn=85908180890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Meeting ID: 801 645 2879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Passcode: 676136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424242"/>
              </a:solidFill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One tap mobile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+13052241968,,8016452879#,,,,*676136# US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+13092053325,,8016452879#,,,,*676136# US</a:t>
            </a: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Join instructions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hlinkClick r:id="rId4" tooltip="https://us06web.zoom.us/meetings/85908180890/invitations?signature=v7ueE3VX0wciFxK86TDOvU4-uHxhSlMjSZeynaKxCXo"/>
              </a:rPr>
              <a:t>https://us06web.zoom.us/meetings/85908180890/invitations?signature=v7ueE3VX0wciFxK86TDOvU4-uHxhSlMjSZeynaKxCXo</a:t>
            </a:r>
            <a:endParaRPr lang="en-US" sz="1600" b="0" i="0" dirty="0">
              <a:solidFill>
                <a:srgbClr val="424242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l" fontAlgn="base"/>
            <a:endParaRPr sz="1600" dirty="0">
              <a:latin typeface="Calibri"/>
              <a:cs typeface="Calibri"/>
            </a:endParaRPr>
          </a:p>
          <a:p>
            <a:pPr marL="12700" marR="1139190">
              <a:lnSpc>
                <a:spcPct val="100000"/>
              </a:lnSpc>
            </a:pP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PGB Minutes</a:t>
            </a:r>
            <a:r>
              <a:rPr sz="1600" b="1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documents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https://github.com/niemopen/oasis-open-</a:t>
            </a:r>
            <a:r>
              <a:rPr sz="1600" u="none" spc="-10" dirty="0">
                <a:solidFill>
                  <a:srgbClr val="0085BA"/>
                </a:solid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project/tree/main/pgb-meeting-minutes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-4762"/>
            <a:ext cx="12201525" cy="143510"/>
            <a:chOff x="-4762" y="-4762"/>
            <a:chExt cx="12201525" cy="14351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55310" y="4975762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7415" y="3703096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826" y="3736624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13826" y="5064719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605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</a:t>
            </a:r>
            <a:endParaRPr lang="en-US" sz="900" b="1" spc="-10" dirty="0">
              <a:solidFill>
                <a:srgbClr val="454545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454545"/>
                </a:solidFill>
                <a:latin typeface="Arial"/>
                <a:cs typeface="Arial"/>
              </a:rPr>
              <a:t> IJIS Institute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</a:t>
            </a:r>
            <a:r>
              <a:rPr lang="en-US" sz="900" spc="-20" dirty="0">
                <a:solidFill>
                  <a:srgbClr val="454545"/>
                </a:solidFill>
                <a:latin typeface="Arial"/>
                <a:cs typeface="Arial"/>
              </a:rPr>
              <a:t>Open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endParaRPr lang="en-US" sz="9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454545"/>
                </a:solidFill>
                <a:latin typeface="Arial"/>
                <a:cs typeface="Arial"/>
              </a:rPr>
              <a:t>Project Governing Board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16B02F69-6BAE-5B2D-15EA-E819D28DBDCC}"/>
              </a:ext>
            </a:extLst>
          </p:cNvPr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0487" y="1143202"/>
            <a:ext cx="824483" cy="12405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John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 Wandelt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Principal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  <p:sp>
        <p:nvSpPr>
          <p:cNvPr id="12" name="object 22">
            <a:extLst>
              <a:ext uri="{FF2B5EF4-FFF2-40B4-BE49-F238E27FC236}">
                <a16:creationId xmlns:a16="http://schemas.microsoft.com/office/drawing/2014/main" id="{7923A729-97D7-A90A-EADB-48C69C329BD8}"/>
              </a:ext>
            </a:extLst>
          </p:cNvPr>
          <p:cNvSpPr txBox="1"/>
          <p:nvPr/>
        </p:nvSpPr>
        <p:spPr>
          <a:xfrm>
            <a:off x="9380619" y="2480562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 fontAlgn="base"/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Yogesh Chawla</a:t>
            </a:r>
            <a:endParaRPr lang="en-US" sz="1000" b="1" dirty="0"/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Director, Software and Data Engineering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SEARCH</a:t>
            </a:r>
          </a:p>
        </p:txBody>
      </p:sp>
      <p:pic>
        <p:nvPicPr>
          <p:cNvPr id="17" name="Picture 16" descr="jose1 1">
            <a:extLst>
              <a:ext uri="{FF2B5EF4-FFF2-40B4-BE49-F238E27FC236}">
                <a16:creationId xmlns:a16="http://schemas.microsoft.com/office/drawing/2014/main" id="{0DB10D92-6316-1ED5-0D40-999E115A288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708" y="3943784"/>
            <a:ext cx="1394420" cy="1174248"/>
          </a:xfrm>
          <a:prstGeom prst="rect">
            <a:avLst/>
          </a:prstGeom>
        </p:spPr>
      </p:pic>
      <p:sp>
        <p:nvSpPr>
          <p:cNvPr id="18" name="object 22">
            <a:extLst>
              <a:ext uri="{FF2B5EF4-FFF2-40B4-BE49-F238E27FC236}">
                <a16:creationId xmlns:a16="http://schemas.microsoft.com/office/drawing/2014/main" id="{8958757D-63BA-F839-7DC6-D3ACC24DC46E}"/>
              </a:ext>
            </a:extLst>
          </p:cNvPr>
          <p:cNvSpPr txBox="1"/>
          <p:nvPr/>
        </p:nvSpPr>
        <p:spPr>
          <a:xfrm>
            <a:off x="6908636" y="5200975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 fontAlgn="base"/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Jose Plehn</a:t>
            </a:r>
            <a:endParaRPr lang="en-US" sz="1000" b="1" dirty="0"/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CEO and Founder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 err="1">
                <a:solidFill>
                  <a:srgbClr val="545454"/>
                </a:solidFill>
                <a:latin typeface="Georgia" panose="02040502050405020303" pitchFamily="18" charset="0"/>
              </a:rPr>
              <a:t>BrightQuery</a:t>
            </a:r>
            <a:endParaRPr lang="en-US" sz="1000" i="0" dirty="0">
              <a:solidFill>
                <a:srgbClr val="545454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93556F-4337-BA37-78B7-B2953A92488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9601" y="1104471"/>
            <a:ext cx="1313404" cy="1313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30" y="4314826"/>
            <a:ext cx="33540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Clr>
                <a:srgbClr val="454545"/>
              </a:buClr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Kelly</a:t>
            </a:r>
            <a:r>
              <a:rPr sz="1800" b="1" spc="459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Cullinane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Director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Standards Development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35249" y="4511805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2534" y="3674366"/>
            <a:ext cx="1639824" cy="1700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1013" y="3747518"/>
            <a:ext cx="1627632" cy="16276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59547" y="2020266"/>
            <a:ext cx="288480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8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James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Bryce</a:t>
            </a:r>
            <a:r>
              <a:rPr sz="1800" b="1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Clark</a:t>
            </a:r>
            <a:r>
              <a:rPr sz="1800" b="1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General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1013" y="1752600"/>
            <a:ext cx="1815083" cy="120548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194475" y="1911913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108" y="1560575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9753600" cy="5254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(8):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2000" spc="-65" dirty="0">
                <a:solidFill>
                  <a:srgbClr val="454545"/>
                </a:solidFill>
                <a:latin typeface="Arial"/>
                <a:cs typeface="Arial"/>
              </a:rPr>
              <a:t> J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ustice</a:t>
            </a:r>
            <a:r>
              <a:rPr lang="en-US" sz="2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2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2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20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2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2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20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20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20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20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20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20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20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20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20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20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20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20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20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20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20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IJIS Institute</a:t>
            </a:r>
            <a:r>
              <a:rPr lang="en-US" sz="2000" spc="-60" dirty="0">
                <a:solidFill>
                  <a:srgbClr val="454545"/>
                </a:solidFill>
                <a:latin typeface="Arial"/>
                <a:cs typeface="Arial"/>
              </a:rPr>
              <a:t> (IJIS)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20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20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20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20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2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20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/>
              <a:t>SEARCH | The National Consortium for Justice Information and Statistics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Bright Query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(2)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b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</a:br>
            <a:endParaRPr lang="en-US" sz="1900" b="1" spc="-1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December 4 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5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12689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4 December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202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5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  <a:hlinkClick r:id="rId2"/>
              </a:rPr>
              <a:t>https://github.com/niemopen/oasis-open-project/blob/main/pgb-meeting-minutes/2025/4-dec-25/DRAFT%20NIEMOpen%20PGB%20Minutes%20December%204%2C%202025.docx</a:t>
            </a:r>
            <a:endParaRPr lang="en-US" sz="1600" u="none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endParaRPr lang="en-US" sz="1600" u="none" dirty="0">
              <a:solidFill>
                <a:srgbClr val="1E1C11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6F27A-A791-FCF0-E57D-A84B1CAA7A5A}"/>
              </a:ext>
            </a:extLst>
          </p:cNvPr>
          <p:cNvSpPr txBox="1"/>
          <p:nvPr/>
        </p:nvSpPr>
        <p:spPr>
          <a:xfrm>
            <a:off x="1219200" y="3657600"/>
            <a:ext cx="9406889" cy="461665"/>
          </a:xfrm>
          <a:prstGeom prst="rect">
            <a:avLst/>
          </a:prstGeom>
          <a:noFill/>
          <a:ln w="38100">
            <a:solidFill>
              <a:schemeClr val="tx2">
                <a:alpha val="5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Motion 1: The December 4, 2025 minutes are approved as read</a:t>
            </a:r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MARCH 19</a:t>
            </a:r>
            <a:r>
              <a:rPr spc="-100" dirty="0"/>
              <a:t> </a:t>
            </a:r>
            <a:r>
              <a:rPr dirty="0"/>
              <a:t>202</a:t>
            </a:r>
            <a:r>
              <a:rPr lang="en-US" dirty="0"/>
              <a:t>6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4018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  <a:endParaRPr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6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6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6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6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6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0550" y="2590800"/>
            <a:ext cx="5751450" cy="246028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endParaRPr lang="en-US" sz="2400" b="1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endParaRPr lang="en-US" sz="2400" b="1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6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lang="en-US" sz="16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buClr>
                <a:srgbClr val="1F487C"/>
              </a:buClr>
              <a:buFontTx/>
              <a:buChar char="•"/>
              <a:tabLst>
                <a:tab pos="413384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413384" indent="-342900">
              <a:buClr>
                <a:srgbClr val="1F487C"/>
              </a:buClr>
              <a:buFontTx/>
              <a:buChar char="•"/>
              <a:tabLst>
                <a:tab pos="413384" algn="l"/>
              </a:tabLst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Adjourn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88340" y="3209719"/>
            <a:ext cx="5328703" cy="2236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Reports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NIEMOpen Progress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    OASIS Standard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    ISO Path—Kelly Cullinane (OASIS)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</a:t>
            </a: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lang="en-US" sz="16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lang="en-US" sz="16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–Brad Bolliger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NIEMOpen Toolset Roadmap—Jim Cabral</a:t>
            </a:r>
            <a:endParaRPr lang="en-US" sz="1600" spc="-1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lang="en-US" sz="16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Krul &amp; Kamran Atri</a:t>
            </a: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Q1 2026 Financial Snapshot – Cathie Mayo (OASIS)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F68D552-BE00-02BC-2339-0B15BF9BB9C0}"/>
              </a:ext>
            </a:extLst>
          </p:cNvPr>
          <p:cNvSpPr txBox="1"/>
          <p:nvPr/>
        </p:nvSpPr>
        <p:spPr>
          <a:xfrm>
            <a:off x="6227022" y="1016290"/>
            <a:ext cx="5751450" cy="144975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2026 Initiatives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Basic Formal Ontology</a:t>
            </a:r>
            <a:endParaRPr sz="16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DAMA Book of Knowledge</a:t>
            </a:r>
            <a:endParaRPr lang="en-US" sz="16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Stakeholder survey</a:t>
            </a: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Sponsor/Volunteer Recruitment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PROGRESS REPORT: Q1</a:t>
            </a:r>
            <a:endParaRPr spc="-1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V.6.0 progress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dirty="0">
                <a:solidFill>
                  <a:srgbClr val="334052"/>
                </a:solidFill>
                <a:latin typeface="Eras Bold ITC" panose="020B0907030504020204" pitchFamily="34" charset="77"/>
                <a:cs typeface="Arial"/>
              </a:rPr>
              <a:t>NDR 6.0 and NDR are OASIS Standards</a:t>
            </a: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Successful Forensics Townhall  8 December 25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Advances in API 2.0, NIEM Toolbox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Implementing PGB Decisions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Defining 2026 objectives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89D1-0EF4-08A2-AA66-639B897E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management—IJIS statement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F9CB-9C74-F29D-3C6C-C68F44896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18230"/>
            <a:ext cx="6172200" cy="46783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Scope of Work – Deliverables 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1. PGB Meeting Support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2. Inquiry Triage Management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3. AI‑Based Help Desk Design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4. Social Media Management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5. Website Content Updates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6. Technical Contract Oversight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7. Volunteer Recruitment Support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8. Strategic Plan Updates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Costs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- Total Work Order cost is limited to $40,000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84579-9E5F-6442-DA3E-A773FC754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4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E97-8FCA-AFA2-55BB-3B172250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306C5-4FC7-9FAE-560F-DC642CAA7A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50F3-AB51-AC8F-B6BD-C2147E839296}"/>
              </a:ext>
            </a:extLst>
          </p:cNvPr>
          <p:cNvSpPr txBox="1"/>
          <p:nvPr/>
        </p:nvSpPr>
        <p:spPr>
          <a:xfrm>
            <a:off x="533400" y="391180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ISO Path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AC4BA-E594-FEB8-8C97-2B1F769BAD97}"/>
              </a:ext>
            </a:extLst>
          </p:cNvPr>
          <p:cNvSpPr txBox="1"/>
          <p:nvPr/>
        </p:nvSpPr>
        <p:spPr>
          <a:xfrm>
            <a:off x="1981200" y="1676400"/>
            <a:ext cx="9220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Approval as an OASIS Standard </a:t>
            </a:r>
            <a:r>
              <a:rPr lang="en-US" sz="2800" b="1" i="1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(Completed)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Request to Submit to ISO/IEC JTC 1 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(Completed)</a:t>
            </a:r>
            <a:endParaRPr lang="en-US" sz="2800" b="1" i="0" dirty="0">
              <a:solidFill>
                <a:srgbClr val="00B05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Preparation of Submission Package and Explanatory Report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Submission and JTC 1 Review Process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Handling of Comments and Final Approval</a:t>
            </a:r>
            <a:endParaRPr lang="en-US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882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1955-121A-F5E4-1DD3-F5BB8166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NTAC Update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BCE61-09CB-1E43-3964-68C1FD1057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NTAC is reporting five priorities for 2026:</a:t>
            </a:r>
          </a:p>
          <a:p>
            <a:pPr lvl="1"/>
            <a:r>
              <a:rPr lang="en-US" sz="2400" dirty="0"/>
              <a:t>Publish V6.0 as an ISO Standard (Completed)</a:t>
            </a:r>
          </a:p>
          <a:p>
            <a:pPr lvl="1"/>
            <a:r>
              <a:rPr lang="en-US" sz="2400" dirty="0"/>
              <a:t>Deploy and test full tools suite</a:t>
            </a:r>
          </a:p>
          <a:p>
            <a:pPr lvl="1"/>
            <a:r>
              <a:rPr lang="en-US" sz="2400" dirty="0"/>
              <a:t>Incorporate new domains</a:t>
            </a:r>
          </a:p>
          <a:p>
            <a:pPr lvl="1"/>
            <a:r>
              <a:rPr lang="en-US" sz="2400" dirty="0"/>
              <a:t>Establish a new release life cycle</a:t>
            </a:r>
          </a:p>
          <a:p>
            <a:pPr lvl="1"/>
            <a:r>
              <a:rPr lang="en-US" sz="2400" dirty="0"/>
              <a:t>Determine the content of V7.0</a:t>
            </a:r>
          </a:p>
          <a:p>
            <a:r>
              <a:rPr lang="en-US" sz="2800" dirty="0"/>
              <a:t>Some other NTAC objectives postponed</a:t>
            </a:r>
          </a:p>
          <a:p>
            <a:pPr lvl="1"/>
            <a:r>
              <a:rPr lang="en-US" sz="2400" dirty="0"/>
              <a:t>Implement AI based Support Services</a:t>
            </a:r>
          </a:p>
          <a:p>
            <a:pPr lvl="1"/>
            <a:r>
              <a:rPr lang="en-US" sz="2400" dirty="0"/>
              <a:t>Automate model management using AI</a:t>
            </a:r>
          </a:p>
          <a:p>
            <a:pPr lvl="1"/>
            <a:r>
              <a:rPr lang="en-US" sz="2400" dirty="0"/>
              <a:t>Internationalize NIEMOpen Model and assets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9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59956-A457-745A-B905-C0CE855C4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NIEMOpen toolpath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69E1746-4AAD-79D3-634F-CBEADA6AE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Jim Cabral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D9052-C726-E7D1-41BC-61C97C817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78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F68C-3404-9A46-6BDE-D1A16557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F8DA-8CE1-292D-674F-754A11AA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NIEMOpen Tools</a:t>
            </a:r>
            <a:br>
              <a:rPr lang="en-US" dirty="0"/>
            </a:br>
            <a:r>
              <a:rPr lang="en-US" dirty="0"/>
              <a:t>v</a:t>
            </a:r>
            <a:r>
              <a:rPr lang="en-US" i="1" dirty="0"/>
              <a:t>6 Message Specification Pipeline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E5C4DBC-9479-63C5-ED1B-E8F82FFFD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031632"/>
              </p:ext>
            </p:extLst>
          </p:nvPr>
        </p:nvGraphicFramePr>
        <p:xfrm>
          <a:off x="698192" y="1371600"/>
          <a:ext cx="10795615" cy="469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343">
                  <a:extLst>
                    <a:ext uri="{9D8B030D-6E8A-4147-A177-3AD203B41FA5}">
                      <a16:colId xmlns:a16="http://schemas.microsoft.com/office/drawing/2014/main" val="2771406623"/>
                    </a:ext>
                  </a:extLst>
                </a:gridCol>
                <a:gridCol w="2788462">
                  <a:extLst>
                    <a:ext uri="{9D8B030D-6E8A-4147-A177-3AD203B41FA5}">
                      <a16:colId xmlns:a16="http://schemas.microsoft.com/office/drawing/2014/main" val="391680371"/>
                    </a:ext>
                  </a:extLst>
                </a:gridCol>
                <a:gridCol w="1008593">
                  <a:extLst>
                    <a:ext uri="{9D8B030D-6E8A-4147-A177-3AD203B41FA5}">
                      <a16:colId xmlns:a16="http://schemas.microsoft.com/office/drawing/2014/main" val="1443306284"/>
                    </a:ext>
                  </a:extLst>
                </a:gridCol>
                <a:gridCol w="1008593">
                  <a:extLst>
                    <a:ext uri="{9D8B030D-6E8A-4147-A177-3AD203B41FA5}">
                      <a16:colId xmlns:a16="http://schemas.microsoft.com/office/drawing/2014/main" val="2399030007"/>
                    </a:ext>
                  </a:extLst>
                </a:gridCol>
                <a:gridCol w="1387168">
                  <a:extLst>
                    <a:ext uri="{9D8B030D-6E8A-4147-A177-3AD203B41FA5}">
                      <a16:colId xmlns:a16="http://schemas.microsoft.com/office/drawing/2014/main" val="3060541718"/>
                    </a:ext>
                  </a:extLst>
                </a:gridCol>
                <a:gridCol w="1715456">
                  <a:extLst>
                    <a:ext uri="{9D8B030D-6E8A-4147-A177-3AD203B41FA5}">
                      <a16:colId xmlns:a16="http://schemas.microsoft.com/office/drawing/2014/main" val="3833868545"/>
                    </a:ext>
                  </a:extLst>
                </a:gridCol>
              </a:tblGrid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Input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Output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CMFTool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API 2.0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NIEMToolbox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any XML editor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65648780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Requirements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UML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62109691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UML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 (template)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00280374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Reference Model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Search UI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API 2.0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80590440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 (template), Search UI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94237217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 (template), MCP API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35127243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Reference Model, Mapping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Model Conformance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91704895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Mapping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94893994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 Conformance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CMFTool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68550215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Schemas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CMFTool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11182831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Schemas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Schema Conformance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CMFTool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CMFTool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52824921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Schemas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Instances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90303644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Instances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Instance Conformance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API 2.0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96877515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XML/MPD catalogs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Catalog Conformance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83671105"/>
                  </a:ext>
                </a:extLst>
              </a:tr>
              <a:tr h="313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Requirements, Instances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Requirements Met</a:t>
                      </a: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8875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355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5A52-329F-4C06-CEB7-8CA55D66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41838" cy="1325563"/>
          </a:xfrm>
        </p:spPr>
        <p:txBody>
          <a:bodyPr>
            <a:normAutofit/>
          </a:bodyPr>
          <a:lstStyle/>
          <a:p>
            <a:r>
              <a:rPr lang="en-US" dirty="0"/>
              <a:t>NIEMOpen Tools </a:t>
            </a:r>
            <a:br>
              <a:rPr lang="en-US" dirty="0"/>
            </a:br>
            <a:r>
              <a:rPr lang="en-US" i="1" dirty="0"/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139ADD-7138-4195-E22B-E0DE6FB36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69199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Standardized mapping templates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Message specifications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Releases/domain updates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CMFTool enhancements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Document how to use (in progress)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Test XML/JSON interoperability (in progress)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Import message mappings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Export ANSI SQL, </a:t>
            </a:r>
            <a:r>
              <a:rPr lang="en-US" dirty="0" err="1">
                <a:solidFill>
                  <a:srgbClr val="002060"/>
                </a:solidFill>
              </a:rPr>
              <a:t>OpenAPI</a:t>
            </a:r>
            <a:r>
              <a:rPr lang="en-US" dirty="0">
                <a:solidFill>
                  <a:srgbClr val="002060"/>
                </a:solidFill>
              </a:rPr>
              <a:t> and release worksheet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API 2.0/NIEMToolbox enhancements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Save mappings in Search UI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Expose a Model Context Protocol (MCP) API (to enable third party AI tools)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Validate Model Conformance of a CMF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E8DD8B-4B99-DC99-1350-FB5F354EB3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594438" y="155181"/>
            <a:ext cx="5261044" cy="654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5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06973-EE03-58F8-CB1C-E7DF8CBE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CEC7-8DD9-BD67-7612-B7571D33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NIEMOpen Tools</a:t>
            </a:r>
            <a:br>
              <a:rPr lang="en-US" dirty="0"/>
            </a:br>
            <a:r>
              <a:rPr lang="en-US" i="1" dirty="0"/>
              <a:t>Workflows for v6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000F42-8482-0937-8154-D475448A3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39956"/>
            <a:ext cx="5384800" cy="42274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To develop v6 message specifications TODAY: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Model your data (e.g., UML)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Map your data in a mapping spreadsheet to NIEMOpen v6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Generate NIEM XSD (in any XML editor)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Use CMFTool to</a:t>
            </a:r>
          </a:p>
          <a:p>
            <a:pPr lvl="2"/>
            <a:r>
              <a:rPr lang="en-US" sz="2600" dirty="0">
                <a:solidFill>
                  <a:srgbClr val="002060"/>
                </a:solidFill>
              </a:rPr>
              <a:t>Generate CMF from XSD</a:t>
            </a:r>
          </a:p>
          <a:p>
            <a:pPr lvl="2"/>
            <a:r>
              <a:rPr lang="en-US" sz="2600" dirty="0">
                <a:solidFill>
                  <a:srgbClr val="002060"/>
                </a:solidFill>
              </a:rPr>
              <a:t>Generate XML and JSON message schemas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Generate example instances from the schemas (in any XML editor)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CCF0-7060-8867-EA9B-ACC8BC212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15455"/>
            <a:ext cx="5384800" cy="42274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In the near future, hopefully you will be able to: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Model your data (e.g., UML)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Use an AI tool of choice to map your data in a mapping spreadsheet to NIEMOpen v6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Use CMFTool to</a:t>
            </a:r>
          </a:p>
          <a:p>
            <a:pPr lvl="2"/>
            <a:r>
              <a:rPr lang="en-US" sz="2600" dirty="0">
                <a:solidFill>
                  <a:srgbClr val="002060"/>
                </a:solidFill>
              </a:rPr>
              <a:t>Generate CMF from the mapping</a:t>
            </a:r>
          </a:p>
          <a:p>
            <a:pPr lvl="2"/>
            <a:r>
              <a:rPr lang="en-US" sz="2600" dirty="0">
                <a:solidFill>
                  <a:srgbClr val="002060"/>
                </a:solidFill>
              </a:rPr>
              <a:t>Generate XML and JSON message schemas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Generate example instances from the schemas (in any XML editor)</a:t>
            </a:r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88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3ACD-1F87-58EF-0956-17801031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NIEMOpen Tools</a:t>
            </a:r>
            <a:br>
              <a:rPr lang="en-US" dirty="0"/>
            </a:br>
            <a:r>
              <a:rPr lang="en-US" i="1" dirty="0"/>
              <a:t>Updates to Training for v6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6D37F4-B1AF-1BAF-194C-629012F38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10972800" cy="3799077"/>
          </a:xfrm>
        </p:spPr>
        <p:txBody>
          <a:bodyPr/>
          <a:lstStyle/>
          <a:p>
            <a:r>
              <a:rPr lang="en-US" dirty="0"/>
              <a:t>Support the Latest NDR</a:t>
            </a:r>
          </a:p>
          <a:p>
            <a:r>
              <a:rPr lang="en-US" dirty="0"/>
              <a:t>Explain how to create JSON schemas</a:t>
            </a:r>
          </a:p>
          <a:p>
            <a:r>
              <a:rPr lang="en-US" dirty="0"/>
              <a:t>Explain the use of new tools (CMF, API 2.0, etc.)</a:t>
            </a:r>
          </a:p>
          <a:p>
            <a:r>
              <a:rPr lang="en-US" dirty="0"/>
              <a:t>Describe current and future recommended workflows for using Version 6.0 and beyond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559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82E73-99F2-1D77-3214-2C03ABC3C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lang="en-US" spc="-50" smtClean="0"/>
              <a:t>18</a:t>
            </a:fld>
            <a:endParaRPr lang="en-US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FF30D-3DB2-5AB1-0450-B673A9D5F3E7}"/>
              </a:ext>
            </a:extLst>
          </p:cNvPr>
          <p:cNvSpPr txBox="1"/>
          <p:nvPr/>
        </p:nvSpPr>
        <p:spPr>
          <a:xfrm>
            <a:off x="1219200" y="2514600"/>
            <a:ext cx="9406889" cy="1200329"/>
          </a:xfrm>
          <a:prstGeom prst="rect">
            <a:avLst/>
          </a:prstGeom>
          <a:noFill/>
          <a:ln w="38100">
            <a:solidFill>
              <a:schemeClr val="tx2">
                <a:alpha val="5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Motion 2: The PGB accepts and endorses the recommendations of NTAC on tool development and commits to seek resources for implementation. </a:t>
            </a:r>
          </a:p>
        </p:txBody>
      </p:sp>
    </p:spTree>
    <p:extLst>
      <p:ext uri="{BB962C8B-B14F-4D97-AF65-F5344CB8AC3E}">
        <p14:creationId xmlns:p14="http://schemas.microsoft.com/office/powerpoint/2010/main" val="1208952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8146-DF36-D0E9-1201-9742D1DC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release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B0F5E-EBDF-C415-3B03-464F15F24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827727"/>
            <a:ext cx="11079192" cy="42776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Major release (e.g. NIEM 7)</a:t>
            </a:r>
          </a:p>
          <a:p>
            <a:pPr lvl="1"/>
            <a:r>
              <a:rPr lang="en-US" dirty="0"/>
              <a:t>May include technical architecture change</a:t>
            </a:r>
          </a:p>
          <a:p>
            <a:pPr lvl="1"/>
            <a:r>
              <a:rPr lang="en-US" dirty="0"/>
              <a:t>May include breaking changes to core</a:t>
            </a:r>
          </a:p>
          <a:p>
            <a:pPr lvl="1"/>
            <a:r>
              <a:rPr lang="en-US" dirty="0"/>
              <a:t>Review requirements and change requests every five years</a:t>
            </a:r>
          </a:p>
          <a:p>
            <a:r>
              <a:rPr lang="en-US" dirty="0"/>
              <a:t>Core updates</a:t>
            </a:r>
          </a:p>
          <a:p>
            <a:pPr lvl="1"/>
            <a:r>
              <a:rPr lang="en-US" dirty="0"/>
              <a:t>Only non-breaking changes to core (adding new components)</a:t>
            </a:r>
          </a:p>
          <a:p>
            <a:pPr lvl="1"/>
            <a:r>
              <a:rPr lang="en-US" dirty="0"/>
              <a:t>Domain updates are optional</a:t>
            </a:r>
          </a:p>
          <a:p>
            <a:pPr lvl="1"/>
            <a:r>
              <a:rPr lang="en-US" dirty="0"/>
              <a:t>When needed</a:t>
            </a:r>
          </a:p>
          <a:p>
            <a:r>
              <a:rPr lang="en-US" dirty="0"/>
              <a:t>Domain updates</a:t>
            </a:r>
          </a:p>
          <a:p>
            <a:pPr lvl="1"/>
            <a:r>
              <a:rPr lang="en-US" dirty="0"/>
              <a:t>Breaking or nonbreaking changes to a domain model</a:t>
            </a:r>
          </a:p>
          <a:p>
            <a:pPr lvl="1"/>
            <a:r>
              <a:rPr lang="en-US" dirty="0"/>
              <a:t>Domains can coordinate for inter-domain harmonization</a:t>
            </a:r>
          </a:p>
          <a:p>
            <a:pPr lvl="1"/>
            <a:r>
              <a:rPr lang="en-US" dirty="0"/>
              <a:t>When needed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2E9FF-BFF1-EF80-D670-1BB42864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FDB73-6AE6-1662-835C-A5DA17710108}"/>
              </a:ext>
            </a:extLst>
          </p:cNvPr>
          <p:cNvSpPr txBox="1"/>
          <p:nvPr/>
        </p:nvSpPr>
        <p:spPr>
          <a:xfrm>
            <a:off x="2340989" y="5199276"/>
            <a:ext cx="7620000" cy="830997"/>
          </a:xfrm>
          <a:prstGeom prst="rect">
            <a:avLst/>
          </a:prstGeom>
          <a:noFill/>
          <a:ln w="38100">
            <a:solidFill>
              <a:schemeClr val="tx2">
                <a:alpha val="5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Motion 3: The PGB accepts and endorses the recommendations of NTAC on release planning. </a:t>
            </a:r>
          </a:p>
        </p:txBody>
      </p:sp>
    </p:spTree>
    <p:extLst>
      <p:ext uri="{BB962C8B-B14F-4D97-AF65-F5344CB8AC3E}">
        <p14:creationId xmlns:p14="http://schemas.microsoft.com/office/powerpoint/2010/main" val="86600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2564-01CB-9A51-F440-C2B6EFB4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B9361-1904-A0A2-8FDA-3A8A2A56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E4D477-E421-4ED6-1C79-DCA3076432E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0385" y="1784866"/>
            <a:ext cx="1137061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Added subset support (search and saving) to the NIEM Toolbox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Drafted </a:t>
            </a:r>
            <a:r>
              <a:rPr lang="en-US" altLang="en-US" sz="3200" dirty="0" err="1">
                <a:solidFill>
                  <a:srgbClr val="212121"/>
                </a:solidFill>
                <a:latin typeface="Calibri" panose="020F0502020204030204" pitchFamily="34" charset="0"/>
              </a:rPr>
              <a:t>w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antlist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 3.0 for the JSON format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The API has been updated to use the latest versions of CMF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   and the CMF </a:t>
            </a: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tool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NIEM Toolbox has been updated to use the new API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Updated and improved directory handling in </a:t>
            </a:r>
            <a:r>
              <a:rPr lang="en-US" altLang="en-US" sz="3200" dirty="0" err="1">
                <a:solidFill>
                  <a:srgbClr val="212121"/>
                </a:solidFill>
                <a:latin typeface="Calibri" panose="020F0502020204030204" pitchFamily="34" charset="0"/>
              </a:rPr>
              <a:t>github</a:t>
            </a: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 and website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768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8624-C9EF-CBC2-5F4E-823E1DB8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NBAC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E4DA8-31AC-CD85-6023-508A0235BD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300" b="1" dirty="0"/>
              <a:t>2025 Year in Review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sz="2900" dirty="0"/>
              <a:t>Forensics domain initiated</a:t>
            </a:r>
          </a:p>
          <a:p>
            <a:r>
              <a:rPr lang="en-US" sz="2900" dirty="0"/>
              <a:t>Analytical Laboratory Plan prepared</a:t>
            </a:r>
          </a:p>
          <a:p>
            <a:r>
              <a:rPr lang="en-US" sz="2900" dirty="0"/>
              <a:t>These 2 new domains will inject over 1,400 attributes to the model and code list</a:t>
            </a:r>
          </a:p>
          <a:p>
            <a:r>
              <a:rPr lang="en-US" sz="2900" dirty="0"/>
              <a:t>Supported enhancements to finalize NIEM 6.0</a:t>
            </a:r>
          </a:p>
          <a:p>
            <a:r>
              <a:rPr lang="en-US" sz="2900" dirty="0"/>
              <a:t>Supported new naming convention</a:t>
            </a:r>
          </a:p>
          <a:p>
            <a:r>
              <a:rPr lang="en-US" sz="2900" dirty="0"/>
              <a:t>Approx. 10 NBAC sessions</a:t>
            </a:r>
          </a:p>
          <a:p>
            <a:r>
              <a:rPr lang="en-US" sz="2900" dirty="0"/>
              <a:t>Assisted and helped transition NIEM from DoD to NIEMOpen under OASIS</a:t>
            </a:r>
          </a:p>
          <a:p>
            <a:pPr marL="0" indent="0">
              <a:buNone/>
            </a:pPr>
            <a:r>
              <a:rPr lang="en-US" sz="2900" dirty="0"/>
              <a:t> </a:t>
            </a:r>
          </a:p>
          <a:p>
            <a:pPr marL="0" indent="0">
              <a:buNone/>
            </a:pPr>
            <a:r>
              <a:rPr lang="en-US" sz="3300" b="1" dirty="0"/>
              <a:t>2026 Plans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sz="2900" dirty="0"/>
              <a:t>Support Forensics domain onboarding</a:t>
            </a:r>
          </a:p>
          <a:p>
            <a:r>
              <a:rPr lang="en-US" sz="2900" dirty="0"/>
              <a:t>Identify new chair for Analytical laboratory domain</a:t>
            </a:r>
          </a:p>
          <a:p>
            <a:r>
              <a:rPr lang="en-US" sz="2900" dirty="0"/>
              <a:t>Initiate Digital Identity Domain</a:t>
            </a:r>
          </a:p>
          <a:p>
            <a:r>
              <a:rPr lang="en-US" sz="2900" dirty="0"/>
              <a:t>Try to improve NBAC cadence and participation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BC376-C4AE-D3E9-7464-BC2A095FC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47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BDEE009-370B-2F45-B7D0-73B685504D65}"/>
              </a:ext>
            </a:extLst>
          </p:cNvPr>
          <p:cNvSpPr txBox="1">
            <a:spLocks/>
          </p:cNvSpPr>
          <p:nvPr/>
        </p:nvSpPr>
        <p:spPr>
          <a:xfrm>
            <a:off x="688340" y="326593"/>
            <a:ext cx="422592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400" b="1" dirty="0"/>
              <a:t>CY/FY</a:t>
            </a:r>
            <a:r>
              <a:rPr lang="en-US" sz="2400" b="1" spc="-105" dirty="0"/>
              <a:t> </a:t>
            </a:r>
            <a:r>
              <a:rPr lang="en-US" sz="2400" b="1" dirty="0"/>
              <a:t>2025</a:t>
            </a:r>
            <a:r>
              <a:rPr lang="en-US" sz="2400" b="1" spc="-30" dirty="0"/>
              <a:t> </a:t>
            </a:r>
            <a:r>
              <a:rPr lang="en-US" sz="2400" b="1" dirty="0"/>
              <a:t>Q3</a:t>
            </a:r>
            <a:r>
              <a:rPr lang="en-US" sz="2400" b="1" spc="-45" dirty="0"/>
              <a:t> </a:t>
            </a:r>
            <a:r>
              <a:rPr lang="en-US" sz="2400" b="1" spc="-10" dirty="0"/>
              <a:t>FINANCIALS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1D6791-383D-87AA-57AF-B762EF624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0" y="2222938"/>
            <a:ext cx="487069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03A1A-DD4D-D5E3-0885-8743746008FA}"/>
              </a:ext>
            </a:extLst>
          </p:cNvPr>
          <p:cNvSpPr txBox="1"/>
          <p:nvPr/>
        </p:nvSpPr>
        <p:spPr>
          <a:xfrm>
            <a:off x="17033875" y="351235"/>
            <a:ext cx="3406775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Times New Roman" panose="02020603050405020304" pitchFamily="18" charset="0"/>
            </a:endParaRPr>
          </a:p>
          <a:p>
            <a:pPr marR="760" algn="ctr"/>
            <a:r>
              <a:rPr lang="en-US" sz="1600" b="1" i="1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Fy2024 Balance Forward	</a:t>
            </a:r>
            <a:r>
              <a:rPr lang="en-US" sz="1800" b="0" i="1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$   </a:t>
            </a:r>
            <a:r>
              <a:rPr lang="en-US" sz="1600" b="1" i="1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143,822.81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latin typeface="Times New Roman" panose="02020603050405020304" pitchFamily="18" charset="0"/>
              </a:rPr>
              <a:t>		</a:t>
            </a:r>
            <a:endParaRPr lang="en-US" sz="800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y2025 Funding	</a:t>
            </a:r>
            <a:r>
              <a:rPr lang="en-US" sz="1600" b="0" i="0" u="none" strike="noStrike" baseline="0" dirty="0">
                <a:solidFill>
                  <a:srgbClr val="010101"/>
                </a:solidFill>
                <a:latin typeface="Times New Roman" panose="02020603050405020304" pitchFamily="18" charset="0"/>
              </a:rPr>
              <a:t>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62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Ql	$      20,000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62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Q2	$      </a:t>
            </a:r>
            <a:r>
              <a:rPr lang="en-US" sz="1800" b="0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20,000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52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Q3	$      44,000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5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Q4 YTD	$      1,300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600" algn="ctr"/>
            <a:r>
              <a:rPr lang="en-US" sz="1800" b="1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Fy2025 Funding	</a:t>
            </a:r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$     </a:t>
            </a:r>
            <a:r>
              <a:rPr lang="en-US" sz="1800" b="1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85,300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r>
              <a:rPr lang="en-US" sz="1400" b="0" i="0" u="none" strike="noStrike" baseline="0" dirty="0">
                <a:latin typeface="Times New Roman" panose="02020603050405020304" pitchFamily="18" charset="0"/>
              </a:rPr>
              <a:t>		</a:t>
            </a:r>
            <a:endParaRPr lang="en-US" sz="800" b="0" i="0" u="none" strike="noStrike" baseline="0" dirty="0">
              <a:latin typeface="Times New Roman" panose="02020603050405020304" pitchFamily="18" charset="0"/>
            </a:endParaRPr>
          </a:p>
          <a:p>
            <a:pPr marR="610" algn="ctr"/>
            <a:r>
              <a:rPr lang="en-US" sz="1800" b="1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Fy2025 Total Funds Available YTD	</a:t>
            </a:r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$     </a:t>
            </a:r>
            <a:r>
              <a:rPr lang="en-US" sz="1800" b="1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229,123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latin typeface="Times New Roman" panose="02020603050405020304" pitchFamily="18" charset="0"/>
              </a:rPr>
              <a:t>		</a:t>
            </a:r>
            <a:endParaRPr lang="en-US" sz="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Expenditures	</a:t>
            </a:r>
            <a:r>
              <a:rPr lang="en-US" sz="1600" b="0" i="0" u="none" strike="noStrike" baseline="0" dirty="0">
                <a:solidFill>
                  <a:srgbClr val="010101"/>
                </a:solidFill>
                <a:latin typeface="Times New Roman" panose="02020603050405020304" pitchFamily="18" charset="0"/>
              </a:rPr>
              <a:t>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Ql	$      (3,025)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Q2	$      (4,644)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Q3	$      (3,109)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Q4 YTD	$      (4,682)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1800" b="1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Fy2025 Expenses	</a:t>
            </a:r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$     </a:t>
            </a:r>
            <a:r>
              <a:rPr lang="en-US" sz="1800" b="1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(15,460)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latin typeface="Times New Roman" panose="02020603050405020304" pitchFamily="18" charset="0"/>
              </a:rPr>
              <a:t>		</a:t>
            </a:r>
            <a:endParaRPr lang="en-US" sz="800" b="0" i="0" u="none" strike="noStrike" baseline="0" dirty="0">
              <a:latin typeface="Times New Roman" panose="02020603050405020304" pitchFamily="18" charset="0"/>
            </a:endParaRPr>
          </a:p>
          <a:p>
            <a:pPr marR="1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GTRI SOW 2025-1 Reserve	$     </a:t>
            </a:r>
            <a:r>
              <a:rPr lang="en-US" sz="1800" b="0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(100,000)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40" algn="ctr"/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NPC Leadership Meeting.	$      </a:t>
            </a:r>
            <a:r>
              <a:rPr lang="en-US" sz="1800" b="0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(2,000)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  <a:p>
            <a:pPr marR="620" algn="ctr"/>
            <a:r>
              <a:rPr lang="en-US" sz="1600" b="1" i="1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Ending Balance </a:t>
            </a:r>
            <a:r>
              <a:rPr lang="en-US" sz="1800" b="1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2025- Q4	</a:t>
            </a:r>
            <a:r>
              <a:rPr lang="en-US" sz="1800" b="0" i="0" u="none" strike="noStrike" baseline="0" dirty="0">
                <a:solidFill>
                  <a:srgbClr val="010101"/>
                </a:solidFill>
                <a:latin typeface="Arial" panose="020B0604020202020204" pitchFamily="34" charset="0"/>
              </a:rPr>
              <a:t>$     </a:t>
            </a:r>
            <a:r>
              <a:rPr lang="en-US" sz="1800" b="1" i="0" u="none" strike="noStrike" baseline="30000" dirty="0">
                <a:solidFill>
                  <a:srgbClr val="010101"/>
                </a:solidFill>
                <a:latin typeface="Arial" panose="020B0604020202020204" pitchFamily="34" charset="0"/>
              </a:rPr>
              <a:t>111,663	</a:t>
            </a:r>
            <a:endParaRPr lang="en-US" sz="800" b="0" i="0" u="none" strike="noStrike" baseline="0" dirty="0">
              <a:solidFill>
                <a:srgbClr val="01010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E8594A0-CB52-CFD3-0B00-600FCE16B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5" y="1119257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1BCAE15-BA68-9E74-75B5-0CCBF763D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86744"/>
              </p:ext>
            </p:extLst>
          </p:nvPr>
        </p:nvGraphicFramePr>
        <p:xfrm>
          <a:off x="2032000" y="2222938"/>
          <a:ext cx="812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45781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74633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FY 2024 Balance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$143,823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30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FY 2025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86,600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00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FY Total funds Available 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230,422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2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Expenditures 2025 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70,904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564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Current Obligations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86,112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83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Ending Balance 2025-Q4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73,406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8354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EC7E58-A2CC-6DA0-2438-9F984FB56785}"/>
              </a:ext>
            </a:extLst>
          </p:cNvPr>
          <p:cNvSpPr txBox="1"/>
          <p:nvPr/>
        </p:nvSpPr>
        <p:spPr>
          <a:xfrm>
            <a:off x="2019590" y="164247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Summary: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BREAK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538" y="2064674"/>
            <a:ext cx="2713234" cy="27132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41781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4800" y="4114800"/>
            <a:ext cx="12128754" cy="15337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l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lang="en-US"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2026 Initiatives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endParaRPr lang="en-US" sz="2800" b="1" spc="-35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ctr">
              <a:lnSpc>
                <a:spcPts val="2150"/>
              </a:lnSpc>
            </a:pPr>
            <a:r>
              <a:rPr lang="en-US" sz="2800" b="1" spc="-35" dirty="0">
                <a:solidFill>
                  <a:srgbClr val="8A8A8A"/>
                </a:solidFill>
                <a:latin typeface="Arial"/>
                <a:cs typeface="Arial"/>
              </a:rPr>
              <a:t>March 19, 2026</a:t>
            </a:r>
            <a:endParaRPr sz="2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4541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35D2-A54C-B713-3013-794A0F04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893590"/>
            <a:ext cx="10908842" cy="553998"/>
          </a:xfrm>
        </p:spPr>
        <p:txBody>
          <a:bodyPr>
            <a:normAutofit/>
          </a:bodyPr>
          <a:lstStyle/>
          <a:p>
            <a:r>
              <a:rPr lang="en-US" sz="3600" dirty="0"/>
              <a:t>Initiatives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B2A6-619A-36AB-D5B2-1F69E0A76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0400" y="2057400"/>
            <a:ext cx="7264400" cy="3447098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Basic Formal Ontology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DAMA Book of Knowledge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Stakeholder Survey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Sponsor/Volunteer Recruitment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7381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9D6F8-42BF-9D37-38E3-58ED87A538DC}"/>
              </a:ext>
            </a:extLst>
          </p:cNvPr>
          <p:cNvSpPr txBox="1"/>
          <p:nvPr/>
        </p:nvSpPr>
        <p:spPr>
          <a:xfrm>
            <a:off x="76200" y="1143000"/>
            <a:ext cx="6858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NIEMOpen is:</a:t>
            </a:r>
          </a:p>
          <a:p>
            <a:endParaRPr lang="en-US" dirty="0">
              <a:latin typeface="+mj-lt"/>
            </a:endParaRPr>
          </a:p>
          <a:p>
            <a:pPr algn="ctr"/>
            <a:r>
              <a:rPr lang="en-US" sz="3600" dirty="0"/>
              <a:t>An open source framework </a:t>
            </a:r>
          </a:p>
          <a:p>
            <a:pPr algn="ctr"/>
            <a:r>
              <a:rPr lang="en-US" sz="3600" dirty="0"/>
              <a:t>for building a consensus on </a:t>
            </a:r>
          </a:p>
          <a:p>
            <a:pPr algn="ctr"/>
            <a:r>
              <a:rPr lang="en-US" sz="3600" dirty="0"/>
              <a:t>data standards that facilitate </a:t>
            </a:r>
          </a:p>
          <a:p>
            <a:pPr algn="ctr"/>
            <a:r>
              <a:rPr lang="en-US" sz="3600" dirty="0"/>
              <a:t>information sharing </a:t>
            </a:r>
          </a:p>
          <a:p>
            <a:pPr algn="ctr"/>
            <a:r>
              <a:rPr lang="en-US" sz="3600" dirty="0"/>
              <a:t>across domains</a:t>
            </a:r>
            <a:r>
              <a:rPr lang="en-US" sz="3600" dirty="0">
                <a:solidFill>
                  <a:srgbClr val="EE0000"/>
                </a:solidFill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and across nations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61ACF-89D5-832C-175D-AC70DBBCBD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5739" y="0"/>
            <a:ext cx="5140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8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DB8CD1-3B91-32A9-69A8-AD17EF24E818}"/>
              </a:ext>
            </a:extLst>
          </p:cNvPr>
          <p:cNvSpPr txBox="1"/>
          <p:nvPr/>
        </p:nvSpPr>
        <p:spPr>
          <a:xfrm>
            <a:off x="1066800" y="1089898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NIEMOpen and the Basic Formal Ontology (BFO)</a:t>
            </a:r>
          </a:p>
          <a:p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66AE5-7A47-F16C-8BD5-8F73619CC162}"/>
              </a:ext>
            </a:extLst>
          </p:cNvPr>
          <p:cNvSpPr txBox="1"/>
          <p:nvPr/>
        </p:nvSpPr>
        <p:spPr>
          <a:xfrm>
            <a:off x="1676400" y="1905000"/>
            <a:ext cx="8458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/>
              <a:t>The Basic Formal Ontology (BFO) is a small, upper level ontology that is designed for use in supporting information retrieval, analysis and integration in scientific and other domains. 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/>
              <a:t>BFO is used by more than 550 ontology-driven endeavors throughout the world. 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/>
              <a:t>Introduction to BFO--https://</a:t>
            </a:r>
            <a:r>
              <a:rPr lang="en-US" sz="2400" dirty="0" err="1"/>
              <a:t>www.youtube.com</a:t>
            </a:r>
            <a:r>
              <a:rPr lang="en-US" sz="2400" dirty="0"/>
              <a:t>/</a:t>
            </a:r>
            <a:r>
              <a:rPr lang="en-US" sz="2400" dirty="0" err="1"/>
              <a:t>watch?v</a:t>
            </a:r>
            <a:r>
              <a:rPr lang="en-US" sz="2400" dirty="0"/>
              <a:t>=p0buEjR3t8A&amp;list=PLyngZgIl3WTg5f36E7r3W5px_58OOWE5I 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/>
              <a:t>NTAC to study collaboration possibilities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ü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3137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33D1-D692-CD52-8988-6517B26594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lang="en-US" spc="-50" smtClean="0"/>
              <a:t>29</a:t>
            </a:fld>
            <a:endParaRPr lang="en-US" spc="-50" dirty="0"/>
          </a:p>
        </p:txBody>
      </p:sp>
      <p:pic>
        <p:nvPicPr>
          <p:cNvPr id="5" name="Picture 4" descr="DAMA logo">
            <a:extLst>
              <a:ext uri="{FF2B5EF4-FFF2-40B4-BE49-F238E27FC236}">
                <a16:creationId xmlns:a16="http://schemas.microsoft.com/office/drawing/2014/main" id="{8CF0094C-E3C5-760E-2FCB-177810CA4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3370385" cy="1752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0DAFC6-8789-2E51-BCC0-187B1D3BBEB0}"/>
              </a:ext>
            </a:extLst>
          </p:cNvPr>
          <p:cNvSpPr txBox="1"/>
          <p:nvPr/>
        </p:nvSpPr>
        <p:spPr>
          <a:xfrm>
            <a:off x="1905000" y="2522018"/>
            <a:ext cx="8534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3366"/>
                </a:solidFill>
                <a:effectLst/>
                <a:latin typeface="Raleway" pitchFamily="2" charset="77"/>
              </a:rPr>
              <a:t>Mission:</a:t>
            </a:r>
          </a:p>
          <a:p>
            <a:pPr algn="l">
              <a:buNone/>
            </a:pPr>
            <a:r>
              <a:rPr lang="en-US" sz="2800" b="0" i="1" dirty="0">
                <a:solidFill>
                  <a:srgbClr val="555555"/>
                </a:solidFill>
                <a:effectLst/>
                <a:latin typeface="Raleway" pitchFamily="2" charset="77"/>
              </a:rPr>
              <a:t>DAMA-I serves global data citizens by providing a community space for knowledge sharing, recognizing professional achievement, and promoting ethical and effective data practices, resulting in responsible and effective data management worldwide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Raleway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793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0" y="0"/>
            <a:ext cx="12255500" cy="6858000"/>
            <a:chOff x="-47625" y="0"/>
            <a:chExt cx="1838325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29237" y="4023315"/>
              <a:ext cx="1059180" cy="0"/>
            </a:xfrm>
            <a:custGeom>
              <a:avLst/>
              <a:gdLst/>
              <a:ahLst/>
              <a:cxnLst/>
              <a:rect l="l" t="t" r="r" b="b"/>
              <a:pathLst>
                <a:path w="1059179">
                  <a:moveTo>
                    <a:pt x="105908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78800" y="3947115"/>
              <a:ext cx="152399" cy="152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937277"/>
              <a:ext cx="5529580" cy="4172585"/>
            </a:xfrm>
            <a:custGeom>
              <a:avLst/>
              <a:gdLst/>
              <a:ahLst/>
              <a:cxnLst/>
              <a:rect l="l" t="t" r="r" b="b"/>
              <a:pathLst>
                <a:path w="5529580" h="4172585">
                  <a:moveTo>
                    <a:pt x="5405440" y="4172075"/>
                  </a:moveTo>
                  <a:lnTo>
                    <a:pt x="0" y="4172075"/>
                  </a:lnTo>
                  <a:lnTo>
                    <a:pt x="0" y="0"/>
                  </a:lnTo>
                  <a:lnTo>
                    <a:pt x="5405440" y="0"/>
                  </a:lnTo>
                  <a:lnTo>
                    <a:pt x="5452825" y="9425"/>
                  </a:lnTo>
                  <a:lnTo>
                    <a:pt x="5492997" y="36267"/>
                  </a:lnTo>
                  <a:lnTo>
                    <a:pt x="5519839" y="76439"/>
                  </a:lnTo>
                  <a:lnTo>
                    <a:pt x="5529265" y="123824"/>
                  </a:lnTo>
                  <a:lnTo>
                    <a:pt x="5529265" y="4048250"/>
                  </a:lnTo>
                  <a:lnTo>
                    <a:pt x="5519839" y="4095636"/>
                  </a:lnTo>
                  <a:lnTo>
                    <a:pt x="5492997" y="4135808"/>
                  </a:lnTo>
                  <a:lnTo>
                    <a:pt x="5452825" y="4162649"/>
                  </a:lnTo>
                  <a:lnTo>
                    <a:pt x="5405440" y="4172075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937277"/>
              <a:ext cx="5529580" cy="4171950"/>
            </a:xfrm>
            <a:custGeom>
              <a:avLst/>
              <a:gdLst/>
              <a:ahLst/>
              <a:cxnLst/>
              <a:rect l="l" t="t" r="r" b="b"/>
              <a:pathLst>
                <a:path w="5529580" h="4171950">
                  <a:moveTo>
                    <a:pt x="0" y="0"/>
                  </a:moveTo>
                  <a:lnTo>
                    <a:pt x="5405295" y="0"/>
                  </a:lnTo>
                  <a:lnTo>
                    <a:pt x="5452680" y="9425"/>
                  </a:lnTo>
                  <a:lnTo>
                    <a:pt x="5492850" y="36266"/>
                  </a:lnTo>
                  <a:lnTo>
                    <a:pt x="5519692" y="76436"/>
                  </a:lnTo>
                  <a:lnTo>
                    <a:pt x="5529117" y="123821"/>
                  </a:lnTo>
                  <a:lnTo>
                    <a:pt x="5529117" y="4048128"/>
                  </a:lnTo>
                  <a:lnTo>
                    <a:pt x="5526716" y="4072397"/>
                  </a:lnTo>
                  <a:lnTo>
                    <a:pt x="5508314" y="4116824"/>
                  </a:lnTo>
                  <a:lnTo>
                    <a:pt x="5473992" y="4151146"/>
                  </a:lnTo>
                  <a:lnTo>
                    <a:pt x="5429565" y="4169548"/>
                  </a:lnTo>
                  <a:lnTo>
                    <a:pt x="5405296" y="4171949"/>
                  </a:lnTo>
                  <a:lnTo>
                    <a:pt x="0" y="4171949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3255" y="4261572"/>
              <a:ext cx="5525135" cy="4996815"/>
            </a:xfrm>
            <a:custGeom>
              <a:avLst/>
              <a:gdLst/>
              <a:ahLst/>
              <a:cxnLst/>
              <a:rect l="l" t="t" r="r" b="b"/>
              <a:pathLst>
                <a:path w="5525134" h="4996815">
                  <a:moveTo>
                    <a:pt x="115111" y="0"/>
                  </a:moveTo>
                  <a:lnTo>
                    <a:pt x="5524743" y="0"/>
                  </a:lnTo>
                  <a:lnTo>
                    <a:pt x="5524743" y="4996592"/>
                  </a:lnTo>
                  <a:lnTo>
                    <a:pt x="115111" y="4996592"/>
                  </a:lnTo>
                  <a:lnTo>
                    <a:pt x="90841" y="4994191"/>
                  </a:lnTo>
                  <a:lnTo>
                    <a:pt x="46412" y="4975788"/>
                  </a:lnTo>
                  <a:lnTo>
                    <a:pt x="12090" y="4941465"/>
                  </a:lnTo>
                  <a:lnTo>
                    <a:pt x="0" y="4917811"/>
                  </a:lnTo>
                  <a:lnTo>
                    <a:pt x="0" y="78780"/>
                  </a:lnTo>
                  <a:lnTo>
                    <a:pt x="27553" y="36267"/>
                  </a:lnTo>
                  <a:lnTo>
                    <a:pt x="67725" y="9425"/>
                  </a:lnTo>
                  <a:lnTo>
                    <a:pt x="115111" y="0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54679" y="4261707"/>
              <a:ext cx="5533390" cy="4996815"/>
            </a:xfrm>
            <a:custGeom>
              <a:avLst/>
              <a:gdLst/>
              <a:ahLst/>
              <a:cxnLst/>
              <a:rect l="l" t="t" r="r" b="b"/>
              <a:pathLst>
                <a:path w="5533390" h="4996815">
                  <a:moveTo>
                    <a:pt x="5533318" y="4996457"/>
                  </a:moveTo>
                  <a:lnTo>
                    <a:pt x="123822" y="4996457"/>
                  </a:lnTo>
                  <a:lnTo>
                    <a:pt x="76437" y="4987032"/>
                  </a:lnTo>
                  <a:lnTo>
                    <a:pt x="36266" y="4960190"/>
                  </a:lnTo>
                  <a:lnTo>
                    <a:pt x="9425" y="4920020"/>
                  </a:lnTo>
                  <a:lnTo>
                    <a:pt x="0" y="4872635"/>
                  </a:lnTo>
                  <a:lnTo>
                    <a:pt x="0" y="123821"/>
                  </a:lnTo>
                  <a:lnTo>
                    <a:pt x="9425" y="76437"/>
                  </a:lnTo>
                  <a:lnTo>
                    <a:pt x="36266" y="36266"/>
                  </a:lnTo>
                  <a:lnTo>
                    <a:pt x="76437" y="9425"/>
                  </a:lnTo>
                  <a:lnTo>
                    <a:pt x="123822" y="0"/>
                  </a:lnTo>
                  <a:lnTo>
                    <a:pt x="5533318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64682" y="4705288"/>
              <a:ext cx="1641475" cy="0"/>
            </a:xfrm>
            <a:custGeom>
              <a:avLst/>
              <a:gdLst/>
              <a:ahLst/>
              <a:cxnLst/>
              <a:rect l="l" t="t" r="r" b="b"/>
              <a:pathLst>
                <a:path w="1641475">
                  <a:moveTo>
                    <a:pt x="0" y="0"/>
                  </a:moveTo>
                  <a:lnTo>
                    <a:pt x="1641132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21807" y="4629088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97585" y="3650806"/>
              <a:ext cx="4581524" cy="40766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9066" y="4686238"/>
              <a:ext cx="5120580" cy="2846189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097550" y="276057"/>
            <a:ext cx="4411133" cy="694335"/>
          </a:xfrm>
          <a:prstGeom prst="rect">
            <a:avLst/>
          </a:prstGeom>
        </p:spPr>
        <p:txBody>
          <a:bodyPr vert="horz" wrap="square" lIns="0" tIns="11853" rIns="0" bIns="0" rtlCol="0" anchor="t">
            <a:spAutoFit/>
          </a:bodyPr>
          <a:lstStyle/>
          <a:p>
            <a:pPr marL="25401">
              <a:lnSpc>
                <a:spcPct val="100000"/>
              </a:lnSpc>
              <a:spcBef>
                <a:spcPts val="93"/>
              </a:spcBef>
            </a:pPr>
            <a:r>
              <a:rPr sz="4434" spc="50" dirty="0"/>
              <a:t>DAMA-</a:t>
            </a:r>
            <a:r>
              <a:rPr sz="4434" spc="60" dirty="0"/>
              <a:t>DMBOK</a:t>
            </a:r>
            <a:r>
              <a:rPr sz="4000" spc="90" baseline="39583" dirty="0"/>
              <a:t>®</a:t>
            </a:r>
            <a:endParaRPr sz="4000" baseline="39583"/>
          </a:p>
        </p:txBody>
      </p:sp>
      <p:sp>
        <p:nvSpPr>
          <p:cNvPr id="15" name="object 15"/>
          <p:cNvSpPr txBox="1"/>
          <p:nvPr/>
        </p:nvSpPr>
        <p:spPr>
          <a:xfrm>
            <a:off x="4155481" y="897460"/>
            <a:ext cx="4097020" cy="23431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467" b="1" spc="-7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BODY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1467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864" y="1526032"/>
            <a:ext cx="1751583" cy="8188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14975" y="1560438"/>
            <a:ext cx="1436793" cy="70788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07444" marR="3387" indent="-199400">
              <a:lnSpc>
                <a:spcPts val="2600"/>
              </a:lnSpc>
              <a:spcBef>
                <a:spcPts val="320"/>
              </a:spcBef>
            </a:pPr>
            <a:r>
              <a:rPr sz="2333" b="1" spc="-87" dirty="0">
                <a:solidFill>
                  <a:srgbClr val="FFFFFF"/>
                </a:solidFill>
                <a:latin typeface="Arial"/>
                <a:cs typeface="Arial"/>
              </a:rPr>
              <a:t>PHYSICAL </a:t>
            </a:r>
            <a:r>
              <a:rPr sz="2333" b="1" spc="-13" dirty="0">
                <a:solidFill>
                  <a:srgbClr val="FFFFFF"/>
                </a:solidFill>
                <a:latin typeface="Arial"/>
                <a:cs typeface="Arial"/>
              </a:rPr>
              <a:t>BOOK</a:t>
            </a:r>
            <a:endParaRPr sz="2333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6752" y="5220208"/>
            <a:ext cx="3594607" cy="8188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654382" y="5254265"/>
            <a:ext cx="3389207" cy="70788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467" marR="3387" indent="353078">
              <a:lnSpc>
                <a:spcPts val="2600"/>
              </a:lnSpc>
              <a:spcBef>
                <a:spcPts val="320"/>
              </a:spcBef>
            </a:pPr>
            <a:r>
              <a:rPr sz="2333" b="1" spc="-13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sz="2333" b="1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33" b="1" spc="-7" dirty="0">
                <a:solidFill>
                  <a:srgbClr val="FFFFFF"/>
                </a:solidFill>
                <a:latin typeface="Arial"/>
                <a:cs typeface="Arial"/>
              </a:rPr>
              <a:t>CONTENT </a:t>
            </a:r>
            <a:r>
              <a:rPr sz="2333" b="1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2333" b="1" spc="-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33" b="1" spc="-1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2333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819" y="2382587"/>
            <a:ext cx="1676399" cy="20930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E595B-E6D1-8C9B-EC61-4134E05F7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9428154-3D56-6419-44B8-BDC7774B2D5E}"/>
              </a:ext>
            </a:extLst>
          </p:cNvPr>
          <p:cNvSpPr txBox="1">
            <a:spLocks/>
          </p:cNvSpPr>
          <p:nvPr/>
        </p:nvSpPr>
        <p:spPr>
          <a:xfrm>
            <a:off x="1495742" y="1676400"/>
            <a:ext cx="9200515" cy="240963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ts val="6300"/>
              </a:lnSpc>
              <a:spcBef>
                <a:spcPts val="910"/>
              </a:spcBef>
            </a:pPr>
            <a:r>
              <a:rPr lang="en-US" spc="-195" dirty="0">
                <a:solidFill>
                  <a:srgbClr val="002060"/>
                </a:solidFill>
              </a:rPr>
              <a:t>DAMA-</a:t>
            </a:r>
            <a:r>
              <a:rPr lang="en-US" spc="-170" dirty="0">
                <a:solidFill>
                  <a:srgbClr val="002060"/>
                </a:solidFill>
              </a:rPr>
              <a:t>DMBOK®</a:t>
            </a:r>
            <a:r>
              <a:rPr lang="en-US" spc="-210" dirty="0">
                <a:solidFill>
                  <a:srgbClr val="002060"/>
                </a:solidFill>
              </a:rPr>
              <a:t> </a:t>
            </a:r>
            <a:r>
              <a:rPr lang="en-US" spc="-25" dirty="0">
                <a:solidFill>
                  <a:srgbClr val="002060"/>
                </a:solidFill>
              </a:rPr>
              <a:t>3.</a:t>
            </a:r>
            <a:r>
              <a:rPr lang="en-US" spc="-25" dirty="0">
                <a:solidFill>
                  <a:srgbClr val="FFFFFF"/>
                </a:solidFill>
              </a:rPr>
              <a:t>0 </a:t>
            </a:r>
            <a:r>
              <a:rPr lang="en-US" spc="-150" dirty="0"/>
              <a:t>FOCUS</a:t>
            </a:r>
            <a:r>
              <a:rPr lang="en-US" spc="-265" dirty="0"/>
              <a:t> </a:t>
            </a:r>
            <a:r>
              <a:rPr lang="en-US" spc="-145" dirty="0"/>
              <a:t>GROUP</a:t>
            </a:r>
            <a:r>
              <a:rPr lang="en-US" spc="-265" dirty="0"/>
              <a:t> </a:t>
            </a:r>
            <a:r>
              <a:rPr lang="en-US" spc="-114" dirty="0"/>
              <a:t>SESSIO</a:t>
            </a:r>
            <a:r>
              <a:rPr lang="en-US" spc="-114" dirty="0">
                <a:solidFill>
                  <a:srgbClr val="002060"/>
                </a:solidFill>
              </a:rPr>
              <a:t>NS</a:t>
            </a:r>
          </a:p>
          <a:p>
            <a:pPr marL="12700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400" spc="160" dirty="0">
                <a:solidFill>
                  <a:schemeClr val="accent2"/>
                </a:solidFill>
              </a:rPr>
              <a:t>NIEMOpen: 2 focus groups, Spring and summer 2026</a:t>
            </a:r>
          </a:p>
          <a:p>
            <a:pPr marL="412750" lvl="1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000" spc="160" dirty="0">
                <a:solidFill>
                  <a:schemeClr val="accent2"/>
                </a:solidFill>
              </a:rPr>
              <a:t>8-10 people per group, 2-hour focus group</a:t>
            </a:r>
          </a:p>
          <a:p>
            <a:pPr marL="412750" lvl="1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000" spc="160" dirty="0">
                <a:solidFill>
                  <a:schemeClr val="accent2"/>
                </a:solidFill>
              </a:rPr>
              <a:t>Open to NBAC, NTAC, PGB members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576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5E607C-87A8-7D35-6728-0A30C02174DC}"/>
              </a:ext>
            </a:extLst>
          </p:cNvPr>
          <p:cNvSpPr txBox="1"/>
          <p:nvPr/>
        </p:nvSpPr>
        <p:spPr>
          <a:xfrm>
            <a:off x="990600" y="647700"/>
            <a:ext cx="9906000" cy="556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6DE22-8B27-2F12-B6BD-5F1BCE2A0D3A}"/>
              </a:ext>
            </a:extLst>
          </p:cNvPr>
          <p:cNvSpPr txBox="1"/>
          <p:nvPr/>
        </p:nvSpPr>
        <p:spPr>
          <a:xfrm>
            <a:off x="1295400" y="647700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NIEMOpen Community Survey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84AD2B-7263-6164-98D5-3C14BA4F0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299115"/>
              </p:ext>
            </p:extLst>
          </p:nvPr>
        </p:nvGraphicFramePr>
        <p:xfrm>
          <a:off x="1143000" y="1676400"/>
          <a:ext cx="100457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051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C6D8ABE-C5C1-8D47-B15C-3633CDE10A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AA4985-4059-9F47-B720-C3B7360E2D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A0A936-5EE6-4143-BEB1-3D0F8BB5A5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765135A-857B-4C47-9C9D-AC2999B63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75D474-5127-174F-9252-1F7301F005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4BCA31-15AE-7444-8AB0-D641B23C8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F7B538-A35A-244A-98F2-52CF37BB7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6170FB-475C-7F41-8B06-D81759EF5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6720" y="3108960"/>
            <a:ext cx="11765280" cy="48768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6705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67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 </a:t>
            </a:r>
            <a:r>
              <a:rPr lang="en-US" sz="1467" spc="40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792480" y="12801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Sustainable Future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792480" y="2255520"/>
            <a:ext cx="975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667" i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to Recruit Sponsors &amp; Volunteers for NiEMOpen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79248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878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Need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93878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user base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sustained support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9392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022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Power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484022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sponsors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open-source success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4166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874166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campaign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milestones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60480" y="633984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1</a:t>
            </a:r>
            <a:endParaRPr lang="en-US" sz="1333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E10E4-5354-895A-80F9-005B6E5EF3EE}"/>
              </a:ext>
            </a:extLst>
          </p:cNvPr>
          <p:cNvSpPr txBox="1"/>
          <p:nvPr/>
        </p:nvSpPr>
        <p:spPr>
          <a:xfrm>
            <a:off x="4678557" y="872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 Campaign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76784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⚠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1219200" y="176784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585216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NiEMOpen relies on a limited pool of volunteers and lacks dedicated funding, creating bottlenecks in development, testing, and release cycles.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0256" y="176784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📈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7254240" y="176784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Demand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620256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of NiEMOpen is growing across government agencies and industry. Without matching resource growth, quality and responsiveness will decline.</a:t>
            </a:r>
            <a:endParaRPr lang="en-US" sz="1533" dirty="0"/>
          </a:p>
        </p:txBody>
      </p:sp>
      <p:sp>
        <p:nvSpPr>
          <p:cNvPr id="16" name="Shape 14"/>
          <p:cNvSpPr/>
          <p:nvPr/>
        </p:nvSpPr>
        <p:spPr>
          <a:xfrm>
            <a:off x="365760" y="390144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90144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402336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🏛</a:t>
            </a:r>
            <a:endParaRPr lang="en-US" sz="2667" dirty="0"/>
          </a:p>
        </p:txBody>
      </p:sp>
      <p:sp>
        <p:nvSpPr>
          <p:cNvPr id="19" name="Text 17"/>
          <p:cNvSpPr/>
          <p:nvPr/>
        </p:nvSpPr>
        <p:spPr>
          <a:xfrm>
            <a:off x="1219200" y="402336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Governance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585216" y="45720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sponsor relationships ensure continuity of leadership and resources beyond individual volunteers, providing institutional stability.</a:t>
            </a:r>
            <a:endParaRPr lang="en-US" sz="1533" dirty="0"/>
          </a:p>
        </p:txBody>
      </p:sp>
      <p:sp>
        <p:nvSpPr>
          <p:cNvPr id="21" name="Shape 19"/>
          <p:cNvSpPr/>
          <p:nvPr/>
        </p:nvSpPr>
        <p:spPr>
          <a:xfrm>
            <a:off x="6400800" y="390144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90144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0256" y="402336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🤝</a:t>
            </a:r>
            <a:endParaRPr lang="en-US" sz="2667" dirty="0"/>
          </a:p>
        </p:txBody>
      </p:sp>
      <p:sp>
        <p:nvSpPr>
          <p:cNvPr id="24" name="Text 22"/>
          <p:cNvSpPr/>
          <p:nvPr/>
        </p:nvSpPr>
        <p:spPr>
          <a:xfrm>
            <a:off x="7254240" y="402336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Expectations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6620256" y="45720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users expect a roadmap with predictable delivery. A funded, volunteer-rich program signals commitment and professionalism.</a:t>
            </a:r>
            <a:endParaRPr lang="en-US" sz="1533" dirty="0"/>
          </a:p>
        </p:txBody>
      </p:sp>
      <p:sp>
        <p:nvSpPr>
          <p:cNvPr id="26" name="Text 24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2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742962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Components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60576"/>
            <a:ext cx="5364480" cy="4937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60576"/>
            <a:ext cx="5364480" cy="585216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584960"/>
            <a:ext cx="505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SPONSOR TRACK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585216" y="231648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 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" y="2657856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Bronze / Silver / Gold tiers with clear benefits, recognition, and contribution levels.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326745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Prospect Outreach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3608832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engage government agencies, standards bodies, and technology vendors aligned with NIEM.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" y="4218432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Value Proposition Kits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" y="4559808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tailored materials articulating ROI for each sponsor category.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" y="5169408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Stewardship &amp; Reporting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" y="5510784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sponsor briefings and transparent fund-usage reporting.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61760" y="1560576"/>
            <a:ext cx="5364480" cy="4937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61760" y="1560576"/>
            <a:ext cx="5364480" cy="585216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8064" y="1584960"/>
            <a:ext cx="505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VOLUNTEER TRACK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6608064" y="231648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 Definition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8064" y="2657856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required volunteer roles — developers, reviewers, educators, governance leads — with time commitments.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608064" y="326745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Recruitment Channels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8064" y="3608832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universities, professional associations, and existing NIEM stakeholders for outreach.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608064" y="4218432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Program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08064" y="4559808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onboarding documentation, mentorship pairings, and contribution toolkits.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608064" y="5169408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Recognition &amp; Retention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08064" y="5510784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contributor badges, annual recognition events, and career-development incentives.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3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127555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Timeline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EXECUTION PLAN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2828544"/>
            <a:ext cx="10948416" cy="73152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06880" y="2682240"/>
            <a:ext cx="365760" cy="36576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2400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21920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team formed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materials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11040" y="2682240"/>
            <a:ext cx="365760" cy="365760"/>
          </a:xfrm>
          <a:prstGeom prst="ellipse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2816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02336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1856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outreach begins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recruitment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portal live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2682240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682752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272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sponsors confirmed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cohort #1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19360" y="268224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3648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963168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outreach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Year 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5181600"/>
            <a:ext cx="1121664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4924" y="5181600"/>
            <a:ext cx="146304" cy="10972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2386" y="5392674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 Requested:  </a:t>
            </a:r>
            <a:r>
              <a:rPr lang="en-US" sz="1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NiEMOpen Sponsorship &amp; Volunteer Campaign and authorize formation of the Campaign Steering Committee by end of Q1 2025.</a:t>
            </a:r>
            <a:endParaRPr lang="en-US" sz="1533" dirty="0"/>
          </a:p>
        </p:txBody>
      </p:sp>
      <p:sp>
        <p:nvSpPr>
          <p:cNvPr id="26" name="Text 24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4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320436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4542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lang="en-US" sz="1000" b="1" dirty="0">
                <a:solidFill>
                  <a:srgbClr val="002060"/>
                </a:solidFill>
                <a:latin typeface="Arial"/>
                <a:cs typeface="Arial"/>
              </a:rPr>
              <a:t>Bright Query</a:t>
            </a:r>
            <a:endParaRPr sz="10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lang="en-US"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Senzing</a:t>
            </a: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SEARCH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lang="en-US" sz="2400" b="1" spc="-75" dirty="0">
                <a:solidFill>
                  <a:srgbClr val="548ED4"/>
                </a:solidFill>
                <a:latin typeface="Arial"/>
                <a:cs typeface="Arial"/>
              </a:rPr>
              <a:t>9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249" y="974461"/>
            <a:ext cx="896111" cy="839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9724" y="941988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04723" y="1824511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07900" y="1824511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1028" y="2267116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5286" y="1934471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85" y="807038"/>
            <a:ext cx="2188464" cy="92659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Potential Sponsors 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3584" y="2224195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3ADCDE-7641-1D71-87EA-27988BD9A215}"/>
              </a:ext>
            </a:extLst>
          </p:cNvPr>
          <p:cNvSpPr txBox="1"/>
          <p:nvPr/>
        </p:nvSpPr>
        <p:spPr>
          <a:xfrm>
            <a:off x="3274409" y="3942808"/>
            <a:ext cx="7850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Federal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State and local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Private Sector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Non-governmental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International agencies</a:t>
            </a:r>
            <a:endParaRPr lang="en-US" sz="2400" dirty="0"/>
          </a:p>
        </p:txBody>
      </p:sp>
      <p:pic>
        <p:nvPicPr>
          <p:cNvPr id="4" name="Picture 3" descr="SEARCH-logo (1)">
            <a:extLst>
              <a:ext uri="{FF2B5EF4-FFF2-40B4-BE49-F238E27FC236}">
                <a16:creationId xmlns:a16="http://schemas.microsoft.com/office/drawing/2014/main" id="{ED6DF692-1FDF-A6F9-495C-C4D895C2A63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086" y="1178423"/>
            <a:ext cx="2184400" cy="431800"/>
          </a:xfrm>
          <a:prstGeom prst="rect">
            <a:avLst/>
          </a:prstGeom>
        </p:spPr>
      </p:pic>
      <p:pic>
        <p:nvPicPr>
          <p:cNvPr id="2" name="Picture 1" descr="BrightQuery">
            <a:extLst>
              <a:ext uri="{FF2B5EF4-FFF2-40B4-BE49-F238E27FC236}">
                <a16:creationId xmlns:a16="http://schemas.microsoft.com/office/drawing/2014/main" id="{17D3A654-79FF-CB4E-91C8-F6200743C15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630" y="2263066"/>
            <a:ext cx="2359503" cy="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76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– Pending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8737" marR="0" lvl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Thursday, June 18, 2026 </a:t>
            </a: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2743200"/>
            <a:ext cx="5910759" cy="66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Success Factors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61491" y="4015135"/>
            <a:ext cx="3512741" cy="2067420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826791" y="4291038"/>
            <a:ext cx="2304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Structure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0601" y="4817786"/>
            <a:ext cx="36742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83"/>
              </a:lnSpc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Collaborative and transparent governance committees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35760" y="4015135"/>
            <a:ext cx="3512840" cy="2067420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04830" y="429103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Commitment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04829" y="4825406"/>
            <a:ext cx="3182243" cy="111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Become a sponsor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Allocate time to serve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Conform to standards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17670" y="4015135"/>
            <a:ext cx="3512741" cy="1928663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75710" y="429103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Participation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182968" y="4825406"/>
            <a:ext cx="400903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Join relevant committees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Attend meetings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Make contributions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6899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0707" y="729158"/>
            <a:ext cx="3567311" cy="4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500"/>
              </a:lnSpc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Path Forward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93427" y="1750676"/>
            <a:ext cx="6264573" cy="67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792"/>
              </a:lnSpc>
            </a:pPr>
            <a:r>
              <a:rPr lang="en-US" sz="2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NIEMOpen as a Collaborative Community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70707" y="1388963"/>
            <a:ext cx="19050" cy="54907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707" y="2191543"/>
            <a:ext cx="1149813" cy="13799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6766" y="2857996"/>
            <a:ext cx="1783656" cy="22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75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Build Out the Community</a:t>
            </a:r>
            <a:endParaRPr lang="en-US" sz="3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707" y="3047703"/>
            <a:ext cx="1149813" cy="13799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26766" y="3714156"/>
            <a:ext cx="1783656" cy="22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75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Commit Fully</a:t>
            </a:r>
            <a:endParaRPr lang="en-US" sz="3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707" y="3903861"/>
            <a:ext cx="1149813" cy="13799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26766" y="4570314"/>
            <a:ext cx="1783656" cy="22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75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Grow Together</a:t>
            </a:r>
            <a:endParaRPr lang="en-US" sz="3200" dirty="0"/>
          </a:p>
        </p:txBody>
      </p:sp>
      <p:pic>
        <p:nvPicPr>
          <p:cNvPr id="24" name="Picture 23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0E99934F-2794-C615-F87E-1605FF41B34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485" y="0"/>
            <a:ext cx="4566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4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CONCLUSION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7218" y="3452191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1915" y="969826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14686</TotalTime>
  <Words>2596</Words>
  <Application>Microsoft Office PowerPoint</Application>
  <PresentationFormat>Widescreen</PresentationFormat>
  <Paragraphs>532</Paragraphs>
  <Slides>42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62" baseType="lpstr">
      <vt:lpstr>ADLaM Display</vt:lpstr>
      <vt:lpstr>Aptos</vt:lpstr>
      <vt:lpstr>Aptos Narrow</vt:lpstr>
      <vt:lpstr>Arial</vt:lpstr>
      <vt:lpstr>Arial Black</vt:lpstr>
      <vt:lpstr>Calibri</vt:lpstr>
      <vt:lpstr>Eras Bold ITC</vt:lpstr>
      <vt:lpstr>Georgia</vt:lpstr>
      <vt:lpstr>Helvetica LT Std</vt:lpstr>
      <vt:lpstr>Lucida Sans</vt:lpstr>
      <vt:lpstr>Open Sans</vt:lpstr>
      <vt:lpstr>Platypi Medium</vt:lpstr>
      <vt:lpstr>Raleway</vt:lpstr>
      <vt:lpstr>Segoe UI</vt:lpstr>
      <vt:lpstr>Source Serif 4</vt:lpstr>
      <vt:lpstr>Times New Roman</vt:lpstr>
      <vt:lpstr>Tw Cen MT</vt:lpstr>
      <vt:lpstr>Wingdings</vt:lpstr>
      <vt:lpstr>Office Theme</vt:lpstr>
      <vt:lpstr>1_NIEM_white</vt:lpstr>
      <vt:lpstr>PowerPoint Presentation</vt:lpstr>
      <vt:lpstr>VENUE</vt:lpstr>
      <vt:lpstr>SPONSOR APPOINTED PGB VOTING MEMBERS</vt:lpstr>
      <vt:lpstr>PGB EXPERT VOTING MEMBERS &amp; NON-VOTING MEMBERS</vt:lpstr>
      <vt:lpstr>OASIS STAFF</vt:lpstr>
      <vt:lpstr>ROLL CALL</vt:lpstr>
      <vt:lpstr>APPROVAL OF December 4 2025 PGB MINUTES</vt:lpstr>
      <vt:lpstr>PROPOSED MARCH 19 2026 AGENDA</vt:lpstr>
      <vt:lpstr>PROGRESS REPORT: Q1</vt:lpstr>
      <vt:lpstr>Project management—IJIS statement of work</vt:lpstr>
      <vt:lpstr>PowerPoint Presentation</vt:lpstr>
      <vt:lpstr>NTAC Update</vt:lpstr>
      <vt:lpstr>NIEMOpen toolpath</vt:lpstr>
      <vt:lpstr>NIEMOpen Tools v6 Message Specification Pipeline</vt:lpstr>
      <vt:lpstr>NIEMOpen Tools  Recommendations</vt:lpstr>
      <vt:lpstr>NIEMOpen Tools Workflows for v6</vt:lpstr>
      <vt:lpstr>NIEMOpen Tools Updates to Training for v6</vt:lpstr>
      <vt:lpstr>PowerPoint Presentation</vt:lpstr>
      <vt:lpstr>New release planning</vt:lpstr>
      <vt:lpstr>Software engineering update</vt:lpstr>
      <vt:lpstr>NBAC Update</vt:lpstr>
      <vt:lpstr>CY 2025 Q3 FINANCIALS</vt:lpstr>
      <vt:lpstr>PowerPoint Presentation</vt:lpstr>
      <vt:lpstr>BREAK</vt:lpstr>
      <vt:lpstr>PowerPoint Presentation</vt:lpstr>
      <vt:lpstr>Initiatives</vt:lpstr>
      <vt:lpstr>PowerPoint Presentation</vt:lpstr>
      <vt:lpstr>PowerPoint Presentation</vt:lpstr>
      <vt:lpstr>PowerPoint Presentation</vt:lpstr>
      <vt:lpstr>DAMA-DMBOK®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NIEMOpen Current Sponsors</vt:lpstr>
      <vt:lpstr>PGB MEMBERS: AROUND-THE-HORN</vt:lpstr>
      <vt:lpstr>PGB Meeting Schedule – Pending Approval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Steve</dc:creator>
  <cp:lastModifiedBy>Stephen Sullivan</cp:lastModifiedBy>
  <cp:revision>32</cp:revision>
  <cp:lastPrinted>2026-03-10T00:45:38Z</cp:lastPrinted>
  <dcterms:created xsi:type="dcterms:W3CDTF">2025-04-02T17:38:56Z</dcterms:created>
  <dcterms:modified xsi:type="dcterms:W3CDTF">2026-03-16T19:16:02Z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