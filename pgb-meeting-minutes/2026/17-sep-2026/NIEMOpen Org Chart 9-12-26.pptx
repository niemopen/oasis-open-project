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0" r:id="rId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B328C6-DD41-4EE3-9A3C-AD3E7DA97034}" v="3" dt="2026-09-13T00:24:16.3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312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8340" y="1412834"/>
            <a:ext cx="5067300" cy="4421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E1C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23489" y="1165292"/>
            <a:ext cx="4773295" cy="474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3405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64" y="1777084"/>
            <a:ext cx="11893070" cy="33038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823" y="6123432"/>
            <a:ext cx="2465831" cy="7330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292317"/>
            <a:ext cx="1081531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8139" y="1872891"/>
            <a:ext cx="5306060" cy="148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53071" y="6414708"/>
            <a:ext cx="196214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88340" y="61299"/>
            <a:ext cx="668083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04383"/>
                </a:solidFill>
              </a:rPr>
              <a:t>NIE</a:t>
            </a:r>
            <a:r>
              <a:rPr lang="en-US" sz="2900" dirty="0">
                <a:solidFill>
                  <a:srgbClr val="004383"/>
                </a:solidFill>
              </a:rPr>
              <a:t>MOpen</a:t>
            </a:r>
            <a:r>
              <a:rPr sz="2900" spc="-65" dirty="0">
                <a:solidFill>
                  <a:srgbClr val="004383"/>
                </a:solidFill>
              </a:rPr>
              <a:t> </a:t>
            </a:r>
            <a:r>
              <a:rPr sz="2900" dirty="0">
                <a:solidFill>
                  <a:srgbClr val="004383"/>
                </a:solidFill>
              </a:rPr>
              <a:t>PROJECT</a:t>
            </a:r>
            <a:r>
              <a:rPr sz="2900" spc="-75" dirty="0">
                <a:solidFill>
                  <a:srgbClr val="004383"/>
                </a:solidFill>
              </a:rPr>
              <a:t> </a:t>
            </a:r>
            <a:r>
              <a:rPr sz="2900" spc="-10" dirty="0">
                <a:solidFill>
                  <a:srgbClr val="004383"/>
                </a:solidFill>
              </a:rPr>
              <a:t>GOVERNANCE</a:t>
            </a:r>
            <a:endParaRPr sz="2900" dirty="0"/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xfrm>
            <a:off x="7043671" y="6414708"/>
            <a:ext cx="19621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80" name="Flowchart: Process 79">
            <a:extLst>
              <a:ext uri="{FF2B5EF4-FFF2-40B4-BE49-F238E27FC236}">
                <a16:creationId xmlns:a16="http://schemas.microsoft.com/office/drawing/2014/main" id="{546F6A6A-6BEE-660C-1560-4E95A7F217DE}"/>
              </a:ext>
            </a:extLst>
          </p:cNvPr>
          <p:cNvSpPr/>
          <p:nvPr/>
        </p:nvSpPr>
        <p:spPr>
          <a:xfrm>
            <a:off x="4724400" y="1066800"/>
            <a:ext cx="2895600" cy="7975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NIEMOpen</a:t>
            </a:r>
          </a:p>
          <a:p>
            <a:pPr algn="ctr"/>
            <a:r>
              <a:rPr lang="en-US" dirty="0"/>
              <a:t>Project Governing Board (PGB)</a:t>
            </a:r>
          </a:p>
        </p:txBody>
      </p:sp>
      <p:sp>
        <p:nvSpPr>
          <p:cNvPr id="82" name="Flowchart: Process 81">
            <a:extLst>
              <a:ext uri="{FF2B5EF4-FFF2-40B4-BE49-F238E27FC236}">
                <a16:creationId xmlns:a16="http://schemas.microsoft.com/office/drawing/2014/main" id="{E9610789-84B0-119E-0171-3657C2106F79}"/>
              </a:ext>
            </a:extLst>
          </p:cNvPr>
          <p:cNvSpPr/>
          <p:nvPr/>
        </p:nvSpPr>
        <p:spPr>
          <a:xfrm>
            <a:off x="1066800" y="1524000"/>
            <a:ext cx="2895600" cy="797560"/>
          </a:xfrm>
          <a:prstGeom prst="flowChartProcess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Proposed</a:t>
            </a:r>
          </a:p>
          <a:p>
            <a:pPr algn="ctr"/>
            <a:r>
              <a:rPr lang="en-US" dirty="0"/>
              <a:t>NIEMOpen</a:t>
            </a:r>
          </a:p>
          <a:p>
            <a:pPr algn="ctr"/>
            <a:r>
              <a:rPr lang="en-US" dirty="0"/>
              <a:t>Advisory Council</a:t>
            </a:r>
          </a:p>
        </p:txBody>
      </p:sp>
      <p:sp>
        <p:nvSpPr>
          <p:cNvPr id="84" name="Flowchart: Process 83">
            <a:extLst>
              <a:ext uri="{FF2B5EF4-FFF2-40B4-BE49-F238E27FC236}">
                <a16:creationId xmlns:a16="http://schemas.microsoft.com/office/drawing/2014/main" id="{50D6A7EB-99D3-9CE5-3BAB-2B163C6347F6}"/>
              </a:ext>
            </a:extLst>
          </p:cNvPr>
          <p:cNvSpPr/>
          <p:nvPr/>
        </p:nvSpPr>
        <p:spPr>
          <a:xfrm>
            <a:off x="4724400" y="5406284"/>
            <a:ext cx="2895600" cy="797560"/>
          </a:xfrm>
          <a:prstGeom prst="flowChartProcess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Proposed</a:t>
            </a:r>
          </a:p>
          <a:p>
            <a:pPr algn="ctr"/>
            <a:r>
              <a:rPr lang="en-US" dirty="0"/>
              <a:t>Communication &amp; Outreach</a:t>
            </a:r>
          </a:p>
          <a:p>
            <a:pPr algn="ctr"/>
            <a:r>
              <a:rPr lang="en-US" dirty="0"/>
              <a:t>TSC</a:t>
            </a:r>
          </a:p>
        </p:txBody>
      </p:sp>
      <p:sp>
        <p:nvSpPr>
          <p:cNvPr id="86" name="Flowchart: Process 85">
            <a:extLst>
              <a:ext uri="{FF2B5EF4-FFF2-40B4-BE49-F238E27FC236}">
                <a16:creationId xmlns:a16="http://schemas.microsoft.com/office/drawing/2014/main" id="{91D8F361-B751-DBC0-5427-229AD715AAE7}"/>
              </a:ext>
            </a:extLst>
          </p:cNvPr>
          <p:cNvSpPr/>
          <p:nvPr/>
        </p:nvSpPr>
        <p:spPr>
          <a:xfrm>
            <a:off x="4724400" y="4353428"/>
            <a:ext cx="2895600" cy="797560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NIEMOpen Technical Architecture Committee (NTAC) TSC</a:t>
            </a:r>
          </a:p>
        </p:txBody>
      </p:sp>
      <p:sp>
        <p:nvSpPr>
          <p:cNvPr id="88" name="Flowchart: Process 87">
            <a:extLst>
              <a:ext uri="{FF2B5EF4-FFF2-40B4-BE49-F238E27FC236}">
                <a16:creationId xmlns:a16="http://schemas.microsoft.com/office/drawing/2014/main" id="{08B3EAD0-6A87-DBEE-11B2-66A872F5A3B9}"/>
              </a:ext>
            </a:extLst>
          </p:cNvPr>
          <p:cNvSpPr/>
          <p:nvPr/>
        </p:nvSpPr>
        <p:spPr>
          <a:xfrm>
            <a:off x="4724400" y="3298697"/>
            <a:ext cx="2895600" cy="797560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NIEMOpen Business Architecture Committee  (NBAC) TSC</a:t>
            </a:r>
          </a:p>
        </p:txBody>
      </p:sp>
      <p:sp>
        <p:nvSpPr>
          <p:cNvPr id="90" name="Flowchart: Process 89">
            <a:extLst>
              <a:ext uri="{FF2B5EF4-FFF2-40B4-BE49-F238E27FC236}">
                <a16:creationId xmlns:a16="http://schemas.microsoft.com/office/drawing/2014/main" id="{3A7117B3-4F15-DF20-244E-F79F82220FC3}"/>
              </a:ext>
            </a:extLst>
          </p:cNvPr>
          <p:cNvSpPr/>
          <p:nvPr/>
        </p:nvSpPr>
        <p:spPr>
          <a:xfrm>
            <a:off x="4724400" y="2226556"/>
            <a:ext cx="2895600" cy="797560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NIEMOpen</a:t>
            </a:r>
          </a:p>
          <a:p>
            <a:pPr algn="ctr"/>
            <a:r>
              <a:rPr lang="en-US" dirty="0"/>
              <a:t>Management Office TSC</a:t>
            </a:r>
          </a:p>
        </p:txBody>
      </p:sp>
      <p:sp>
        <p:nvSpPr>
          <p:cNvPr id="92" name="Flowchart: Process 91">
            <a:extLst>
              <a:ext uri="{FF2B5EF4-FFF2-40B4-BE49-F238E27FC236}">
                <a16:creationId xmlns:a16="http://schemas.microsoft.com/office/drawing/2014/main" id="{9A4B8283-5866-6E02-E0E6-FA104E187508}"/>
              </a:ext>
            </a:extLst>
          </p:cNvPr>
          <p:cNvSpPr/>
          <p:nvPr/>
        </p:nvSpPr>
        <p:spPr>
          <a:xfrm>
            <a:off x="8103704" y="3298697"/>
            <a:ext cx="2895600" cy="797560"/>
          </a:xfrm>
          <a:prstGeom prst="flowChart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Harmonization Subcommittee</a:t>
            </a: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8E2E27B4-5F8D-FC0E-7C9E-E9DFD62703B0}"/>
              </a:ext>
            </a:extLst>
          </p:cNvPr>
          <p:cNvCxnSpPr>
            <a:cxnSpLocks/>
            <a:stCxn id="80" idx="1"/>
            <a:endCxn id="84" idx="1"/>
          </p:cNvCxnSpPr>
          <p:nvPr/>
        </p:nvCxnSpPr>
        <p:spPr>
          <a:xfrm rot="10800000" flipV="1">
            <a:off x="4724400" y="1465580"/>
            <a:ext cx="12700" cy="4339484"/>
          </a:xfrm>
          <a:prstGeom prst="bentConnector3">
            <a:avLst>
              <a:gd name="adj1" fmla="val 27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00F04A3-7408-BA15-FEFF-DFAE663DFD32}"/>
              </a:ext>
            </a:extLst>
          </p:cNvPr>
          <p:cNvCxnSpPr>
            <a:endCxn id="90" idx="1"/>
          </p:cNvCxnSpPr>
          <p:nvPr/>
        </p:nvCxnSpPr>
        <p:spPr>
          <a:xfrm>
            <a:off x="4419600" y="2625336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55556E4-10C7-8C8F-13D4-7292309AF892}"/>
              </a:ext>
            </a:extLst>
          </p:cNvPr>
          <p:cNvCxnSpPr>
            <a:endCxn id="88" idx="1"/>
          </p:cNvCxnSpPr>
          <p:nvPr/>
        </p:nvCxnSpPr>
        <p:spPr>
          <a:xfrm>
            <a:off x="4419600" y="3697477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FC29EAE-9161-B748-F5A2-BA147FD07188}"/>
              </a:ext>
            </a:extLst>
          </p:cNvPr>
          <p:cNvCxnSpPr>
            <a:endCxn id="86" idx="1"/>
          </p:cNvCxnSpPr>
          <p:nvPr/>
        </p:nvCxnSpPr>
        <p:spPr>
          <a:xfrm>
            <a:off x="4419600" y="4752208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7B93149F-BBE3-154B-75E3-6DCBD433EDDC}"/>
              </a:ext>
            </a:extLst>
          </p:cNvPr>
          <p:cNvCxnSpPr>
            <a:cxnSpLocks/>
            <a:stCxn id="82" idx="0"/>
          </p:cNvCxnSpPr>
          <p:nvPr/>
        </p:nvCxnSpPr>
        <p:spPr>
          <a:xfrm rot="5400000" flipH="1" flipV="1">
            <a:off x="3513390" y="300290"/>
            <a:ext cx="224920" cy="222250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ACA7629-7CBD-8A60-FB55-41AEE2260614}"/>
              </a:ext>
            </a:extLst>
          </p:cNvPr>
          <p:cNvSpPr txBox="1"/>
          <p:nvPr/>
        </p:nvSpPr>
        <p:spPr>
          <a:xfrm>
            <a:off x="203871" y="3181772"/>
            <a:ext cx="3954929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Legend:</a:t>
            </a:r>
          </a:p>
          <a:p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PGB</a:t>
            </a:r>
          </a:p>
          <a:p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Technical Steering Committee (TSC)</a:t>
            </a:r>
          </a:p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TSC Subcommittee</a:t>
            </a:r>
          </a:p>
          <a:p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Proposed Modifications to Org Chart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1BC16EC-2CA1-2FCE-E509-01C52C5D3CCC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7646504" y="3695820"/>
            <a:ext cx="457200" cy="1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59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NIEMOpen PROJECT GOVERNANCE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National Information Exchange Model (NIEM)</dc:title>
  <dc:creator>Kish, Jennifer</dc:creator>
  <cp:lastModifiedBy>Stephen Sullivan</cp:lastModifiedBy>
  <cp:revision>1</cp:revision>
  <dcterms:created xsi:type="dcterms:W3CDTF">2026-09-12T23:49:13Z</dcterms:created>
  <dcterms:modified xsi:type="dcterms:W3CDTF">2026-09-13T00:32:37Z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0x0101008E3FE027E793D141A4D0D4B43133F0A9</vt:lpwstr>
  </property>
  <property fmtid="{D5CDD505-2E9C-101B-9397-08002B2CF9AE}" pid="3" name="Created">
    <vt:filetime>2023-05-04T00:00:00Z</vt:filetime>
  </property>
  <property fmtid="{D5CDD505-2E9C-101B-9397-08002B2CF9AE}" pid="4" name="Creator">
    <vt:lpwstr>Acrobat PDFMaker 23 for PowerPoint</vt:lpwstr>
  </property>
  <property fmtid="{D5CDD505-2E9C-101B-9397-08002B2CF9AE}" pid="5" name="LastSaved">
    <vt:filetime>2026-09-12T00:00:00Z</vt:filetime>
  </property>
  <property fmtid="{D5CDD505-2E9C-101B-9397-08002B2CF9AE}" pid="6" name="Producer">
    <vt:lpwstr>Adobe PDF Library 23.1.175</vt:lpwstr>
  </property>
</Properties>
</file>